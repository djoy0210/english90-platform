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6858000" cy="9692640"/>
  <p:notesSz cx="969264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F6FA"/>
        </a:solidFill>
      </p:bgPr>
    </p:bg>
    <p:spTree>
      <p:nvGrpSpPr>
        <p:cNvPr id="1" name=""/>
        <p:cNvGrpSpPr/>
        <p:nvPr/>
      </p:nvGrpSpPr>
      <p:grpSpPr>
        <a:xfrm>
          <a:off x="0" y="0"/>
          <a:ext cx="0" cy="0"/>
          <a:chOff x="0" y="0"/>
          <a:chExt cx="0" cy="0"/>
        </a:xfrm>
      </p:grpSpPr>
      <p:sp>
        <p:nvSpPr>
          <p:cNvPr id="2" name="Shape 0"/>
          <p:cNvSpPr/>
          <p:nvPr/>
        </p:nvSpPr>
        <p:spPr>
          <a:xfrm>
            <a:off x="0" y="0"/>
            <a:ext cx="6858000" cy="347472"/>
          </a:xfrm>
          <a:prstGeom prst="rect">
            <a:avLst/>
          </a:prstGeom>
          <a:solidFill>
            <a:srgbClr val="1A3A5C"/>
          </a:solidFill>
          <a:ln w="12700">
            <a:solidFill>
              <a:srgbClr val="1A3A5C"/>
            </a:solidFill>
            <a:prstDash val="solid"/>
          </a:ln>
        </p:spPr>
      </p:sp>
      <p:sp>
        <p:nvSpPr>
          <p:cNvPr id="3" name="Shape 1"/>
          <p:cNvSpPr/>
          <p:nvPr/>
        </p:nvSpPr>
        <p:spPr>
          <a:xfrm>
            <a:off x="0" y="0"/>
            <a:ext cx="50292" cy="347472"/>
          </a:xfrm>
          <a:prstGeom prst="rect">
            <a:avLst/>
          </a:prstGeom>
          <a:solidFill>
            <a:srgbClr val="F2C93A"/>
          </a:solidFill>
          <a:ln w="12700">
            <a:solidFill>
              <a:srgbClr val="F2C93A"/>
            </a:solidFill>
            <a:prstDash val="solid"/>
          </a:ln>
        </p:spPr>
      </p:sp>
      <p:sp>
        <p:nvSpPr>
          <p:cNvPr id="4" name="Text 2"/>
          <p:cNvSpPr/>
          <p:nvPr/>
        </p:nvSpPr>
        <p:spPr>
          <a:xfrm>
            <a:off x="100584" y="0"/>
            <a:ext cx="3657600" cy="347472"/>
          </a:xfrm>
          <a:prstGeom prst="rect">
            <a:avLst/>
          </a:prstGeom>
          <a:noFill/>
          <a:ln/>
        </p:spPr>
        <p:txBody>
          <a:bodyPr wrap="square" lIns="0" tIns="0" rIns="0" bIns="0" rtlCol="0" anchor="ctr"/>
          <a:lstStyle/>
          <a:p>
            <a:pPr indent="0" marL="0">
              <a:buNone/>
            </a:pPr>
            <a:r>
              <a:rPr lang="en-US" sz="1350" b="1" dirty="0">
                <a:solidFill>
                  <a:srgbClr val="F2C93A"/>
                </a:solidFill>
                <a:latin typeface="Georgia" pitchFamily="34" charset="0"/>
                <a:ea typeface="Georgia" pitchFamily="34" charset="-122"/>
                <a:cs typeface="Georgia" pitchFamily="34" charset="-120"/>
              </a:rPr>
              <a:t>Speak English in 90 Days</a:t>
            </a:r>
            <a:endParaRPr lang="en-US" sz="1350" dirty="0"/>
          </a:p>
        </p:txBody>
      </p:sp>
      <p:sp>
        <p:nvSpPr>
          <p:cNvPr id="5" name="Text 3"/>
          <p:cNvSpPr/>
          <p:nvPr/>
        </p:nvSpPr>
        <p:spPr>
          <a:xfrm>
            <a:off x="3657600" y="0"/>
            <a:ext cx="1920240" cy="347472"/>
          </a:xfrm>
          <a:prstGeom prst="rect">
            <a:avLst/>
          </a:prstGeom>
          <a:noFill/>
          <a:ln/>
        </p:spPr>
        <p:txBody>
          <a:bodyPr wrap="square" lIns="0" tIns="0" rIns="0" bIns="0" rtlCol="0" anchor="ctr"/>
          <a:lstStyle/>
          <a:p>
            <a:pPr algn="ctr" indent="0" marL="0">
              <a:buNone/>
            </a:pPr>
            <a:r>
              <a:rPr lang="en-US" sz="800" dirty="0">
                <a:solidFill>
                  <a:srgbClr val="90AABF"/>
                </a:solidFill>
                <a:latin typeface="Calibri" pitchFamily="34" charset="0"/>
                <a:ea typeface="Calibri" pitchFamily="34" charset="-122"/>
                <a:cs typeface="Calibri" pitchFamily="34" charset="-120"/>
              </a:rPr>
              <a:t>B1 · Book 3 · Дэвшилтэт шат</a:t>
            </a:r>
            <a:endParaRPr lang="en-US" sz="800" dirty="0"/>
          </a:p>
        </p:txBody>
      </p:sp>
      <p:sp>
        <p:nvSpPr>
          <p:cNvPr id="6" name="Text 4"/>
          <p:cNvSpPr/>
          <p:nvPr/>
        </p:nvSpPr>
        <p:spPr>
          <a:xfrm>
            <a:off x="5577840" y="0"/>
            <a:ext cx="1170432" cy="347472"/>
          </a:xfrm>
          <a:prstGeom prst="rect">
            <a:avLst/>
          </a:prstGeom>
          <a:noFill/>
          <a:ln/>
        </p:spPr>
        <p:txBody>
          <a:bodyPr wrap="square" lIns="0" tIns="0" rIns="0" bIns="0" rtlCol="0" anchor="ctr"/>
          <a:lstStyle/>
          <a:p>
            <a:pPr algn="r" indent="0" marL="0">
              <a:buNone/>
            </a:pPr>
            <a:r>
              <a:rPr lang="en-US" sz="850" dirty="0">
                <a:solidFill>
                  <a:srgbClr val="F2C93A"/>
                </a:solidFill>
                <a:latin typeface="Calibri" pitchFamily="34" charset="0"/>
                <a:ea typeface="Calibri" pitchFamily="34" charset="-122"/>
                <a:cs typeface="Calibri" pitchFamily="34" charset="-120"/>
              </a:rPr>
              <a:t>25-30 минут</a:t>
            </a:r>
            <a:endParaRPr lang="en-US" sz="850" dirty="0"/>
          </a:p>
        </p:txBody>
      </p:sp>
      <p:sp>
        <p:nvSpPr>
          <p:cNvPr id="7" name="Shape 5"/>
          <p:cNvSpPr/>
          <p:nvPr/>
        </p:nvSpPr>
        <p:spPr>
          <a:xfrm>
            <a:off x="0" y="347472"/>
            <a:ext cx="1335024" cy="237744"/>
          </a:xfrm>
          <a:prstGeom prst="rect">
            <a:avLst/>
          </a:prstGeom>
          <a:solidFill>
            <a:srgbClr val="F2C93A"/>
          </a:solidFill>
          <a:ln w="12700">
            <a:solidFill>
              <a:srgbClr val="F2C93A"/>
            </a:solidFill>
            <a:prstDash val="solid"/>
          </a:ln>
        </p:spPr>
      </p:sp>
      <p:sp>
        <p:nvSpPr>
          <p:cNvPr id="8" name="Text 6"/>
          <p:cNvSpPr/>
          <p:nvPr/>
        </p:nvSpPr>
        <p:spPr>
          <a:xfrm>
            <a:off x="0" y="347472"/>
            <a:ext cx="1335024" cy="237744"/>
          </a:xfrm>
          <a:prstGeom prst="rect">
            <a:avLst/>
          </a:prstGeom>
          <a:noFill/>
          <a:ln/>
        </p:spPr>
        <p:txBody>
          <a:bodyPr wrap="square" lIns="0" tIns="0" rIns="0" bIns="0" rtlCol="0" anchor="ctr"/>
          <a:lstStyle/>
          <a:p>
            <a:pPr algn="ctr" indent="0" marL="0">
              <a:buNone/>
            </a:pPr>
            <a:r>
              <a:rPr lang="en-US" sz="850" b="1" dirty="0">
                <a:solidFill>
                  <a:srgbClr val="1A3A5C"/>
                </a:solidFill>
                <a:latin typeface="Calibri" pitchFamily="34" charset="0"/>
                <a:ea typeface="Calibri" pitchFamily="34" charset="-122"/>
                <a:cs typeface="Calibri" pitchFamily="34" charset="-120"/>
              </a:rPr>
              <a:t>DAY 69 · ӨДӨР 69</a:t>
            </a:r>
            <a:endParaRPr lang="en-US" sz="850" dirty="0"/>
          </a:p>
        </p:txBody>
      </p:sp>
      <p:sp>
        <p:nvSpPr>
          <p:cNvPr id="9" name="Shape 7"/>
          <p:cNvSpPr/>
          <p:nvPr/>
        </p:nvSpPr>
        <p:spPr>
          <a:xfrm>
            <a:off x="1335024" y="347472"/>
            <a:ext cx="4498848" cy="237744"/>
          </a:xfrm>
          <a:prstGeom prst="rect">
            <a:avLst/>
          </a:prstGeom>
          <a:solidFill>
            <a:srgbClr val="1A6A3A"/>
          </a:solidFill>
          <a:ln w="12700">
            <a:solidFill>
              <a:srgbClr val="1A6A3A"/>
            </a:solidFill>
            <a:prstDash val="solid"/>
          </a:ln>
        </p:spPr>
      </p:sp>
      <p:sp>
        <p:nvSpPr>
          <p:cNvPr id="10" name="Text 8"/>
          <p:cNvSpPr/>
          <p:nvPr/>
        </p:nvSpPr>
        <p:spPr>
          <a:xfrm>
            <a:off x="1408176" y="347472"/>
            <a:ext cx="4425696"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Predictions &amp; Possibilities  ·  Таамаглал &amp; Боломжууд</a:t>
            </a:r>
            <a:endParaRPr lang="en-US" sz="850" dirty="0"/>
          </a:p>
        </p:txBody>
      </p:sp>
      <p:sp>
        <p:nvSpPr>
          <p:cNvPr id="11" name="Shape 9"/>
          <p:cNvSpPr/>
          <p:nvPr/>
        </p:nvSpPr>
        <p:spPr>
          <a:xfrm>
            <a:off x="5833872" y="347472"/>
            <a:ext cx="1024128" cy="237744"/>
          </a:xfrm>
          <a:prstGeom prst="rect">
            <a:avLst/>
          </a:prstGeom>
          <a:solidFill>
            <a:srgbClr val="1A3A5C"/>
          </a:solidFill>
          <a:ln w="12700">
            <a:solidFill>
              <a:srgbClr val="1A3A5C"/>
            </a:solidFill>
            <a:prstDash val="solid"/>
          </a:ln>
        </p:spPr>
      </p:sp>
      <p:sp>
        <p:nvSpPr>
          <p:cNvPr id="12" name="Text 10"/>
          <p:cNvSpPr/>
          <p:nvPr/>
        </p:nvSpPr>
        <p:spPr>
          <a:xfrm>
            <a:off x="5760720" y="347472"/>
            <a:ext cx="1042416" cy="237744"/>
          </a:xfrm>
          <a:prstGeom prst="rect">
            <a:avLst/>
          </a:prstGeom>
          <a:noFill/>
          <a:ln/>
        </p:spPr>
        <p:txBody>
          <a:bodyPr wrap="square" lIns="0" tIns="0" rIns="0" bIns="0" rtlCol="0" anchor="ctr"/>
          <a:lstStyle/>
          <a:p>
            <a:pPr algn="r" indent="0" marL="0">
              <a:buNone/>
            </a:pPr>
            <a:r>
              <a:rPr lang="en-US" sz="750" dirty="0">
                <a:solidFill>
                  <a:srgbClr val="F2C93A"/>
                </a:solidFill>
                <a:latin typeface="Calibri" pitchFamily="34" charset="0"/>
                <a:ea typeface="Calibri" pitchFamily="34" charset="-122"/>
                <a:cs typeface="Calibri" pitchFamily="34" charset="-120"/>
              </a:rPr>
              <a:t>📖 Page 1</a:t>
            </a:r>
            <a:endParaRPr lang="en-US" sz="750" dirty="0"/>
          </a:p>
        </p:txBody>
      </p:sp>
      <p:sp>
        <p:nvSpPr>
          <p:cNvPr id="13" name="Shape 11"/>
          <p:cNvSpPr/>
          <p:nvPr/>
        </p:nvSpPr>
        <p:spPr>
          <a:xfrm>
            <a:off x="0" y="9601200"/>
            <a:ext cx="6858000" cy="91440"/>
          </a:xfrm>
          <a:prstGeom prst="rect">
            <a:avLst/>
          </a:prstGeom>
          <a:solidFill>
            <a:srgbClr val="E4EEF6"/>
          </a:solidFill>
          <a:ln w="12700">
            <a:solidFill>
              <a:srgbClr val="E4EEF6"/>
            </a:solidFill>
            <a:prstDash val="solid"/>
          </a:ln>
        </p:spPr>
      </p:sp>
      <p:sp>
        <p:nvSpPr>
          <p:cNvPr id="14" name="Text 12"/>
          <p:cNvSpPr/>
          <p:nvPr/>
        </p:nvSpPr>
        <p:spPr>
          <a:xfrm>
            <a:off x="0" y="9601200"/>
            <a:ext cx="6858000" cy="91440"/>
          </a:xfrm>
          <a:prstGeom prst="rect">
            <a:avLst/>
          </a:prstGeom>
          <a:noFill/>
          <a:ln/>
        </p:spPr>
        <p:txBody>
          <a:bodyPr wrap="square" lIns="0" tIns="0" rIns="0" bIns="0" rtlCol="0" anchor="ctr"/>
          <a:lstStyle/>
          <a:p>
            <a:pPr algn="ctr" indent="0" marL="0">
              <a:buNone/>
            </a:pPr>
            <a:r>
              <a:rPr lang="en-US" sz="650" dirty="0">
                <a:solidFill>
                  <a:srgbClr val="7A90A0"/>
                </a:solidFill>
                <a:latin typeface="Calibri" pitchFamily="34" charset="0"/>
                <a:ea typeface="Calibri" pitchFamily="34" charset="-122"/>
                <a:cs typeface="Calibri" pitchFamily="34" charset="-120"/>
              </a:rPr>
              <a:t>Speak English in 90 Days  ·  B1 Level  ·  Book 3</a:t>
            </a:r>
            <a:endParaRPr lang="en-US" sz="650" dirty="0"/>
          </a:p>
        </p:txBody>
      </p:sp>
      <p:sp>
        <p:nvSpPr>
          <p:cNvPr id="15" name="Shape 13"/>
          <p:cNvSpPr/>
          <p:nvPr/>
        </p:nvSpPr>
        <p:spPr>
          <a:xfrm>
            <a:off x="164592" y="630936"/>
            <a:ext cx="6528816" cy="182880"/>
          </a:xfrm>
          <a:prstGeom prst="rect">
            <a:avLst/>
          </a:prstGeom>
          <a:solidFill>
            <a:srgbClr val="EBF4FB"/>
          </a:solidFill>
          <a:ln w="12700">
            <a:solidFill>
              <a:srgbClr val="2E6DA4"/>
            </a:solidFill>
            <a:prstDash val="solid"/>
          </a:ln>
        </p:spPr>
      </p:sp>
      <p:sp>
        <p:nvSpPr>
          <p:cNvPr id="16" name="Text 14"/>
          <p:cNvSpPr/>
          <p:nvPr/>
        </p:nvSpPr>
        <p:spPr>
          <a:xfrm>
            <a:off x="246888" y="630936"/>
            <a:ext cx="6419088" cy="182880"/>
          </a:xfrm>
          <a:prstGeom prst="rect">
            <a:avLst/>
          </a:prstGeom>
          <a:noFill/>
          <a:ln/>
        </p:spPr>
        <p:txBody>
          <a:bodyPr wrap="square" lIns="0" tIns="0" rIns="0" bIns="0" rtlCol="0" anchor="ctr"/>
          <a:lstStyle/>
          <a:p>
            <a:pPr indent="0" marL="0">
              <a:buNone/>
            </a:pPr>
            <a:r>
              <a:rPr lang="en-US" sz="800" dirty="0">
                <a:solidFill>
                  <a:srgbClr val="1A4A7A"/>
                </a:solidFill>
                <a:latin typeface="Calibri" pitchFamily="34" charset="0"/>
                <a:ea typeface="Calibri" pitchFamily="34" charset="-122"/>
                <a:cs typeface="Calibri" pitchFamily="34" charset="-120"/>
              </a:rPr>
              <a:t>✦ Learn 20 words   ✦ Grammar: Might / Could / Should — future predictions with uncertainty   ✦ Cover &amp; test yourself</a:t>
            </a:r>
            <a:endParaRPr lang="en-US" sz="800" dirty="0"/>
          </a:p>
        </p:txBody>
      </p:sp>
      <p:sp>
        <p:nvSpPr>
          <p:cNvPr id="17" name="Shape 15"/>
          <p:cNvSpPr/>
          <p:nvPr/>
        </p:nvSpPr>
        <p:spPr>
          <a:xfrm>
            <a:off x="179222" y="874166"/>
            <a:ext cx="3310128" cy="8705088"/>
          </a:xfrm>
          <a:prstGeom prst="rect">
            <a:avLst/>
          </a:prstGeom>
          <a:solidFill>
            <a:srgbClr val="D0DCE8"/>
          </a:solidFill>
          <a:ln w="12700">
            <a:solidFill>
              <a:srgbClr val="D0DCE8"/>
            </a:solidFill>
            <a:prstDash val="solid"/>
          </a:ln>
        </p:spPr>
      </p:sp>
      <p:sp>
        <p:nvSpPr>
          <p:cNvPr id="18" name="Shape 16"/>
          <p:cNvSpPr/>
          <p:nvPr/>
        </p:nvSpPr>
        <p:spPr>
          <a:xfrm>
            <a:off x="164592" y="859536"/>
            <a:ext cx="3310128" cy="8705088"/>
          </a:xfrm>
          <a:prstGeom prst="rect">
            <a:avLst/>
          </a:prstGeom>
          <a:solidFill>
            <a:srgbClr val="FFFFFF"/>
          </a:solidFill>
          <a:ln w="12700">
            <a:solidFill>
              <a:srgbClr val="C8D8E8"/>
            </a:solidFill>
            <a:prstDash val="solid"/>
          </a:ln>
        </p:spPr>
      </p:sp>
      <p:sp>
        <p:nvSpPr>
          <p:cNvPr id="19" name="Shape 17"/>
          <p:cNvSpPr/>
          <p:nvPr/>
        </p:nvSpPr>
        <p:spPr>
          <a:xfrm>
            <a:off x="164592" y="859536"/>
            <a:ext cx="3310128" cy="256032"/>
          </a:xfrm>
          <a:prstGeom prst="rect">
            <a:avLst/>
          </a:prstGeom>
          <a:solidFill>
            <a:srgbClr val="1A6A3A"/>
          </a:solidFill>
          <a:ln w="12700">
            <a:solidFill>
              <a:srgbClr val="1A6A3A"/>
            </a:solidFill>
            <a:prstDash val="solid"/>
          </a:ln>
        </p:spPr>
      </p:sp>
      <p:sp>
        <p:nvSpPr>
          <p:cNvPr id="20" name="Shape 18"/>
          <p:cNvSpPr/>
          <p:nvPr/>
        </p:nvSpPr>
        <p:spPr>
          <a:xfrm>
            <a:off x="164592" y="1115568"/>
            <a:ext cx="3310128" cy="146304"/>
          </a:xfrm>
          <a:prstGeom prst="rect">
            <a:avLst/>
          </a:prstGeom>
          <a:solidFill>
            <a:srgbClr val="EBF4FB"/>
          </a:solidFill>
          <a:ln w="12700">
            <a:solidFill>
              <a:srgbClr val="EBF4FB"/>
            </a:solidFill>
            <a:prstDash val="solid"/>
          </a:ln>
        </p:spPr>
      </p:sp>
      <p:sp>
        <p:nvSpPr>
          <p:cNvPr id="21" name="Text 19"/>
          <p:cNvSpPr/>
          <p:nvPr/>
        </p:nvSpPr>
        <p:spPr>
          <a:xfrm>
            <a:off x="256032" y="859536"/>
            <a:ext cx="318211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Vocabulary — 20 New Words</a:t>
            </a:r>
            <a:endParaRPr lang="en-US" sz="1050" dirty="0"/>
          </a:p>
        </p:txBody>
      </p:sp>
      <p:sp>
        <p:nvSpPr>
          <p:cNvPr id="22" name="Text 20"/>
          <p:cNvSpPr/>
          <p:nvPr/>
        </p:nvSpPr>
        <p:spPr>
          <a:xfrm>
            <a:off x="256032" y="1124712"/>
            <a:ext cx="318211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Read aloud 3 times · Cover Mongolian &amp; test yourself!</a:t>
            </a:r>
            <a:endParaRPr lang="en-US" sz="75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219456" y="1289304"/>
          <a:ext cx="3200400" cy="914400"/>
        </p:xfrm>
        <a:graphic>
          <a:graphicData uri="http://schemas.openxmlformats.org/drawingml/2006/table">
            <a:tbl>
              <a:tblPr/>
              <a:tblGrid>
                <a:gridCol w="182880"/>
                <a:gridCol w="610819"/>
                <a:gridCol w="610819"/>
                <a:gridCol w="794065"/>
                <a:gridCol w="1038393"/>
              </a:tblGrid>
              <a:tr h="352044">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6A3A"/>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English</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6A3A"/>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Pronunciation</a:t>
                      </a:r>
                      <a:endParaRPr lang="en-US" sz="750" dirty="0">
                        <a:latin typeface="Calibri" charset="0"/>
                        <a:ea typeface="Calibri" charset="0"/>
                        <a:cs typeface="Calibri" charset="0"/>
                      </a:endParaRPr>
                    </a:p>
                    <a:p>
                      <a:pPr algn="l" indent="0" marL="0">
                        <a:buNone/>
                      </a:pPr>
                      <a:r>
                        <a:rPr lang="en-US" sz="750" b="1" dirty="0">
                          <a:solidFill>
                            <a:srgbClr val="FFFFFF"/>
                          </a:solidFill>
                          <a:latin typeface="Calibri" pitchFamily="34" charset="0"/>
                          <a:ea typeface="Calibri" pitchFamily="34" charset="-122"/>
                          <a:cs typeface="Calibri" pitchFamily="34" charset="-120"/>
                        </a:rPr>
                        <a:t>Дуудлага</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6A3A"/>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Mongolian</a:t>
                      </a:r>
                      <a:endParaRPr lang="en-US" sz="750" dirty="0">
                        <a:latin typeface="Calibri" charset="0"/>
                        <a:ea typeface="Calibri" charset="0"/>
                        <a:cs typeface="Calibri" charset="0"/>
                      </a:endParaRPr>
                    </a:p>
                    <a:p>
                      <a:pPr algn="l" indent="0" marL="0">
                        <a:buNone/>
                      </a:pPr>
                      <a:r>
                        <a:rPr lang="en-US" sz="750" b="1" dirty="0">
                          <a:solidFill>
                            <a:srgbClr val="FFFFFF"/>
                          </a:solidFill>
                          <a:latin typeface="Calibri" pitchFamily="34" charset="0"/>
                          <a:ea typeface="Calibri" pitchFamily="34" charset="-122"/>
                          <a:cs typeface="Calibri" pitchFamily="34" charset="-120"/>
                        </a:rPr>
                        <a:t>Монгол</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6A3A"/>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Example sentence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6A3A"/>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6A3A"/>
                          </a:solidFill>
                          <a:latin typeface="Calibri" pitchFamily="34" charset="0"/>
                          <a:ea typeface="Calibri" pitchFamily="34" charset="-122"/>
                          <a:cs typeface="Calibri" pitchFamily="34" charset="-120"/>
                        </a:rPr>
                        <a:t>might happen</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/maɪt ˈhæpən/</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болж магадгүй</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It might happen sooner than we think.</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6A3A"/>
                          </a:solidFill>
                          <a:latin typeface="Calibri" pitchFamily="34" charset="0"/>
                          <a:ea typeface="Calibri" pitchFamily="34" charset="-122"/>
                          <a:cs typeface="Calibri" pitchFamily="34" charset="-120"/>
                        </a:rPr>
                        <a:t>could change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/kʊd tʃeɪndʒ/</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өөрчлөгдөж болзошгүй</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The situation could change overnight.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6A3A"/>
                          </a:solidFill>
                          <a:latin typeface="Calibri" pitchFamily="34" charset="0"/>
                          <a:ea typeface="Calibri" pitchFamily="34" charset="-122"/>
                          <a:cs typeface="Calibri" pitchFamily="34" charset="-120"/>
                        </a:rPr>
                        <a:t>should improve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/ʃʊd ɪmˈpruːv/</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сайжрах ёстой</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Things should improve with practice.</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4</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6A3A"/>
                          </a:solidFill>
                          <a:latin typeface="Calibri" pitchFamily="34" charset="0"/>
                          <a:ea typeface="Calibri" pitchFamily="34" charset="-122"/>
                          <a:cs typeface="Calibri" pitchFamily="34" charset="-120"/>
                        </a:rPr>
                        <a:t>may not</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/meɪ nɒt/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байж болохгүй байж магадгүй</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She may not come today.</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5</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6A3A"/>
                          </a:solidFill>
                          <a:latin typeface="Calibri" pitchFamily="34" charset="0"/>
                          <a:ea typeface="Calibri" pitchFamily="34" charset="-122"/>
                          <a:cs typeface="Calibri" pitchFamily="34" charset="-120"/>
                        </a:rPr>
                        <a:t>might not</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/maɪt nɒt/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болохгүй байж магадгүй</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It might not work as planned.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6</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6A3A"/>
                          </a:solidFill>
                          <a:latin typeface="Calibri" pitchFamily="34" charset="0"/>
                          <a:ea typeface="Calibri" pitchFamily="34" charset="-122"/>
                          <a:cs typeface="Calibri" pitchFamily="34" charset="-120"/>
                        </a:rPr>
                        <a:t>uncertain</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/ʌnˈsɜːrtən/</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тодорхойгүй</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The future is always uncertain.</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7</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6A3A"/>
                          </a:solidFill>
                          <a:latin typeface="Calibri" pitchFamily="34" charset="0"/>
                          <a:ea typeface="Calibri" pitchFamily="34" charset="-122"/>
                          <a:cs typeface="Calibri" pitchFamily="34" charset="-120"/>
                        </a:rPr>
                        <a:t>predict</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/prɪˈdɪkt/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таамаглах</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It's hard to predict the future.</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8</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6A3A"/>
                          </a:solidFill>
                          <a:latin typeface="Calibri" pitchFamily="34" charset="0"/>
                          <a:ea typeface="Calibri" pitchFamily="34" charset="-122"/>
                          <a:cs typeface="Calibri" pitchFamily="34" charset="-120"/>
                        </a:rPr>
                        <a:t>forecast</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/ˈfɔːrkɑːst/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цаг агаарын мэдээ / таамаглал</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The forecast says it might snow.</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9</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6A3A"/>
                          </a:solidFill>
                          <a:latin typeface="Calibri" pitchFamily="34" charset="0"/>
                          <a:ea typeface="Calibri" pitchFamily="34" charset="-122"/>
                          <a:cs typeface="Calibri" pitchFamily="34" charset="-120"/>
                        </a:rPr>
                        <a:t>tend to</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/tɛnd tuː/</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ерөнхийдөө ... хандлагатай</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Things tend to work out in the end.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10</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6A3A"/>
                          </a:solidFill>
                          <a:latin typeface="Calibri" pitchFamily="34" charset="0"/>
                          <a:ea typeface="Calibri" pitchFamily="34" charset="-122"/>
                          <a:cs typeface="Calibri" pitchFamily="34" charset="-120"/>
                        </a:rPr>
                        <a:t>presumably</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/prɪˈzjuːməbli/</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магадгүй / таамаглаж байгаагаар</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Presumably, he'll arrive by noon.</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11</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6A3A"/>
                          </a:solidFill>
                          <a:latin typeface="Calibri" pitchFamily="34" charset="0"/>
                          <a:ea typeface="Calibri" pitchFamily="34" charset="-122"/>
                          <a:cs typeface="Calibri" pitchFamily="34" charset="-120"/>
                        </a:rPr>
                        <a:t>apparently</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/əˈpærəntli/</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харагдахаар / хэлснээр</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Apparently, the event might be cancelled.</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12</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6A3A"/>
                          </a:solidFill>
                          <a:latin typeface="Calibri" pitchFamily="34" charset="0"/>
                          <a:ea typeface="Calibri" pitchFamily="34" charset="-122"/>
                          <a:cs typeface="Calibri" pitchFamily="34" charset="-120"/>
                        </a:rPr>
                        <a:t>eventually</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/ɪˈvɛntʃuəli/</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эцэстээ</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Eventually, it should all work out.</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13</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6A3A"/>
                          </a:solidFill>
                          <a:latin typeface="Calibri" pitchFamily="34" charset="0"/>
                          <a:ea typeface="Calibri" pitchFamily="34" charset="-122"/>
                          <a:cs typeface="Calibri" pitchFamily="34" charset="-120"/>
                        </a:rPr>
                        <a:t>optimistic</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/ˌɒptɪˈmɪstɪk/</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өөдрөг</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I'm optimistic — things could get better.</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14</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6A3A"/>
                          </a:solidFill>
                          <a:latin typeface="Calibri" pitchFamily="34" charset="0"/>
                          <a:ea typeface="Calibri" pitchFamily="34" charset="-122"/>
                          <a:cs typeface="Calibri" pitchFamily="34" charset="-120"/>
                        </a:rPr>
                        <a:t>pessimistic</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/ˌpɛsɪˈmɪstɪk/</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гунигтай / гутранги</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A pessimist says nothing might work.</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15</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6A3A"/>
                          </a:solidFill>
                          <a:latin typeface="Calibri" pitchFamily="34" charset="0"/>
                          <a:ea typeface="Calibri" pitchFamily="34" charset="-122"/>
                          <a:cs typeface="Calibri" pitchFamily="34" charset="-120"/>
                        </a:rPr>
                        <a:t>realistic</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/ˌrɪəˈlɪstɪk/</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бодитой</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Be realistic — it might take time.</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16</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6A3A"/>
                          </a:solidFill>
                          <a:latin typeface="Calibri" pitchFamily="34" charset="0"/>
                          <a:ea typeface="Calibri" pitchFamily="34" charset="-122"/>
                          <a:cs typeface="Calibri" pitchFamily="34" charset="-120"/>
                        </a:rPr>
                        <a:t>outcome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/ˈaʊtkʌm/</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үр дүн / гарц</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The outcome could go either way.</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17</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6A3A"/>
                          </a:solidFill>
                          <a:latin typeface="Calibri" pitchFamily="34" charset="0"/>
                          <a:ea typeface="Calibri" pitchFamily="34" charset="-122"/>
                          <a:cs typeface="Calibri" pitchFamily="34" charset="-120"/>
                        </a:rPr>
                        <a:t>scenario</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/sɪˈnɑːrioʊ/</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хувилбар / тандарт</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In the best scenario, it might work.</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18</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6A3A"/>
                          </a:solidFill>
                          <a:latin typeface="Calibri" pitchFamily="34" charset="0"/>
                          <a:ea typeface="Calibri" pitchFamily="34" charset="-122"/>
                          <a:cs typeface="Calibri" pitchFamily="34" charset="-120"/>
                        </a:rPr>
                        <a:t>alternative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/ɔːlˈtɜːrnətɪv/</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өөр хувилбар</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There could be an alternative solution.</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19</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1A6A3A"/>
                          </a:solidFill>
                          <a:latin typeface="Calibri" pitchFamily="34" charset="0"/>
                          <a:ea typeface="Calibri" pitchFamily="34" charset="-122"/>
                          <a:cs typeface="Calibri" pitchFamily="34" charset="-120"/>
                        </a:rPr>
                        <a:t>probability</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/ˌprɒbəˈbɪlɪti/</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магадлал</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The probability is quite low.</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352044">
                <a:tc>
                  <a:txBody>
                    <a:bodyPr/>
                    <a:lstStyle/>
                    <a:p>
                      <a:pPr algn="ctr" indent="0" marL="0">
                        <a:buNone/>
                      </a:pPr>
                      <a:r>
                        <a:rPr lang="en-US" sz="750" dirty="0">
                          <a:solidFill>
                            <a:srgbClr val="7A90A0"/>
                          </a:solidFill>
                          <a:latin typeface="Calibri" pitchFamily="34" charset="0"/>
                          <a:ea typeface="Calibri" pitchFamily="34" charset="-122"/>
                          <a:cs typeface="Calibri" pitchFamily="34" charset="-120"/>
                        </a:rPr>
                        <a:t>20</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1A6A3A"/>
                          </a:solidFill>
                          <a:latin typeface="Calibri" pitchFamily="34" charset="0"/>
                          <a:ea typeface="Calibri" pitchFamily="34" charset="-122"/>
                          <a:cs typeface="Calibri" pitchFamily="34" charset="-120"/>
                        </a:rPr>
                        <a:t>likelihood</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/ˈlaɪklɪhʊd/</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2A3A"/>
                          </a:solidFill>
                          <a:latin typeface="Calibri" pitchFamily="34" charset="0"/>
                          <a:ea typeface="Calibri" pitchFamily="34" charset="-122"/>
                          <a:cs typeface="Calibri" pitchFamily="34" charset="-120"/>
                        </a:rPr>
                        <a:t>боломж</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i="1" dirty="0">
                          <a:solidFill>
                            <a:srgbClr val="7A90A0"/>
                          </a:solidFill>
                          <a:latin typeface="Calibri" pitchFamily="34" charset="0"/>
                          <a:ea typeface="Calibri" pitchFamily="34" charset="-122"/>
                          <a:cs typeface="Calibri" pitchFamily="34" charset="-120"/>
                        </a:rPr>
                        <a:t>The likelihood of success is high.</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24" name="Shape 21"/>
          <p:cNvSpPr/>
          <p:nvPr/>
        </p:nvSpPr>
        <p:spPr>
          <a:xfrm>
            <a:off x="219456" y="9290304"/>
            <a:ext cx="3200400" cy="219456"/>
          </a:xfrm>
          <a:prstGeom prst="rect">
            <a:avLst/>
          </a:prstGeom>
          <a:solidFill>
            <a:srgbClr val="E0F4F4"/>
          </a:solidFill>
          <a:ln w="12700">
            <a:solidFill>
              <a:srgbClr val="0D7C7B"/>
            </a:solidFill>
            <a:prstDash val="solid"/>
          </a:ln>
        </p:spPr>
      </p:sp>
      <p:sp>
        <p:nvSpPr>
          <p:cNvPr id="25" name="Text 22"/>
          <p:cNvSpPr/>
          <p:nvPr/>
        </p:nvSpPr>
        <p:spPr>
          <a:xfrm>
            <a:off x="256032" y="9299448"/>
            <a:ext cx="3127248" cy="201168"/>
          </a:xfrm>
          <a:prstGeom prst="rect">
            <a:avLst/>
          </a:prstGeom>
          <a:noFill/>
          <a:ln/>
        </p:spPr>
        <p:txBody>
          <a:bodyPr wrap="square" lIns="0" tIns="0" rIns="0" bIns="0" rtlCol="0" anchor="ctr"/>
          <a:lstStyle/>
          <a:p>
            <a:pPr indent="0" marL="0">
              <a:lnSpc>
                <a:spcPct val="120000"/>
              </a:lnSpc>
              <a:buNone/>
            </a:pPr>
            <a:r>
              <a:rPr lang="en-US" sz="750" dirty="0">
                <a:solidFill>
                  <a:srgbClr val="0D7C7B"/>
                </a:solidFill>
                <a:latin typeface="Calibri" pitchFamily="34" charset="0"/>
                <a:ea typeface="Calibri" pitchFamily="34" charset="-122"/>
                <a:cs typeface="Calibri" pitchFamily="34" charset="-120"/>
              </a:rPr>
              <a:t>🔊  Presumably /prɪˈzjuːməbli/ — 4 syllables · Pessimistic /ˌpɛsɪˈmɪstɪk/ — 4 syllables</a:t>
            </a:r>
            <a:endParaRPr lang="en-US" sz="750" dirty="0"/>
          </a:p>
          <a:p>
            <a:pPr indent="0" marL="0">
              <a:lnSpc>
                <a:spcPct val="120000"/>
              </a:lnSpc>
              <a:buNone/>
            </a:pPr>
            <a:r>
              <a:rPr lang="en-US" sz="750" dirty="0">
                <a:solidFill>
                  <a:srgbClr val="0D7C7B"/>
                </a:solidFill>
                <a:latin typeface="Calibri" pitchFamily="34" charset="0"/>
                <a:ea typeface="Calibri" pitchFamily="34" charset="-122"/>
                <a:cs typeface="Calibri" pitchFamily="34" charset="-120"/>
              </a:rPr>
              <a:t>Optimistic — 4 үе: op-tih-MIS-tik. Pessimistic — 4 үе: pes-ih-MIS-tik. Realistic — 4 үе: ree-uh-LIS-tik.</a:t>
            </a:r>
            <a:endParaRPr lang="en-US" sz="750" dirty="0"/>
          </a:p>
        </p:txBody>
      </p:sp>
      <p:sp>
        <p:nvSpPr>
          <p:cNvPr id="26" name="Shape 23"/>
          <p:cNvSpPr/>
          <p:nvPr/>
        </p:nvSpPr>
        <p:spPr>
          <a:xfrm>
            <a:off x="3580790" y="874166"/>
            <a:ext cx="3127248" cy="8705088"/>
          </a:xfrm>
          <a:prstGeom prst="rect">
            <a:avLst/>
          </a:prstGeom>
          <a:solidFill>
            <a:srgbClr val="D0DCE8"/>
          </a:solidFill>
          <a:ln w="12700">
            <a:solidFill>
              <a:srgbClr val="D0DCE8"/>
            </a:solidFill>
            <a:prstDash val="solid"/>
          </a:ln>
        </p:spPr>
      </p:sp>
      <p:sp>
        <p:nvSpPr>
          <p:cNvPr id="27" name="Shape 24"/>
          <p:cNvSpPr/>
          <p:nvPr/>
        </p:nvSpPr>
        <p:spPr>
          <a:xfrm>
            <a:off x="3566160" y="859536"/>
            <a:ext cx="3127248" cy="8705088"/>
          </a:xfrm>
          <a:prstGeom prst="rect">
            <a:avLst/>
          </a:prstGeom>
          <a:solidFill>
            <a:srgbClr val="FFFFFF"/>
          </a:solidFill>
          <a:ln w="12700">
            <a:solidFill>
              <a:srgbClr val="C8D8E8"/>
            </a:solidFill>
            <a:prstDash val="solid"/>
          </a:ln>
        </p:spPr>
      </p:sp>
      <p:sp>
        <p:nvSpPr>
          <p:cNvPr id="28" name="Shape 25"/>
          <p:cNvSpPr/>
          <p:nvPr/>
        </p:nvSpPr>
        <p:spPr>
          <a:xfrm>
            <a:off x="3566160" y="859536"/>
            <a:ext cx="3127248" cy="256032"/>
          </a:xfrm>
          <a:prstGeom prst="rect">
            <a:avLst/>
          </a:prstGeom>
          <a:solidFill>
            <a:srgbClr val="6B3FA0"/>
          </a:solidFill>
          <a:ln w="12700">
            <a:solidFill>
              <a:srgbClr val="6B3FA0"/>
            </a:solidFill>
            <a:prstDash val="solid"/>
          </a:ln>
        </p:spPr>
      </p:sp>
      <p:sp>
        <p:nvSpPr>
          <p:cNvPr id="29" name="Shape 26"/>
          <p:cNvSpPr/>
          <p:nvPr/>
        </p:nvSpPr>
        <p:spPr>
          <a:xfrm>
            <a:off x="3566160" y="1115568"/>
            <a:ext cx="3127248" cy="146304"/>
          </a:xfrm>
          <a:prstGeom prst="rect">
            <a:avLst/>
          </a:prstGeom>
          <a:solidFill>
            <a:srgbClr val="F0EAFA"/>
          </a:solidFill>
          <a:ln w="12700">
            <a:solidFill>
              <a:srgbClr val="F0EAFA"/>
            </a:solidFill>
            <a:prstDash val="solid"/>
          </a:ln>
        </p:spPr>
      </p:sp>
      <p:sp>
        <p:nvSpPr>
          <p:cNvPr id="30" name="Text 27"/>
          <p:cNvSpPr/>
          <p:nvPr/>
        </p:nvSpPr>
        <p:spPr>
          <a:xfrm>
            <a:off x="3657600" y="859536"/>
            <a:ext cx="299923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Grammar — Might / Could / Should — future predictions with uncertainty</a:t>
            </a:r>
            <a:endParaRPr lang="en-US" sz="1050" dirty="0"/>
          </a:p>
        </p:txBody>
      </p:sp>
      <p:sp>
        <p:nvSpPr>
          <p:cNvPr id="31" name="Text 28"/>
          <p:cNvSpPr/>
          <p:nvPr/>
        </p:nvSpPr>
        <p:spPr>
          <a:xfrm>
            <a:off x="3657600" y="1124712"/>
            <a:ext cx="299923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Learn step by step  ·  Алхам алхмаар судлаарай</a:t>
            </a:r>
            <a:endParaRPr lang="en-US" sz="750" dirty="0"/>
          </a:p>
        </p:txBody>
      </p:sp>
      <p:sp>
        <p:nvSpPr>
          <p:cNvPr id="32" name="Text 29"/>
          <p:cNvSpPr/>
          <p:nvPr/>
        </p:nvSpPr>
        <p:spPr>
          <a:xfrm>
            <a:off x="3648456" y="1289304"/>
            <a:ext cx="2980944" cy="402336"/>
          </a:xfrm>
          <a:prstGeom prst="rect">
            <a:avLst/>
          </a:prstGeom>
          <a:noFill/>
          <a:ln/>
        </p:spPr>
        <p:txBody>
          <a:bodyPr wrap="square" lIns="0" tIns="0" rIns="0" bIns="0" rtlCol="0" anchor="t"/>
          <a:lstStyle/>
          <a:p>
            <a:pPr indent="0" marL="0">
              <a:lnSpc>
                <a:spcPct val="128000"/>
              </a:lnSpc>
              <a:buNone/>
            </a:pPr>
            <a:r>
              <a:rPr lang="en-US" sz="800" dirty="0">
                <a:solidFill>
                  <a:srgbClr val="1A2A3A"/>
                </a:solidFill>
                <a:latin typeface="Calibri" pitchFamily="34" charset="0"/>
                <a:ea typeface="Calibri" pitchFamily="34" charset="-122"/>
                <a:cs typeface="Calibri" pitchFamily="34" charset="-120"/>
              </a:rPr>
              <a:t>For FUTURE UNCERTAINTY, we use modal verbs instead of 'will': MIGHT = small possibility, I'm not very sure (40-60%): 'It might rain.' MAY = slightly more formal, similar to might (40-60%): 'She may arrive late.' COULD = possibility or suggestion (40-60%): 'There could be delays.' SHOULD = expectation, things going as expected (80%): 'The package should arrive tomorrow.' These modals help you sound more natural and less absolute — the future is rarely certain!</a:t>
            </a:r>
            <a:endParaRPr lang="en-US" sz="800" dirty="0"/>
          </a:p>
        </p:txBody>
      </p:sp>
      <p:sp>
        <p:nvSpPr>
          <p:cNvPr id="33" name="Text 30"/>
          <p:cNvSpPr/>
          <p:nvPr/>
        </p:nvSpPr>
        <p:spPr>
          <a:xfrm>
            <a:off x="3648456" y="1709928"/>
            <a:ext cx="2980944" cy="347472"/>
          </a:xfrm>
          <a:prstGeom prst="rect">
            <a:avLst/>
          </a:prstGeom>
          <a:noFill/>
          <a:ln/>
        </p:spPr>
        <p:txBody>
          <a:bodyPr wrap="square" lIns="0" tIns="0" rIns="0" bIns="0" rtlCol="0" anchor="t"/>
          <a:lstStyle/>
          <a:p>
            <a:pPr indent="0" marL="0">
              <a:lnSpc>
                <a:spcPct val="125000"/>
              </a:lnSpc>
              <a:buNone/>
            </a:pPr>
            <a:r>
              <a:rPr lang="en-US" sz="750" dirty="0">
                <a:solidFill>
                  <a:srgbClr val="3A5060"/>
                </a:solidFill>
                <a:latin typeface="Calibri" pitchFamily="34" charset="0"/>
                <a:ea typeface="Calibri" pitchFamily="34" charset="-122"/>
                <a:cs typeface="Calibri" pitchFamily="34" charset="-120"/>
              </a:rPr>
              <a:t>ИРЭЭДҮЙН ТОДОРХОЙГҮЙ байдалд 'will'-ийн оронд modal үйлүгс хэрэглэнэ: MIGHT = бага зэрэг боломж, тийм баттай биш (40-60%): 'It might rain.' MAY = нэг хэмжээгээр бүдүүвч might-тэй төстэй (40-60%). COULD = боломж эсвэл санал (40-60%): 'There could be delays.' SHOULD = хүлээлт, зүйл нь зохистой явагдах (80%): 'It should arrive tomorrow.' Эдгээр modal нь ирээдүй нь үргэлж тодорхойгүй гэсэн нарийн утгыг илэрхийлдэг.</a:t>
            </a:r>
            <a:endParaRPr lang="en-US" sz="750" dirty="0"/>
          </a:p>
        </p:txBody>
      </p:sp>
      <p:graphicFrame>
        <p:nvGraphicFramePr>
          <p:cNvPr id="3" name="Table 1"/>
          <p:cNvGraphicFramePr>
            <a:graphicFrameLocks noGrp="1"/>
          </p:cNvGraphicFramePr>
          <p:nvPr>
            <p:extLst>
              <p:ext uri="{D42A27DB-BD31-4B8C-83A1-F6EECF244321}">
                <p14:modId xmlns:p14="http://schemas.microsoft.com/office/powerpoint/2010/main" val="1579011935"/>
              </p:ext>
            </p:extLst>
          </p:nvPr>
        </p:nvGraphicFramePr>
        <p:xfrm>
          <a:off x="3639312" y="2075688"/>
          <a:ext cx="2980944" cy="914400"/>
        </p:xfrm>
        <a:graphic>
          <a:graphicData uri="http://schemas.openxmlformats.org/drawingml/2006/table">
            <a:tbl>
              <a:tblPr/>
              <a:tblGrid>
                <a:gridCol w="417332"/>
                <a:gridCol w="417332"/>
                <a:gridCol w="536570"/>
                <a:gridCol w="536570"/>
                <a:gridCol w="536570"/>
                <a:gridCol w="536570"/>
              </a:tblGrid>
              <a:tr h="192024">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Form</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Rule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Example +</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Example −</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Question</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Монгол</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1A3A5C"/>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might + base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6B3FA0"/>
                          </a:solidFill>
                          <a:latin typeface="Calibri" pitchFamily="34" charset="0"/>
                          <a:ea typeface="Calibri" pitchFamily="34" charset="-122"/>
                          <a:cs typeface="Calibri" pitchFamily="34" charset="-120"/>
                        </a:rPr>
                        <a:t>40-60% possible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It might rain tomorrow.</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It might not rain.</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Might it rain?</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боломжтой (тодорхойгүй)</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may + base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6B3FA0"/>
                          </a:solidFill>
                          <a:latin typeface="Calibri" pitchFamily="34" charset="0"/>
                          <a:ea typeface="Calibri" pitchFamily="34" charset="-122"/>
                          <a:cs typeface="Calibri" pitchFamily="34" charset="-120"/>
                        </a:rPr>
                        <a:t>40-60% formal</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She may arrive late.</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She may not arrive.</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May she come?</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боломжтой (бүдүүвч)</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could + base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6B3FA0"/>
                          </a:solidFill>
                          <a:latin typeface="Calibri" pitchFamily="34" charset="0"/>
                          <a:ea typeface="Calibri" pitchFamily="34" charset="-122"/>
                          <a:cs typeface="Calibri" pitchFamily="34" charset="-120"/>
                        </a:rPr>
                        <a:t>40-60% alternative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There could be delays.</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There couldn't be delays.</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Could there be delays?</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боломжтой (хувилбар)</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should + base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b="1" dirty="0">
                          <a:solidFill>
                            <a:srgbClr val="6B3FA0"/>
                          </a:solidFill>
                          <a:latin typeface="Calibri" pitchFamily="34" charset="0"/>
                          <a:ea typeface="Calibri" pitchFamily="34" charset="-122"/>
                          <a:cs typeface="Calibri" pitchFamily="34" charset="-120"/>
                        </a:rPr>
                        <a:t>~80% expected</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It should arrive tomorrow.</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It shouldn't take long.</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Should it arrive soon?</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хүлээгдэж байгаа</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2024">
                <a:tc>
                  <a:txBody>
                    <a:bodyPr/>
                    <a:lstStyle/>
                    <a:p>
                      <a:pPr algn="l" indent="0" marL="0">
                        <a:buNone/>
                      </a:pPr>
                      <a:r>
                        <a:rPr lang="en-US" sz="750" b="1" dirty="0">
                          <a:solidFill>
                            <a:srgbClr val="2E6DA4"/>
                          </a:solidFill>
                          <a:latin typeface="Calibri" pitchFamily="34" charset="0"/>
                          <a:ea typeface="Calibri" pitchFamily="34" charset="-122"/>
                          <a:cs typeface="Calibri" pitchFamily="34" charset="-120"/>
                        </a:rPr>
                        <a:t>will + base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b="1" dirty="0">
                          <a:solidFill>
                            <a:srgbClr val="6B3FA0"/>
                          </a:solidFill>
                          <a:latin typeface="Calibri" pitchFamily="34" charset="0"/>
                          <a:ea typeface="Calibri" pitchFamily="34" charset="-122"/>
                          <a:cs typeface="Calibri" pitchFamily="34" charset="-120"/>
                        </a:rPr>
                        <a:t>~95% certain</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1A2A3A"/>
                          </a:solidFill>
                          <a:latin typeface="Calibri" pitchFamily="34" charset="0"/>
                          <a:ea typeface="Calibri" pitchFamily="34" charset="-122"/>
                          <a:cs typeface="Calibri" pitchFamily="34" charset="-120"/>
                        </a:rPr>
                        <a:t>It will definitely rain.</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B83030"/>
                          </a:solidFill>
                          <a:latin typeface="Calibri" pitchFamily="34" charset="0"/>
                          <a:ea typeface="Calibri" pitchFamily="34" charset="-122"/>
                          <a:cs typeface="Calibri" pitchFamily="34" charset="-120"/>
                        </a:rPr>
                        <a:t>It won't rain.</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00" dirty="0">
                          <a:solidFill>
                            <a:srgbClr val="0D7C7B"/>
                          </a:solidFill>
                          <a:latin typeface="Calibri" pitchFamily="34" charset="0"/>
                          <a:ea typeface="Calibri" pitchFamily="34" charset="-122"/>
                          <a:cs typeface="Calibri" pitchFamily="34" charset="-120"/>
                        </a:rPr>
                        <a:t>Will it rain?</a:t>
                      </a:r>
                      <a:endParaRPr lang="en-US" sz="7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dirty="0">
                          <a:solidFill>
                            <a:srgbClr val="3A5060"/>
                          </a:solidFill>
                          <a:latin typeface="Calibri" pitchFamily="34" charset="0"/>
                          <a:ea typeface="Calibri" pitchFamily="34" charset="-122"/>
                          <a:cs typeface="Calibri" pitchFamily="34" charset="-120"/>
                        </a:rPr>
                        <a:t>бараг тодорхой (лүнтэй)</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bl>
          </a:graphicData>
        </a:graphic>
      </p:graphicFrame>
      <p:sp>
        <p:nvSpPr>
          <p:cNvPr id="35" name="Shape 31"/>
          <p:cNvSpPr/>
          <p:nvPr/>
        </p:nvSpPr>
        <p:spPr>
          <a:xfrm>
            <a:off x="3639312" y="3273552"/>
            <a:ext cx="2980944" cy="164592"/>
          </a:xfrm>
          <a:prstGeom prst="rect">
            <a:avLst/>
          </a:prstGeom>
          <a:solidFill>
            <a:srgbClr val="0D7C7B"/>
          </a:solidFill>
          <a:ln w="12700">
            <a:solidFill>
              <a:srgbClr val="0D7C7B"/>
            </a:solidFill>
            <a:prstDash val="solid"/>
          </a:ln>
        </p:spPr>
      </p:sp>
      <p:sp>
        <p:nvSpPr>
          <p:cNvPr id="36" name="Text 32"/>
          <p:cNvSpPr/>
          <p:nvPr/>
        </p:nvSpPr>
        <p:spPr>
          <a:xfrm>
            <a:off x="3657600" y="3273552"/>
            <a:ext cx="2980944"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  Key Forms</a:t>
            </a:r>
            <a:endParaRPr lang="en-US" sz="800" dirty="0"/>
          </a:p>
        </p:txBody>
      </p:sp>
      <p:sp>
        <p:nvSpPr>
          <p:cNvPr id="37" name="Shape 33"/>
          <p:cNvSpPr/>
          <p:nvPr/>
        </p:nvSpPr>
        <p:spPr>
          <a:xfrm>
            <a:off x="3639312" y="3438144"/>
            <a:ext cx="2980944" cy="274320"/>
          </a:xfrm>
          <a:prstGeom prst="rect">
            <a:avLst/>
          </a:prstGeom>
          <a:solidFill>
            <a:srgbClr val="E0F4F4"/>
          </a:solidFill>
          <a:ln w="12700">
            <a:solidFill>
              <a:srgbClr val="0D7C7B"/>
            </a:solidFill>
            <a:prstDash val="solid"/>
          </a:ln>
        </p:spPr>
      </p:sp>
      <p:sp>
        <p:nvSpPr>
          <p:cNvPr id="38" name="Text 34"/>
          <p:cNvSpPr/>
          <p:nvPr/>
        </p:nvSpPr>
        <p:spPr>
          <a:xfrm>
            <a:off x="3657600" y="3465576"/>
            <a:ext cx="1639519" cy="237744"/>
          </a:xfrm>
          <a:prstGeom prst="rect">
            <a:avLst/>
          </a:prstGeom>
          <a:noFill/>
          <a:ln/>
        </p:spPr>
        <p:txBody>
          <a:bodyPr wrap="square" lIns="0" tIns="0" rIns="0" bIns="0" rtlCol="0" anchor="t"/>
          <a:lstStyle/>
          <a:p>
            <a:pPr indent="0" marL="0">
              <a:lnSpc>
                <a:spcPct val="130000"/>
              </a:lnSpc>
              <a:buNone/>
            </a:pPr>
            <a:r>
              <a:rPr lang="en-US" sz="850" b="1" dirty="0">
                <a:solidFill>
                  <a:srgbClr val="0D7C7B"/>
                </a:solidFill>
                <a:latin typeface="Calibri" pitchFamily="34" charset="0"/>
                <a:ea typeface="Calibri" pitchFamily="34" charset="-122"/>
                <a:cs typeface="Calibri" pitchFamily="34" charset="-120"/>
              </a:rPr>
              <a:t>might / may / could = 40-60% possible</a:t>
            </a:r>
            <a:endParaRPr lang="en-US" sz="850" dirty="0"/>
          </a:p>
          <a:p>
            <a:pPr indent="0" marL="0">
              <a:lnSpc>
                <a:spcPct val="130000"/>
              </a:lnSpc>
              <a:buNone/>
            </a:pPr>
            <a:r>
              <a:rPr lang="en-US" sz="850" b="1" dirty="0">
                <a:solidFill>
                  <a:srgbClr val="0D7C7B"/>
                </a:solidFill>
                <a:latin typeface="Calibri" pitchFamily="34" charset="0"/>
                <a:ea typeface="Calibri" pitchFamily="34" charset="-122"/>
                <a:cs typeface="Calibri" pitchFamily="34" charset="-120"/>
              </a:rPr>
              <a:t>should = 80% expected (things going as planned)</a:t>
            </a:r>
            <a:endParaRPr lang="en-US" sz="850" dirty="0"/>
          </a:p>
          <a:p>
            <a:pPr indent="0" marL="0">
              <a:lnSpc>
                <a:spcPct val="130000"/>
              </a:lnSpc>
              <a:buNone/>
            </a:pPr>
            <a:r>
              <a:rPr lang="en-US" sz="850" b="1" dirty="0">
                <a:solidFill>
                  <a:srgbClr val="0D7C7B"/>
                </a:solidFill>
                <a:latin typeface="Calibri" pitchFamily="34" charset="0"/>
                <a:ea typeface="Calibri" pitchFamily="34" charset="-122"/>
                <a:cs typeface="Calibri" pitchFamily="34" charset="-120"/>
              </a:rPr>
              <a:t>will = 95% certain (very strong prediction)</a:t>
            </a:r>
            <a:endParaRPr lang="en-US" sz="850" dirty="0"/>
          </a:p>
          <a:p>
            <a:pPr indent="0" marL="0">
              <a:lnSpc>
                <a:spcPct val="130000"/>
              </a:lnSpc>
              <a:buNone/>
            </a:pPr>
            <a:r>
              <a:rPr lang="en-US" sz="850" b="1" dirty="0">
                <a:solidFill>
                  <a:srgbClr val="0D7C7B"/>
                </a:solidFill>
                <a:latin typeface="Calibri" pitchFamily="34" charset="0"/>
                <a:ea typeface="Calibri" pitchFamily="34" charset="-122"/>
                <a:cs typeface="Calibri" pitchFamily="34" charset="-120"/>
              </a:rPr>
              <a:t>Add 'probably' to boost: 'It will probably rain.' (~80%)</a:t>
            </a:r>
            <a:endParaRPr lang="en-US" sz="850" dirty="0"/>
          </a:p>
        </p:txBody>
      </p:sp>
      <p:sp>
        <p:nvSpPr>
          <p:cNvPr id="39" name="Text 35"/>
          <p:cNvSpPr/>
          <p:nvPr/>
        </p:nvSpPr>
        <p:spPr>
          <a:xfrm>
            <a:off x="5297119" y="3465576"/>
            <a:ext cx="1311615" cy="237744"/>
          </a:xfrm>
          <a:prstGeom prst="rect">
            <a:avLst/>
          </a:prstGeom>
          <a:noFill/>
          <a:ln/>
        </p:spPr>
        <p:txBody>
          <a:bodyPr wrap="square" lIns="0" tIns="0" rIns="0" bIns="0" rtlCol="0" anchor="t"/>
          <a:lstStyle/>
          <a:p>
            <a:pPr indent="0" marL="0">
              <a:lnSpc>
                <a:spcPct val="130000"/>
              </a:lnSpc>
              <a:buNone/>
            </a:pPr>
            <a:r>
              <a:rPr lang="en-US" sz="750" i="1" dirty="0">
                <a:solidFill>
                  <a:srgbClr val="3A5060"/>
                </a:solidFill>
                <a:latin typeface="Calibri" pitchFamily="34" charset="0"/>
                <a:ea typeface="Calibri" pitchFamily="34" charset="-122"/>
                <a:cs typeface="Calibri" pitchFamily="34" charset="-120"/>
              </a:rPr>
              <a:t>MIGHT / MAY / COULD — ижил утгатай, 40-60% боломж</a:t>
            </a:r>
            <a:endParaRPr lang="en-US" sz="750" dirty="0"/>
          </a:p>
          <a:p>
            <a:pPr indent="0" marL="0">
              <a:lnSpc>
                <a:spcPct val="130000"/>
              </a:lnSpc>
              <a:buNone/>
            </a:pPr>
            <a:r>
              <a:rPr lang="en-US" sz="750" i="1" dirty="0">
                <a:solidFill>
                  <a:srgbClr val="3A5060"/>
                </a:solidFill>
                <a:latin typeface="Calibri" pitchFamily="34" charset="0"/>
                <a:ea typeface="Calibri" pitchFamily="34" charset="-122"/>
                <a:cs typeface="Calibri" pitchFamily="34" charset="-120"/>
              </a:rPr>
              <a:t>SHOULD — зүйл зохистой явагдах, 80%</a:t>
            </a:r>
            <a:endParaRPr lang="en-US" sz="750" dirty="0"/>
          </a:p>
          <a:p>
            <a:pPr indent="0" marL="0">
              <a:lnSpc>
                <a:spcPct val="130000"/>
              </a:lnSpc>
              <a:buNone/>
            </a:pPr>
            <a:r>
              <a:rPr lang="en-US" sz="750" i="1" dirty="0">
                <a:solidFill>
                  <a:srgbClr val="3A5060"/>
                </a:solidFill>
                <a:latin typeface="Calibri" pitchFamily="34" charset="0"/>
                <a:ea typeface="Calibri" pitchFamily="34" charset="-122"/>
                <a:cs typeface="Calibri" pitchFamily="34" charset="-120"/>
              </a:rPr>
              <a:t>WILL — бараг тодорхой, 95%</a:t>
            </a:r>
            <a:endParaRPr lang="en-US" sz="750" dirty="0"/>
          </a:p>
          <a:p>
            <a:pPr indent="0" marL="0">
              <a:lnSpc>
                <a:spcPct val="130000"/>
              </a:lnSpc>
              <a:buNone/>
            </a:pPr>
            <a:r>
              <a:rPr lang="en-US" sz="750" i="1" dirty="0">
                <a:solidFill>
                  <a:srgbClr val="3A5060"/>
                </a:solidFill>
                <a:latin typeface="Calibri" pitchFamily="34" charset="0"/>
                <a:ea typeface="Calibri" pitchFamily="34" charset="-122"/>
                <a:cs typeface="Calibri" pitchFamily="34" charset="-120"/>
              </a:rPr>
              <a:t>'probably' нэмэхэд: 'It will probably rain' = 80%</a:t>
            </a:r>
            <a:endParaRPr lang="en-US" sz="750" dirty="0"/>
          </a:p>
        </p:txBody>
      </p:sp>
      <p:sp>
        <p:nvSpPr>
          <p:cNvPr id="40" name="Shape 36"/>
          <p:cNvSpPr/>
          <p:nvPr/>
        </p:nvSpPr>
        <p:spPr>
          <a:xfrm>
            <a:off x="3639312" y="3749040"/>
            <a:ext cx="2980944" cy="164592"/>
          </a:xfrm>
          <a:prstGeom prst="rect">
            <a:avLst/>
          </a:prstGeom>
          <a:solidFill>
            <a:srgbClr val="1A3A5C"/>
          </a:solidFill>
          <a:ln w="12700">
            <a:solidFill>
              <a:srgbClr val="1A3A5C"/>
            </a:solidFill>
            <a:prstDash val="solid"/>
          </a:ln>
        </p:spPr>
      </p:sp>
      <p:sp>
        <p:nvSpPr>
          <p:cNvPr id="41" name="Text 37"/>
          <p:cNvSpPr/>
          <p:nvPr/>
        </p:nvSpPr>
        <p:spPr>
          <a:xfrm>
            <a:off x="3657600" y="3749040"/>
            <a:ext cx="2980944"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  Rules &amp; Usage</a:t>
            </a:r>
            <a:endParaRPr lang="en-US" sz="800" dirty="0"/>
          </a:p>
        </p:txBody>
      </p:sp>
      <p:sp>
        <p:nvSpPr>
          <p:cNvPr id="42" name="Shape 38"/>
          <p:cNvSpPr/>
          <p:nvPr/>
        </p:nvSpPr>
        <p:spPr>
          <a:xfrm>
            <a:off x="3639312" y="3913632"/>
            <a:ext cx="2980944" cy="310896"/>
          </a:xfrm>
          <a:prstGeom prst="rect">
            <a:avLst/>
          </a:prstGeom>
          <a:solidFill>
            <a:srgbClr val="F8FAFC"/>
          </a:solidFill>
          <a:ln w="12700">
            <a:solidFill>
              <a:srgbClr val="C8D8E8"/>
            </a:solidFill>
            <a:prstDash val="solid"/>
          </a:ln>
        </p:spPr>
      </p:sp>
      <p:sp>
        <p:nvSpPr>
          <p:cNvPr id="43" name="Text 39"/>
          <p:cNvSpPr/>
          <p:nvPr/>
        </p:nvSpPr>
        <p:spPr>
          <a:xfrm>
            <a:off x="3657600" y="3941064"/>
            <a:ext cx="2944368" cy="274320"/>
          </a:xfrm>
          <a:prstGeom prst="rect">
            <a:avLst/>
          </a:prstGeom>
          <a:noFill/>
          <a:ln/>
        </p:spPr>
        <p:txBody>
          <a:bodyPr wrap="square" lIns="0" tIns="0" rIns="0" bIns="0" rtlCol="0" anchor="t"/>
          <a:lstStyle/>
          <a:p>
            <a:pPr indent="0" marL="0">
              <a:lnSpc>
                <a:spcPct val="130000"/>
              </a:lnSpc>
              <a:buNone/>
            </a:pPr>
            <a:r>
              <a:rPr lang="en-US" sz="800" b="1" dirty="0">
                <a:solidFill>
                  <a:srgbClr val="B83030"/>
                </a:solidFill>
                <a:latin typeface="Calibri" pitchFamily="34" charset="0"/>
                <a:ea typeface="Calibri" pitchFamily="34" charset="-122"/>
                <a:cs typeface="Calibri" pitchFamily="34" charset="-120"/>
              </a:rPr>
              <a:t>Rule 1: </a:t>
            </a:r>
            <a:pPr indent="0" marL="0">
              <a:lnSpc>
                <a:spcPct val="130000"/>
              </a:lnSpc>
              <a:buNone/>
            </a:pPr>
            <a:r>
              <a:rPr lang="en-US" sz="800" dirty="0">
                <a:solidFill>
                  <a:srgbClr val="1A2A3A"/>
                </a:solidFill>
                <a:latin typeface="Calibri" pitchFamily="34" charset="0"/>
                <a:ea typeface="Calibri" pitchFamily="34" charset="-122"/>
                <a:cs typeface="Calibri" pitchFamily="34" charset="-120"/>
              </a:rPr>
              <a:t>It MIGHT NOT work as planned. She MAY NOT come today. There SHOULDN'T be any problems. It WON'T be easy.
</a:t>
            </a:r>
            <a:pPr indent="0" marL="0">
              <a:lnSpc>
                <a:spcPct val="130000"/>
              </a:lnSpc>
              <a:buNone/>
            </a:pPr>
            <a:r>
              <a:rPr lang="en-US" sz="800" b="1" dirty="0">
                <a:solidFill>
                  <a:srgbClr val="0D7C7B"/>
                </a:solidFill>
                <a:latin typeface="Calibri" pitchFamily="34" charset="0"/>
                <a:ea typeface="Calibri" pitchFamily="34" charset="-122"/>
                <a:cs typeface="Calibri" pitchFamily="34" charset="-120"/>
              </a:rPr>
              <a:t>Rule 2: </a:t>
            </a:r>
            <a:pPr indent="0" marL="0">
              <a:lnSpc>
                <a:spcPct val="130000"/>
              </a:lnSpc>
              <a:buNone/>
            </a:pPr>
            <a:r>
              <a:rPr lang="en-US" sz="800" dirty="0">
                <a:solidFill>
                  <a:srgbClr val="1A2A3A"/>
                </a:solidFill>
                <a:latin typeface="Calibri" pitchFamily="34" charset="0"/>
                <a:ea typeface="Calibri" pitchFamily="34" charset="-122"/>
                <a:cs typeface="Calibri" pitchFamily="34" charset="-120"/>
              </a:rPr>
              <a:t>MIGHT it rain? COULD there be delays? SHOULD it arrive today? WHAT might happen next? WHEN could we know?</a:t>
            </a:r>
            <a:endParaRPr lang="en-US" sz="800" dirty="0"/>
          </a:p>
        </p:txBody>
      </p:sp>
      <p:sp>
        <p:nvSpPr>
          <p:cNvPr id="44" name="Shape 40"/>
          <p:cNvSpPr/>
          <p:nvPr/>
        </p:nvSpPr>
        <p:spPr>
          <a:xfrm>
            <a:off x="3639312" y="4261104"/>
            <a:ext cx="1463040" cy="164592"/>
          </a:xfrm>
          <a:prstGeom prst="rect">
            <a:avLst/>
          </a:prstGeom>
          <a:solidFill>
            <a:srgbClr val="C97A0A"/>
          </a:solidFill>
          <a:ln w="12700">
            <a:solidFill>
              <a:srgbClr val="C97A0A"/>
            </a:solidFill>
            <a:prstDash val="solid"/>
          </a:ln>
        </p:spPr>
      </p:sp>
      <p:sp>
        <p:nvSpPr>
          <p:cNvPr id="45" name="Text 41"/>
          <p:cNvSpPr/>
          <p:nvPr/>
        </p:nvSpPr>
        <p:spPr>
          <a:xfrm>
            <a:off x="3639312" y="4261104"/>
            <a:ext cx="1463040" cy="164592"/>
          </a:xfrm>
          <a:prstGeom prst="rect">
            <a:avLst/>
          </a:prstGeom>
          <a:noFill/>
          <a:ln/>
        </p:spPr>
        <p:txBody>
          <a:bodyPr wrap="square" lIns="0" tIns="6350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  Grammar Tip</a:t>
            </a:r>
            <a:endParaRPr lang="en-US" sz="800" dirty="0"/>
          </a:p>
        </p:txBody>
      </p:sp>
      <p:sp>
        <p:nvSpPr>
          <p:cNvPr id="46" name="Shape 42"/>
          <p:cNvSpPr/>
          <p:nvPr/>
        </p:nvSpPr>
        <p:spPr>
          <a:xfrm>
            <a:off x="5138928" y="4261104"/>
            <a:ext cx="1463040" cy="164592"/>
          </a:xfrm>
          <a:prstGeom prst="rect">
            <a:avLst/>
          </a:prstGeom>
          <a:solidFill>
            <a:srgbClr val="B83030"/>
          </a:solidFill>
          <a:ln w="12700">
            <a:solidFill>
              <a:srgbClr val="B83030"/>
            </a:solidFill>
            <a:prstDash val="solid"/>
          </a:ln>
        </p:spPr>
      </p:sp>
      <p:sp>
        <p:nvSpPr>
          <p:cNvPr id="47" name="Text 43"/>
          <p:cNvSpPr/>
          <p:nvPr/>
        </p:nvSpPr>
        <p:spPr>
          <a:xfrm>
            <a:off x="5138928" y="4261104"/>
            <a:ext cx="1463040" cy="164592"/>
          </a:xfrm>
          <a:prstGeom prst="rect">
            <a:avLst/>
          </a:prstGeom>
          <a:noFill/>
          <a:ln/>
        </p:spPr>
        <p:txBody>
          <a:bodyPr wrap="square" lIns="0" tIns="6350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  Common Mistakes</a:t>
            </a:r>
            <a:endParaRPr lang="en-US" sz="800" dirty="0"/>
          </a:p>
        </p:txBody>
      </p:sp>
      <p:sp>
        <p:nvSpPr>
          <p:cNvPr id="48" name="Shape 44"/>
          <p:cNvSpPr/>
          <p:nvPr/>
        </p:nvSpPr>
        <p:spPr>
          <a:xfrm>
            <a:off x="3639312" y="4425696"/>
            <a:ext cx="1463040" cy="2144817"/>
          </a:xfrm>
          <a:prstGeom prst="rect">
            <a:avLst/>
          </a:prstGeom>
          <a:solidFill>
            <a:srgbClr val="FEF3DC"/>
          </a:solidFill>
          <a:ln w="12700">
            <a:solidFill>
              <a:srgbClr val="C97A0A"/>
            </a:solidFill>
            <a:prstDash val="solid"/>
          </a:ln>
        </p:spPr>
      </p:sp>
      <p:sp>
        <p:nvSpPr>
          <p:cNvPr id="49" name="Text 45"/>
          <p:cNvSpPr/>
          <p:nvPr/>
        </p:nvSpPr>
        <p:spPr>
          <a:xfrm>
            <a:off x="3666744" y="4462272"/>
            <a:ext cx="1380744" cy="2089953"/>
          </a:xfrm>
          <a:prstGeom prst="rect">
            <a:avLst/>
          </a:prstGeom>
          <a:noFill/>
          <a:ln/>
        </p:spPr>
        <p:txBody>
          <a:bodyPr wrap="square" lIns="0" tIns="0" rIns="0" bIns="0" rtlCol="0" anchor="t"/>
          <a:lstStyle/>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might/may/could = possible (not sure)</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should = expected (usually happens)</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will = definite prediction</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might not / may not = maybe not</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shouldn't = not expected to happen</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Add 'probably' for nuance: 'probably will'</a:t>
            </a:r>
            <a:endParaRPr lang="en-US" sz="780" dirty="0"/>
          </a:p>
        </p:txBody>
      </p:sp>
      <p:sp>
        <p:nvSpPr>
          <p:cNvPr id="50" name="Shape 46"/>
          <p:cNvSpPr/>
          <p:nvPr/>
        </p:nvSpPr>
        <p:spPr>
          <a:xfrm>
            <a:off x="5138928" y="4425696"/>
            <a:ext cx="1463040" cy="2144817"/>
          </a:xfrm>
          <a:prstGeom prst="rect">
            <a:avLst/>
          </a:prstGeom>
          <a:solidFill>
            <a:srgbClr val="FDECEA"/>
          </a:solidFill>
          <a:ln w="12700">
            <a:solidFill>
              <a:srgbClr val="B83030"/>
            </a:solidFill>
            <a:prstDash val="solid"/>
          </a:ln>
        </p:spPr>
      </p:sp>
      <p:sp>
        <p:nvSpPr>
          <p:cNvPr id="51" name="Text 47"/>
          <p:cNvSpPr/>
          <p:nvPr/>
        </p:nvSpPr>
        <p:spPr>
          <a:xfrm>
            <a:off x="5166360" y="4462272"/>
            <a:ext cx="1380744" cy="2089953"/>
          </a:xfrm>
          <a:prstGeom prst="rect">
            <a:avLst/>
          </a:prstGeom>
          <a:noFill/>
          <a:ln/>
        </p:spPr>
        <p:txBody>
          <a:bodyPr wrap="square" lIns="0" tIns="0" rIns="0" bIns="0" rtlCol="0" anchor="t"/>
          <a:lstStyle/>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It mights rain tomorrow.  ✅ It might RAIN tomorrow. (modal + base verb, no -s!)</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She may to arrive late.  ✅ She may ARRIVE late. (no 'to' after may!)</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It could raining.  ✅ It could RAIN. (base verb after modal!)</a:t>
            </a:r>
            <a:endParaRPr lang="en-US" sz="780" dirty="0"/>
          </a:p>
          <a:p>
            <a:pPr indent="0" marL="0">
              <a:lnSpc>
                <a:spcPct val="135000"/>
              </a:lnSpc>
              <a:buNone/>
            </a:pPr>
            <a:r>
              <a:rPr lang="en-US" sz="780" dirty="0">
                <a:solidFill>
                  <a:srgbClr val="1A2A3A"/>
                </a:solidFill>
                <a:latin typeface="Calibri" pitchFamily="34" charset="0"/>
                <a:ea typeface="Calibri" pitchFamily="34" charset="-122"/>
                <a:cs typeface="Calibri" pitchFamily="34" charset="-120"/>
              </a:rPr>
              <a:t>❌ Things should to improve.  ✅ Things should IMPROVE. (no 'to'!)</a:t>
            </a:r>
            <a:endParaRPr lang="en-US" sz="780" dirty="0"/>
          </a:p>
        </p:txBody>
      </p:sp>
      <p:sp>
        <p:nvSpPr>
          <p:cNvPr id="52" name="Shape 48"/>
          <p:cNvSpPr/>
          <p:nvPr/>
        </p:nvSpPr>
        <p:spPr>
          <a:xfrm>
            <a:off x="3639312" y="6607089"/>
            <a:ext cx="2980944" cy="164592"/>
          </a:xfrm>
          <a:prstGeom prst="rect">
            <a:avLst/>
          </a:prstGeom>
          <a:solidFill>
            <a:srgbClr val="0D7C7B"/>
          </a:solidFill>
          <a:ln w="12700">
            <a:solidFill>
              <a:srgbClr val="0D7C7B"/>
            </a:solidFill>
            <a:prstDash val="solid"/>
          </a:ln>
        </p:spPr>
      </p:sp>
      <p:sp>
        <p:nvSpPr>
          <p:cNvPr id="53" name="Text 49"/>
          <p:cNvSpPr/>
          <p:nvPr/>
        </p:nvSpPr>
        <p:spPr>
          <a:xfrm>
            <a:off x="3657600" y="6607089"/>
            <a:ext cx="2980944" cy="164592"/>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  Quick Practice</a:t>
            </a:r>
            <a:endParaRPr lang="en-US" sz="850" dirty="0"/>
          </a:p>
        </p:txBody>
      </p:sp>
      <p:sp>
        <p:nvSpPr>
          <p:cNvPr id="54" name="Shape 50"/>
          <p:cNvSpPr/>
          <p:nvPr/>
        </p:nvSpPr>
        <p:spPr>
          <a:xfrm>
            <a:off x="3639312" y="6771681"/>
            <a:ext cx="2980944" cy="2902671"/>
          </a:xfrm>
          <a:prstGeom prst="rect">
            <a:avLst/>
          </a:prstGeom>
          <a:solidFill>
            <a:srgbClr val="E0F4F4"/>
          </a:solidFill>
          <a:ln w="12700">
            <a:solidFill>
              <a:srgbClr val="0D7C7B"/>
            </a:solidFill>
            <a:prstDash val="solid"/>
          </a:ln>
        </p:spPr>
      </p:sp>
      <p:graphicFrame>
        <p:nvGraphicFramePr>
          <p:cNvPr id="4" name="Table 2"/>
          <p:cNvGraphicFramePr>
            <a:graphicFrameLocks noGrp="1"/>
          </p:cNvGraphicFramePr>
          <p:nvPr>
            <p:extLst>
              <p:ext uri="{D42A27DB-BD31-4B8C-83A1-F6EECF244321}">
                <p14:modId xmlns:p14="http://schemas.microsoft.com/office/powerpoint/2010/main" val="1579011935"/>
              </p:ext>
            </p:extLst>
          </p:nvPr>
        </p:nvGraphicFramePr>
        <p:xfrm>
          <a:off x="3657600" y="6799113"/>
          <a:ext cx="2944368" cy="914400"/>
        </p:xfrm>
        <a:graphic>
          <a:graphicData uri="http://schemas.openxmlformats.org/drawingml/2006/table">
            <a:tbl>
              <a:tblPr/>
              <a:tblGrid>
                <a:gridCol w="1472184"/>
                <a:gridCol w="1472184"/>
              </a:tblGrid>
              <a:tr h="62407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1. It _____ rain tomorrow — the sky is grey. (might)</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E4F2EC"/>
                    </a:solidFill>
                  </a:tcPr>
                </a:tc>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5. She _____ arrive late — traffic is bad. (may)</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E4F2EC"/>
                    </a:solidFill>
                  </a:tcPr>
                </a:tc>
              </a:tr>
              <a:tr h="62407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2. Things _____ improve with more practice. (should)</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0FAF5"/>
                    </a:solidFill>
                  </a:tcPr>
                </a:tc>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6. There _____ be delays on the train. (could)</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0FAF5"/>
                    </a:solidFill>
                  </a:tcPr>
                </a:tc>
              </a:tr>
              <a:tr h="62407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3. It _____ not work as planned — be ready! (might)</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E4F2EC"/>
                    </a:solidFill>
                  </a:tcPr>
                </a:tc>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7. The results _____ arrive by Friday. (should)</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E4F2EC"/>
                    </a:solidFill>
                  </a:tcPr>
                </a:tc>
              </a:tr>
              <a:tr h="62407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4. There _____ be a solution we haven't seen yet. (could)</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0FAF5"/>
                    </a:solidFill>
                  </a:tcPr>
                </a:tc>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8. She _____ not come — she might be busy. (may)</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0FAF5"/>
                    </a:solidFill>
                  </a:tcPr>
                </a:tc>
              </a:tr>
            </a:tbl>
          </a:graphicData>
        </a:graphic>
      </p:graphicFrame>
      <p:sp>
        <p:nvSpPr>
          <p:cNvPr id="56" name="Text 51"/>
          <p:cNvSpPr/>
          <p:nvPr/>
        </p:nvSpPr>
        <p:spPr>
          <a:xfrm>
            <a:off x="3666744" y="9341130"/>
            <a:ext cx="2926080" cy="128016"/>
          </a:xfrm>
          <a:prstGeom prst="rect">
            <a:avLst/>
          </a:prstGeom>
          <a:noFill/>
          <a:ln/>
        </p:spPr>
        <p:txBody>
          <a:bodyPr wrap="square" lIns="0" tIns="0" rIns="0" bIns="0" rtlCol="0" anchor="t"/>
          <a:lstStyle/>
          <a:p>
            <a:pPr indent="0" marL="0">
              <a:buNone/>
            </a:pPr>
            <a:r>
              <a:rPr lang="en-US" sz="800" b="1" dirty="0">
                <a:solidFill>
                  <a:srgbClr val="0D7C7B"/>
                </a:solidFill>
                <a:latin typeface="Calibri" pitchFamily="34" charset="0"/>
                <a:ea typeface="Calibri" pitchFamily="34" charset="-122"/>
                <a:cs typeface="Calibri" pitchFamily="34" charset="-120"/>
              </a:rPr>
              <a:t>🔑  Answers: 1-might · 2-should · 3-might · 4-could · 5-may · 6-could · 7-should · 8-may</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6FA"/>
        </a:solidFill>
      </p:bgPr>
    </p:bg>
    <p:spTree>
      <p:nvGrpSpPr>
        <p:cNvPr id="1" name=""/>
        <p:cNvGrpSpPr/>
        <p:nvPr/>
      </p:nvGrpSpPr>
      <p:grpSpPr>
        <a:xfrm>
          <a:off x="0" y="0"/>
          <a:ext cx="0" cy="0"/>
          <a:chOff x="0" y="0"/>
          <a:chExt cx="0" cy="0"/>
        </a:xfrm>
      </p:grpSpPr>
      <p:sp>
        <p:nvSpPr>
          <p:cNvPr id="2" name="Shape 0"/>
          <p:cNvSpPr/>
          <p:nvPr/>
        </p:nvSpPr>
        <p:spPr>
          <a:xfrm>
            <a:off x="0" y="0"/>
            <a:ext cx="6858000" cy="347472"/>
          </a:xfrm>
          <a:prstGeom prst="rect">
            <a:avLst/>
          </a:prstGeom>
          <a:solidFill>
            <a:srgbClr val="1A3A5C"/>
          </a:solidFill>
          <a:ln w="12700">
            <a:solidFill>
              <a:srgbClr val="1A3A5C"/>
            </a:solidFill>
            <a:prstDash val="solid"/>
          </a:ln>
        </p:spPr>
      </p:sp>
      <p:sp>
        <p:nvSpPr>
          <p:cNvPr id="3" name="Shape 1"/>
          <p:cNvSpPr/>
          <p:nvPr/>
        </p:nvSpPr>
        <p:spPr>
          <a:xfrm>
            <a:off x="0" y="0"/>
            <a:ext cx="50292" cy="347472"/>
          </a:xfrm>
          <a:prstGeom prst="rect">
            <a:avLst/>
          </a:prstGeom>
          <a:solidFill>
            <a:srgbClr val="F2C93A"/>
          </a:solidFill>
          <a:ln w="12700">
            <a:solidFill>
              <a:srgbClr val="F2C93A"/>
            </a:solidFill>
            <a:prstDash val="solid"/>
          </a:ln>
        </p:spPr>
      </p:sp>
      <p:sp>
        <p:nvSpPr>
          <p:cNvPr id="4" name="Text 2"/>
          <p:cNvSpPr/>
          <p:nvPr/>
        </p:nvSpPr>
        <p:spPr>
          <a:xfrm>
            <a:off x="100584" y="0"/>
            <a:ext cx="3657600" cy="347472"/>
          </a:xfrm>
          <a:prstGeom prst="rect">
            <a:avLst/>
          </a:prstGeom>
          <a:noFill/>
          <a:ln/>
        </p:spPr>
        <p:txBody>
          <a:bodyPr wrap="square" lIns="0" tIns="0" rIns="0" bIns="0" rtlCol="0" anchor="ctr"/>
          <a:lstStyle/>
          <a:p>
            <a:pPr indent="0" marL="0">
              <a:buNone/>
            </a:pPr>
            <a:r>
              <a:rPr lang="en-US" sz="1350" b="1" dirty="0">
                <a:solidFill>
                  <a:srgbClr val="F2C93A"/>
                </a:solidFill>
                <a:latin typeface="Georgia" pitchFamily="34" charset="0"/>
                <a:ea typeface="Georgia" pitchFamily="34" charset="-122"/>
                <a:cs typeface="Georgia" pitchFamily="34" charset="-120"/>
              </a:rPr>
              <a:t>Speak English in 90 Days</a:t>
            </a:r>
            <a:endParaRPr lang="en-US" sz="1350" dirty="0"/>
          </a:p>
        </p:txBody>
      </p:sp>
      <p:sp>
        <p:nvSpPr>
          <p:cNvPr id="5" name="Text 3"/>
          <p:cNvSpPr/>
          <p:nvPr/>
        </p:nvSpPr>
        <p:spPr>
          <a:xfrm>
            <a:off x="3657600" y="0"/>
            <a:ext cx="1920240" cy="347472"/>
          </a:xfrm>
          <a:prstGeom prst="rect">
            <a:avLst/>
          </a:prstGeom>
          <a:noFill/>
          <a:ln/>
        </p:spPr>
        <p:txBody>
          <a:bodyPr wrap="square" lIns="0" tIns="0" rIns="0" bIns="0" rtlCol="0" anchor="ctr"/>
          <a:lstStyle/>
          <a:p>
            <a:pPr algn="ctr" indent="0" marL="0">
              <a:buNone/>
            </a:pPr>
            <a:r>
              <a:rPr lang="en-US" sz="800" dirty="0">
                <a:solidFill>
                  <a:srgbClr val="90AABF"/>
                </a:solidFill>
                <a:latin typeface="Calibri" pitchFamily="34" charset="0"/>
                <a:ea typeface="Calibri" pitchFamily="34" charset="-122"/>
                <a:cs typeface="Calibri" pitchFamily="34" charset="-120"/>
              </a:rPr>
              <a:t>B1 · Book 3 · Дэвшилтэт шат</a:t>
            </a:r>
            <a:endParaRPr lang="en-US" sz="800" dirty="0"/>
          </a:p>
        </p:txBody>
      </p:sp>
      <p:sp>
        <p:nvSpPr>
          <p:cNvPr id="6" name="Text 4"/>
          <p:cNvSpPr/>
          <p:nvPr/>
        </p:nvSpPr>
        <p:spPr>
          <a:xfrm>
            <a:off x="5577840" y="0"/>
            <a:ext cx="1170432" cy="347472"/>
          </a:xfrm>
          <a:prstGeom prst="rect">
            <a:avLst/>
          </a:prstGeom>
          <a:noFill/>
          <a:ln/>
        </p:spPr>
        <p:txBody>
          <a:bodyPr wrap="square" lIns="0" tIns="0" rIns="0" bIns="0" rtlCol="0" anchor="ctr"/>
          <a:lstStyle/>
          <a:p>
            <a:pPr algn="r" indent="0" marL="0">
              <a:buNone/>
            </a:pPr>
            <a:r>
              <a:rPr lang="en-US" sz="850" dirty="0">
                <a:solidFill>
                  <a:srgbClr val="F2C93A"/>
                </a:solidFill>
                <a:latin typeface="Calibri" pitchFamily="34" charset="0"/>
                <a:ea typeface="Calibri" pitchFamily="34" charset="-122"/>
                <a:cs typeface="Calibri" pitchFamily="34" charset="-120"/>
              </a:rPr>
              <a:t>25-30 минут</a:t>
            </a:r>
            <a:endParaRPr lang="en-US" sz="850" dirty="0"/>
          </a:p>
        </p:txBody>
      </p:sp>
      <p:sp>
        <p:nvSpPr>
          <p:cNvPr id="7" name="Shape 5"/>
          <p:cNvSpPr/>
          <p:nvPr/>
        </p:nvSpPr>
        <p:spPr>
          <a:xfrm>
            <a:off x="0" y="347472"/>
            <a:ext cx="1335024" cy="237744"/>
          </a:xfrm>
          <a:prstGeom prst="rect">
            <a:avLst/>
          </a:prstGeom>
          <a:solidFill>
            <a:srgbClr val="F2C93A"/>
          </a:solidFill>
          <a:ln w="12700">
            <a:solidFill>
              <a:srgbClr val="F2C93A"/>
            </a:solidFill>
            <a:prstDash val="solid"/>
          </a:ln>
        </p:spPr>
      </p:sp>
      <p:sp>
        <p:nvSpPr>
          <p:cNvPr id="8" name="Text 6"/>
          <p:cNvSpPr/>
          <p:nvPr/>
        </p:nvSpPr>
        <p:spPr>
          <a:xfrm>
            <a:off x="0" y="347472"/>
            <a:ext cx="1335024" cy="237744"/>
          </a:xfrm>
          <a:prstGeom prst="rect">
            <a:avLst/>
          </a:prstGeom>
          <a:noFill/>
          <a:ln/>
        </p:spPr>
        <p:txBody>
          <a:bodyPr wrap="square" lIns="0" tIns="0" rIns="0" bIns="0" rtlCol="0" anchor="ctr"/>
          <a:lstStyle/>
          <a:p>
            <a:pPr algn="ctr" indent="0" marL="0">
              <a:buNone/>
            </a:pPr>
            <a:r>
              <a:rPr lang="en-US" sz="850" b="1" dirty="0">
                <a:solidFill>
                  <a:srgbClr val="1A3A5C"/>
                </a:solidFill>
                <a:latin typeface="Calibri" pitchFamily="34" charset="0"/>
                <a:ea typeface="Calibri" pitchFamily="34" charset="-122"/>
                <a:cs typeface="Calibri" pitchFamily="34" charset="-120"/>
              </a:rPr>
              <a:t>DAY 69 · ӨДӨР 69</a:t>
            </a:r>
            <a:endParaRPr lang="en-US" sz="850" dirty="0"/>
          </a:p>
        </p:txBody>
      </p:sp>
      <p:sp>
        <p:nvSpPr>
          <p:cNvPr id="9" name="Shape 7"/>
          <p:cNvSpPr/>
          <p:nvPr/>
        </p:nvSpPr>
        <p:spPr>
          <a:xfrm>
            <a:off x="1335024" y="347472"/>
            <a:ext cx="4498848" cy="237744"/>
          </a:xfrm>
          <a:prstGeom prst="rect">
            <a:avLst/>
          </a:prstGeom>
          <a:solidFill>
            <a:srgbClr val="1E7A4A"/>
          </a:solidFill>
          <a:ln w="12700">
            <a:solidFill>
              <a:srgbClr val="1E7A4A"/>
            </a:solidFill>
            <a:prstDash val="solid"/>
          </a:ln>
        </p:spPr>
      </p:sp>
      <p:sp>
        <p:nvSpPr>
          <p:cNvPr id="10" name="Text 8"/>
          <p:cNvSpPr/>
          <p:nvPr/>
        </p:nvSpPr>
        <p:spPr>
          <a:xfrm>
            <a:off x="1408176" y="347472"/>
            <a:ext cx="4425696"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Reading &amp; Speaking  ·  Унших ба Ярих</a:t>
            </a:r>
            <a:endParaRPr lang="en-US" sz="850" dirty="0"/>
          </a:p>
        </p:txBody>
      </p:sp>
      <p:sp>
        <p:nvSpPr>
          <p:cNvPr id="11" name="Shape 9"/>
          <p:cNvSpPr/>
          <p:nvPr/>
        </p:nvSpPr>
        <p:spPr>
          <a:xfrm>
            <a:off x="5833872" y="347472"/>
            <a:ext cx="1024128" cy="237744"/>
          </a:xfrm>
          <a:prstGeom prst="rect">
            <a:avLst/>
          </a:prstGeom>
          <a:solidFill>
            <a:srgbClr val="1A3A5C"/>
          </a:solidFill>
          <a:ln w="12700">
            <a:solidFill>
              <a:srgbClr val="1A3A5C"/>
            </a:solidFill>
            <a:prstDash val="solid"/>
          </a:ln>
        </p:spPr>
      </p:sp>
      <p:sp>
        <p:nvSpPr>
          <p:cNvPr id="12" name="Text 10"/>
          <p:cNvSpPr/>
          <p:nvPr/>
        </p:nvSpPr>
        <p:spPr>
          <a:xfrm>
            <a:off x="5760720" y="347472"/>
            <a:ext cx="1042416" cy="237744"/>
          </a:xfrm>
          <a:prstGeom prst="rect">
            <a:avLst/>
          </a:prstGeom>
          <a:noFill/>
          <a:ln/>
        </p:spPr>
        <p:txBody>
          <a:bodyPr wrap="square" lIns="0" tIns="0" rIns="0" bIns="0" rtlCol="0" anchor="ctr"/>
          <a:lstStyle/>
          <a:p>
            <a:pPr algn="r" indent="0" marL="0">
              <a:buNone/>
            </a:pPr>
            <a:r>
              <a:rPr lang="en-US" sz="750" dirty="0">
                <a:solidFill>
                  <a:srgbClr val="F2C93A"/>
                </a:solidFill>
                <a:latin typeface="Calibri" pitchFamily="34" charset="0"/>
                <a:ea typeface="Calibri" pitchFamily="34" charset="-122"/>
                <a:cs typeface="Calibri" pitchFamily="34" charset="-120"/>
              </a:rPr>
              <a:t>📚 Page 2</a:t>
            </a:r>
            <a:endParaRPr lang="en-US" sz="750" dirty="0"/>
          </a:p>
        </p:txBody>
      </p:sp>
      <p:sp>
        <p:nvSpPr>
          <p:cNvPr id="13" name="Shape 11"/>
          <p:cNvSpPr/>
          <p:nvPr/>
        </p:nvSpPr>
        <p:spPr>
          <a:xfrm>
            <a:off x="0" y="9601200"/>
            <a:ext cx="6858000" cy="91440"/>
          </a:xfrm>
          <a:prstGeom prst="rect">
            <a:avLst/>
          </a:prstGeom>
          <a:solidFill>
            <a:srgbClr val="E4EEF6"/>
          </a:solidFill>
          <a:ln w="12700">
            <a:solidFill>
              <a:srgbClr val="E4EEF6"/>
            </a:solidFill>
            <a:prstDash val="solid"/>
          </a:ln>
        </p:spPr>
      </p:sp>
      <p:sp>
        <p:nvSpPr>
          <p:cNvPr id="14" name="Text 12"/>
          <p:cNvSpPr/>
          <p:nvPr/>
        </p:nvSpPr>
        <p:spPr>
          <a:xfrm>
            <a:off x="0" y="9601200"/>
            <a:ext cx="6858000" cy="91440"/>
          </a:xfrm>
          <a:prstGeom prst="rect">
            <a:avLst/>
          </a:prstGeom>
          <a:noFill/>
          <a:ln/>
        </p:spPr>
        <p:txBody>
          <a:bodyPr wrap="square" lIns="0" tIns="0" rIns="0" bIns="0" rtlCol="0" anchor="ctr"/>
          <a:lstStyle/>
          <a:p>
            <a:pPr algn="ctr" indent="0" marL="0">
              <a:buNone/>
            </a:pPr>
            <a:r>
              <a:rPr lang="en-US" sz="650" dirty="0">
                <a:solidFill>
                  <a:srgbClr val="7A90A0"/>
                </a:solidFill>
                <a:latin typeface="Calibri" pitchFamily="34" charset="0"/>
                <a:ea typeface="Calibri" pitchFamily="34" charset="-122"/>
                <a:cs typeface="Calibri" pitchFamily="34" charset="-120"/>
              </a:rPr>
              <a:t>Speak English in 90 Days  ·  B1 Level  ·  Book 3</a:t>
            </a:r>
            <a:endParaRPr lang="en-US" sz="650" dirty="0"/>
          </a:p>
        </p:txBody>
      </p:sp>
      <p:sp>
        <p:nvSpPr>
          <p:cNvPr id="15" name="Shape 13"/>
          <p:cNvSpPr/>
          <p:nvPr/>
        </p:nvSpPr>
        <p:spPr>
          <a:xfrm>
            <a:off x="179222" y="627278"/>
            <a:ext cx="6528816" cy="1865376"/>
          </a:xfrm>
          <a:prstGeom prst="rect">
            <a:avLst/>
          </a:prstGeom>
          <a:solidFill>
            <a:srgbClr val="D0DCE8"/>
          </a:solidFill>
          <a:ln w="12700">
            <a:solidFill>
              <a:srgbClr val="D0DCE8"/>
            </a:solidFill>
            <a:prstDash val="solid"/>
          </a:ln>
        </p:spPr>
      </p:sp>
      <p:sp>
        <p:nvSpPr>
          <p:cNvPr id="16" name="Shape 14"/>
          <p:cNvSpPr/>
          <p:nvPr/>
        </p:nvSpPr>
        <p:spPr>
          <a:xfrm>
            <a:off x="164592" y="612648"/>
            <a:ext cx="6528816" cy="1865376"/>
          </a:xfrm>
          <a:prstGeom prst="rect">
            <a:avLst/>
          </a:prstGeom>
          <a:solidFill>
            <a:srgbClr val="FFFFFF"/>
          </a:solidFill>
          <a:ln w="12700">
            <a:solidFill>
              <a:srgbClr val="C8D8E8"/>
            </a:solidFill>
            <a:prstDash val="solid"/>
          </a:ln>
        </p:spPr>
      </p:sp>
      <p:sp>
        <p:nvSpPr>
          <p:cNvPr id="17" name="Shape 15"/>
          <p:cNvSpPr/>
          <p:nvPr/>
        </p:nvSpPr>
        <p:spPr>
          <a:xfrm>
            <a:off x="164592" y="612648"/>
            <a:ext cx="6528816" cy="256032"/>
          </a:xfrm>
          <a:prstGeom prst="rect">
            <a:avLst/>
          </a:prstGeom>
          <a:solidFill>
            <a:srgbClr val="1E7A4A"/>
          </a:solidFill>
          <a:ln w="12700">
            <a:solidFill>
              <a:srgbClr val="1E7A4A"/>
            </a:solidFill>
            <a:prstDash val="solid"/>
          </a:ln>
        </p:spPr>
      </p:sp>
      <p:sp>
        <p:nvSpPr>
          <p:cNvPr id="18" name="Shape 16"/>
          <p:cNvSpPr/>
          <p:nvPr/>
        </p:nvSpPr>
        <p:spPr>
          <a:xfrm>
            <a:off x="164592" y="868680"/>
            <a:ext cx="6528816" cy="146304"/>
          </a:xfrm>
          <a:prstGeom prst="rect">
            <a:avLst/>
          </a:prstGeom>
          <a:solidFill>
            <a:srgbClr val="E8F5EE"/>
          </a:solidFill>
          <a:ln w="12700">
            <a:solidFill>
              <a:srgbClr val="E8F5EE"/>
            </a:solidFill>
            <a:prstDash val="solid"/>
          </a:ln>
        </p:spPr>
      </p:sp>
      <p:sp>
        <p:nvSpPr>
          <p:cNvPr id="19" name="Text 17"/>
          <p:cNvSpPr/>
          <p:nvPr/>
        </p:nvSpPr>
        <p:spPr>
          <a:xfrm>
            <a:off x="256032" y="612648"/>
            <a:ext cx="6400800"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Reading Passage / Унших дасгал</a:t>
            </a:r>
            <a:endParaRPr lang="en-US" sz="1050" dirty="0"/>
          </a:p>
        </p:txBody>
      </p:sp>
      <p:sp>
        <p:nvSpPr>
          <p:cNvPr id="20" name="Text 18"/>
          <p:cNvSpPr/>
          <p:nvPr/>
        </p:nvSpPr>
        <p:spPr>
          <a:xfrm>
            <a:off x="256032" y="877824"/>
            <a:ext cx="6400800"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Bold = today's vocab · Read aloud at least twice!</a:t>
            </a:r>
            <a:endParaRPr lang="en-US" sz="750" dirty="0"/>
          </a:p>
        </p:txBody>
      </p:sp>
      <p:sp>
        <p:nvSpPr>
          <p:cNvPr id="21" name="Shape 19"/>
          <p:cNvSpPr/>
          <p:nvPr/>
        </p:nvSpPr>
        <p:spPr>
          <a:xfrm>
            <a:off x="237744" y="1033272"/>
            <a:ext cx="6382512" cy="1380744"/>
          </a:xfrm>
          <a:prstGeom prst="rect">
            <a:avLst/>
          </a:prstGeom>
          <a:solidFill>
            <a:srgbClr val="EBF5F0"/>
          </a:solidFill>
          <a:ln w="12700">
            <a:solidFill>
              <a:srgbClr val="1E7A4A"/>
            </a:solidFill>
            <a:prstDash val="solid"/>
          </a:ln>
        </p:spPr>
      </p:sp>
      <p:sp>
        <p:nvSpPr>
          <p:cNvPr id="22" name="Text 20"/>
          <p:cNvSpPr/>
          <p:nvPr/>
        </p:nvSpPr>
        <p:spPr>
          <a:xfrm>
            <a:off x="310896" y="1069848"/>
            <a:ext cx="6236208" cy="1298448"/>
          </a:xfrm>
          <a:prstGeom prst="rect">
            <a:avLst/>
          </a:prstGeom>
          <a:noFill/>
          <a:ln/>
        </p:spPr>
        <p:txBody>
          <a:bodyPr wrap="square" lIns="0" tIns="0" rIns="0" bIns="0" rtlCol="0" anchor="t"/>
          <a:lstStyle/>
          <a:p>
            <a:pPr indent="0" marL="0">
              <a:lnSpc>
                <a:spcPct val="155000"/>
              </a:lnSpc>
              <a:buNone/>
            </a:pPr>
            <a:r>
              <a:rPr lang="en-US" sz="950" b="1" dirty="0">
                <a:solidFill>
                  <a:srgbClr val="1A6A3A"/>
                </a:solidFill>
                <a:latin typeface="Georgia" pitchFamily="34" charset="0"/>
                <a:ea typeface="Georgia" pitchFamily="34" charset="-122"/>
                <a:cs typeface="Georgia" pitchFamily="34" charset="-120"/>
              </a:rPr>
              <a:t>Bat and Sarnai are discussing their futures. </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Bat says: "I think technology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might</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change every industry in the next 10 years. Some jobs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could</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disappear, but new ones </a:t>
            </a:r>
            <a:pPr indent="0" marL="0">
              <a:lnSpc>
                <a:spcPct val="155000"/>
              </a:lnSpc>
              <a:buNone/>
            </a:pPr>
            <a:r>
              <a:rPr lang="en-US" sz="950" b="1" dirty="0">
                <a:solidFill>
                  <a:srgbClr val="1E7A4A"/>
                </a:solidFill>
                <a:latin typeface="Georgia" pitchFamily="34" charset="0"/>
                <a:ea typeface="Georgia" pitchFamily="34" charset="-122"/>
                <a:cs typeface="Georgia" pitchFamily="34" charset="-120"/>
              </a:rPr>
              <a:t>should</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be created. English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may</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become even more essential." Sarnai replies: "I agree! But art </a:t>
            </a:r>
            <a:pPr indent="0" marL="0">
              <a:lnSpc>
                <a:spcPct val="155000"/>
              </a:lnSpc>
              <a:buNone/>
            </a:pPr>
            <a:r>
              <a:rPr lang="en-US" sz="950" b="1" dirty="0">
                <a:solidFill>
                  <a:srgbClr val="B83030"/>
                </a:solidFill>
                <a:latin typeface="Georgia" pitchFamily="34" charset="0"/>
                <a:ea typeface="Georgia" pitchFamily="34" charset="-122"/>
                <a:cs typeface="Georgia" pitchFamily="34" charset="-120"/>
              </a:rPr>
              <a:t>might not</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be replaced by AI — creativity is human. My paintings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could</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be famous internationally someday!" Bat laughs: "They </a:t>
            </a:r>
            <a:pPr indent="0" marL="0">
              <a:lnSpc>
                <a:spcPct val="155000"/>
              </a:lnSpc>
              <a:buNone/>
            </a:pPr>
            <a:r>
              <a:rPr lang="en-US" sz="950" b="1" dirty="0">
                <a:solidFill>
                  <a:srgbClr val="1E7A4A"/>
                </a:solidFill>
                <a:latin typeface="Georgia" pitchFamily="34" charset="0"/>
                <a:ea typeface="Georgia" pitchFamily="34" charset="-122"/>
                <a:cs typeface="Georgia" pitchFamily="34" charset="-120"/>
              </a:rPr>
              <a:t>should</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already be famous!" Their teacher adds: "If you both keep working hard, you </a:t>
            </a:r>
            <a:pPr indent="0" marL="0">
              <a:lnSpc>
                <a:spcPct val="155000"/>
              </a:lnSpc>
              <a:buNone/>
            </a:pPr>
            <a:r>
              <a:rPr lang="en-US" sz="950" b="1" dirty="0">
                <a:solidFill>
                  <a:srgbClr val="1E7A4A"/>
                </a:solidFill>
                <a:latin typeface="Georgia" pitchFamily="34" charset="0"/>
                <a:ea typeface="Georgia" pitchFamily="34" charset="-122"/>
                <a:cs typeface="Georgia" pitchFamily="34" charset="-120"/>
              </a:rPr>
              <a:t>should</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achieve everything you dream of. But remember — even the best plans </a:t>
            </a:r>
            <a:pPr indent="0" marL="0">
              <a:lnSpc>
                <a:spcPct val="155000"/>
              </a:lnSpc>
              <a:buNone/>
            </a:pPr>
            <a:r>
              <a:rPr lang="en-US" sz="950" b="1" dirty="0">
                <a:solidFill>
                  <a:srgbClr val="2E6DA4"/>
                </a:solidFill>
                <a:latin typeface="Georgia" pitchFamily="34" charset="0"/>
                <a:ea typeface="Georgia" pitchFamily="34" charset="-122"/>
                <a:cs typeface="Georgia" pitchFamily="34" charset="-120"/>
              </a:rPr>
              <a:t>might</a:t>
            </a:r>
            <a:pPr indent="0" marL="0">
              <a:lnSpc>
                <a:spcPct val="155000"/>
              </a:lnSpc>
              <a:buNone/>
            </a:pPr>
            <a:r>
              <a:rPr lang="en-US" sz="950" dirty="0">
                <a:solidFill>
                  <a:srgbClr val="1A2A3A"/>
                </a:solidFill>
                <a:latin typeface="Georgia" pitchFamily="34" charset="0"/>
                <a:ea typeface="Georgia" pitchFamily="34" charset="-122"/>
                <a:cs typeface="Georgia" pitchFamily="34" charset="-120"/>
              </a:rPr>
              <a:t> need adjusting along the way. Stay flexible and optimistic!"</a:t>
            </a:r>
            <a:endParaRPr lang="en-US" sz="950" dirty="0"/>
          </a:p>
        </p:txBody>
      </p:sp>
      <p:sp>
        <p:nvSpPr>
          <p:cNvPr id="23" name="Shape 21"/>
          <p:cNvSpPr/>
          <p:nvPr/>
        </p:nvSpPr>
        <p:spPr>
          <a:xfrm>
            <a:off x="179222" y="2565806"/>
            <a:ext cx="3218688" cy="1828800"/>
          </a:xfrm>
          <a:prstGeom prst="rect">
            <a:avLst/>
          </a:prstGeom>
          <a:solidFill>
            <a:srgbClr val="D0DCE8"/>
          </a:solidFill>
          <a:ln w="12700">
            <a:solidFill>
              <a:srgbClr val="D0DCE8"/>
            </a:solidFill>
            <a:prstDash val="solid"/>
          </a:ln>
        </p:spPr>
      </p:sp>
      <p:sp>
        <p:nvSpPr>
          <p:cNvPr id="24" name="Shape 22"/>
          <p:cNvSpPr/>
          <p:nvPr/>
        </p:nvSpPr>
        <p:spPr>
          <a:xfrm>
            <a:off x="164592" y="2551176"/>
            <a:ext cx="3218688" cy="1828800"/>
          </a:xfrm>
          <a:prstGeom prst="rect">
            <a:avLst/>
          </a:prstGeom>
          <a:solidFill>
            <a:srgbClr val="FFFFFF"/>
          </a:solidFill>
          <a:ln w="12700">
            <a:solidFill>
              <a:srgbClr val="C8D8E8"/>
            </a:solidFill>
            <a:prstDash val="solid"/>
          </a:ln>
        </p:spPr>
      </p:sp>
      <p:sp>
        <p:nvSpPr>
          <p:cNvPr id="25" name="Shape 23"/>
          <p:cNvSpPr/>
          <p:nvPr/>
        </p:nvSpPr>
        <p:spPr>
          <a:xfrm>
            <a:off x="164592" y="2551176"/>
            <a:ext cx="3218688" cy="256032"/>
          </a:xfrm>
          <a:prstGeom prst="rect">
            <a:avLst/>
          </a:prstGeom>
          <a:solidFill>
            <a:srgbClr val="C97A0A"/>
          </a:solidFill>
          <a:ln w="12700">
            <a:solidFill>
              <a:srgbClr val="C97A0A"/>
            </a:solidFill>
            <a:prstDash val="solid"/>
          </a:ln>
        </p:spPr>
      </p:sp>
      <p:sp>
        <p:nvSpPr>
          <p:cNvPr id="26" name="Shape 24"/>
          <p:cNvSpPr/>
          <p:nvPr/>
        </p:nvSpPr>
        <p:spPr>
          <a:xfrm>
            <a:off x="164592" y="2807208"/>
            <a:ext cx="3218688" cy="146304"/>
          </a:xfrm>
          <a:prstGeom prst="rect">
            <a:avLst/>
          </a:prstGeom>
          <a:solidFill>
            <a:srgbClr val="FEF3DC"/>
          </a:solidFill>
          <a:ln w="12700">
            <a:solidFill>
              <a:srgbClr val="FEF3DC"/>
            </a:solidFill>
            <a:prstDash val="solid"/>
          </a:ln>
        </p:spPr>
      </p:sp>
      <p:sp>
        <p:nvSpPr>
          <p:cNvPr id="27" name="Text 25"/>
          <p:cNvSpPr/>
          <p:nvPr/>
        </p:nvSpPr>
        <p:spPr>
          <a:xfrm>
            <a:off x="256032" y="2551176"/>
            <a:ext cx="309067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Key Phrases &amp; Translation / Гол хэллэг</a:t>
            </a:r>
            <a:endParaRPr lang="en-US" sz="1050" dirty="0"/>
          </a:p>
        </p:txBody>
      </p:sp>
      <p:sp>
        <p:nvSpPr>
          <p:cNvPr id="28" name="Text 26"/>
          <p:cNvSpPr/>
          <p:nvPr/>
        </p:nvSpPr>
        <p:spPr>
          <a:xfrm>
            <a:off x="256032" y="2816352"/>
            <a:ext cx="309067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Цээжил! · Memorize these phrases</a:t>
            </a:r>
            <a:endParaRPr lang="en-US" sz="7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219456" y="2971800"/>
          <a:ext cx="3108960" cy="914400"/>
        </p:xfrm>
        <a:graphic>
          <a:graphicData uri="http://schemas.openxmlformats.org/drawingml/2006/table">
            <a:tbl>
              <a:tblPr/>
              <a:tblGrid>
                <a:gridCol w="1057046"/>
                <a:gridCol w="1057046"/>
                <a:gridCol w="994867"/>
              </a:tblGrid>
              <a:tr h="196596">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English Phrase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C97A0A"/>
                    </a:solidFill>
                  </a:tcPr>
                </a:tc>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Mongolian / Монгол</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C97A0A"/>
                    </a:solidFill>
                  </a:tcPr>
                </a:tc>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Grammar Note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C97A0A"/>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It might rain tomorrow</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Маргааш бороо орж магадгүй</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might = 40-60% possibility</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Things should improve with practice</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Дадлагаар зүйлс сайжрах ёстой</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should = 80% expectation</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There could be delays</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Саатал гарч болзошгүй</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could = alternative possibility</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She may not come today</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Тэр өнөөдөр ирэхгүй байж магадгүй</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may not = possible negative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Technology might change everything</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Технологи бүх зүйлийг өөрчилж магадгүй</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might = uncertainty about future</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6596">
                <a:tc>
                  <a:txBody>
                    <a:bodyPr/>
                    <a:lstStyle/>
                    <a:p>
                      <a:pPr algn="l" indent="0" marL="0">
                        <a:buNone/>
                      </a:pPr>
                      <a:r>
                        <a:rPr lang="en-US" sz="800" b="1" dirty="0">
                          <a:solidFill>
                            <a:srgbClr val="2E6DA4"/>
                          </a:solidFill>
                          <a:latin typeface="Calibri" pitchFamily="34" charset="0"/>
                          <a:ea typeface="Calibri" pitchFamily="34" charset="-122"/>
                          <a:cs typeface="Calibri" pitchFamily="34" charset="-120"/>
                        </a:rPr>
                        <a:t>You should achieve your dreams</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A3A"/>
                          </a:solidFill>
                          <a:latin typeface="Calibri" pitchFamily="34" charset="0"/>
                          <a:ea typeface="Calibri" pitchFamily="34" charset="-122"/>
                          <a:cs typeface="Calibri" pitchFamily="34" charset="-120"/>
                        </a:rPr>
                        <a:t>Та мөрөөдлийнхөө хүрэх ёстой</a:t>
                      </a:r>
                      <a:endParaRPr lang="en-US" sz="8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should = expectation/encouragement</a:t>
                      </a:r>
                      <a:endParaRPr lang="en-US" sz="7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30" name="Shape 27"/>
          <p:cNvSpPr/>
          <p:nvPr/>
        </p:nvSpPr>
        <p:spPr>
          <a:xfrm>
            <a:off x="3489350" y="2565806"/>
            <a:ext cx="3218688" cy="1828800"/>
          </a:xfrm>
          <a:prstGeom prst="rect">
            <a:avLst/>
          </a:prstGeom>
          <a:solidFill>
            <a:srgbClr val="D0DCE8"/>
          </a:solidFill>
          <a:ln w="12700">
            <a:solidFill>
              <a:srgbClr val="D0DCE8"/>
            </a:solidFill>
            <a:prstDash val="solid"/>
          </a:ln>
        </p:spPr>
      </p:sp>
      <p:sp>
        <p:nvSpPr>
          <p:cNvPr id="31" name="Shape 28"/>
          <p:cNvSpPr/>
          <p:nvPr/>
        </p:nvSpPr>
        <p:spPr>
          <a:xfrm>
            <a:off x="3474720" y="2551176"/>
            <a:ext cx="3218688" cy="1828800"/>
          </a:xfrm>
          <a:prstGeom prst="rect">
            <a:avLst/>
          </a:prstGeom>
          <a:solidFill>
            <a:srgbClr val="FFFFFF"/>
          </a:solidFill>
          <a:ln w="12700">
            <a:solidFill>
              <a:srgbClr val="C8D8E8"/>
            </a:solidFill>
            <a:prstDash val="solid"/>
          </a:ln>
        </p:spPr>
      </p:sp>
      <p:sp>
        <p:nvSpPr>
          <p:cNvPr id="32" name="Shape 29"/>
          <p:cNvSpPr/>
          <p:nvPr/>
        </p:nvSpPr>
        <p:spPr>
          <a:xfrm>
            <a:off x="3474720" y="2551176"/>
            <a:ext cx="3218688" cy="256032"/>
          </a:xfrm>
          <a:prstGeom prst="rect">
            <a:avLst/>
          </a:prstGeom>
          <a:solidFill>
            <a:srgbClr val="0D7C7B"/>
          </a:solidFill>
          <a:ln w="12700">
            <a:solidFill>
              <a:srgbClr val="0D7C7B"/>
            </a:solidFill>
            <a:prstDash val="solid"/>
          </a:ln>
        </p:spPr>
      </p:sp>
      <p:sp>
        <p:nvSpPr>
          <p:cNvPr id="33" name="Shape 30"/>
          <p:cNvSpPr/>
          <p:nvPr/>
        </p:nvSpPr>
        <p:spPr>
          <a:xfrm>
            <a:off x="3474720" y="2807208"/>
            <a:ext cx="3218688" cy="146304"/>
          </a:xfrm>
          <a:prstGeom prst="rect">
            <a:avLst/>
          </a:prstGeom>
          <a:solidFill>
            <a:srgbClr val="E0F4F4"/>
          </a:solidFill>
          <a:ln w="12700">
            <a:solidFill>
              <a:srgbClr val="E0F4F4"/>
            </a:solidFill>
            <a:prstDash val="solid"/>
          </a:ln>
        </p:spPr>
      </p:sp>
      <p:sp>
        <p:nvSpPr>
          <p:cNvPr id="34" name="Text 31"/>
          <p:cNvSpPr/>
          <p:nvPr/>
        </p:nvSpPr>
        <p:spPr>
          <a:xfrm>
            <a:off x="3566160" y="2551176"/>
            <a:ext cx="309067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Speaking Practice / Ярих дасгал</a:t>
            </a:r>
            <a:endParaRPr lang="en-US" sz="1050" dirty="0"/>
          </a:p>
        </p:txBody>
      </p:sp>
      <p:sp>
        <p:nvSpPr>
          <p:cNvPr id="35" name="Text 32"/>
          <p:cNvSpPr/>
          <p:nvPr/>
        </p:nvSpPr>
        <p:spPr>
          <a:xfrm>
            <a:off x="3566160" y="2816352"/>
            <a:ext cx="309067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Answer OUT LOUD — don't write, just speak!</a:t>
            </a:r>
            <a:endParaRPr lang="en-US" sz="750" dirty="0"/>
          </a:p>
        </p:txBody>
      </p:sp>
      <p:sp>
        <p:nvSpPr>
          <p:cNvPr id="36" name="Text 33"/>
          <p:cNvSpPr/>
          <p:nvPr/>
        </p:nvSpPr>
        <p:spPr>
          <a:xfrm>
            <a:off x="3557016" y="2971800"/>
            <a:ext cx="3072384" cy="274320"/>
          </a:xfrm>
          <a:prstGeom prst="rect">
            <a:avLst/>
          </a:prstGeom>
          <a:noFill/>
          <a:ln/>
        </p:spPr>
        <p:txBody>
          <a:bodyPr wrap="square" lIns="0" tIns="0" rIns="0" bIns="0" rtlCol="0" anchor="t"/>
          <a:lstStyle/>
          <a:p>
            <a:pPr indent="0" marL="0">
              <a:lnSpc>
                <a:spcPct val="120000"/>
              </a:lnSpc>
              <a:buNone/>
            </a:pPr>
            <a:r>
              <a:rPr lang="en-US" sz="800" b="1" dirty="0">
                <a:solidFill>
                  <a:srgbClr val="0D7C7B"/>
                </a:solidFill>
                <a:latin typeface="Calibri" pitchFamily="34" charset="0"/>
                <a:ea typeface="Calibri" pitchFamily="34" charset="-122"/>
                <a:cs typeface="Calibri" pitchFamily="34" charset="-120"/>
              </a:rPr>
              <a:t>Answer OUT LOUD in English — do not write, just speak!
</a:t>
            </a:r>
            <a:pPr indent="0" marL="0">
              <a:lnSpc>
                <a:spcPct val="120000"/>
              </a:lnSpc>
              <a:buNone/>
            </a:pPr>
            <a:r>
              <a:rPr lang="en-US" sz="750" i="1" dirty="0">
                <a:solidFill>
                  <a:srgbClr val="3A5060"/>
                </a:solidFill>
                <a:latin typeface="Calibri" pitchFamily="34" charset="0"/>
                <a:ea typeface="Calibri" pitchFamily="34" charset="-122"/>
                <a:cs typeface="Calibri" pitchFamily="34" charset="-120"/>
              </a:rPr>
              <a:t>Англиар ЧАНГААР хариулаарай — бичихгүй, зөвхөн ярь!</a:t>
            </a:r>
            <a:endParaRPr lang="en-US" sz="800" dirty="0"/>
          </a:p>
        </p:txBody>
      </p:sp>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3529584" y="3264408"/>
          <a:ext cx="3108960" cy="914400"/>
        </p:xfrm>
        <a:graphic>
          <a:graphicData uri="http://schemas.openxmlformats.org/drawingml/2006/table">
            <a:tbl>
              <a:tblPr/>
              <a:tblGrid>
                <a:gridCol w="3108960"/>
              </a:tblGrid>
              <a:tr h="169164">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1.  What might happen to the world in 50 years?</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69164">
                <a:tc>
                  <a:txBody>
                    <a:bodyPr/>
                    <a:lstStyle/>
                    <a:p>
                      <a:pPr algn="l" indent="0" marL="0">
                        <a:buNone/>
                      </a:pPr>
                      <a:r>
                        <a:rPr lang="en-US" sz="850" dirty="0">
                          <a:solidFill>
                            <a:srgbClr val="2E6DA4"/>
                          </a:solidFill>
                          <a:latin typeface="Calibri" pitchFamily="34" charset="0"/>
                          <a:ea typeface="Calibri" pitchFamily="34" charset="-122"/>
                          <a:cs typeface="Calibri" pitchFamily="34" charset="-120"/>
                        </a:rPr>
                        <a:t>2.  Do you think English might become more or less important in the future?</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69164">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3.  What should improve about your school or city in the next 10 years?</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69164">
                <a:tc>
                  <a:txBody>
                    <a:bodyPr/>
                    <a:lstStyle/>
                    <a:p>
                      <a:pPr algn="l" indent="0" marL="0">
                        <a:buNone/>
                      </a:pPr>
                      <a:r>
                        <a:rPr lang="en-US" sz="850" dirty="0">
                          <a:solidFill>
                            <a:srgbClr val="2E6DA4"/>
                          </a:solidFill>
                          <a:latin typeface="Calibri" pitchFamily="34" charset="0"/>
                          <a:ea typeface="Calibri" pitchFamily="34" charset="-122"/>
                          <a:cs typeface="Calibri" pitchFamily="34" charset="-120"/>
                        </a:rPr>
                        <a:t>4.  What might you be doing in 5 years from now?</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69164">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5.  Could Mongolia become a major tech hub? What might need to change?</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69164">
                <a:tc>
                  <a:txBody>
                    <a:bodyPr/>
                    <a:lstStyle/>
                    <a:p>
                      <a:pPr algn="l" indent="0" marL="0">
                        <a:buNone/>
                      </a:pPr>
                      <a:r>
                        <a:rPr lang="en-US" sz="850" dirty="0">
                          <a:solidFill>
                            <a:srgbClr val="2E6DA4"/>
                          </a:solidFill>
                          <a:latin typeface="Calibri" pitchFamily="34" charset="0"/>
                          <a:ea typeface="Calibri" pitchFamily="34" charset="-122"/>
                          <a:cs typeface="Calibri" pitchFamily="34" charset="-120"/>
                        </a:rPr>
                        <a:t>6.  What should you do this weekend to improve your English?</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38" name="Shape 34"/>
          <p:cNvSpPr/>
          <p:nvPr/>
        </p:nvSpPr>
        <p:spPr>
          <a:xfrm>
            <a:off x="179222" y="4467758"/>
            <a:ext cx="6528816" cy="5111496"/>
          </a:xfrm>
          <a:prstGeom prst="rect">
            <a:avLst/>
          </a:prstGeom>
          <a:solidFill>
            <a:srgbClr val="D0DCE8"/>
          </a:solidFill>
          <a:ln w="12700">
            <a:solidFill>
              <a:srgbClr val="D0DCE8"/>
            </a:solidFill>
            <a:prstDash val="solid"/>
          </a:ln>
        </p:spPr>
      </p:sp>
      <p:sp>
        <p:nvSpPr>
          <p:cNvPr id="39" name="Shape 35"/>
          <p:cNvSpPr/>
          <p:nvPr/>
        </p:nvSpPr>
        <p:spPr>
          <a:xfrm>
            <a:off x="164592" y="4453128"/>
            <a:ext cx="6528816" cy="5111496"/>
          </a:xfrm>
          <a:prstGeom prst="rect">
            <a:avLst/>
          </a:prstGeom>
          <a:solidFill>
            <a:srgbClr val="FFFFFF"/>
          </a:solidFill>
          <a:ln w="12700">
            <a:solidFill>
              <a:srgbClr val="C8D8E8"/>
            </a:solidFill>
            <a:prstDash val="solid"/>
          </a:ln>
        </p:spPr>
      </p:sp>
      <p:sp>
        <p:nvSpPr>
          <p:cNvPr id="40" name="Shape 36"/>
          <p:cNvSpPr/>
          <p:nvPr/>
        </p:nvSpPr>
        <p:spPr>
          <a:xfrm>
            <a:off x="164592" y="4453128"/>
            <a:ext cx="6528816" cy="256032"/>
          </a:xfrm>
          <a:prstGeom prst="rect">
            <a:avLst/>
          </a:prstGeom>
          <a:solidFill>
            <a:srgbClr val="6B3FA0"/>
          </a:solidFill>
          <a:ln w="12700">
            <a:solidFill>
              <a:srgbClr val="6B3FA0"/>
            </a:solidFill>
            <a:prstDash val="solid"/>
          </a:ln>
        </p:spPr>
      </p:sp>
      <p:sp>
        <p:nvSpPr>
          <p:cNvPr id="41" name="Shape 37"/>
          <p:cNvSpPr/>
          <p:nvPr/>
        </p:nvSpPr>
        <p:spPr>
          <a:xfrm>
            <a:off x="164592" y="4709160"/>
            <a:ext cx="6528816" cy="146304"/>
          </a:xfrm>
          <a:prstGeom prst="rect">
            <a:avLst/>
          </a:prstGeom>
          <a:solidFill>
            <a:srgbClr val="F0EAFA"/>
          </a:solidFill>
          <a:ln w="12700">
            <a:solidFill>
              <a:srgbClr val="F0EAFA"/>
            </a:solidFill>
            <a:prstDash val="solid"/>
          </a:ln>
        </p:spPr>
      </p:sp>
      <p:sp>
        <p:nvSpPr>
          <p:cNvPr id="42" name="Text 38"/>
          <p:cNvSpPr/>
          <p:nvPr/>
        </p:nvSpPr>
        <p:spPr>
          <a:xfrm>
            <a:off x="256032" y="4453128"/>
            <a:ext cx="6400800"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Role Play / Дүрд тоглох</a:t>
            </a:r>
            <a:endParaRPr lang="en-US" sz="1050" dirty="0"/>
          </a:p>
        </p:txBody>
      </p:sp>
      <p:sp>
        <p:nvSpPr>
          <p:cNvPr id="43" name="Text 39"/>
          <p:cNvSpPr/>
          <p:nvPr/>
        </p:nvSpPr>
        <p:spPr>
          <a:xfrm>
            <a:off x="256032" y="4718304"/>
            <a:ext cx="6400800"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Найзтайгаа дадлагал · Repeat until it sounds natural!</a:t>
            </a:r>
            <a:endParaRPr lang="en-US" sz="750" dirty="0"/>
          </a:p>
        </p:txBody>
      </p:sp>
      <p:graphicFrame>
        <p:nvGraphicFramePr>
          <p:cNvPr id="7" name="Table 2"/>
          <p:cNvGraphicFramePr>
            <a:graphicFrameLocks noGrp="1"/>
          </p:cNvGraphicFramePr>
          <p:nvPr>
            <p:extLst>
              <p:ext uri="{D42A27DB-BD31-4B8C-83A1-F6EECF244321}">
                <p14:modId xmlns:p14="http://schemas.microsoft.com/office/powerpoint/2010/main" val="1579011935"/>
              </p:ext>
            </p:extLst>
          </p:nvPr>
        </p:nvGraphicFramePr>
        <p:xfrm>
          <a:off x="237744" y="4873752"/>
          <a:ext cx="6382512" cy="914400"/>
        </p:xfrm>
        <a:graphic>
          <a:graphicData uri="http://schemas.openxmlformats.org/drawingml/2006/table">
            <a:tbl>
              <a:tblPr/>
              <a:tblGrid>
                <a:gridCol w="3191256"/>
                <a:gridCol w="3191256"/>
              </a:tblGrid>
              <a:tr h="748284">
                <a:tc>
                  <a:txBody>
                    <a:bodyPr/>
                    <a:lstStyle/>
                    <a:p>
                      <a:pPr algn="l" indent="0" marL="0">
                        <a:buNone/>
                      </a:pPr>
                      <a:r>
                        <a:rPr lang="en-US" sz="900" b="1" dirty="0">
                          <a:solidFill>
                            <a:srgbClr val="2E6DA4"/>
                          </a:solidFill>
                          <a:latin typeface="Calibri" pitchFamily="34" charset="0"/>
                          <a:ea typeface="Calibri" pitchFamily="34" charset="-122"/>
                          <a:cs typeface="Calibri" pitchFamily="34" charset="-120"/>
                        </a:rPr>
                        <a:t>A:  What do you think might happen to AI in 10 years?</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900" dirty="0">
                          <a:solidFill>
                            <a:srgbClr val="1E7A4A"/>
                          </a:solidFill>
                          <a:latin typeface="Calibri" pitchFamily="34" charset="0"/>
                          <a:ea typeface="Calibri" pitchFamily="34" charset="-122"/>
                          <a:cs typeface="Calibri" pitchFamily="34" charset="-120"/>
                        </a:rPr>
                        <a:t>B:  It could change everything! Some jobs might disappear completely.</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Should students worry about that?</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Not too much. New jobs should be created too.</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What skills might be most important in the future?</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English and tech skills — they should be essential for everyone.</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Do you think Mongolian students might have an advantage?</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They could! Mongolia is developing fast.</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What might you be doing in 10 years?</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I might be working for an international tech company!</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748284">
                <a:tc>
                  <a:txBody>
                    <a:bodyPr/>
                    <a:lstStyle/>
                    <a:p>
                      <a:pPr algn="l" indent="0" marL="0">
                        <a:buNone/>
                      </a:pPr>
                      <a:r>
                        <a:rPr lang="en-US" sz="900" dirty="0">
                          <a:solidFill>
                            <a:srgbClr val="1A2A3A"/>
                          </a:solidFill>
                          <a:latin typeface="Calibri" pitchFamily="34" charset="0"/>
                          <a:ea typeface="Calibri" pitchFamily="34" charset="-122"/>
                          <a:cs typeface="Calibri" pitchFamily="34" charset="-120"/>
                        </a:rPr>
                        <a:t>A:  That sounds exciting! Should you start preparing now?</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3A5060"/>
                          </a:solidFill>
                          <a:latin typeface="Calibri" pitchFamily="34" charset="0"/>
                          <a:ea typeface="Calibri" pitchFamily="34" charset="-122"/>
                          <a:cs typeface="Calibri" pitchFamily="34" charset="-120"/>
                        </a:rPr>
                        <a:t>B:  Absolutely — and I should be studying English every single day!</a:t>
                      </a:r>
                      <a:endParaRPr lang="en-US" sz="90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45" name="Shape 40"/>
          <p:cNvSpPr/>
          <p:nvPr/>
        </p:nvSpPr>
        <p:spPr>
          <a:xfrm>
            <a:off x="237744" y="9381744"/>
            <a:ext cx="6382512" cy="146304"/>
          </a:xfrm>
          <a:prstGeom prst="rect">
            <a:avLst/>
          </a:prstGeom>
          <a:solidFill>
            <a:srgbClr val="FEF3DC"/>
          </a:solidFill>
          <a:ln w="12700">
            <a:solidFill>
              <a:srgbClr val="C97A0A"/>
            </a:solidFill>
            <a:prstDash val="solid"/>
          </a:ln>
        </p:spPr>
      </p:sp>
      <p:sp>
        <p:nvSpPr>
          <p:cNvPr id="46" name="Text 41"/>
          <p:cNvSpPr/>
          <p:nvPr/>
        </p:nvSpPr>
        <p:spPr>
          <a:xfrm>
            <a:off x="292608" y="9390888"/>
            <a:ext cx="6272784" cy="137160"/>
          </a:xfrm>
          <a:prstGeom prst="rect">
            <a:avLst/>
          </a:prstGeom>
          <a:noFill/>
          <a:ln/>
        </p:spPr>
        <p:txBody>
          <a:bodyPr wrap="square" lIns="0" tIns="0" rIns="0" bIns="0" rtlCol="0" anchor="ctr"/>
          <a:lstStyle/>
          <a:p>
            <a:pPr indent="0" marL="0">
              <a:buNone/>
            </a:pPr>
            <a:r>
              <a:rPr lang="en-US" sz="750" i="1" dirty="0">
                <a:solidFill>
                  <a:srgbClr val="C97A0A"/>
                </a:solidFill>
                <a:latin typeface="Calibri" pitchFamily="34" charset="0"/>
                <a:ea typeface="Calibri" pitchFamily="34" charset="-122"/>
                <a:cs typeface="Calibri" pitchFamily="34" charset="-120"/>
              </a:rPr>
              <a:t>🌟  B1 Tip: Use hedging language to sound more natural and intelligent! Instead of 'It will rain', say 'It might rain' or 'There could be rain.' This shows awareness that the future is uncertain — a very mature English skill!</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6FA"/>
        </a:solidFill>
      </p:bgPr>
    </p:bg>
    <p:spTree>
      <p:nvGrpSpPr>
        <p:cNvPr id="1" name=""/>
        <p:cNvGrpSpPr/>
        <p:nvPr/>
      </p:nvGrpSpPr>
      <p:grpSpPr>
        <a:xfrm>
          <a:off x="0" y="0"/>
          <a:ext cx="0" cy="0"/>
          <a:chOff x="0" y="0"/>
          <a:chExt cx="0" cy="0"/>
        </a:xfrm>
      </p:grpSpPr>
      <p:sp>
        <p:nvSpPr>
          <p:cNvPr id="2" name="Shape 0"/>
          <p:cNvSpPr/>
          <p:nvPr/>
        </p:nvSpPr>
        <p:spPr>
          <a:xfrm>
            <a:off x="0" y="0"/>
            <a:ext cx="6858000" cy="347472"/>
          </a:xfrm>
          <a:prstGeom prst="rect">
            <a:avLst/>
          </a:prstGeom>
          <a:solidFill>
            <a:srgbClr val="1A3A5C"/>
          </a:solidFill>
          <a:ln w="12700">
            <a:solidFill>
              <a:srgbClr val="1A3A5C"/>
            </a:solidFill>
            <a:prstDash val="solid"/>
          </a:ln>
        </p:spPr>
      </p:sp>
      <p:sp>
        <p:nvSpPr>
          <p:cNvPr id="3" name="Shape 1"/>
          <p:cNvSpPr/>
          <p:nvPr/>
        </p:nvSpPr>
        <p:spPr>
          <a:xfrm>
            <a:off x="0" y="0"/>
            <a:ext cx="50292" cy="347472"/>
          </a:xfrm>
          <a:prstGeom prst="rect">
            <a:avLst/>
          </a:prstGeom>
          <a:solidFill>
            <a:srgbClr val="F2C93A"/>
          </a:solidFill>
          <a:ln w="12700">
            <a:solidFill>
              <a:srgbClr val="F2C93A"/>
            </a:solidFill>
            <a:prstDash val="solid"/>
          </a:ln>
        </p:spPr>
      </p:sp>
      <p:sp>
        <p:nvSpPr>
          <p:cNvPr id="4" name="Text 2"/>
          <p:cNvSpPr/>
          <p:nvPr/>
        </p:nvSpPr>
        <p:spPr>
          <a:xfrm>
            <a:off x="100584" y="0"/>
            <a:ext cx="3657600" cy="347472"/>
          </a:xfrm>
          <a:prstGeom prst="rect">
            <a:avLst/>
          </a:prstGeom>
          <a:noFill/>
          <a:ln/>
        </p:spPr>
        <p:txBody>
          <a:bodyPr wrap="square" lIns="0" tIns="0" rIns="0" bIns="0" rtlCol="0" anchor="ctr"/>
          <a:lstStyle/>
          <a:p>
            <a:pPr indent="0" marL="0">
              <a:buNone/>
            </a:pPr>
            <a:r>
              <a:rPr lang="en-US" sz="1350" b="1" dirty="0">
                <a:solidFill>
                  <a:srgbClr val="F2C93A"/>
                </a:solidFill>
                <a:latin typeface="Georgia" pitchFamily="34" charset="0"/>
                <a:ea typeface="Georgia" pitchFamily="34" charset="-122"/>
                <a:cs typeface="Georgia" pitchFamily="34" charset="-120"/>
              </a:rPr>
              <a:t>Speak English in 90 Days</a:t>
            </a:r>
            <a:endParaRPr lang="en-US" sz="1350" dirty="0"/>
          </a:p>
        </p:txBody>
      </p:sp>
      <p:sp>
        <p:nvSpPr>
          <p:cNvPr id="5" name="Text 3"/>
          <p:cNvSpPr/>
          <p:nvPr/>
        </p:nvSpPr>
        <p:spPr>
          <a:xfrm>
            <a:off x="3657600" y="0"/>
            <a:ext cx="1920240" cy="347472"/>
          </a:xfrm>
          <a:prstGeom prst="rect">
            <a:avLst/>
          </a:prstGeom>
          <a:noFill/>
          <a:ln/>
        </p:spPr>
        <p:txBody>
          <a:bodyPr wrap="square" lIns="0" tIns="0" rIns="0" bIns="0" rtlCol="0" anchor="ctr"/>
          <a:lstStyle/>
          <a:p>
            <a:pPr algn="ctr" indent="0" marL="0">
              <a:buNone/>
            </a:pPr>
            <a:r>
              <a:rPr lang="en-US" sz="800" dirty="0">
                <a:solidFill>
                  <a:srgbClr val="90AABF"/>
                </a:solidFill>
                <a:latin typeface="Calibri" pitchFamily="34" charset="0"/>
                <a:ea typeface="Calibri" pitchFamily="34" charset="-122"/>
                <a:cs typeface="Calibri" pitchFamily="34" charset="-120"/>
              </a:rPr>
              <a:t>B1 · Book 3 · Дэвшилтэт шат</a:t>
            </a:r>
            <a:endParaRPr lang="en-US" sz="800" dirty="0"/>
          </a:p>
        </p:txBody>
      </p:sp>
      <p:sp>
        <p:nvSpPr>
          <p:cNvPr id="6" name="Text 4"/>
          <p:cNvSpPr/>
          <p:nvPr/>
        </p:nvSpPr>
        <p:spPr>
          <a:xfrm>
            <a:off x="5577840" y="0"/>
            <a:ext cx="1170432" cy="347472"/>
          </a:xfrm>
          <a:prstGeom prst="rect">
            <a:avLst/>
          </a:prstGeom>
          <a:noFill/>
          <a:ln/>
        </p:spPr>
        <p:txBody>
          <a:bodyPr wrap="square" lIns="0" tIns="0" rIns="0" bIns="0" rtlCol="0" anchor="ctr"/>
          <a:lstStyle/>
          <a:p>
            <a:pPr algn="r" indent="0" marL="0">
              <a:buNone/>
            </a:pPr>
            <a:r>
              <a:rPr lang="en-US" sz="850" dirty="0">
                <a:solidFill>
                  <a:srgbClr val="F2C93A"/>
                </a:solidFill>
                <a:latin typeface="Calibri" pitchFamily="34" charset="0"/>
                <a:ea typeface="Calibri" pitchFamily="34" charset="-122"/>
                <a:cs typeface="Calibri" pitchFamily="34" charset="-120"/>
              </a:rPr>
              <a:t>15-20 минут</a:t>
            </a:r>
            <a:endParaRPr lang="en-US" sz="850" dirty="0"/>
          </a:p>
        </p:txBody>
      </p:sp>
      <p:sp>
        <p:nvSpPr>
          <p:cNvPr id="7" name="Shape 5"/>
          <p:cNvSpPr/>
          <p:nvPr/>
        </p:nvSpPr>
        <p:spPr>
          <a:xfrm>
            <a:off x="0" y="347472"/>
            <a:ext cx="1335024" cy="237744"/>
          </a:xfrm>
          <a:prstGeom prst="rect">
            <a:avLst/>
          </a:prstGeom>
          <a:solidFill>
            <a:srgbClr val="F2C93A"/>
          </a:solidFill>
          <a:ln w="12700">
            <a:solidFill>
              <a:srgbClr val="F2C93A"/>
            </a:solidFill>
            <a:prstDash val="solid"/>
          </a:ln>
        </p:spPr>
      </p:sp>
      <p:sp>
        <p:nvSpPr>
          <p:cNvPr id="8" name="Text 6"/>
          <p:cNvSpPr/>
          <p:nvPr/>
        </p:nvSpPr>
        <p:spPr>
          <a:xfrm>
            <a:off x="0" y="347472"/>
            <a:ext cx="1335024" cy="237744"/>
          </a:xfrm>
          <a:prstGeom prst="rect">
            <a:avLst/>
          </a:prstGeom>
          <a:noFill/>
          <a:ln/>
        </p:spPr>
        <p:txBody>
          <a:bodyPr wrap="square" lIns="0" tIns="0" rIns="0" bIns="0" rtlCol="0" anchor="ctr"/>
          <a:lstStyle/>
          <a:p>
            <a:pPr algn="ctr" indent="0" marL="0">
              <a:buNone/>
            </a:pPr>
            <a:r>
              <a:rPr lang="en-US" sz="850" b="1" dirty="0">
                <a:solidFill>
                  <a:srgbClr val="1A3A5C"/>
                </a:solidFill>
                <a:latin typeface="Calibri" pitchFamily="34" charset="0"/>
                <a:ea typeface="Calibri" pitchFamily="34" charset="-122"/>
                <a:cs typeface="Calibri" pitchFamily="34" charset="-120"/>
              </a:rPr>
              <a:t>DAY 69 · ӨДӨР 69</a:t>
            </a:r>
            <a:endParaRPr lang="en-US" sz="850" dirty="0"/>
          </a:p>
        </p:txBody>
      </p:sp>
      <p:sp>
        <p:nvSpPr>
          <p:cNvPr id="9" name="Shape 7"/>
          <p:cNvSpPr/>
          <p:nvPr/>
        </p:nvSpPr>
        <p:spPr>
          <a:xfrm>
            <a:off x="1335024" y="347472"/>
            <a:ext cx="4498848" cy="237744"/>
          </a:xfrm>
          <a:prstGeom prst="rect">
            <a:avLst/>
          </a:prstGeom>
          <a:solidFill>
            <a:srgbClr val="6B3FA0"/>
          </a:solidFill>
          <a:ln w="12700">
            <a:solidFill>
              <a:srgbClr val="6B3FA0"/>
            </a:solidFill>
            <a:prstDash val="solid"/>
          </a:ln>
        </p:spPr>
      </p:sp>
      <p:sp>
        <p:nvSpPr>
          <p:cNvPr id="10" name="Text 8"/>
          <p:cNvSpPr/>
          <p:nvPr/>
        </p:nvSpPr>
        <p:spPr>
          <a:xfrm>
            <a:off x="1408176" y="347472"/>
            <a:ext cx="4425696" cy="237744"/>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Listening · Practice · Homework</a:t>
            </a:r>
            <a:endParaRPr lang="en-US" sz="850" dirty="0"/>
          </a:p>
        </p:txBody>
      </p:sp>
      <p:sp>
        <p:nvSpPr>
          <p:cNvPr id="11" name="Shape 9"/>
          <p:cNvSpPr/>
          <p:nvPr/>
        </p:nvSpPr>
        <p:spPr>
          <a:xfrm>
            <a:off x="5833872" y="347472"/>
            <a:ext cx="1024128" cy="237744"/>
          </a:xfrm>
          <a:prstGeom prst="rect">
            <a:avLst/>
          </a:prstGeom>
          <a:solidFill>
            <a:srgbClr val="1A3A5C"/>
          </a:solidFill>
          <a:ln w="12700">
            <a:solidFill>
              <a:srgbClr val="1A3A5C"/>
            </a:solidFill>
            <a:prstDash val="solid"/>
          </a:ln>
        </p:spPr>
      </p:sp>
      <p:sp>
        <p:nvSpPr>
          <p:cNvPr id="12" name="Text 10"/>
          <p:cNvSpPr/>
          <p:nvPr/>
        </p:nvSpPr>
        <p:spPr>
          <a:xfrm>
            <a:off x="5760720" y="347472"/>
            <a:ext cx="1042416" cy="237744"/>
          </a:xfrm>
          <a:prstGeom prst="rect">
            <a:avLst/>
          </a:prstGeom>
          <a:noFill/>
          <a:ln/>
        </p:spPr>
        <p:txBody>
          <a:bodyPr wrap="square" lIns="0" tIns="0" rIns="0" bIns="0" rtlCol="0" anchor="ctr"/>
          <a:lstStyle/>
          <a:p>
            <a:pPr algn="r" indent="0" marL="0">
              <a:buNone/>
            </a:pPr>
            <a:r>
              <a:rPr lang="en-US" sz="750" dirty="0">
                <a:solidFill>
                  <a:srgbClr val="F2C93A"/>
                </a:solidFill>
                <a:latin typeface="Calibri" pitchFamily="34" charset="0"/>
                <a:ea typeface="Calibri" pitchFamily="34" charset="-122"/>
                <a:cs typeface="Calibri" pitchFamily="34" charset="-120"/>
              </a:rPr>
              <a:t>🎧 Page 3</a:t>
            </a:r>
            <a:endParaRPr lang="en-US" sz="750" dirty="0"/>
          </a:p>
        </p:txBody>
      </p:sp>
      <p:sp>
        <p:nvSpPr>
          <p:cNvPr id="13" name="Shape 11"/>
          <p:cNvSpPr/>
          <p:nvPr/>
        </p:nvSpPr>
        <p:spPr>
          <a:xfrm>
            <a:off x="0" y="9601200"/>
            <a:ext cx="6858000" cy="91440"/>
          </a:xfrm>
          <a:prstGeom prst="rect">
            <a:avLst/>
          </a:prstGeom>
          <a:solidFill>
            <a:srgbClr val="E4EEF6"/>
          </a:solidFill>
          <a:ln w="12700">
            <a:solidFill>
              <a:srgbClr val="E4EEF6"/>
            </a:solidFill>
            <a:prstDash val="solid"/>
          </a:ln>
        </p:spPr>
      </p:sp>
      <p:sp>
        <p:nvSpPr>
          <p:cNvPr id="14" name="Text 12"/>
          <p:cNvSpPr/>
          <p:nvPr/>
        </p:nvSpPr>
        <p:spPr>
          <a:xfrm>
            <a:off x="0" y="9601200"/>
            <a:ext cx="6858000" cy="91440"/>
          </a:xfrm>
          <a:prstGeom prst="rect">
            <a:avLst/>
          </a:prstGeom>
          <a:noFill/>
          <a:ln/>
        </p:spPr>
        <p:txBody>
          <a:bodyPr wrap="square" lIns="0" tIns="0" rIns="0" bIns="0" rtlCol="0" anchor="ctr"/>
          <a:lstStyle/>
          <a:p>
            <a:pPr algn="ctr" indent="0" marL="0">
              <a:buNone/>
            </a:pPr>
            <a:r>
              <a:rPr lang="en-US" sz="650" dirty="0">
                <a:solidFill>
                  <a:srgbClr val="7A90A0"/>
                </a:solidFill>
                <a:latin typeface="Calibri" pitchFamily="34" charset="0"/>
                <a:ea typeface="Calibri" pitchFamily="34" charset="-122"/>
                <a:cs typeface="Calibri" pitchFamily="34" charset="-120"/>
              </a:rPr>
              <a:t>Speak English in 90 Days  ·  B1 Level  ·  Book 3</a:t>
            </a:r>
            <a:endParaRPr lang="en-US" sz="650" dirty="0"/>
          </a:p>
        </p:txBody>
      </p:sp>
      <p:sp>
        <p:nvSpPr>
          <p:cNvPr id="15" name="Shape 13"/>
          <p:cNvSpPr/>
          <p:nvPr/>
        </p:nvSpPr>
        <p:spPr>
          <a:xfrm>
            <a:off x="179222" y="627278"/>
            <a:ext cx="6528816" cy="1956816"/>
          </a:xfrm>
          <a:prstGeom prst="rect">
            <a:avLst/>
          </a:prstGeom>
          <a:solidFill>
            <a:srgbClr val="D0DCE8"/>
          </a:solidFill>
          <a:ln w="12700">
            <a:solidFill>
              <a:srgbClr val="D0DCE8"/>
            </a:solidFill>
            <a:prstDash val="solid"/>
          </a:ln>
        </p:spPr>
      </p:sp>
      <p:sp>
        <p:nvSpPr>
          <p:cNvPr id="16" name="Shape 14"/>
          <p:cNvSpPr/>
          <p:nvPr/>
        </p:nvSpPr>
        <p:spPr>
          <a:xfrm>
            <a:off x="164592" y="612648"/>
            <a:ext cx="6528816" cy="1956816"/>
          </a:xfrm>
          <a:prstGeom prst="rect">
            <a:avLst/>
          </a:prstGeom>
          <a:solidFill>
            <a:srgbClr val="FFFFFF"/>
          </a:solidFill>
          <a:ln w="12700">
            <a:solidFill>
              <a:srgbClr val="C8D8E8"/>
            </a:solidFill>
            <a:prstDash val="solid"/>
          </a:ln>
        </p:spPr>
      </p:sp>
      <p:sp>
        <p:nvSpPr>
          <p:cNvPr id="17" name="Shape 15"/>
          <p:cNvSpPr/>
          <p:nvPr/>
        </p:nvSpPr>
        <p:spPr>
          <a:xfrm>
            <a:off x="164592" y="612648"/>
            <a:ext cx="6528816" cy="256032"/>
          </a:xfrm>
          <a:prstGeom prst="rect">
            <a:avLst/>
          </a:prstGeom>
          <a:solidFill>
            <a:srgbClr val="6B3FA0"/>
          </a:solidFill>
          <a:ln w="12700">
            <a:solidFill>
              <a:srgbClr val="6B3FA0"/>
            </a:solidFill>
            <a:prstDash val="solid"/>
          </a:ln>
        </p:spPr>
      </p:sp>
      <p:sp>
        <p:nvSpPr>
          <p:cNvPr id="18" name="Shape 16"/>
          <p:cNvSpPr/>
          <p:nvPr/>
        </p:nvSpPr>
        <p:spPr>
          <a:xfrm>
            <a:off x="164592" y="868680"/>
            <a:ext cx="6528816" cy="146304"/>
          </a:xfrm>
          <a:prstGeom prst="rect">
            <a:avLst/>
          </a:prstGeom>
          <a:solidFill>
            <a:srgbClr val="F0EAFA"/>
          </a:solidFill>
          <a:ln w="12700">
            <a:solidFill>
              <a:srgbClr val="F0EAFA"/>
            </a:solidFill>
            <a:prstDash val="solid"/>
          </a:ln>
        </p:spPr>
      </p:sp>
      <p:sp>
        <p:nvSpPr>
          <p:cNvPr id="19" name="Text 17"/>
          <p:cNvSpPr/>
          <p:nvPr/>
        </p:nvSpPr>
        <p:spPr>
          <a:xfrm>
            <a:off x="256032" y="612648"/>
            <a:ext cx="6400800"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Listening Script / Сонсох текст</a:t>
            </a:r>
            <a:endParaRPr lang="en-US" sz="1050" dirty="0"/>
          </a:p>
        </p:txBody>
      </p:sp>
      <p:sp>
        <p:nvSpPr>
          <p:cNvPr id="20" name="Text 18"/>
          <p:cNvSpPr/>
          <p:nvPr/>
        </p:nvSpPr>
        <p:spPr>
          <a:xfrm>
            <a:off x="256032" y="877824"/>
            <a:ext cx="6400800"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Answer 10 questions WITHOUT looking at the text!</a:t>
            </a:r>
            <a:endParaRPr lang="en-US" sz="750" dirty="0"/>
          </a:p>
        </p:txBody>
      </p:sp>
      <p:sp>
        <p:nvSpPr>
          <p:cNvPr id="21" name="Shape 19"/>
          <p:cNvSpPr/>
          <p:nvPr/>
        </p:nvSpPr>
        <p:spPr>
          <a:xfrm>
            <a:off x="237744" y="1033272"/>
            <a:ext cx="6382512" cy="1481328"/>
          </a:xfrm>
          <a:prstGeom prst="rect">
            <a:avLst/>
          </a:prstGeom>
          <a:solidFill>
            <a:srgbClr val="F4F8FC"/>
          </a:solidFill>
          <a:ln w="12700">
            <a:solidFill>
              <a:srgbClr val="2E6DA4"/>
            </a:solidFill>
            <a:prstDash val="solid"/>
          </a:ln>
        </p:spPr>
      </p:sp>
      <p:sp>
        <p:nvSpPr>
          <p:cNvPr id="22" name="Text 20"/>
          <p:cNvSpPr/>
          <p:nvPr/>
        </p:nvSpPr>
        <p:spPr>
          <a:xfrm>
            <a:off x="292608" y="1069848"/>
            <a:ext cx="6272784" cy="1408176"/>
          </a:xfrm>
          <a:prstGeom prst="rect">
            <a:avLst/>
          </a:prstGeom>
          <a:noFill/>
          <a:ln/>
        </p:spPr>
        <p:txBody>
          <a:bodyPr wrap="square" lIns="0" tIns="0" rIns="0" bIns="0" rtlCol="0" anchor="t"/>
          <a:lstStyle/>
          <a:p>
            <a:pPr indent="0" marL="0">
              <a:lnSpc>
                <a:spcPct val="150000"/>
              </a:lnSpc>
              <a:buNone/>
            </a:pPr>
            <a:r>
              <a:rPr lang="en-US" sz="850" b="1" dirty="0">
                <a:solidFill>
                  <a:srgbClr val="6B3FA0"/>
                </a:solidFill>
                <a:latin typeface="Calibri" pitchFamily="34" charset="0"/>
                <a:ea typeface="Calibri" pitchFamily="34" charset="-122"/>
                <a:cs typeface="Calibri" pitchFamily="34" charset="-120"/>
              </a:rPr>
              <a:t>Teacher: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Today: future uncertainty. Bat, what might happen to English in 50 years?  </a:t>
            </a:r>
            <a:pPr indent="0" marL="0">
              <a:lnSpc>
                <a:spcPct val="150000"/>
              </a:lnSpc>
              <a:buNone/>
            </a:pPr>
            <a:r>
              <a:rPr lang="en-US" sz="850" b="1" dirty="0">
                <a:solidFill>
                  <a:srgbClr val="2E6DA4"/>
                </a:solidFill>
                <a:latin typeface="Calibri" pitchFamily="34" charset="0"/>
                <a:ea typeface="Calibri" pitchFamily="34" charset="-122"/>
                <a:cs typeface="Calibri" pitchFamily="34" charset="-120"/>
              </a:rPr>
              <a:t>Bat: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English might become even more dominant. There could be new dialects of global English. Or Mandarin might challenge it — who knows!  </a:t>
            </a:r>
            <a:pPr indent="0" marL="0">
              <a:lnSpc>
                <a:spcPct val="150000"/>
              </a:lnSpc>
              <a:buNone/>
            </a:pPr>
            <a:r>
              <a:rPr lang="en-US" sz="850" b="1" dirty="0">
                <a:solidFill>
                  <a:srgbClr val="6B3FA0"/>
                </a:solidFill>
                <a:latin typeface="Calibri" pitchFamily="34" charset="0"/>
                <a:ea typeface="Calibri" pitchFamily="34" charset="-122"/>
                <a:cs typeface="Calibri" pitchFamily="34" charset="-120"/>
              </a:rPr>
              <a:t>Teacher: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Good uncertainty! Sarnai, should students today be worried about the future job market?  </a:t>
            </a:r>
            <a:pPr indent="0" marL="0">
              <a:lnSpc>
                <a:spcPct val="150000"/>
              </a:lnSpc>
              <a:buNone/>
            </a:pPr>
            <a:r>
              <a:rPr lang="en-US" sz="850" b="1" dirty="0">
                <a:solidFill>
                  <a:srgbClr val="C97A0A"/>
                </a:solidFill>
                <a:latin typeface="Calibri" pitchFamily="34" charset="0"/>
                <a:ea typeface="Calibri" pitchFamily="34" charset="-122"/>
                <a:cs typeface="Calibri" pitchFamily="34" charset="-120"/>
              </a:rPr>
              <a:t>Sarnai: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They shouldn't panic, but they should prepare. Jobs might change a lot, but creativity could become even more valuable. AI might not replace true human creativity.  </a:t>
            </a:r>
            <a:pPr indent="0" marL="0">
              <a:lnSpc>
                <a:spcPct val="150000"/>
              </a:lnSpc>
              <a:buNone/>
            </a:pPr>
            <a:r>
              <a:rPr lang="en-US" sz="850" b="1" dirty="0">
                <a:solidFill>
                  <a:srgbClr val="6B3FA0"/>
                </a:solidFill>
                <a:latin typeface="Calibri" pitchFamily="34" charset="0"/>
                <a:ea typeface="Calibri" pitchFamily="34" charset="-122"/>
                <a:cs typeface="Calibri" pitchFamily="34" charset="-120"/>
              </a:rPr>
              <a:t>Teacher: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What should students do right now to prepare?  </a:t>
            </a:r>
            <a:pPr indent="0" marL="0">
              <a:lnSpc>
                <a:spcPct val="150000"/>
              </a:lnSpc>
              <a:buNone/>
            </a:pPr>
            <a:r>
              <a:rPr lang="en-US" sz="850" b="1" dirty="0">
                <a:solidFill>
                  <a:srgbClr val="2E6DA4"/>
                </a:solidFill>
                <a:latin typeface="Calibri" pitchFamily="34" charset="0"/>
                <a:ea typeface="Calibri" pitchFamily="34" charset="-122"/>
                <a:cs typeface="Calibri" pitchFamily="34" charset="-120"/>
              </a:rPr>
              <a:t>Bat: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They should learn English, develop tech skills, and be creative. Those things should always be in demand. Even if everything changes, those skills could open any door!  </a:t>
            </a:r>
            <a:pPr indent="0" marL="0">
              <a:lnSpc>
                <a:spcPct val="150000"/>
              </a:lnSpc>
              <a:buNone/>
            </a:pPr>
            <a:r>
              <a:rPr lang="en-US" sz="850" b="1" dirty="0">
                <a:solidFill>
                  <a:srgbClr val="6B3FA0"/>
                </a:solidFill>
                <a:latin typeface="Calibri" pitchFamily="34" charset="0"/>
                <a:ea typeface="Calibri" pitchFamily="34" charset="-122"/>
                <a:cs typeface="Calibri" pitchFamily="34" charset="-120"/>
              </a:rPr>
              <a:t>Teacher: </a:t>
            </a:r>
            <a:pPr indent="0" marL="0">
              <a:lnSpc>
                <a:spcPct val="150000"/>
              </a:lnSpc>
              <a:buNone/>
            </a:pPr>
            <a:r>
              <a:rPr lang="en-US" sz="850" dirty="0">
                <a:solidFill>
                  <a:srgbClr val="1A2A3A"/>
                </a:solidFill>
                <a:latin typeface="Calibri" pitchFamily="34" charset="0"/>
                <a:ea typeface="Calibri" pitchFamily="34" charset="-122"/>
                <a:cs typeface="Calibri" pitchFamily="34" charset="-120"/>
              </a:rPr>
              <a:t>Wisely said! Uncertainty about the future should inspire us, not frighten us.</a:t>
            </a:r>
            <a:endParaRPr lang="en-US" sz="850" dirty="0"/>
          </a:p>
        </p:txBody>
      </p:sp>
      <p:sp>
        <p:nvSpPr>
          <p:cNvPr id="23" name="Shape 21"/>
          <p:cNvSpPr/>
          <p:nvPr/>
        </p:nvSpPr>
        <p:spPr>
          <a:xfrm>
            <a:off x="179222" y="2657246"/>
            <a:ext cx="3218688" cy="3200400"/>
          </a:xfrm>
          <a:prstGeom prst="rect">
            <a:avLst/>
          </a:prstGeom>
          <a:solidFill>
            <a:srgbClr val="D0DCE8"/>
          </a:solidFill>
          <a:ln w="12700">
            <a:solidFill>
              <a:srgbClr val="D0DCE8"/>
            </a:solidFill>
            <a:prstDash val="solid"/>
          </a:ln>
        </p:spPr>
      </p:sp>
      <p:sp>
        <p:nvSpPr>
          <p:cNvPr id="24" name="Shape 22"/>
          <p:cNvSpPr/>
          <p:nvPr/>
        </p:nvSpPr>
        <p:spPr>
          <a:xfrm>
            <a:off x="164592" y="2642616"/>
            <a:ext cx="3218688" cy="3200400"/>
          </a:xfrm>
          <a:prstGeom prst="rect">
            <a:avLst/>
          </a:prstGeom>
          <a:solidFill>
            <a:srgbClr val="FFFFFF"/>
          </a:solidFill>
          <a:ln w="12700">
            <a:solidFill>
              <a:srgbClr val="C8D8E8"/>
            </a:solidFill>
            <a:prstDash val="solid"/>
          </a:ln>
        </p:spPr>
      </p:sp>
      <p:sp>
        <p:nvSpPr>
          <p:cNvPr id="25" name="Shape 23"/>
          <p:cNvSpPr/>
          <p:nvPr/>
        </p:nvSpPr>
        <p:spPr>
          <a:xfrm>
            <a:off x="164592" y="2642616"/>
            <a:ext cx="3218688" cy="256032"/>
          </a:xfrm>
          <a:prstGeom prst="rect">
            <a:avLst/>
          </a:prstGeom>
          <a:solidFill>
            <a:srgbClr val="2E6DA4"/>
          </a:solidFill>
          <a:ln w="12700">
            <a:solidFill>
              <a:srgbClr val="2E6DA4"/>
            </a:solidFill>
            <a:prstDash val="solid"/>
          </a:ln>
        </p:spPr>
      </p:sp>
      <p:sp>
        <p:nvSpPr>
          <p:cNvPr id="26" name="Shape 24"/>
          <p:cNvSpPr/>
          <p:nvPr/>
        </p:nvSpPr>
        <p:spPr>
          <a:xfrm>
            <a:off x="164592" y="2898648"/>
            <a:ext cx="3218688" cy="146304"/>
          </a:xfrm>
          <a:prstGeom prst="rect">
            <a:avLst/>
          </a:prstGeom>
          <a:solidFill>
            <a:srgbClr val="EBF4FB"/>
          </a:solidFill>
          <a:ln w="12700">
            <a:solidFill>
              <a:srgbClr val="EBF4FB"/>
            </a:solidFill>
            <a:prstDash val="solid"/>
          </a:ln>
        </p:spPr>
      </p:sp>
      <p:sp>
        <p:nvSpPr>
          <p:cNvPr id="27" name="Text 25"/>
          <p:cNvSpPr/>
          <p:nvPr/>
        </p:nvSpPr>
        <p:spPr>
          <a:xfrm>
            <a:off x="256032" y="2642616"/>
            <a:ext cx="309067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Comprehension Questions (10)</a:t>
            </a:r>
            <a:endParaRPr lang="en-US" sz="1050" dirty="0"/>
          </a:p>
        </p:txBody>
      </p:sp>
      <p:sp>
        <p:nvSpPr>
          <p:cNvPr id="28" name="Text 26"/>
          <p:cNvSpPr/>
          <p:nvPr/>
        </p:nvSpPr>
        <p:spPr>
          <a:xfrm>
            <a:off x="256032" y="2907792"/>
            <a:ext cx="3090672"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Choose the best answer.</a:t>
            </a:r>
            <a:endParaRPr lang="en-US" sz="7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228600" y="3063240"/>
          <a:ext cx="3090672" cy="914400"/>
        </p:xfrm>
        <a:graphic>
          <a:graphicData uri="http://schemas.openxmlformats.org/drawingml/2006/table">
            <a:tbl>
              <a:tblPr/>
              <a:tblGrid>
                <a:gridCol w="247254"/>
                <a:gridCol w="1236269"/>
                <a:gridCol w="1607149"/>
              </a:tblGrid>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What might English become more of in 50 years?</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less used</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even more dominant</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replaced by Mongolian</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What could exist in the future regarding English?</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fewer speakers</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new dialects of global English</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a simpler version</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What language might challenge English?</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Japanese</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Spanish</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Mandarin</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4.</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Should students panic about the future job market?</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yes</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definitely</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no, but they should prepare</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5.</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What might AI not replace?</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coding jobs</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teaching</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true human creativity</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6.</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What should students develop to prepare?</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only English skills</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only tech skills</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English, tech skills, and creativity</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7.</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Should those skills always be in demand?</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no</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maybe</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yes</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8.</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What does the teacher say uncertainty should inspire?</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fear</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giving up</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inspiration</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9.</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'Should' in 'They should prepare' expresses...</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obligation like 'must'</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expectation/advice (80%)</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impossibility</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78892">
                <a:tc>
                  <a:txBody>
                    <a:bodyPr/>
                    <a:lstStyle/>
                    <a:p>
                      <a:pPr algn="ctr" indent="0" marL="0">
                        <a:buNone/>
                      </a:pPr>
                      <a:r>
                        <a:rPr lang="en-US" sz="750" b="1" dirty="0">
                          <a:solidFill>
                            <a:srgbClr val="2E6DA4"/>
                          </a:solidFill>
                          <a:latin typeface="Calibri" pitchFamily="34" charset="0"/>
                          <a:ea typeface="Calibri" pitchFamily="34" charset="-122"/>
                          <a:cs typeface="Calibri" pitchFamily="34" charset="-120"/>
                        </a:rPr>
                        <a:t>10.</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A2A3A"/>
                          </a:solidFill>
                          <a:latin typeface="Calibri" pitchFamily="34" charset="0"/>
                          <a:ea typeface="Calibri" pitchFamily="34" charset="-122"/>
                          <a:cs typeface="Calibri" pitchFamily="34" charset="-120"/>
                        </a:rPr>
                        <a:t>'Might not' expresses...</a:t>
                      </a:r>
                      <a:endParaRPr lang="en-US" sz="78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750" i="1" dirty="0">
                          <a:solidFill>
                            <a:srgbClr val="3A5060"/>
                          </a:solidFill>
                          <a:latin typeface="Calibri" pitchFamily="34" charset="0"/>
                          <a:ea typeface="Calibri" pitchFamily="34" charset="-122"/>
                          <a:cs typeface="Calibri" pitchFamily="34" charset="-120"/>
                        </a:rPr>
                        <a:t>a) definite negative future</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b) possible negative future</a:t>
                      </a:r>
                      <a:endParaRPr lang="en-US" sz="750" dirty="0">
                        <a:latin typeface="Calibri" charset="0"/>
                        <a:ea typeface="Calibri" charset="0"/>
                        <a:cs typeface="Calibri" charset="0"/>
                      </a:endParaRPr>
                    </a:p>
                    <a:p>
                      <a:pPr algn="l" indent="0" marL="0">
                        <a:buNone/>
                      </a:pPr>
                      <a:r>
                        <a:rPr lang="en-US" sz="750" i="1" dirty="0">
                          <a:solidFill>
                            <a:srgbClr val="3A5060"/>
                          </a:solidFill>
                          <a:latin typeface="Calibri" pitchFamily="34" charset="0"/>
                          <a:ea typeface="Calibri" pitchFamily="34" charset="-122"/>
                          <a:cs typeface="Calibri" pitchFamily="34" charset="-120"/>
                        </a:rPr>
                        <a:t>c) impossible future</a:t>
                      </a:r>
                      <a:endParaRPr lang="en-US" sz="750" dirty="0">
                        <a:latin typeface="Calibri" charset="0"/>
                        <a:ea typeface="Calibri" charset="0"/>
                        <a:cs typeface="Calibri" charset="0"/>
                      </a:endParaRPr>
                    </a:p>
                  </a:txBody>
                  <a:tcPr marL="91440" marR="91440" marT="45720" marB="45720" anchor="t">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30" name="Shape 27"/>
          <p:cNvSpPr/>
          <p:nvPr/>
        </p:nvSpPr>
        <p:spPr>
          <a:xfrm>
            <a:off x="3489350" y="2657246"/>
            <a:ext cx="3218688" cy="3200400"/>
          </a:xfrm>
          <a:prstGeom prst="rect">
            <a:avLst/>
          </a:prstGeom>
          <a:solidFill>
            <a:srgbClr val="D0DCE8"/>
          </a:solidFill>
          <a:ln w="12700">
            <a:solidFill>
              <a:srgbClr val="D0DCE8"/>
            </a:solidFill>
            <a:prstDash val="solid"/>
          </a:ln>
        </p:spPr>
      </p:sp>
      <p:sp>
        <p:nvSpPr>
          <p:cNvPr id="31" name="Shape 28"/>
          <p:cNvSpPr/>
          <p:nvPr/>
        </p:nvSpPr>
        <p:spPr>
          <a:xfrm>
            <a:off x="3474720" y="2642616"/>
            <a:ext cx="3218688" cy="3200400"/>
          </a:xfrm>
          <a:prstGeom prst="rect">
            <a:avLst/>
          </a:prstGeom>
          <a:solidFill>
            <a:srgbClr val="FFFFFF"/>
          </a:solidFill>
          <a:ln w="12700">
            <a:solidFill>
              <a:srgbClr val="C8D8E8"/>
            </a:solidFill>
            <a:prstDash val="solid"/>
          </a:ln>
        </p:spPr>
      </p:sp>
      <p:sp>
        <p:nvSpPr>
          <p:cNvPr id="32" name="Shape 29"/>
          <p:cNvSpPr/>
          <p:nvPr/>
        </p:nvSpPr>
        <p:spPr>
          <a:xfrm>
            <a:off x="3474720" y="2642616"/>
            <a:ext cx="3218688" cy="256032"/>
          </a:xfrm>
          <a:prstGeom prst="rect">
            <a:avLst/>
          </a:prstGeom>
          <a:solidFill>
            <a:srgbClr val="0D7C7B"/>
          </a:solidFill>
          <a:ln w="12700">
            <a:solidFill>
              <a:srgbClr val="0D7C7B"/>
            </a:solidFill>
            <a:prstDash val="solid"/>
          </a:ln>
        </p:spPr>
      </p:sp>
      <p:sp>
        <p:nvSpPr>
          <p:cNvPr id="33" name="Shape 30"/>
          <p:cNvSpPr/>
          <p:nvPr/>
        </p:nvSpPr>
        <p:spPr>
          <a:xfrm>
            <a:off x="3474720" y="2898648"/>
            <a:ext cx="3218688" cy="146304"/>
          </a:xfrm>
          <a:prstGeom prst="rect">
            <a:avLst/>
          </a:prstGeom>
          <a:solidFill>
            <a:srgbClr val="E0F4F4"/>
          </a:solidFill>
          <a:ln w="12700">
            <a:solidFill>
              <a:srgbClr val="E0F4F4"/>
            </a:solidFill>
            <a:prstDash val="solid"/>
          </a:ln>
        </p:spPr>
      </p:sp>
      <p:sp>
        <p:nvSpPr>
          <p:cNvPr id="34" name="Text 31"/>
          <p:cNvSpPr/>
          <p:nvPr/>
        </p:nvSpPr>
        <p:spPr>
          <a:xfrm>
            <a:off x="3566160" y="2642616"/>
            <a:ext cx="3090672"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Grammar Practice &amp; Matching</a:t>
            </a:r>
            <a:endParaRPr lang="en-US" sz="1050" dirty="0"/>
          </a:p>
        </p:txBody>
      </p:sp>
      <p:sp>
        <p:nvSpPr>
          <p:cNvPr id="35" name="Shape 32"/>
          <p:cNvSpPr/>
          <p:nvPr/>
        </p:nvSpPr>
        <p:spPr>
          <a:xfrm>
            <a:off x="3529584" y="3063240"/>
            <a:ext cx="3108960" cy="164592"/>
          </a:xfrm>
          <a:prstGeom prst="rect">
            <a:avLst/>
          </a:prstGeom>
          <a:solidFill>
            <a:srgbClr val="0D7C7B"/>
          </a:solidFill>
          <a:ln w="12700">
            <a:solidFill>
              <a:srgbClr val="0D7C7B"/>
            </a:solidFill>
            <a:prstDash val="solid"/>
          </a:ln>
        </p:spPr>
      </p:sp>
      <p:sp>
        <p:nvSpPr>
          <p:cNvPr id="36" name="Text 33"/>
          <p:cNvSpPr/>
          <p:nvPr/>
        </p:nvSpPr>
        <p:spPr>
          <a:xfrm>
            <a:off x="3557016" y="3063240"/>
            <a:ext cx="3072384"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Fill in the blank — might / may / could / should + base verb</a:t>
            </a:r>
            <a:endParaRPr lang="en-US" sz="8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3529584" y="3227832"/>
          <a:ext cx="3108960" cy="914400"/>
        </p:xfrm>
        <a:graphic>
          <a:graphicData uri="http://schemas.openxmlformats.org/drawingml/2006/table">
            <a:tbl>
              <a:tblPr/>
              <a:tblGrid>
                <a:gridCol w="3108960"/>
              </a:tblGrid>
              <a:tr h="199339">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1. It _____ rain tomorrow — the sky is grey. (might)</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9339">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2. Things _____ improve with more practice. (should)</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9339">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3. She _____ arrive late — traffic is bad. (may)</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9339">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4. There _____ be an alternative solution. (could)</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199339">
                <a:tc>
                  <a:txBody>
                    <a:bodyPr/>
                    <a:lstStyle/>
                    <a:p>
                      <a:pPr algn="l" indent="0" marL="0">
                        <a:buNone/>
                      </a:pPr>
                      <a:r>
                        <a:rPr lang="en-US" sz="850" dirty="0">
                          <a:solidFill>
                            <a:srgbClr val="1A2A3A"/>
                          </a:solidFill>
                          <a:latin typeface="Calibri" pitchFamily="34" charset="0"/>
                          <a:ea typeface="Calibri" pitchFamily="34" charset="-122"/>
                          <a:cs typeface="Calibri" pitchFamily="34" charset="-120"/>
                        </a:rPr>
                        <a:t>5. It _____ not work as planned — be ready. (might)</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199339">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6. The results _____ arrive by Friday. (should)</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bl>
          </a:graphicData>
        </a:graphic>
      </p:graphicFrame>
      <p:sp>
        <p:nvSpPr>
          <p:cNvPr id="38" name="Shape 34"/>
          <p:cNvSpPr/>
          <p:nvPr/>
        </p:nvSpPr>
        <p:spPr>
          <a:xfrm>
            <a:off x="3529584" y="4478731"/>
            <a:ext cx="3108960" cy="164592"/>
          </a:xfrm>
          <a:prstGeom prst="rect">
            <a:avLst/>
          </a:prstGeom>
          <a:solidFill>
            <a:srgbClr val="6B3FA0"/>
          </a:solidFill>
          <a:ln w="12700">
            <a:solidFill>
              <a:srgbClr val="6B3FA0"/>
            </a:solidFill>
            <a:prstDash val="solid"/>
          </a:ln>
        </p:spPr>
      </p:sp>
      <p:sp>
        <p:nvSpPr>
          <p:cNvPr id="39" name="Text 35"/>
          <p:cNvSpPr/>
          <p:nvPr/>
        </p:nvSpPr>
        <p:spPr>
          <a:xfrm>
            <a:off x="3557016" y="4478731"/>
            <a:ext cx="3072384" cy="16459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Matching — English → Mongolian</a:t>
            </a:r>
            <a:endParaRPr lang="en-US" sz="800" dirty="0"/>
          </a:p>
        </p:txBody>
      </p:sp>
      <p:graphicFrame>
        <p:nvGraphicFramePr>
          <p:cNvPr id="10" name="Table 2"/>
          <p:cNvGraphicFramePr>
            <a:graphicFrameLocks noGrp="1"/>
          </p:cNvGraphicFramePr>
          <p:nvPr>
            <p:extLst>
              <p:ext uri="{D42A27DB-BD31-4B8C-83A1-F6EECF244321}">
                <p14:modId xmlns:p14="http://schemas.microsoft.com/office/powerpoint/2010/main" val="1579011935"/>
              </p:ext>
            </p:extLst>
          </p:nvPr>
        </p:nvGraphicFramePr>
        <p:xfrm>
          <a:off x="3529584" y="4643323"/>
          <a:ext cx="3108960" cy="914400"/>
        </p:xfrm>
        <a:graphic>
          <a:graphicData uri="http://schemas.openxmlformats.org/drawingml/2006/table">
            <a:tbl>
              <a:tblPr/>
              <a:tblGrid>
                <a:gridCol w="1616659"/>
                <a:gridCol w="1492301"/>
              </a:tblGrid>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1. might/may</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A. хүлээгдэж байгаа (80%)</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2. could</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B. тодорхой биш боломж (40-60%)</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3. should</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C. хувилбар боломж</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4. will</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D. бараг тодорхой (95%)</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FFFFF"/>
                    </a:solidFill>
                  </a:tcPr>
                </a:tc>
              </a:tr>
              <a:tr h="235915">
                <a:tc>
                  <a:txBody>
                    <a:bodyPr/>
                    <a:lstStyle/>
                    <a:p>
                      <a:pPr algn="l" indent="0" marL="0">
                        <a:buNone/>
                      </a:pPr>
                      <a:r>
                        <a:rPr lang="en-US" sz="850" b="1" dirty="0">
                          <a:solidFill>
                            <a:srgbClr val="2E6DA4"/>
                          </a:solidFill>
                          <a:latin typeface="Calibri" pitchFamily="34" charset="0"/>
                          <a:ea typeface="Calibri" pitchFamily="34" charset="-122"/>
                          <a:cs typeface="Calibri" pitchFamily="34" charset="-120"/>
                        </a:rPr>
                        <a:t>5. might not</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c>
                  <a:txBody>
                    <a:bodyPr/>
                    <a:lstStyle/>
                    <a:p>
                      <a:pPr algn="l" indent="0" marL="0">
                        <a:buNone/>
                      </a:pPr>
                      <a:r>
                        <a:rPr lang="en-US" sz="850" dirty="0">
                          <a:solidFill>
                            <a:srgbClr val="0D7C7B"/>
                          </a:solidFill>
                          <a:latin typeface="Calibri" pitchFamily="34" charset="0"/>
                          <a:ea typeface="Calibri" pitchFamily="34" charset="-122"/>
                          <a:cs typeface="Calibri" pitchFamily="34" charset="-120"/>
                        </a:rPr>
                        <a:t>E. байж болохгүй байж магадгүй</a:t>
                      </a:r>
                      <a:endParaRPr lang="en-US" sz="850" dirty="0">
                        <a:latin typeface="Calibri" charset="0"/>
                        <a:ea typeface="Calibri" charset="0"/>
                        <a:cs typeface="Calibri" charset="0"/>
                      </a:endParaRPr>
                    </a:p>
                  </a:txBody>
                  <a:tcPr marL="91440" marR="91440" marT="45720" marB="45720" anchor="ctr">
                    <a:lnL w="3810" cap="flat" cmpd="sng" algn="ctr">
                      <a:solidFill>
                        <a:srgbClr val="C8D8E8"/>
                      </a:solidFill>
                      <a:prstDash val="solid"/>
                      <a:round/>
                      <a:headEnd type="none" w="med" len="med"/>
                      <a:tailEnd type="none" w="med" len="med"/>
                    </a:lnL>
                    <a:lnR w="3810" cap="flat" cmpd="sng" algn="ctr">
                      <a:solidFill>
                        <a:srgbClr val="C8D8E8"/>
                      </a:solidFill>
                      <a:prstDash val="solid"/>
                      <a:round/>
                      <a:headEnd type="none" w="med" len="med"/>
                      <a:tailEnd type="none" w="med" len="med"/>
                    </a:lnR>
                    <a:lnT w="3810" cap="flat" cmpd="sng" algn="ctr">
                      <a:solidFill>
                        <a:srgbClr val="C8D8E8"/>
                      </a:solidFill>
                      <a:prstDash val="solid"/>
                      <a:round/>
                      <a:headEnd type="none" w="med" len="med"/>
                      <a:tailEnd type="none" w="med" len="med"/>
                    </a:lnT>
                    <a:lnB w="3810" cap="flat" cmpd="sng" algn="ctr">
                      <a:solidFill>
                        <a:srgbClr val="C8D8E8"/>
                      </a:solidFill>
                      <a:prstDash val="solid"/>
                      <a:round/>
                      <a:headEnd type="none" w="med" len="med"/>
                      <a:tailEnd type="none" w="med" len="med"/>
                    </a:lnB>
                    <a:solidFill>
                      <a:srgbClr val="F2F7FC"/>
                    </a:solidFill>
                  </a:tcPr>
                </a:tc>
              </a:tr>
            </a:tbl>
          </a:graphicData>
        </a:graphic>
      </p:graphicFrame>
      <p:sp>
        <p:nvSpPr>
          <p:cNvPr id="41" name="Shape 36"/>
          <p:cNvSpPr/>
          <p:nvPr/>
        </p:nvSpPr>
        <p:spPr>
          <a:xfrm>
            <a:off x="179222" y="5930798"/>
            <a:ext cx="2115312" cy="3648456"/>
          </a:xfrm>
          <a:prstGeom prst="rect">
            <a:avLst/>
          </a:prstGeom>
          <a:solidFill>
            <a:srgbClr val="D0DCE8"/>
          </a:solidFill>
          <a:ln w="12700">
            <a:solidFill>
              <a:srgbClr val="D0DCE8"/>
            </a:solidFill>
            <a:prstDash val="solid"/>
          </a:ln>
        </p:spPr>
      </p:sp>
      <p:sp>
        <p:nvSpPr>
          <p:cNvPr id="42" name="Shape 37"/>
          <p:cNvSpPr/>
          <p:nvPr/>
        </p:nvSpPr>
        <p:spPr>
          <a:xfrm>
            <a:off x="164592" y="5916168"/>
            <a:ext cx="2115312" cy="3648456"/>
          </a:xfrm>
          <a:prstGeom prst="rect">
            <a:avLst/>
          </a:prstGeom>
          <a:solidFill>
            <a:srgbClr val="FFFFFF"/>
          </a:solidFill>
          <a:ln w="12700">
            <a:solidFill>
              <a:srgbClr val="C8D8E8"/>
            </a:solidFill>
            <a:prstDash val="solid"/>
          </a:ln>
        </p:spPr>
      </p:sp>
      <p:sp>
        <p:nvSpPr>
          <p:cNvPr id="43" name="Shape 38"/>
          <p:cNvSpPr/>
          <p:nvPr/>
        </p:nvSpPr>
        <p:spPr>
          <a:xfrm>
            <a:off x="164592" y="5916168"/>
            <a:ext cx="2115312" cy="256032"/>
          </a:xfrm>
          <a:prstGeom prst="rect">
            <a:avLst/>
          </a:prstGeom>
          <a:solidFill>
            <a:srgbClr val="C97A0A"/>
          </a:solidFill>
          <a:ln w="12700">
            <a:solidFill>
              <a:srgbClr val="C97A0A"/>
            </a:solidFill>
            <a:prstDash val="solid"/>
          </a:ln>
        </p:spPr>
      </p:sp>
      <p:sp>
        <p:nvSpPr>
          <p:cNvPr id="44" name="Shape 39"/>
          <p:cNvSpPr/>
          <p:nvPr/>
        </p:nvSpPr>
        <p:spPr>
          <a:xfrm>
            <a:off x="164592" y="6172200"/>
            <a:ext cx="2115312" cy="146304"/>
          </a:xfrm>
          <a:prstGeom prst="rect">
            <a:avLst/>
          </a:prstGeom>
          <a:solidFill>
            <a:srgbClr val="FEF3DC"/>
          </a:solidFill>
          <a:ln w="12700">
            <a:solidFill>
              <a:srgbClr val="FEF3DC"/>
            </a:solidFill>
            <a:prstDash val="solid"/>
          </a:ln>
        </p:spPr>
      </p:sp>
      <p:sp>
        <p:nvSpPr>
          <p:cNvPr id="45" name="Text 40"/>
          <p:cNvSpPr/>
          <p:nvPr/>
        </p:nvSpPr>
        <p:spPr>
          <a:xfrm>
            <a:off x="256032" y="5916168"/>
            <a:ext cx="1987296"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Homework / Гэрийн даалгавар</a:t>
            </a:r>
            <a:endParaRPr lang="en-US" sz="1050" dirty="0"/>
          </a:p>
        </p:txBody>
      </p:sp>
      <p:sp>
        <p:nvSpPr>
          <p:cNvPr id="46" name="Text 41"/>
          <p:cNvSpPr/>
          <p:nvPr/>
        </p:nvSpPr>
        <p:spPr>
          <a:xfrm>
            <a:off x="256032" y="6181344"/>
            <a:ext cx="1987296"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Маргааш болохоос өмнө дуусга</a:t>
            </a:r>
            <a:endParaRPr lang="en-US" sz="750" dirty="0"/>
          </a:p>
        </p:txBody>
      </p:sp>
      <p:sp>
        <p:nvSpPr>
          <p:cNvPr id="47" name="Text 42"/>
          <p:cNvSpPr/>
          <p:nvPr/>
        </p:nvSpPr>
        <p:spPr>
          <a:xfrm>
            <a:off x="256032" y="6345936"/>
            <a:ext cx="1969008" cy="3154680"/>
          </a:xfrm>
          <a:prstGeom prst="rect">
            <a:avLst/>
          </a:prstGeom>
          <a:noFill/>
          <a:ln/>
        </p:spPr>
        <p:txBody>
          <a:bodyPr wrap="square" lIns="0" tIns="0" rIns="0" bIns="0" rtlCol="0" anchor="t"/>
          <a:lstStyle/>
          <a:p>
            <a:pPr indent="0" marL="0">
              <a:lnSpc>
                <a:spcPct val="210000"/>
              </a:lnSpc>
              <a:buNone/>
            </a:pPr>
            <a:r>
              <a:rPr lang="en-US" sz="950" b="1" dirty="0">
                <a:solidFill>
                  <a:srgbClr val="C97A0A"/>
                </a:solidFill>
                <a:latin typeface="Calibri" pitchFamily="34" charset="0"/>
                <a:ea typeface="Calibri" pitchFamily="34" charset="-122"/>
                <a:cs typeface="Calibri" pitchFamily="34" charset="-120"/>
              </a:rPr>
              <a:t>✍  </a:t>
            </a:r>
            <a:pPr indent="0" marL="0">
              <a:lnSpc>
                <a:spcPct val="210000"/>
              </a:lnSpc>
              <a:buNone/>
            </a:pPr>
            <a:r>
              <a:rPr lang="en-US" sz="950" dirty="0">
                <a:solidFill>
                  <a:srgbClr val="1A2A3A"/>
                </a:solidFill>
                <a:latin typeface="Calibri" pitchFamily="34" charset="0"/>
                <a:ea typeface="Calibri" pitchFamily="34" charset="-122"/>
                <a:cs typeface="Calibri" pitchFamily="34" charset="-120"/>
              </a:rPr>
              <a:t>Writing: Write 5 predictions about the future of English using might, could, should, and may.
</a:t>
            </a:r>
            <a:pPr indent="0" marL="0">
              <a:lnSpc>
                <a:spcPct val="210000"/>
              </a:lnSpc>
              <a:buNone/>
            </a:pPr>
            <a:r>
              <a:rPr lang="en-US" sz="950" b="1" dirty="0">
                <a:solidFill>
                  <a:srgbClr val="C97A0A"/>
                </a:solidFill>
                <a:latin typeface="Calibri" pitchFamily="34" charset="0"/>
                <a:ea typeface="Calibri" pitchFamily="34" charset="-122"/>
                <a:cs typeface="Calibri" pitchFamily="34" charset="-120"/>
              </a:rPr>
              <a:t>📖  </a:t>
            </a:r>
            <a:pPr indent="0" marL="0">
              <a:lnSpc>
                <a:spcPct val="210000"/>
              </a:lnSpc>
              <a:buNone/>
            </a:pPr>
            <a:r>
              <a:rPr lang="en-US" sz="950" dirty="0">
                <a:solidFill>
                  <a:srgbClr val="1A2A3A"/>
                </a:solidFill>
                <a:latin typeface="Calibri" pitchFamily="34" charset="0"/>
                <a:ea typeface="Calibri" pitchFamily="34" charset="-122"/>
                <a:cs typeface="Calibri" pitchFamily="34" charset="-120"/>
              </a:rPr>
              <a:t>Vocabulary: Write your 10-year plan using might/could/should: 'In 10 years, I might be...'
</a:t>
            </a:r>
            <a:pPr indent="0" marL="0">
              <a:lnSpc>
                <a:spcPct val="210000"/>
              </a:lnSpc>
              <a:buNone/>
            </a:pPr>
            <a:r>
              <a:rPr lang="en-US" sz="950" b="1" dirty="0">
                <a:solidFill>
                  <a:srgbClr val="C97A0A"/>
                </a:solidFill>
                <a:latin typeface="Calibri" pitchFamily="34" charset="0"/>
                <a:ea typeface="Calibri" pitchFamily="34" charset="-122"/>
                <a:cs typeface="Calibri" pitchFamily="34" charset="-120"/>
              </a:rPr>
              <a:t>🗣️  </a:t>
            </a:r>
            <a:pPr indent="0" marL="0">
              <a:lnSpc>
                <a:spcPct val="210000"/>
              </a:lnSpc>
              <a:buNone/>
            </a:pPr>
            <a:r>
              <a:rPr lang="en-US" sz="950" dirty="0">
                <a:solidFill>
                  <a:srgbClr val="1A2A3A"/>
                </a:solidFill>
                <a:latin typeface="Calibri" pitchFamily="34" charset="0"/>
                <a:ea typeface="Calibri" pitchFamily="34" charset="-122"/>
                <a:cs typeface="Calibri" pitchFamily="34" charset="-120"/>
              </a:rPr>
              <a:t>Speaking: Tell a partner 3 things that might change in Mongolia in the next 20 years.
</a:t>
            </a:r>
            <a:pPr indent="0" marL="0">
              <a:lnSpc>
                <a:spcPct val="210000"/>
              </a:lnSpc>
              <a:buNone/>
            </a:pPr>
            <a:r>
              <a:rPr lang="en-US" sz="950" b="1" dirty="0">
                <a:solidFill>
                  <a:srgbClr val="C97A0A"/>
                </a:solidFill>
                <a:latin typeface="Calibri" pitchFamily="34" charset="0"/>
                <a:ea typeface="Calibri" pitchFamily="34" charset="-122"/>
                <a:cs typeface="Calibri" pitchFamily="34" charset="-120"/>
              </a:rPr>
              <a:t>🔁  </a:t>
            </a:r>
            <a:pPr indent="0" marL="0">
              <a:lnSpc>
                <a:spcPct val="210000"/>
              </a:lnSpc>
              <a:buNone/>
            </a:pPr>
            <a:r>
              <a:rPr lang="en-US" sz="950" dirty="0">
                <a:solidFill>
                  <a:srgbClr val="1A2A3A"/>
                </a:solidFill>
                <a:latin typeface="Calibri" pitchFamily="34" charset="0"/>
                <a:ea typeface="Calibri" pitchFamily="34" charset="-122"/>
                <a:cs typeface="Calibri" pitchFamily="34" charset="-120"/>
              </a:rPr>
              <a:t>Review: might/may/could = 40-60% possible · should = 80% expected · will = 95% certain
</a:t>
            </a:r>
            <a:endParaRPr lang="en-US" sz="950" dirty="0"/>
          </a:p>
        </p:txBody>
      </p:sp>
      <p:sp>
        <p:nvSpPr>
          <p:cNvPr id="48" name="Shape 43"/>
          <p:cNvSpPr/>
          <p:nvPr/>
        </p:nvSpPr>
        <p:spPr>
          <a:xfrm>
            <a:off x="2385974" y="5930798"/>
            <a:ext cx="2115312" cy="3648456"/>
          </a:xfrm>
          <a:prstGeom prst="rect">
            <a:avLst/>
          </a:prstGeom>
          <a:solidFill>
            <a:srgbClr val="D0DCE8"/>
          </a:solidFill>
          <a:ln w="12700">
            <a:solidFill>
              <a:srgbClr val="D0DCE8"/>
            </a:solidFill>
            <a:prstDash val="solid"/>
          </a:ln>
        </p:spPr>
      </p:sp>
      <p:sp>
        <p:nvSpPr>
          <p:cNvPr id="49" name="Shape 44"/>
          <p:cNvSpPr/>
          <p:nvPr/>
        </p:nvSpPr>
        <p:spPr>
          <a:xfrm>
            <a:off x="2371344" y="5916168"/>
            <a:ext cx="2115312" cy="3648456"/>
          </a:xfrm>
          <a:prstGeom prst="rect">
            <a:avLst/>
          </a:prstGeom>
          <a:solidFill>
            <a:srgbClr val="FFFFFF"/>
          </a:solidFill>
          <a:ln w="12700">
            <a:solidFill>
              <a:srgbClr val="C8D8E8"/>
            </a:solidFill>
            <a:prstDash val="solid"/>
          </a:ln>
        </p:spPr>
      </p:sp>
      <p:sp>
        <p:nvSpPr>
          <p:cNvPr id="50" name="Shape 45"/>
          <p:cNvSpPr/>
          <p:nvPr/>
        </p:nvSpPr>
        <p:spPr>
          <a:xfrm>
            <a:off x="2371344" y="5916168"/>
            <a:ext cx="2115312" cy="256032"/>
          </a:xfrm>
          <a:prstGeom prst="rect">
            <a:avLst/>
          </a:prstGeom>
          <a:solidFill>
            <a:srgbClr val="1E7A4A"/>
          </a:solidFill>
          <a:ln w="12700">
            <a:solidFill>
              <a:srgbClr val="1E7A4A"/>
            </a:solidFill>
            <a:prstDash val="solid"/>
          </a:ln>
        </p:spPr>
      </p:sp>
      <p:sp>
        <p:nvSpPr>
          <p:cNvPr id="51" name="Shape 46"/>
          <p:cNvSpPr/>
          <p:nvPr/>
        </p:nvSpPr>
        <p:spPr>
          <a:xfrm>
            <a:off x="2371344" y="6172200"/>
            <a:ext cx="2115312" cy="146304"/>
          </a:xfrm>
          <a:prstGeom prst="rect">
            <a:avLst/>
          </a:prstGeom>
          <a:solidFill>
            <a:srgbClr val="E8F5EE"/>
          </a:solidFill>
          <a:ln w="12700">
            <a:solidFill>
              <a:srgbClr val="E8F5EE"/>
            </a:solidFill>
            <a:prstDash val="solid"/>
          </a:ln>
        </p:spPr>
      </p:sp>
      <p:sp>
        <p:nvSpPr>
          <p:cNvPr id="52" name="Text 47"/>
          <p:cNvSpPr/>
          <p:nvPr/>
        </p:nvSpPr>
        <p:spPr>
          <a:xfrm>
            <a:off x="2462784" y="5916168"/>
            <a:ext cx="1987296"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Answer Key / Хариулт</a:t>
            </a:r>
            <a:endParaRPr lang="en-US" sz="1050" dirty="0"/>
          </a:p>
        </p:txBody>
      </p:sp>
      <p:sp>
        <p:nvSpPr>
          <p:cNvPr id="53" name="Text 48"/>
          <p:cNvSpPr/>
          <p:nvPr/>
        </p:nvSpPr>
        <p:spPr>
          <a:xfrm>
            <a:off x="2462784" y="6181344"/>
            <a:ext cx="1987296"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Check honestly!</a:t>
            </a:r>
            <a:endParaRPr lang="en-US" sz="750" dirty="0"/>
          </a:p>
        </p:txBody>
      </p:sp>
      <p:sp>
        <p:nvSpPr>
          <p:cNvPr id="54" name="Text 49"/>
          <p:cNvSpPr/>
          <p:nvPr/>
        </p:nvSpPr>
        <p:spPr>
          <a:xfrm>
            <a:off x="2462784" y="6345936"/>
            <a:ext cx="1969008" cy="3154680"/>
          </a:xfrm>
          <a:prstGeom prst="rect">
            <a:avLst/>
          </a:prstGeom>
          <a:noFill/>
          <a:ln/>
        </p:spPr>
        <p:txBody>
          <a:bodyPr wrap="square" lIns="0" tIns="0" rIns="0" bIns="0" rtlCol="0" anchor="t"/>
          <a:lstStyle/>
          <a:p>
            <a:pPr indent="0" marL="0">
              <a:lnSpc>
                <a:spcPct val="195000"/>
              </a:lnSpc>
              <a:buNone/>
            </a:pPr>
            <a:r>
              <a:rPr lang="en-US" sz="900" b="1" dirty="0">
                <a:solidFill>
                  <a:srgbClr val="1E7A4A"/>
                </a:solidFill>
                <a:latin typeface="Calibri" pitchFamily="34" charset="0"/>
                <a:ea typeface="Calibri" pitchFamily="34" charset="-122"/>
                <a:cs typeface="Calibri" pitchFamily="34" charset="-120"/>
              </a:rPr>
              <a:t>Fill in blanks:
</a:t>
            </a:r>
            <a:pPr indent="0" marL="0">
              <a:lnSpc>
                <a:spcPct val="195000"/>
              </a:lnSpc>
              <a:buNone/>
            </a:pPr>
            <a:r>
              <a:rPr lang="en-US" sz="900" dirty="0">
                <a:solidFill>
                  <a:srgbClr val="1A2A3A"/>
                </a:solidFill>
                <a:latin typeface="Calibri" pitchFamily="34" charset="0"/>
                <a:ea typeface="Calibri" pitchFamily="34" charset="-122"/>
                <a:cs typeface="Calibri" pitchFamily="34" charset="-120"/>
              </a:rPr>
              <a:t>1-might · 2-should · 3-may · 4-could · 5-might · 6-should
</a:t>
            </a:r>
            <a:pPr indent="0" marL="0">
              <a:lnSpc>
                <a:spcPct val="195000"/>
              </a:lnSpc>
              <a:buNone/>
            </a:pPr>
            <a:r>
              <a:rPr lang="en-US" sz="900" b="1" dirty="0">
                <a:solidFill>
                  <a:srgbClr val="1E7A4A"/>
                </a:solidFill>
                <a:latin typeface="Calibri" pitchFamily="34" charset="0"/>
                <a:ea typeface="Calibri" pitchFamily="34" charset="-122"/>
                <a:cs typeface="Calibri" pitchFamily="34" charset="-120"/>
              </a:rPr>
              <a:t>Matching:
</a:t>
            </a:r>
            <a:pPr indent="0" marL="0">
              <a:lnSpc>
                <a:spcPct val="195000"/>
              </a:lnSpc>
              <a:buNone/>
            </a:pPr>
            <a:r>
              <a:rPr lang="en-US" sz="900" dirty="0">
                <a:solidFill>
                  <a:srgbClr val="1A2A3A"/>
                </a:solidFill>
                <a:latin typeface="Calibri" pitchFamily="34" charset="0"/>
                <a:ea typeface="Calibri" pitchFamily="34" charset="-122"/>
                <a:cs typeface="Calibri" pitchFamily="34" charset="-120"/>
              </a:rPr>
              <a:t>1-B · 2-C · 3-A · 4-D · 5-E
</a:t>
            </a:r>
            <a:pPr indent="0" marL="0">
              <a:lnSpc>
                <a:spcPct val="195000"/>
              </a:lnSpc>
              <a:buNone/>
            </a:pPr>
            <a:r>
              <a:rPr lang="en-US" sz="900" b="1" dirty="0">
                <a:solidFill>
                  <a:srgbClr val="1E7A4A"/>
                </a:solidFill>
                <a:latin typeface="Calibri" pitchFamily="34" charset="0"/>
                <a:ea typeface="Calibri" pitchFamily="34" charset="-122"/>
                <a:cs typeface="Calibri" pitchFamily="34" charset="-120"/>
              </a:rPr>
              <a:t>Listening (1–10):
</a:t>
            </a:r>
            <a:pPr indent="0" marL="0">
              <a:lnSpc>
                <a:spcPct val="195000"/>
              </a:lnSpc>
              <a:buNone/>
            </a:pPr>
            <a:r>
              <a:rPr lang="en-US" sz="900" dirty="0">
                <a:solidFill>
                  <a:srgbClr val="1A2A3A"/>
                </a:solidFill>
                <a:latin typeface="Calibri" pitchFamily="34" charset="0"/>
                <a:ea typeface="Calibri" pitchFamily="34" charset="-122"/>
                <a:cs typeface="Calibri" pitchFamily="34" charset="-120"/>
              </a:rPr>
              <a:t>1-b · 2-b · 3-c · 4-c · 5-c
6-c · 7-c · 8-c · 9-b · 10-b
</a:t>
            </a:r>
            <a:pPr indent="0" marL="0">
              <a:lnSpc>
                <a:spcPct val="195000"/>
              </a:lnSpc>
              <a:buNone/>
            </a:pPr>
            <a:r>
              <a:rPr lang="en-US" sz="900" b="1" dirty="0">
                <a:solidFill>
                  <a:srgbClr val="C97A0A"/>
                </a:solidFill>
                <a:latin typeface="Calibri" pitchFamily="34" charset="0"/>
                <a:ea typeface="Calibri" pitchFamily="34" charset="-122"/>
                <a:cs typeface="Calibri" pitchFamily="34" charset="-120"/>
              </a:rPr>
              <a:t>💡  </a:t>
            </a:r>
            <a:pPr indent="0" marL="0">
              <a:lnSpc>
                <a:spcPct val="195000"/>
              </a:lnSpc>
              <a:buNone/>
            </a:pPr>
            <a:r>
              <a:rPr lang="en-US" sz="850" i="1" dirty="0">
                <a:solidFill>
                  <a:srgbClr val="3A5060"/>
                </a:solidFill>
                <a:latin typeface="Calibri" pitchFamily="34" charset="0"/>
                <a:ea typeface="Calibri" pitchFamily="34" charset="-122"/>
                <a:cs typeface="Calibri" pitchFamily="34" charset="-120"/>
              </a:rPr>
              <a:t>Mistakes help you learn!</a:t>
            </a:r>
            <a:endParaRPr lang="en-US" sz="900" dirty="0"/>
          </a:p>
        </p:txBody>
      </p:sp>
      <p:sp>
        <p:nvSpPr>
          <p:cNvPr id="55" name="Shape 50"/>
          <p:cNvSpPr/>
          <p:nvPr/>
        </p:nvSpPr>
        <p:spPr>
          <a:xfrm>
            <a:off x="4592726" y="5930798"/>
            <a:ext cx="2115312" cy="3648456"/>
          </a:xfrm>
          <a:prstGeom prst="rect">
            <a:avLst/>
          </a:prstGeom>
          <a:solidFill>
            <a:srgbClr val="D0DCE8"/>
          </a:solidFill>
          <a:ln w="12700">
            <a:solidFill>
              <a:srgbClr val="D0DCE8"/>
            </a:solidFill>
            <a:prstDash val="solid"/>
          </a:ln>
        </p:spPr>
      </p:sp>
      <p:sp>
        <p:nvSpPr>
          <p:cNvPr id="56" name="Shape 51"/>
          <p:cNvSpPr/>
          <p:nvPr/>
        </p:nvSpPr>
        <p:spPr>
          <a:xfrm>
            <a:off x="4578096" y="5916168"/>
            <a:ext cx="2115312" cy="3648456"/>
          </a:xfrm>
          <a:prstGeom prst="rect">
            <a:avLst/>
          </a:prstGeom>
          <a:solidFill>
            <a:srgbClr val="FFFFFF"/>
          </a:solidFill>
          <a:ln w="12700">
            <a:solidFill>
              <a:srgbClr val="C8D8E8"/>
            </a:solidFill>
            <a:prstDash val="solid"/>
          </a:ln>
        </p:spPr>
      </p:sp>
      <p:sp>
        <p:nvSpPr>
          <p:cNvPr id="57" name="Shape 52"/>
          <p:cNvSpPr/>
          <p:nvPr/>
        </p:nvSpPr>
        <p:spPr>
          <a:xfrm>
            <a:off x="4578096" y="5916168"/>
            <a:ext cx="2115312" cy="256032"/>
          </a:xfrm>
          <a:prstGeom prst="rect">
            <a:avLst/>
          </a:prstGeom>
          <a:solidFill>
            <a:srgbClr val="2E6DA4"/>
          </a:solidFill>
          <a:ln w="12700">
            <a:solidFill>
              <a:srgbClr val="2E6DA4"/>
            </a:solidFill>
            <a:prstDash val="solid"/>
          </a:ln>
        </p:spPr>
      </p:sp>
      <p:sp>
        <p:nvSpPr>
          <p:cNvPr id="58" name="Shape 53"/>
          <p:cNvSpPr/>
          <p:nvPr/>
        </p:nvSpPr>
        <p:spPr>
          <a:xfrm>
            <a:off x="4578096" y="6172200"/>
            <a:ext cx="2115312" cy="146304"/>
          </a:xfrm>
          <a:prstGeom prst="rect">
            <a:avLst/>
          </a:prstGeom>
          <a:solidFill>
            <a:srgbClr val="EBF4FB"/>
          </a:solidFill>
          <a:ln w="12700">
            <a:solidFill>
              <a:srgbClr val="EBF4FB"/>
            </a:solidFill>
            <a:prstDash val="solid"/>
          </a:ln>
        </p:spPr>
      </p:sp>
      <p:sp>
        <p:nvSpPr>
          <p:cNvPr id="59" name="Text 54"/>
          <p:cNvSpPr/>
          <p:nvPr/>
        </p:nvSpPr>
        <p:spPr>
          <a:xfrm>
            <a:off x="4669536" y="5916168"/>
            <a:ext cx="1987296" cy="256032"/>
          </a:xfrm>
          <a:prstGeom prst="rect">
            <a:avLst/>
          </a:prstGeom>
          <a:noFill/>
          <a:ln/>
        </p:spPr>
        <p:txBody>
          <a:bodyPr wrap="square" lIns="0" tIns="0" rIns="0" bIns="0" rtlCol="0" anchor="ctr"/>
          <a:lstStyle/>
          <a:p>
            <a:pPr indent="0" marL="0">
              <a:buNone/>
            </a:pPr>
            <a:r>
              <a:rPr lang="en-US" sz="1050" b="1" dirty="0">
                <a:solidFill>
                  <a:srgbClr val="FFFFFF"/>
                </a:solidFill>
                <a:latin typeface="Georgia" pitchFamily="34" charset="0"/>
                <a:ea typeface="Georgia" pitchFamily="34" charset="-122"/>
                <a:cs typeface="Georgia" pitchFamily="34" charset="-120"/>
              </a:rPr>
              <a:t>🌟  Day 69 Complete!</a:t>
            </a:r>
            <a:endParaRPr lang="en-US" sz="1050" dirty="0"/>
          </a:p>
        </p:txBody>
      </p:sp>
      <p:sp>
        <p:nvSpPr>
          <p:cNvPr id="60" name="Text 55"/>
          <p:cNvSpPr/>
          <p:nvPr/>
        </p:nvSpPr>
        <p:spPr>
          <a:xfrm>
            <a:off x="4669536" y="6181344"/>
            <a:ext cx="1987296" cy="137160"/>
          </a:xfrm>
          <a:prstGeom prst="rect">
            <a:avLst/>
          </a:prstGeom>
          <a:noFill/>
          <a:ln/>
        </p:spPr>
        <p:txBody>
          <a:bodyPr wrap="square" lIns="0" tIns="0" rIns="0" bIns="0" rtlCol="0" anchor="ctr"/>
          <a:lstStyle/>
          <a:p>
            <a:pPr indent="0" marL="0">
              <a:buNone/>
            </a:pPr>
            <a:r>
              <a:rPr lang="en-US" sz="750" i="1" dirty="0">
                <a:solidFill>
                  <a:srgbClr val="3A5060"/>
                </a:solidFill>
                <a:latin typeface="Calibri" pitchFamily="34" charset="0"/>
                <a:ea typeface="Calibri" pitchFamily="34" charset="-122"/>
                <a:cs typeface="Calibri" pitchFamily="34" charset="-120"/>
              </a:rPr>
              <a:t>Today you completed:</a:t>
            </a:r>
            <a:endParaRPr lang="en-US" sz="750" dirty="0"/>
          </a:p>
        </p:txBody>
      </p:sp>
      <p:sp>
        <p:nvSpPr>
          <p:cNvPr id="61" name="Text 56"/>
          <p:cNvSpPr/>
          <p:nvPr/>
        </p:nvSpPr>
        <p:spPr>
          <a:xfrm>
            <a:off x="4669536" y="6345936"/>
            <a:ext cx="1969008" cy="2953512"/>
          </a:xfrm>
          <a:prstGeom prst="rect">
            <a:avLst/>
          </a:prstGeom>
          <a:noFill/>
          <a:ln/>
        </p:spPr>
        <p:txBody>
          <a:bodyPr wrap="square" lIns="0" tIns="0" rIns="0" bIns="0" rtlCol="0" anchor="t"/>
          <a:lstStyle/>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20 таамаглалын үг · 20 prediction words</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Might / Could / Should — future uncertainty</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Ирээдүйн тухай уншсан</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Дасгал · Grammar practice</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Ярих дасгал · Speaking practice</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Сонсох · Listening practice</a:t>
            </a:r>
            <a:endParaRPr lang="en-US" sz="800" dirty="0"/>
          </a:p>
          <a:p>
            <a:pPr indent="0" marL="0">
              <a:lnSpc>
                <a:spcPct val="210000"/>
              </a:lnSpc>
              <a:buNone/>
            </a:pPr>
            <a:r>
              <a:rPr lang="en-US" sz="800" dirty="0">
                <a:solidFill>
                  <a:srgbClr val="1E7A4A"/>
                </a:solidFill>
                <a:latin typeface="Calibri" pitchFamily="34" charset="0"/>
                <a:ea typeface="Calibri" pitchFamily="34" charset="-122"/>
                <a:cs typeface="Calibri" pitchFamily="34" charset="-120"/>
              </a:rPr>
              <a:t>✅  Ирээдүйн тодорхойгүй байдлыг илэрхийлж сурсан</a:t>
            </a:r>
            <a:endParaRPr lang="en-US" sz="800" dirty="0"/>
          </a:p>
        </p:txBody>
      </p:sp>
      <p:sp>
        <p:nvSpPr>
          <p:cNvPr id="62" name="Shape 57"/>
          <p:cNvSpPr/>
          <p:nvPr/>
        </p:nvSpPr>
        <p:spPr>
          <a:xfrm>
            <a:off x="4651248" y="9253728"/>
            <a:ext cx="1969008" cy="256032"/>
          </a:xfrm>
          <a:prstGeom prst="rect">
            <a:avLst/>
          </a:prstGeom>
          <a:solidFill>
            <a:srgbClr val="EBF4FB"/>
          </a:solidFill>
          <a:ln w="12700">
            <a:solidFill>
              <a:srgbClr val="2E6DA4"/>
            </a:solidFill>
            <a:prstDash val="solid"/>
          </a:ln>
        </p:spPr>
      </p:sp>
      <p:sp>
        <p:nvSpPr>
          <p:cNvPr id="63" name="Text 58"/>
          <p:cNvSpPr/>
          <p:nvPr/>
        </p:nvSpPr>
        <p:spPr>
          <a:xfrm>
            <a:off x="4687824" y="9262872"/>
            <a:ext cx="1914144" cy="237744"/>
          </a:xfrm>
          <a:prstGeom prst="rect">
            <a:avLst/>
          </a:prstGeom>
          <a:noFill/>
          <a:ln/>
        </p:spPr>
        <p:txBody>
          <a:bodyPr wrap="square" lIns="0" tIns="0" rIns="0" bIns="0" rtlCol="0" anchor="ctr"/>
          <a:lstStyle/>
          <a:p>
            <a:pPr indent="0" marL="0">
              <a:buNone/>
            </a:pPr>
            <a:r>
              <a:rPr lang="en-US" sz="850" b="1" dirty="0">
                <a:solidFill>
                  <a:srgbClr val="2E6DA4"/>
                </a:solidFill>
                <a:latin typeface="Calibri" pitchFamily="34" charset="0"/>
                <a:ea typeface="Calibri" pitchFamily="34" charset="-122"/>
                <a:cs typeface="Calibri" pitchFamily="34" charset="-120"/>
              </a:rPr>
              <a:t>🚀  Day 70: Making Deductions — Must be / Can't be / Might be</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2026-04-09T03:01:24Z</dcterms:created>
  <dcterms:modified xsi:type="dcterms:W3CDTF">2026-04-09T03:01:24Z</dcterms:modified>
</cp:coreProperties>
</file>