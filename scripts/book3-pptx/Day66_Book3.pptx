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6858000" cy="9692640"/>
  <p:notesSz cx="969264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· Book 3 · Дэвшилтэт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25-30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66 · ӨДӨР 66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5A1A8C"/>
          </a:solidFill>
          <a:ln w="12700">
            <a:solidFill>
              <a:srgbClr val="5A1A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Conditionals  ·  Холимог нөхцөлт өгүүлбэр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Page 1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B1 Level  ·  Book 3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64592" y="630936"/>
            <a:ext cx="6528816" cy="182880"/>
          </a:xfrm>
          <a:prstGeom prst="rect">
            <a:avLst/>
          </a:prstGeom>
          <a:solidFill>
            <a:srgbClr val="EBF4FB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" y="630936"/>
            <a:ext cx="6419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Learn 20 words   ✦ Grammar: Mixed Conditionals — combining 2nd and 3rd conditionals   ✦ Cover &amp; test yourself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79222" y="874166"/>
            <a:ext cx="3310128" cy="8705088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59536"/>
            <a:ext cx="3310128" cy="8705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4592" y="859536"/>
            <a:ext cx="3310128" cy="256032"/>
          </a:xfrm>
          <a:prstGeom prst="rect">
            <a:avLst/>
          </a:prstGeom>
          <a:solidFill>
            <a:srgbClr val="5A1A8C"/>
          </a:solidFill>
          <a:ln w="12700">
            <a:solidFill>
              <a:srgbClr val="5A1A8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4592" y="1115568"/>
            <a:ext cx="3310128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859536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📝  Vocabulary — 20 New Words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56032" y="1124712"/>
            <a:ext cx="31821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aloud 3 times · Cover Mongolian &amp; test yourself!</a:t>
            </a:r>
            <a:endParaRPr lang="en-US" sz="7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" y="1289304"/>
          <a:ext cx="3200400" cy="914400"/>
        </p:xfrm>
        <a:graphic>
          <a:graphicData uri="http://schemas.openxmlformats.org/drawingml/2006/table">
            <a:tbl>
              <a:tblPr/>
              <a:tblGrid>
                <a:gridCol w="182880"/>
                <a:gridCol w="610819"/>
                <a:gridCol w="610819"/>
                <a:gridCol w="794065"/>
                <a:gridCol w="1038393"/>
              </a:tblGrid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1A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1A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Pronunciation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Дуудлага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1A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Mongolian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Монгол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1A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sentence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1A8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1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mixed conditional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/mɪkst kənˈdɪʃənəl/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холимог нөхцөлт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Mixed conditionals combine time frames.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1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past cause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/pɑːst kɔːz/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өнгөрсөн шалтгаан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past cause leads to a present result.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1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 result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/ˈprɛzənt rɪˈzʌlt/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одоогийн үр дүн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present result of a past action.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1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 cause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/ˈprɛzənt kɔːz/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одоогийн шалтгаан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present situation causes a past outcome.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1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past result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/pɑːst rɪˈzʌlt/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өнгөрсөн үр дүн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present situation: past result.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1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frame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/taɪm freɪm/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цагийн хүрээ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 mix two different time frames.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1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/ˈfluːənt/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чөлөөтэй ярих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I had studied more, I'd be fluent.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1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consequence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/ˈkɒnsɪkwəns/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үр дүн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past choice has present consequences.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1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ongoing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/ˈɒnɡoʊɪŋ/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үргэлжилж байгаа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effect is still ongoing today.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1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affect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/əˈfɛkt/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нөлөөлөх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Past decisions affect the present.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1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realize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/ˈrɪəlaɪz/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ухаарах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realize now what I should have done.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1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/ˈkʌrənt/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одоогийн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 current situation is the result of my choices.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1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differently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/ˈdɪfrəntli/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өөрөөр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would have done things differently.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1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fortunately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/ˈfɔːrtʃənɪtli/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азаар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Fortunately, I started studying English.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1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unfortunately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/ʌnˈfɔːrtʃənɪtli/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харамсалтай нь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Unfortunately, I missed that chance.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1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appreciate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/əˈpriːʃieɪt/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үнэлэх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appreciate what I have now.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1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circumstances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/ˈsɜːrkəmstənsɪz/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нөхцөл байдал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circumstances led to this outcome.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1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reflect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/rɪˈflɛkt/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эргэцүүлэн бодох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reflect on my past decisions.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1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/ˈpætərn/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хэлбэр / загвар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Mixed conditionals follow a specific pattern.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1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/kəmˈbaɪn/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хослуулах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 combine two conditional patterns.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219456" y="9290304"/>
            <a:ext cx="3200400" cy="219456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56032" y="9299448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  Circumstance /ˈsɜːrkəmstəns/ — 3 syllables · Consequently /ˈkɒnsɪkwəntli/ — 4 syllables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Circumstances — 3 үе: SER-kum-stans-iz. Fortunately — 4 үе: FOR-chun-it-lee. Unfortunately — 5 үе: un-FOR-chun-it-lee.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3580790" y="874166"/>
            <a:ext cx="3127248" cy="8705088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566160" y="859536"/>
            <a:ext cx="3127248" cy="8705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566160" y="859536"/>
            <a:ext cx="3127248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566160" y="1115568"/>
            <a:ext cx="3127248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657600" y="859536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 Grammar — Mixed Conditionals — combining 2nd and 3rd conditionals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3657600" y="1124712"/>
            <a:ext cx="29992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step by step  ·  Алхам алхмаар судлаарай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3648456" y="1289304"/>
            <a:ext cx="2980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CONDITIONALS combine two different time frames. Type 1 (Past→Present): IF + HAD + past participle (past), WOULD + base verb (present). 'If I HAD STUDIED harder (I didn't — past), I WOULD BE fluent now (I'm not — present).' Type 2 (Present→Past): IF + Past Simple (present), WOULD HAVE + past participle (past). 'If I WERE smarter (I'm not — present), I WOULD HAVE SOLVED that problem (past).' Mixed conditionals show how past actions affect the present and vice versa.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3648456" y="1709928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ХОЛИМОГ НӨХЦӨЛТ ӨГҮҮЛБЭР нь хоёр өөр цагийн хүрээг хослуулдаг. 1-р төрөл (Өнгөрсөн→Одоо): IF + HAD + past participle (өнгөрсөн), WOULD + үндсэн үйл үг (одоо). 'If I HAD STUDIED harder, I WOULD BE fluent now.' 2-р төрөл (Одоо→Өнгөрсөн): IF + Past Simple (одоо), WOULD HAVE + past participle (өнгөрсөн). 'If I WERE smarter, I WOULD HAVE SOLVED it.' Холимог нөхцөлт нь өнгөрсөн ба одоогийн хоорондын уялдааг харуулдаг.</a:t>
            </a:r>
            <a:endParaRPr lang="en-US" sz="75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39312" y="2075688"/>
          <a:ext cx="2980944" cy="914400"/>
        </p:xfrm>
        <a:graphic>
          <a:graphicData uri="http://schemas.openxmlformats.org/drawingml/2006/table">
            <a:tbl>
              <a:tblPr/>
              <a:tblGrid>
                <a:gridCol w="417332"/>
                <a:gridCol w="417332"/>
                <a:gridCol w="536570"/>
                <a:gridCol w="536570"/>
                <a:gridCol w="536570"/>
                <a:gridCol w="536570"/>
              </a:tblGrid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+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−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Монгол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1: Past→Present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had + p.p. → would + base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I had studied, I'd be fluent now.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I hadn't quit, I wouldn't be lost now.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Would you be better if you had tried?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өнгөрсөн шалтгаан → одоогийн үр дүн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2: Present→Past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were/did → would have + p.p.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I were taller, I would have played basketball.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I weren't shy, I would have spoken up.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Would you have done it if you were braver?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одоогийн шалтгаан → өнгөрсөн үр дүн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2nd Cond.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+ Past → would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I were rich, I'd travel. (present)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Would you travel if you were rich?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одоогийн бодит бус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3rd Cond.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+ Had → would have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I had studied, I would have passed. (past)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Would you have passed if you had studied?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өнгөрсөн бодит бус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Mixed Type 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Past→Present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I had saved, I would have money now.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Would you have money now if you had saved?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өнгөрсөн шийдвэр → одоогийн нөхцөл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</a:tbl>
          </a:graphicData>
        </a:graphic>
      </p:graphicFrame>
      <p:sp>
        <p:nvSpPr>
          <p:cNvPr id="35" name="Shape 31"/>
          <p:cNvSpPr/>
          <p:nvPr/>
        </p:nvSpPr>
        <p:spPr>
          <a:xfrm>
            <a:off x="3639312" y="3273552"/>
            <a:ext cx="2980944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3657600" y="3273552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  Key Forms</a:t>
            </a:r>
            <a:endParaRPr lang="en-US" sz="800" dirty="0"/>
          </a:p>
        </p:txBody>
      </p:sp>
      <p:sp>
        <p:nvSpPr>
          <p:cNvPr id="37" name="Shape 33"/>
          <p:cNvSpPr/>
          <p:nvPr/>
        </p:nvSpPr>
        <p:spPr>
          <a:xfrm>
            <a:off x="3639312" y="3438144"/>
            <a:ext cx="2980944" cy="274320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3657600" y="3465576"/>
            <a:ext cx="16395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1: If I'd studied more, I'd be fluent now.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2: If I were braver, I would have spoken up.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I'd = I had (in if clause) / I would (in main clause)</a:t>
            </a:r>
            <a:endParaRPr lang="en-US" sz="850" dirty="0"/>
          </a:p>
        </p:txBody>
      </p:sp>
      <p:sp>
        <p:nvSpPr>
          <p:cNvPr id="39" name="Text 35"/>
          <p:cNvSpPr/>
          <p:nvPr/>
        </p:nvSpPr>
        <p:spPr>
          <a:xfrm>
            <a:off x="5297119" y="3465576"/>
            <a:ext cx="13116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1: If I HAD (past) → I WOULD (present) — өнгөрсөн шалтгаан, одоогийн үр дүн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2: If I WERE (present) → I WOULD HAVE (past) — одоогийн нөхцөл, өнгөрсөн үр дүн</a:t>
            </a:r>
            <a:endParaRPr lang="en-US" sz="750" dirty="0"/>
          </a:p>
        </p:txBody>
      </p:sp>
      <p:sp>
        <p:nvSpPr>
          <p:cNvPr id="40" name="Shape 36"/>
          <p:cNvSpPr/>
          <p:nvPr/>
        </p:nvSpPr>
        <p:spPr>
          <a:xfrm>
            <a:off x="3639312" y="3749040"/>
            <a:ext cx="2980944" cy="16459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3657600" y="3749040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  Rules &amp; Usage</a:t>
            </a:r>
            <a:endParaRPr lang="en-US" sz="800" dirty="0"/>
          </a:p>
        </p:txBody>
      </p:sp>
      <p:sp>
        <p:nvSpPr>
          <p:cNvPr id="42" name="Shape 38"/>
          <p:cNvSpPr/>
          <p:nvPr/>
        </p:nvSpPr>
        <p:spPr>
          <a:xfrm>
            <a:off x="3639312" y="3913632"/>
            <a:ext cx="2980944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3657600" y="3941064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B8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1: </a:t>
            </a:r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 HADN'T GIVEN UP, I WOULD BE successful now. (Type 1) · If I WEREN'T so shy, I WOULD HAVE SPOKEN up. (Type 2)
</a:t>
            </a:r>
            <a:pPr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2: </a:t>
            </a:r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you be fluent NOW if you HAD STUDIED more? (T1) · WOULD you HAVE DONE it differently if you WERE braver? (T2)</a:t>
            </a:r>
            <a:endParaRPr lang="en-US" sz="800" dirty="0"/>
          </a:p>
        </p:txBody>
      </p:sp>
      <p:sp>
        <p:nvSpPr>
          <p:cNvPr id="44" name="Shape 40"/>
          <p:cNvSpPr/>
          <p:nvPr/>
        </p:nvSpPr>
        <p:spPr>
          <a:xfrm>
            <a:off x="3639312" y="4261104"/>
            <a:ext cx="1463040" cy="16459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3639312" y="4261104"/>
            <a:ext cx="1463040" cy="16459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Grammar Tip</a:t>
            </a:r>
            <a:endParaRPr lang="en-US" sz="800" dirty="0"/>
          </a:p>
        </p:txBody>
      </p:sp>
      <p:sp>
        <p:nvSpPr>
          <p:cNvPr id="46" name="Shape 42"/>
          <p:cNvSpPr/>
          <p:nvPr/>
        </p:nvSpPr>
        <p:spPr>
          <a:xfrm>
            <a:off x="5138928" y="4261104"/>
            <a:ext cx="1463040" cy="164592"/>
          </a:xfrm>
          <a:prstGeom prst="rect">
            <a:avLst/>
          </a:prstGeom>
          <a:solidFill>
            <a:srgbClr val="B83030"/>
          </a:solidFill>
          <a:ln w="12700">
            <a:solidFill>
              <a:srgbClr val="B83030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138928" y="4261104"/>
            <a:ext cx="1463040" cy="16459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Common Mistakes</a:t>
            </a:r>
            <a:endParaRPr lang="en-US" sz="800" dirty="0"/>
          </a:p>
        </p:txBody>
      </p:sp>
      <p:sp>
        <p:nvSpPr>
          <p:cNvPr id="48" name="Shape 44"/>
          <p:cNvSpPr/>
          <p:nvPr/>
        </p:nvSpPr>
        <p:spPr>
          <a:xfrm>
            <a:off x="3639312" y="4425696"/>
            <a:ext cx="1463040" cy="2144817"/>
          </a:xfrm>
          <a:prstGeom prst="rect">
            <a:avLst/>
          </a:prstGeom>
          <a:solidFill>
            <a:srgbClr val="FEF3DC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3666744" y="4462272"/>
            <a:ext cx="1380744" cy="2089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Type 1: past→present: If I had [past], I would [present]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Type 2: present→past: If I were [present], I would have [past]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Shows links between past and present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Very sophisticated — true B1 grammar!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I'd = I had OR I would (check context!)</a:t>
            </a:r>
            <a:endParaRPr lang="en-US" sz="780" dirty="0"/>
          </a:p>
        </p:txBody>
      </p:sp>
      <p:sp>
        <p:nvSpPr>
          <p:cNvPr id="50" name="Shape 46"/>
          <p:cNvSpPr/>
          <p:nvPr/>
        </p:nvSpPr>
        <p:spPr>
          <a:xfrm>
            <a:off x="5138928" y="4425696"/>
            <a:ext cx="1463040" cy="2144817"/>
          </a:xfrm>
          <a:prstGeom prst="rect">
            <a:avLst/>
          </a:prstGeom>
          <a:solidFill>
            <a:srgbClr val="FDECEA"/>
          </a:solidFill>
          <a:ln w="12700">
            <a:solidFill>
              <a:srgbClr val="B83030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5166360" y="4462272"/>
            <a:ext cx="1380744" cy="2089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If I had studied, I would be fluent yesterday.  ✅ If I had studied, I WOULD BE fluent NOW. (Type 1 → present result!)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If I were rich, I would travel now.  ✅ If I were rich, I WOULD HAVE TRAVELLED. (Type 2 → past result!)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If I had been braver, I would speak up.  ✅ If I had been braver, I WOULD HAVE SPOKEN UP. (past→past = 3rd conditional)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If I study more, I would be fluent.  ✅ If I had studied more, I WOULD BE fluent. (mix tenses correctly!)</a:t>
            </a:r>
            <a:endParaRPr lang="en-US" sz="780" dirty="0"/>
          </a:p>
        </p:txBody>
      </p:sp>
      <p:sp>
        <p:nvSpPr>
          <p:cNvPr id="52" name="Shape 48"/>
          <p:cNvSpPr/>
          <p:nvPr/>
        </p:nvSpPr>
        <p:spPr>
          <a:xfrm>
            <a:off x="3639312" y="6607089"/>
            <a:ext cx="2980944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3657600" y="6607089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Quick Practice</a:t>
            </a:r>
            <a:endParaRPr lang="en-US" sz="850" dirty="0"/>
          </a:p>
        </p:txBody>
      </p:sp>
      <p:sp>
        <p:nvSpPr>
          <p:cNvPr id="54" name="Shape 50"/>
          <p:cNvSpPr/>
          <p:nvPr/>
        </p:nvSpPr>
        <p:spPr>
          <a:xfrm>
            <a:off x="3639312" y="6771681"/>
            <a:ext cx="2980944" cy="2902671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graphicFrame>
        <p:nvGraphicFramePr>
          <p:cNvPr id="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0" y="6799113"/>
          <a:ext cx="2944368" cy="914400"/>
        </p:xfrm>
        <a:graphic>
          <a:graphicData uri="http://schemas.openxmlformats.org/drawingml/2006/table">
            <a:tbl>
              <a:tblPr/>
              <a:tblGrid>
                <a:gridCol w="1472184"/>
                <a:gridCol w="1472184"/>
              </a:tblGrid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If I _____ studied more, I'd be fluent now. (had — T1)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If she _____ taller, she would have played basketball. (were — T2)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If I hadn't started Book 1, I _____ be here now. (wouldn't — T1)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If he _____ more patient, he would have finished. (were — T2)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I _____ have more money now if I had saved. (would — T1)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 If I _____ known earlier, I would be further now. (had — T1)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If you weren't so shy, you _____ have spoken up. (would — T2)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 She _____ have won if she were more confident. (would — T2)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</a:tr>
            </a:tbl>
          </a:graphicData>
        </a:graphic>
      </p:graphicFrame>
      <p:sp>
        <p:nvSpPr>
          <p:cNvPr id="56" name="Text 51"/>
          <p:cNvSpPr/>
          <p:nvPr/>
        </p:nvSpPr>
        <p:spPr>
          <a:xfrm>
            <a:off x="3666744" y="9341130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Answers: 1-had · 2-wouldn't · 3-would · 4-would · 5-were · 6-were · 7-had · 8-would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· Book 3 · Дэвшилтэт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25-30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66 · ӨДӨР 66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&amp; Speaking  ·  Унших ба Ярих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Page 2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B1 Level  ·  Book 3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79222" y="627278"/>
            <a:ext cx="6528816" cy="186537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" y="612648"/>
            <a:ext cx="6528816" cy="186537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4592" y="612648"/>
            <a:ext cx="6528816" cy="256032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68680"/>
            <a:ext cx="6528816" cy="146304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612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 Reading Passage / Унших дасгал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6032" y="87782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 = today's vocab · Read aloud at least twice!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37744" y="1033272"/>
            <a:ext cx="6382512" cy="1380744"/>
          </a:xfrm>
          <a:prstGeom prst="rect">
            <a:avLst/>
          </a:prstGeom>
          <a:solidFill>
            <a:srgbClr val="EBF5F0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0896" y="1069848"/>
            <a:ext cx="623620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5A1A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Bat is reflecting on how his past choices affect his present life. 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 thinks: "If I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had started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learning English at age five, I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1E7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would be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completely fluent by now — but I didn't, so I'm not." (Type 1: past→present). He also thinks: "If I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B8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weren't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so shy in primary school, I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1E7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would have joined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every debate competition and improved much faster." (Type 2: present→past). Sarnai adds: "If I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had practised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art since childhood, my work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1E7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would be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even more impressive today." They both agree: every past choice shapes the present. But as their teacher says: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"It's never too late to start!"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79222" y="2565806"/>
            <a:ext cx="3218688" cy="18288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592" y="2551176"/>
            <a:ext cx="321868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2551176"/>
            <a:ext cx="3218688" cy="25603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" y="2807208"/>
            <a:ext cx="3218688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FEF3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255117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🔑  Key Phrases &amp; Translation / Гол хэллэг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56032" y="281635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Цээжил! · Memorize these phrases</a:t>
            </a:r>
            <a:endParaRPr lang="en-US" sz="7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" y="2971800"/>
          <a:ext cx="3108960" cy="914400"/>
        </p:xfrm>
        <a:graphic>
          <a:graphicData uri="http://schemas.openxmlformats.org/drawingml/2006/table">
            <a:tbl>
              <a:tblPr/>
              <a:tblGrid>
                <a:gridCol w="1057046"/>
                <a:gridCol w="1057046"/>
                <a:gridCol w="994867"/>
              </a:tblGrid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 Phrase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Mongolian / Монгол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Grammar Note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I had studied, I would be fluent now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Суралцсан байсан бол одоо чөлөөтэй байх байсан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1: past→present result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I weren't shy, I would have spoken up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Ичимхий биш байсан бол хэлэх байсан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2: present→past result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I had saved money, I'd have more now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Хэмнэсэн байсан бол одоо илүү байх байсан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1: past action → present state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she were taller, she would have played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Өндөр байсан бол тоглосон байх байсан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2: present state → past opportunity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past choice affects the present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Өнгөрсөн шийдвэр бүр одоог нөлөөлдөг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mixed conditional concept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It's never too late to start!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Хэзээ ч хожуу биш!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encouraging phrase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3489350" y="2565806"/>
            <a:ext cx="3218688" cy="18288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474720" y="2551176"/>
            <a:ext cx="321868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474720" y="2551176"/>
            <a:ext cx="3218688" cy="25603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474720" y="2807208"/>
            <a:ext cx="3218688" cy="146304"/>
          </a:xfrm>
          <a:prstGeom prst="rect">
            <a:avLst/>
          </a:prstGeom>
          <a:solidFill>
            <a:srgbClr val="E0F4F4"/>
          </a:solidFill>
          <a:ln w="12700">
            <a:solidFill>
              <a:srgbClr val="E0F4F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566160" y="255117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🗣️  Speaking Practice / Ярих дасгал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566160" y="281635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OUT LOUD — don't write, just speak!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3557016" y="2971800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OUT LOUD in English — do not write, just speak!
</a:t>
            </a:r>
            <a:pPr indent="0" marL="0">
              <a:lnSpc>
                <a:spcPct val="12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Англиар ЧАНГААР хариулаарай — бичихгүй, зөвхөн ярь!</a:t>
            </a:r>
            <a:endParaRPr lang="en-US" sz="8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3264408"/>
          <a:ext cx="3108960" cy="914400"/>
        </p:xfrm>
        <a:graphic>
          <a:graphicData uri="http://schemas.openxmlformats.org/drawingml/2006/table">
            <a:tbl>
              <a:tblPr/>
              <a:tblGrid>
                <a:gridCol w="3108960"/>
              </a:tblGrid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 If you had started English at age 5, how would your life be different now? (Type 1)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 If you were taller/shorter, what would you have done differently? (Type 2)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 If you had studied harder in primary school, where would you be now?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 If you weren't Mongolian, what opportunities would you have had?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 What is one past choice that is still affecting your present life?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 If you had known about this English program earlier, when would you have started?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Shape 34"/>
          <p:cNvSpPr/>
          <p:nvPr/>
        </p:nvSpPr>
        <p:spPr>
          <a:xfrm>
            <a:off x="179222" y="4467758"/>
            <a:ext cx="6528816" cy="511149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164592" y="4453128"/>
            <a:ext cx="6528816" cy="5111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164592" y="4453128"/>
            <a:ext cx="6528816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164592" y="4709160"/>
            <a:ext cx="6528816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256032" y="44531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💬  Role Play / Дүрд тоглох</a:t>
            </a:r>
            <a:endParaRPr lang="en-US" sz="1050" dirty="0"/>
          </a:p>
        </p:txBody>
      </p:sp>
      <p:sp>
        <p:nvSpPr>
          <p:cNvPr id="43" name="Text 39"/>
          <p:cNvSpPr/>
          <p:nvPr/>
        </p:nvSpPr>
        <p:spPr>
          <a:xfrm>
            <a:off x="256032" y="471830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Найзтайгаа дадлагал · Repeat until it sounds natural!</a:t>
            </a:r>
            <a:endParaRPr lang="en-US" sz="750" dirty="0"/>
          </a:p>
        </p:txBody>
      </p:sp>
      <p:graphicFrame>
        <p:nvGraphicFramePr>
          <p:cNvPr id="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37744" y="4873752"/>
          <a:ext cx="6382512" cy="914400"/>
        </p:xfrm>
        <a:graphic>
          <a:graphicData uri="http://schemas.openxmlformats.org/drawingml/2006/table">
            <a:tbl>
              <a:tblPr/>
              <a:tblGrid>
                <a:gridCol w="3191256"/>
                <a:gridCol w="3191256"/>
              </a:tblGrid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Do you ever think about past choices?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Yes! If I had practised English earlier, I'd be much better now.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That's a Type 1 mixed conditional!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Exactly! Past action → present result.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What about Type 2?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If I weren't so busy with school, I would have read more books.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So your present situation affected a past opportunity?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Yes! Present state → past result. I love this grammar!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Has English been changing your life?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Definitely! If I hadn't started this course, I would be lost now.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That's mixed conditional again!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Right! Past decision → present state. It's everywhere!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5" name="Shape 40"/>
          <p:cNvSpPr/>
          <p:nvPr/>
        </p:nvSpPr>
        <p:spPr>
          <a:xfrm>
            <a:off x="237744" y="9381744"/>
            <a:ext cx="6382512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292608" y="9390888"/>
            <a:ext cx="62727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 B1 Tip: Mixed conditionals show sophisticated thinking! 'If I had studied harder (past), I would be fluent now (present).' This proves you can think across time — a real B1 skill!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· Book 3 · Дэвшилтэт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15-20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66 · ӨДӨР 66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· Practice · Homework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🎧 Page 3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B1 Level  ·  Book 3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79222" y="627278"/>
            <a:ext cx="6528816" cy="195681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" y="612648"/>
            <a:ext cx="6528816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4592" y="612648"/>
            <a:ext cx="6528816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68680"/>
            <a:ext cx="6528816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612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🎧  Listening Script / Сонсох текст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6032" y="87782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10 questions WITHOUT looking at the text!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37744" y="1033272"/>
            <a:ext cx="6382512" cy="1481328"/>
          </a:xfrm>
          <a:prstGeom prst="rect">
            <a:avLst/>
          </a:prstGeom>
          <a:solidFill>
            <a:srgbClr val="F4F8FC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" y="1069848"/>
            <a:ext cx="627278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mixed conditionals — the most sophisticated grammar at B1! Bat, give me a Type 1 example.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 had started English at age five, I would be completely fluent now! (past action, present result)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Perfect! Sarnai — Type 2 please.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Sarnai: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 weren't an artist, I would have studied engineering instead. (present situation, past alternative)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Brilliant! Now, can either of you use both in one conversation naturally?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 had been less shy as a child, I would have more friends now. And if I weren't studying English, I would have given up on my international dreams long ago!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exceptional B1 English. You have just used both types of mixed conditional naturally. I am incredibly proud of both of you!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79222" y="2657246"/>
            <a:ext cx="3218688" cy="32004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592" y="2642616"/>
            <a:ext cx="321868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2642616"/>
            <a:ext cx="3218688" cy="25603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" y="2898648"/>
            <a:ext cx="3218688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264261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Comprehension Questions (10)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56032" y="290779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best answer.</a:t>
            </a:r>
            <a:endParaRPr lang="en-US" sz="7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3063240"/>
          <a:ext cx="3090672" cy="914400"/>
        </p:xfrm>
        <a:graphic>
          <a:graphicData uri="http://schemas.openxmlformats.org/drawingml/2006/table">
            <a:tbl>
              <a:tblPr/>
              <a:tblGrid>
                <a:gridCol w="247254"/>
                <a:gridCol w="1236269"/>
                <a:gridCol w="1607149"/>
              </a:tblGrid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Type 1 example does Bat give?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If he were smarter, he would be fluent.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If he had started English at 5, he would be fluent now.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If he studied more, he would improve.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'Past action, present result' describes which type?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Type 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Third Conditional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Type 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Type 2 example does Sarnai give?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If she had studied art, she would be famous.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If she weren't an artist, she would have studied engineering.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If she were richer, she would travel more.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'Present situation, past alternative' describes which type?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Type 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Type 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First Conditional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Bat's longer example, what does he say about being shy?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If he had been less shy, he would have more friends now.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If he were less shy, he would have more friends now.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Both mean the same.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would Bat have done if he weren't studying English?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studied maths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given up on international dreams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travelled more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does the teacher react to Bat's answer?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asks him to try again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says it was good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says it is exceptional B1 English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1 mixed conditional: the if-clause uses...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past simple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would + base verb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had + past participle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2 mixed conditional: the main clause uses...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would + base verb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would have + past participle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had + past participle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Mixed conditionals show...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only past situations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only present situations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links between past and present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3489350" y="2657246"/>
            <a:ext cx="3218688" cy="32004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474720" y="2642616"/>
            <a:ext cx="321868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474720" y="2642616"/>
            <a:ext cx="3218688" cy="25603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474720" y="2898648"/>
            <a:ext cx="3218688" cy="146304"/>
          </a:xfrm>
          <a:prstGeom prst="rect">
            <a:avLst/>
          </a:prstGeom>
          <a:solidFill>
            <a:srgbClr val="E0F4F4"/>
          </a:solidFill>
          <a:ln w="12700">
            <a:solidFill>
              <a:srgbClr val="E0F4F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566160" y="264261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✏️  Grammar Practice &amp; Matching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3529584" y="3063240"/>
            <a:ext cx="3108960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557016" y="3063240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the blank — mixed conditionals — Type 1 and Type 2</a:t>
            </a:r>
            <a:endParaRPr lang="en-US" sz="8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3227832"/>
          <a:ext cx="3108960" cy="914400"/>
        </p:xfrm>
        <a:graphic>
          <a:graphicData uri="http://schemas.openxmlformats.org/drawingml/2006/table">
            <a:tbl>
              <a:tblPr/>
              <a:tblGrid>
                <a:gridCol w="3108960"/>
              </a:tblGrid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If I _____ studied more, I'd be fluent now. (had — T1)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If I hadn't started, I _____ be here now. (wouldn't — T1)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I _____ have money now if I had saved. (would — T1)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If you weren't shy, you _____ have spoken up. (would — T2)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If she _____ taller, she would have played. (were — T2)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If he _____ more patient, he would have finished. (were — T2)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Shape 34"/>
          <p:cNvSpPr/>
          <p:nvPr/>
        </p:nvSpPr>
        <p:spPr>
          <a:xfrm>
            <a:off x="3529584" y="4478731"/>
            <a:ext cx="3108960" cy="16459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3557016" y="4478731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— English → Mongolian</a:t>
            </a:r>
            <a:endParaRPr lang="en-US" sz="800" dirty="0"/>
          </a:p>
        </p:txBody>
      </p:sp>
      <p:graphicFrame>
        <p:nvGraphicFramePr>
          <p:cNvPr id="1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4643323"/>
          <a:ext cx="3108960" cy="914400"/>
        </p:xfrm>
        <a:graphic>
          <a:graphicData uri="http://schemas.openxmlformats.org/drawingml/2006/table">
            <a:tbl>
              <a:tblPr/>
              <a:tblGrid>
                <a:gridCol w="1616659"/>
                <a:gridCol w="1492301"/>
              </a:tblGrid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Type 1 (past→present)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 If I were braver → I would have spoken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Type 2 (present→past)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 өнгөрсөн шалтгаан → одоогийн үр дүн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2nd Conditional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C. If I had studied → I would be fluent now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3rd Conditional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D. If I were rich → I would travel now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Mixed T1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E. If I had studied → I would have passed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</a:tbl>
          </a:graphicData>
        </a:graphic>
      </p:graphicFrame>
      <p:sp>
        <p:nvSpPr>
          <p:cNvPr id="41" name="Shape 36"/>
          <p:cNvSpPr/>
          <p:nvPr/>
        </p:nvSpPr>
        <p:spPr>
          <a:xfrm>
            <a:off x="179222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164592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164592" y="5916168"/>
            <a:ext cx="2115312" cy="25603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164592" y="6172200"/>
            <a:ext cx="2115312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FEF3DC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256032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📝  Homework / Гэрийн даалгавар</a:t>
            </a:r>
            <a:endParaRPr lang="en-US" sz="1050" dirty="0"/>
          </a:p>
        </p:txBody>
      </p:sp>
      <p:sp>
        <p:nvSpPr>
          <p:cNvPr id="46" name="Text 41"/>
          <p:cNvSpPr/>
          <p:nvPr/>
        </p:nvSpPr>
        <p:spPr>
          <a:xfrm>
            <a:off x="256032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Маргааш болохоос өмнө дуусга</a:t>
            </a:r>
            <a:endParaRPr lang="en-US" sz="750" dirty="0"/>
          </a:p>
        </p:txBody>
      </p:sp>
      <p:sp>
        <p:nvSpPr>
          <p:cNvPr id="47" name="Text 42"/>
          <p:cNvSpPr/>
          <p:nvPr/>
        </p:nvSpPr>
        <p:spPr>
          <a:xfrm>
            <a:off x="256032" y="6345936"/>
            <a:ext cx="196900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Writing: Write 3 Type 1 (past→present) and 3 Type 2 (present→past) mixed conditional sentences about your life.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Vocabulary: Reflect on 3 past decisions that affect your present using mixed conditionals.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Speaking: Answer: 'If you hadn't started this English course, what would your life be like now?'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Review: T1: If I had + p.p. → I would + base verb (now) · T2: If I were → I would have + p.p. (past)
</a:t>
            </a:r>
            <a:endParaRPr lang="en-US" sz="950" dirty="0"/>
          </a:p>
        </p:txBody>
      </p:sp>
      <p:sp>
        <p:nvSpPr>
          <p:cNvPr id="48" name="Shape 43"/>
          <p:cNvSpPr/>
          <p:nvPr/>
        </p:nvSpPr>
        <p:spPr>
          <a:xfrm>
            <a:off x="2385974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2371344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2371344" y="5916168"/>
            <a:ext cx="2115312" cy="256032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2371344" y="6172200"/>
            <a:ext cx="2115312" cy="146304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2462784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🔑  Answer Key / Хариулт</a:t>
            </a:r>
            <a:endParaRPr lang="en-US" sz="1050" dirty="0"/>
          </a:p>
        </p:txBody>
      </p:sp>
      <p:sp>
        <p:nvSpPr>
          <p:cNvPr id="53" name="Text 48"/>
          <p:cNvSpPr/>
          <p:nvPr/>
        </p:nvSpPr>
        <p:spPr>
          <a:xfrm>
            <a:off x="2462784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honestly!</a:t>
            </a:r>
            <a:endParaRPr lang="en-US" sz="750" dirty="0"/>
          </a:p>
        </p:txBody>
      </p:sp>
      <p:sp>
        <p:nvSpPr>
          <p:cNvPr id="54" name="Text 49"/>
          <p:cNvSpPr/>
          <p:nvPr/>
        </p:nvSpPr>
        <p:spPr>
          <a:xfrm>
            <a:off x="2462784" y="6345936"/>
            <a:ext cx="196900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blanks: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1-had · 2-wouldn't · 3-would · 4-would · 5-were · 6-were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1-C · 2-A · 3-D · 4-E · 5-B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(1–10):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1-b · 2-c · 3-b · 4-b · 5-a
6-b · 7-c · 8-c · 9-b · 10-c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</a:t>
            </a:r>
            <a:pPr indent="0" marL="0">
              <a:lnSpc>
                <a:spcPct val="195000"/>
              </a:lnSpc>
              <a:buNone/>
            </a:pPr>
            <a:r>
              <a:rPr lang="en-US" sz="8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Mistakes help you learn!</a:t>
            </a:r>
            <a:endParaRPr lang="en-US" sz="900" dirty="0"/>
          </a:p>
        </p:txBody>
      </p:sp>
      <p:sp>
        <p:nvSpPr>
          <p:cNvPr id="55" name="Shape 50"/>
          <p:cNvSpPr/>
          <p:nvPr/>
        </p:nvSpPr>
        <p:spPr>
          <a:xfrm>
            <a:off x="4592726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56" name="Shape 51"/>
          <p:cNvSpPr/>
          <p:nvPr/>
        </p:nvSpPr>
        <p:spPr>
          <a:xfrm>
            <a:off x="4578096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4578096" y="5916168"/>
            <a:ext cx="2115312" cy="25603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8" name="Shape 53"/>
          <p:cNvSpPr/>
          <p:nvPr/>
        </p:nvSpPr>
        <p:spPr>
          <a:xfrm>
            <a:off x="4578096" y="6172200"/>
            <a:ext cx="2115312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59" name="Text 54"/>
          <p:cNvSpPr/>
          <p:nvPr/>
        </p:nvSpPr>
        <p:spPr>
          <a:xfrm>
            <a:off x="4669536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🌟  Day 66 Complete!</a:t>
            </a:r>
            <a:endParaRPr lang="en-US" sz="1050" dirty="0"/>
          </a:p>
        </p:txBody>
      </p:sp>
      <p:sp>
        <p:nvSpPr>
          <p:cNvPr id="60" name="Text 55"/>
          <p:cNvSpPr/>
          <p:nvPr/>
        </p:nvSpPr>
        <p:spPr>
          <a:xfrm>
            <a:off x="4669536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 completed:</a:t>
            </a:r>
            <a:endParaRPr lang="en-US" sz="750" dirty="0"/>
          </a:p>
        </p:txBody>
      </p:sp>
      <p:sp>
        <p:nvSpPr>
          <p:cNvPr id="61" name="Text 56"/>
          <p:cNvSpPr/>
          <p:nvPr/>
        </p:nvSpPr>
        <p:spPr>
          <a:xfrm>
            <a:off x="4669536" y="6345936"/>
            <a:ext cx="1969008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20 холимог нөхцөлтийн үг · 20 mixed conditional words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Mixed Conditionals — Type 1 &amp; Type 2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Батын бодлын тухай уншсан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Дасгал · Grammar practice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Ярих дасгал · Speaking practice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Сонсох · Listening practice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Mixed Conditionals хэрэглэж сурсан</a:t>
            </a:r>
            <a:endParaRPr lang="en-US" sz="800" dirty="0"/>
          </a:p>
        </p:txBody>
      </p:sp>
      <p:sp>
        <p:nvSpPr>
          <p:cNvPr id="62" name="Shape 57"/>
          <p:cNvSpPr/>
          <p:nvPr/>
        </p:nvSpPr>
        <p:spPr>
          <a:xfrm>
            <a:off x="4651248" y="9253728"/>
            <a:ext cx="1969008" cy="256032"/>
          </a:xfrm>
          <a:prstGeom prst="rect">
            <a:avLst/>
          </a:prstGeom>
          <a:solidFill>
            <a:srgbClr val="EBF4FB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4687824" y="9262872"/>
            <a:ext cx="1914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Day 67: Giving Strong Advice — Must / Might / May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2026-04-09T03:01:24Z</dcterms:created>
  <dcterms:modified xsi:type="dcterms:W3CDTF">2026-04-09T03:01:24Z</dcterms:modified>
</cp:coreProperties>
</file>