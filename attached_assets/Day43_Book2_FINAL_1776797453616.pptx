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6858000" cy="9692640"/>
  <p:notesSz cx="9692640" cy="685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2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858000" cy="347472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50292" cy="347472"/>
          </a:xfrm>
          <a:prstGeom prst="rect">
            <a:avLst/>
          </a:prstGeom>
          <a:solidFill>
            <a:srgbClr val="F2C93A"/>
          </a:solidFill>
          <a:ln w="12700">
            <a:solidFill>
              <a:srgbClr val="F2C93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0584" y="0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2C9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Speak English in 90 Days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3657600" y="0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0AA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A2 · Book 2 · Дунд шат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577840" y="0"/>
            <a:ext cx="11704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F2C9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20-25 минут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0" y="347472"/>
            <a:ext cx="1335024" cy="237744"/>
          </a:xfrm>
          <a:prstGeom prst="rect">
            <a:avLst/>
          </a:prstGeom>
          <a:solidFill>
            <a:srgbClr val="F2C93A"/>
          </a:solidFill>
          <a:ln w="12700">
            <a:solidFill>
              <a:srgbClr val="F2C93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0" y="347472"/>
            <a:ext cx="13350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43 · ӨДӨР 43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1335024" y="347472"/>
            <a:ext cx="4498848" cy="237744"/>
          </a:xfrm>
          <a:prstGeom prst="rect">
            <a:avLst/>
          </a:prstGeom>
          <a:solidFill>
            <a:srgbClr val="5A3A1A"/>
          </a:solidFill>
          <a:ln w="12700">
            <a:solidFill>
              <a:srgbClr val="5A3A1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408176" y="347472"/>
            <a:ext cx="44256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Morning Routines  ·  Өглөөний дэглэм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5833872" y="347472"/>
            <a:ext cx="1024128" cy="237744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760720" y="347472"/>
            <a:ext cx="104241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F2C9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📖 Page 1</a:t>
            </a:r>
            <a:endParaRPr lang="en-US" sz="750" dirty="0"/>
          </a:p>
        </p:txBody>
      </p:sp>
      <p:sp>
        <p:nvSpPr>
          <p:cNvPr id="13" name="Shape 11"/>
          <p:cNvSpPr/>
          <p:nvPr/>
        </p:nvSpPr>
        <p:spPr>
          <a:xfrm>
            <a:off x="0" y="9601200"/>
            <a:ext cx="6858000" cy="91440"/>
          </a:xfrm>
          <a:prstGeom prst="rect">
            <a:avLst/>
          </a:prstGeom>
          <a:solidFill>
            <a:srgbClr val="E4EEF6"/>
          </a:solidFill>
          <a:ln w="12700">
            <a:solidFill>
              <a:srgbClr val="E4EEF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0" y="9601200"/>
            <a:ext cx="685800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7A9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Speak English in 90 Days  ·  A2 Level  ·  Book 2</a:t>
            </a:r>
            <a:endParaRPr lang="en-US" sz="650" dirty="0"/>
          </a:p>
        </p:txBody>
      </p:sp>
      <p:sp>
        <p:nvSpPr>
          <p:cNvPr id="15" name="Shape 13"/>
          <p:cNvSpPr/>
          <p:nvPr/>
        </p:nvSpPr>
        <p:spPr>
          <a:xfrm>
            <a:off x="164592" y="630936"/>
            <a:ext cx="6528816" cy="182880"/>
          </a:xfrm>
          <a:prstGeom prst="rect">
            <a:avLst/>
          </a:prstGeom>
          <a:solidFill>
            <a:srgbClr val="EBF4FB"/>
          </a:solidFill>
          <a:ln w="12700">
            <a:solidFill>
              <a:srgbClr val="2E6DA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46888" y="630936"/>
            <a:ext cx="641908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A4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✦ Learn 20 words   ✦ Grammar: Reflexive pronouns — myself, yourself, himself, herself, ourselves, themselves   ✦ Cover &amp; test yourself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179222" y="874166"/>
            <a:ext cx="3310128" cy="8705088"/>
          </a:xfrm>
          <a:prstGeom prst="rect">
            <a:avLst/>
          </a:prstGeom>
          <a:solidFill>
            <a:srgbClr val="D0DCE8"/>
          </a:solidFill>
          <a:ln w="12700">
            <a:solidFill>
              <a:srgbClr val="D0DCE8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64592" y="859536"/>
            <a:ext cx="3310128" cy="8705088"/>
          </a:xfrm>
          <a:prstGeom prst="rect">
            <a:avLst/>
          </a:prstGeom>
          <a:solidFill>
            <a:srgbClr val="FFFFFF"/>
          </a:solidFill>
          <a:ln w="12700">
            <a:solidFill>
              <a:srgbClr val="C8D8E8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64592" y="859536"/>
            <a:ext cx="3310128" cy="256032"/>
          </a:xfrm>
          <a:prstGeom prst="rect">
            <a:avLst/>
          </a:prstGeom>
          <a:solidFill>
            <a:srgbClr val="5A3A1A"/>
          </a:solidFill>
          <a:ln w="12700">
            <a:solidFill>
              <a:srgbClr val="5A3A1A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64592" y="1115568"/>
            <a:ext cx="3310128" cy="146304"/>
          </a:xfrm>
          <a:prstGeom prst="rect">
            <a:avLst/>
          </a:prstGeom>
          <a:solidFill>
            <a:srgbClr val="EBF4FB"/>
          </a:solidFill>
          <a:ln w="12700">
            <a:solidFill>
              <a:srgbClr val="EBF4F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56032" y="859536"/>
            <a:ext cx="31821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📝  Vocabulary — 20 New Words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256032" y="1124712"/>
            <a:ext cx="318211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3A5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aloud 3 times · Cover Mongolian &amp; test yourself!</a:t>
            </a:r>
            <a:endParaRPr lang="en-US" sz="750" dirty="0"/>
          </a:p>
        </p:txBody>
      </p:sp>
      <p:graphicFrame>
        <p:nvGraphicFramePr>
          <p:cNvPr id="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19456" y="1289304"/>
          <a:ext cx="3200400" cy="914400"/>
        </p:xfrm>
        <a:graphic>
          <a:graphicData uri="http://schemas.openxmlformats.org/drawingml/2006/table">
            <a:tbl>
              <a:tblPr/>
              <a:tblGrid>
                <a:gridCol w="182880"/>
                <a:gridCol w="610819"/>
                <a:gridCol w="610819"/>
                <a:gridCol w="794065"/>
                <a:gridCol w="1038393"/>
              </a:tblGrid>
              <a:tr h="3520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A3A1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English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A3A1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Pronunciation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Дуудлага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A3A1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Mongolian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Монгол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A3A1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Example sentence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A3A1A"/>
                    </a:solidFill>
                  </a:tcPr>
                </a:tc>
              </a:tr>
              <a:tr h="3520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5A3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myself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/maɪˈsɛlf/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өөрөө (би)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i="1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 made breakfast myself.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</a:tr>
              <a:tr h="3520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5A3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yourself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/jɔːrˈsɛlf/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өөрөө (та/чи)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i="1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Can you do it yourself?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520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5A3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himself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/hɪmˈsɛlf/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өөрөө (тэр-эр)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i="1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He fixed the car himself.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</a:tr>
              <a:tr h="3520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5A3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herself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/hɜːrˈsɛlf/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өөрөө (тэр-эм)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i="1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She taught herself English.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520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5A3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ourselves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/aʊərˈsɛlvz/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өөрсдөө (бид)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i="1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 painted the room ourselves.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</a:tr>
              <a:tr h="3520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5A3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themselves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/ðəmˈsɛlvz/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өөрсдөө (тэд)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i="1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They built it themselves.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520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5A3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wake up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/weɪk ʌp/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босох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i="1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 wake up at 6:30 every morning.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</a:tr>
              <a:tr h="3520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5A3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wash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/wɒʃ/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угаах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i="1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 wash my face with cold water.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520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5A3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shower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/ˈʃaʊər/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шүршүүр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i="1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 take a shower every morning.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</a:tr>
              <a:tr h="3520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5A3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get dressed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/ɡɛt drɛst/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хувцасладаг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i="1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 get dressed quickly.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520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5A3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brush teeth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/brʌʃ tiːθ/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шүдээ угаах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i="1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 brush my teeth twice a day.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</a:tr>
              <a:tr h="3520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5A3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comb hair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/koʊm hɛər/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үс самнах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i="1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She combs her hair carefully.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520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5A3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make breakfast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/meɪk ˈbrɛkfəst/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өглөөний хоол хийх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i="1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He makes breakfast himself.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</a:tr>
              <a:tr h="3520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5A3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pack bag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/pæk bæɡ/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цүнх хийх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i="1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 pack my bag the night before.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520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5A3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routine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/ruːˈtiːn/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дэглэм / горим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i="1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good morning routine is key.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</a:tr>
              <a:tr h="3520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5A3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habit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/ˈhæbɪt/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дадал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i="1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Good habits change your life.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520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17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5A3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alarm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/əˈlɑːrm/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дохио / сэрүүлэг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i="1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 set my alarm for 6 AM.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</a:tr>
              <a:tr h="3520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5A3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stretch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/strɛtʃ/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сунгалт хийх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i="1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 stretch for 5 minutes each morning.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520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5A3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meditate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/ˈmɛdɪteɪt/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бясалгал хийх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i="1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She meditates every morning.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</a:tr>
              <a:tr h="3520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5A3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prepare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/prɪˈpɛər/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бэлтгэх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i="1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 prepare everything the night before.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4" name="Shape 21"/>
          <p:cNvSpPr/>
          <p:nvPr/>
        </p:nvSpPr>
        <p:spPr>
          <a:xfrm>
            <a:off x="219456" y="9290304"/>
            <a:ext cx="3200400" cy="219456"/>
          </a:xfrm>
          <a:prstGeom prst="rect">
            <a:avLst/>
          </a:prstGeom>
          <a:solidFill>
            <a:srgbClr val="E0F4F4"/>
          </a:solidFill>
          <a:ln w="12700">
            <a:solidFill>
              <a:srgbClr val="0D7C7B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256032" y="9299448"/>
            <a:ext cx="31272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750" dirty="0">
                <a:solidFill>
                  <a:srgbClr val="0D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🔊  Myself /maɪˈsɛlf/ · Yourself /jɔːrˈsɛlf/ · Themselves /ðəmˈsɛlvz/ — stress on SELF/SELVES</a:t>
            </a:r>
            <a:endParaRPr lang="en-US" sz="7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750" dirty="0">
                <a:solidFill>
                  <a:srgbClr val="0D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Бүх reflexive pronoun-ийн хүчлэл: my-SELF, your-SELF, him-SELF, her-SELF, our-SELVES, them-SELVES.</a:t>
            </a:r>
            <a:endParaRPr lang="en-US" sz="750" dirty="0"/>
          </a:p>
        </p:txBody>
      </p:sp>
      <p:sp>
        <p:nvSpPr>
          <p:cNvPr id="26" name="Shape 23"/>
          <p:cNvSpPr/>
          <p:nvPr/>
        </p:nvSpPr>
        <p:spPr>
          <a:xfrm>
            <a:off x="3580790" y="874166"/>
            <a:ext cx="3127248" cy="8705088"/>
          </a:xfrm>
          <a:prstGeom prst="rect">
            <a:avLst/>
          </a:prstGeom>
          <a:solidFill>
            <a:srgbClr val="D0DCE8"/>
          </a:solidFill>
          <a:ln w="12700">
            <a:solidFill>
              <a:srgbClr val="D0DCE8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3566160" y="859536"/>
            <a:ext cx="3127248" cy="8705088"/>
          </a:xfrm>
          <a:prstGeom prst="rect">
            <a:avLst/>
          </a:prstGeom>
          <a:solidFill>
            <a:srgbClr val="FFFFFF"/>
          </a:solidFill>
          <a:ln w="12700">
            <a:solidFill>
              <a:srgbClr val="C8D8E8"/>
            </a:solidFill>
            <a:prstDash val="solid"/>
          </a:ln>
        </p:spPr>
      </p:sp>
      <p:sp>
        <p:nvSpPr>
          <p:cNvPr id="28" name="Shape 25"/>
          <p:cNvSpPr/>
          <p:nvPr/>
        </p:nvSpPr>
        <p:spPr>
          <a:xfrm>
            <a:off x="3566160" y="859536"/>
            <a:ext cx="3127248" cy="256032"/>
          </a:xfrm>
          <a:prstGeom prst="rect">
            <a:avLst/>
          </a:prstGeom>
          <a:solidFill>
            <a:srgbClr val="6B3FA0"/>
          </a:solidFill>
          <a:ln w="12700">
            <a:solidFill>
              <a:srgbClr val="6B3FA0"/>
            </a:solidFill>
            <a:prstDash val="solid"/>
          </a:ln>
        </p:spPr>
      </p:sp>
      <p:sp>
        <p:nvSpPr>
          <p:cNvPr id="29" name="Shape 26"/>
          <p:cNvSpPr/>
          <p:nvPr/>
        </p:nvSpPr>
        <p:spPr>
          <a:xfrm>
            <a:off x="3566160" y="1115568"/>
            <a:ext cx="3127248" cy="146304"/>
          </a:xfrm>
          <a:prstGeom prst="rect">
            <a:avLst/>
          </a:prstGeom>
          <a:solidFill>
            <a:srgbClr val="F0EAFA"/>
          </a:solidFill>
          <a:ln w="12700">
            <a:solidFill>
              <a:srgbClr val="F0EAFA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3657600" y="859536"/>
            <a:ext cx="29992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📖  Grammar — Reflexive pronouns — myself, yourself, himself, herself, ourselves, themselves</a:t>
            </a:r>
            <a:endParaRPr lang="en-US" sz="1050" dirty="0"/>
          </a:p>
        </p:txBody>
      </p:sp>
      <p:sp>
        <p:nvSpPr>
          <p:cNvPr id="31" name="Text 28"/>
          <p:cNvSpPr/>
          <p:nvPr/>
        </p:nvSpPr>
        <p:spPr>
          <a:xfrm>
            <a:off x="3657600" y="1124712"/>
            <a:ext cx="299923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3A5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 step by step  ·  Алхам алхмаар судлаарай</a:t>
            </a:r>
            <a:endParaRPr lang="en-US" sz="750" dirty="0"/>
          </a:p>
        </p:txBody>
      </p:sp>
      <p:sp>
        <p:nvSpPr>
          <p:cNvPr id="32" name="Text 29"/>
          <p:cNvSpPr/>
          <p:nvPr/>
        </p:nvSpPr>
        <p:spPr>
          <a:xfrm>
            <a:off x="3648456" y="1289304"/>
            <a:ext cx="29809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8000"/>
              </a:lnSpc>
              <a:buNone/>
            </a:pPr>
            <a:r>
              <a:rPr lang="en-US" sz="80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Reflexive pronouns are used when the SUBJECT and OBJECT are the SAME person. 'I hurt MYSELF.' (I hurt me — same person). Also used for EMPHASIS: 'I made this MYSELF.' (nobody helped me, I did it alone — this stresses independence). Forms: I→myself, you→yourself, he→himself, she→herself, we→ourselves, they→themselves. Common phrases: by myself (alone), help yourself (take what you want), enjoy yourself (have a good time).</a:t>
            </a:r>
            <a:endParaRPr lang="en-US" sz="800" dirty="0"/>
          </a:p>
        </p:txBody>
      </p:sp>
      <p:sp>
        <p:nvSpPr>
          <p:cNvPr id="33" name="Text 30"/>
          <p:cNvSpPr/>
          <p:nvPr/>
        </p:nvSpPr>
        <p:spPr>
          <a:xfrm>
            <a:off x="3648456" y="1709928"/>
            <a:ext cx="298094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750" dirty="0">
                <a:solidFill>
                  <a:srgbClr val="3A5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Reflexive pronoun нь субьект ба объект ИЖИЛ хүн байх үед хэрэглэгддэг. 'I hurt MYSELF.' (Би өөртөө гэмтлээ). Мөн ОНЦОЛЖ хэлэхэд хэрэглэнэ: 'I made this MYSELF.' (хэн ч тусалсангүй). Хэлбэрүүд: I→myself, you→yourself, he→himself, she→herself, we→ourselves, they→themselves. Нийтлэг хэллэгүүд: by myself (ганцаараа), help yourself (авч ид), enjoy yourself (хөгжилдөх).</a:t>
            </a:r>
            <a:endParaRPr lang="en-US" sz="750" dirty="0"/>
          </a:p>
        </p:txBody>
      </p:sp>
      <p:graphicFrame>
        <p:nvGraphicFramePr>
          <p:cNvPr id="3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39312" y="2075688"/>
          <a:ext cx="2980944" cy="914400"/>
        </p:xfrm>
        <a:graphic>
          <a:graphicData uri="http://schemas.openxmlformats.org/drawingml/2006/table">
            <a:tbl>
              <a:tblPr/>
              <a:tblGrid>
                <a:gridCol w="417332"/>
                <a:gridCol w="417332"/>
                <a:gridCol w="536570"/>
                <a:gridCol w="536570"/>
                <a:gridCol w="536570"/>
                <a:gridCol w="536570"/>
              </a:tblGrid>
              <a:tr h="1920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Form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Rule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Example +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Example −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Question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Монгол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5C"/>
                    </a:solidFill>
                  </a:tcPr>
                </a:tc>
              </a:tr>
              <a:tr h="1920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b="1" dirty="0">
                          <a:solidFill>
                            <a:srgbClr val="2E6DA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6B3F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myself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 made it myself.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dirty="0">
                          <a:solidFill>
                            <a:srgbClr val="B830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 didn't do it myself.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dirty="0">
                          <a:solidFill>
                            <a:srgbClr val="0D7C7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Did you do it yourself?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өөрөө (би)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</a:tr>
              <a:tr h="1920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b="1" dirty="0">
                          <a:solidFill>
                            <a:srgbClr val="2E6DA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he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6B3F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himself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He fixed it himself.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dirty="0">
                          <a:solidFill>
                            <a:srgbClr val="B830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He didn't fix it himself.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dirty="0">
                          <a:solidFill>
                            <a:srgbClr val="0D7C7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Did he do it himself?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өөрөө (тэр-эр)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920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b="1" dirty="0">
                          <a:solidFill>
                            <a:srgbClr val="2E6DA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she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6B3F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herself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She taught herself.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dirty="0">
                          <a:solidFill>
                            <a:srgbClr val="B830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She didn't teach herself.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dirty="0">
                          <a:solidFill>
                            <a:srgbClr val="0D7C7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Did she teach herself?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өөрөө (тэр-эм)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</a:tr>
              <a:tr h="1920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b="1" dirty="0">
                          <a:solidFill>
                            <a:srgbClr val="2E6DA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6B3F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ourselves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 built it ourselves.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dirty="0">
                          <a:solidFill>
                            <a:srgbClr val="B830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 didn't build it ourselves.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dirty="0">
                          <a:solidFill>
                            <a:srgbClr val="0D7C7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Did you build it yourselves?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өөрсдөө (бид)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920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b="1" dirty="0">
                          <a:solidFill>
                            <a:srgbClr val="2E6DA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they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6B3F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themselves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They cooked themselves.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dirty="0">
                          <a:solidFill>
                            <a:srgbClr val="B830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They didn't cook themselves.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dirty="0">
                          <a:solidFill>
                            <a:srgbClr val="0D7C7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Did they cook themselves?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өөрсдөө (тэд)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</a:tr>
            </a:tbl>
          </a:graphicData>
        </a:graphic>
      </p:graphicFrame>
      <p:sp>
        <p:nvSpPr>
          <p:cNvPr id="35" name="Shape 31"/>
          <p:cNvSpPr/>
          <p:nvPr/>
        </p:nvSpPr>
        <p:spPr>
          <a:xfrm>
            <a:off x="3639312" y="3273552"/>
            <a:ext cx="2980944" cy="164592"/>
          </a:xfrm>
          <a:prstGeom prst="rect">
            <a:avLst/>
          </a:prstGeom>
          <a:solidFill>
            <a:srgbClr val="0D7C7B"/>
          </a:solidFill>
          <a:ln w="12700">
            <a:solidFill>
              <a:srgbClr val="0D7C7B"/>
            </a:solidFill>
            <a:prstDash val="solid"/>
          </a:ln>
        </p:spPr>
      </p:sp>
      <p:sp>
        <p:nvSpPr>
          <p:cNvPr id="36" name="Text 32"/>
          <p:cNvSpPr/>
          <p:nvPr/>
        </p:nvSpPr>
        <p:spPr>
          <a:xfrm>
            <a:off x="3657600" y="3273552"/>
            <a:ext cx="298094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✂  Key Forms / Товчилсон хэлбэр</a:t>
            </a:r>
            <a:endParaRPr lang="en-US" sz="800" dirty="0"/>
          </a:p>
        </p:txBody>
      </p:sp>
      <p:sp>
        <p:nvSpPr>
          <p:cNvPr id="37" name="Shape 33"/>
          <p:cNvSpPr/>
          <p:nvPr/>
        </p:nvSpPr>
        <p:spPr>
          <a:xfrm>
            <a:off x="3639312" y="3438144"/>
            <a:ext cx="2980944" cy="274320"/>
          </a:xfrm>
          <a:prstGeom prst="rect">
            <a:avLst/>
          </a:prstGeom>
          <a:solidFill>
            <a:srgbClr val="E0F4F4"/>
          </a:solidFill>
          <a:ln w="12700">
            <a:solidFill>
              <a:srgbClr val="0D7C7B"/>
            </a:solidFill>
            <a:prstDash val="solid"/>
          </a:ln>
        </p:spPr>
      </p:sp>
      <p:sp>
        <p:nvSpPr>
          <p:cNvPr id="38" name="Text 34"/>
          <p:cNvSpPr/>
          <p:nvPr/>
        </p:nvSpPr>
        <p:spPr>
          <a:xfrm>
            <a:off x="3657600" y="3465576"/>
            <a:ext cx="163951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850" b="1" dirty="0">
                <a:solidFill>
                  <a:srgbClr val="0D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myself = alone · help yourself = please take some</a:t>
            </a:r>
            <a:endParaRPr lang="en-US" sz="8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850" b="1" dirty="0">
                <a:solidFill>
                  <a:srgbClr val="0D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enjoy yourself = have fun · be yourself = act naturally</a:t>
            </a:r>
            <a:endParaRPr lang="en-US" sz="850" dirty="0"/>
          </a:p>
        </p:txBody>
      </p:sp>
      <p:sp>
        <p:nvSpPr>
          <p:cNvPr id="39" name="Text 35"/>
          <p:cNvSpPr/>
          <p:nvPr/>
        </p:nvSpPr>
        <p:spPr>
          <a:xfrm>
            <a:off x="5297119" y="3465576"/>
            <a:ext cx="131161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750" i="1" dirty="0">
                <a:solidFill>
                  <a:srgbClr val="3A5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myself — ганцаараа хийсэн. help yourself — авч ид, хэрэглэ.</a:t>
            </a:r>
            <a:endParaRPr lang="en-US" sz="7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750" i="1" dirty="0">
                <a:solidFill>
                  <a:srgbClr val="3A5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enjoy yourself — сайхан хөгжил. behave yourself — зөв ав.</a:t>
            </a:r>
            <a:endParaRPr lang="en-US" sz="750" dirty="0"/>
          </a:p>
        </p:txBody>
      </p:sp>
      <p:sp>
        <p:nvSpPr>
          <p:cNvPr id="40" name="Shape 36"/>
          <p:cNvSpPr/>
          <p:nvPr/>
        </p:nvSpPr>
        <p:spPr>
          <a:xfrm>
            <a:off x="3639312" y="3749040"/>
            <a:ext cx="2980944" cy="164592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41" name="Text 37"/>
          <p:cNvSpPr/>
          <p:nvPr/>
        </p:nvSpPr>
        <p:spPr>
          <a:xfrm>
            <a:off x="3657600" y="3749040"/>
            <a:ext cx="298094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⚖  Rules &amp; Usage</a:t>
            </a:r>
            <a:endParaRPr lang="en-US" sz="800" dirty="0"/>
          </a:p>
        </p:txBody>
      </p:sp>
      <p:sp>
        <p:nvSpPr>
          <p:cNvPr id="42" name="Shape 38"/>
          <p:cNvSpPr/>
          <p:nvPr/>
        </p:nvSpPr>
        <p:spPr>
          <a:xfrm>
            <a:off x="3639312" y="3913632"/>
            <a:ext cx="2980944" cy="310896"/>
          </a:xfrm>
          <a:prstGeom prst="rect">
            <a:avLst/>
          </a:prstGeom>
          <a:solidFill>
            <a:srgbClr val="F8FAFC"/>
          </a:solidFill>
          <a:ln w="12700">
            <a:solidFill>
              <a:srgbClr val="C8D8E8"/>
            </a:solidFill>
            <a:prstDash val="solid"/>
          </a:ln>
        </p:spPr>
      </p:sp>
      <p:sp>
        <p:nvSpPr>
          <p:cNvPr id="43" name="Text 39"/>
          <p:cNvSpPr/>
          <p:nvPr/>
        </p:nvSpPr>
        <p:spPr>
          <a:xfrm>
            <a:off x="3657600" y="3941064"/>
            <a:ext cx="29443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800" b="1" dirty="0">
                <a:solidFill>
                  <a:srgbClr val="B83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 1: </a:t>
            </a:r>
            <a:pPr indent="0" marL="0">
              <a:lnSpc>
                <a:spcPct val="130000"/>
              </a:lnSpc>
              <a:buNone/>
            </a:pPr>
            <a:r>
              <a:rPr lang="en-US" sz="80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didn't hurt MYSELF. He can't do it by HIMSELF. They didn't enjoy THEMSELVES at the party.
</a:t>
            </a:r>
            <a:pPr indent="0" marL="0">
              <a:lnSpc>
                <a:spcPct val="130000"/>
              </a:lnSpc>
              <a:buNone/>
            </a:pPr>
            <a:r>
              <a:rPr lang="en-US" sz="800" b="1" dirty="0">
                <a:solidFill>
                  <a:srgbClr val="0D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 2: </a:t>
            </a:r>
            <a:pPr indent="0" marL="0">
              <a:lnSpc>
                <a:spcPct val="130000"/>
              </a:lnSpc>
              <a:buNone/>
            </a:pPr>
            <a:r>
              <a:rPr lang="en-US" sz="80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Did you do it YOURSELF? Can he fix it HIMSELF? Did they enjoy THEMSELVES? Are you by YOURSELF?</a:t>
            </a:r>
            <a:endParaRPr lang="en-US" sz="800" dirty="0"/>
          </a:p>
        </p:txBody>
      </p:sp>
      <p:sp>
        <p:nvSpPr>
          <p:cNvPr id="44" name="Shape 40"/>
          <p:cNvSpPr/>
          <p:nvPr/>
        </p:nvSpPr>
        <p:spPr>
          <a:xfrm>
            <a:off x="3639312" y="4261104"/>
            <a:ext cx="1463040" cy="164592"/>
          </a:xfrm>
          <a:prstGeom prst="rect">
            <a:avLst/>
          </a:prstGeom>
          <a:solidFill>
            <a:srgbClr val="C97A0A"/>
          </a:solidFill>
          <a:ln w="12700">
            <a:solidFill>
              <a:srgbClr val="C97A0A"/>
            </a:solidFill>
            <a:prstDash val="solid"/>
          </a:ln>
        </p:spPr>
      </p:sp>
      <p:sp>
        <p:nvSpPr>
          <p:cNvPr id="45" name="Text 41"/>
          <p:cNvSpPr/>
          <p:nvPr/>
        </p:nvSpPr>
        <p:spPr>
          <a:xfrm>
            <a:off x="3639312" y="4261104"/>
            <a:ext cx="1463040" cy="164592"/>
          </a:xfrm>
          <a:prstGeom prst="rect">
            <a:avLst/>
          </a:prstGeom>
          <a:noFill/>
          <a:ln/>
        </p:spPr>
        <p:txBody>
          <a:bodyPr wrap="square" lIns="0" tIns="6350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Grammar Tip</a:t>
            </a:r>
            <a:endParaRPr lang="en-US" sz="800" dirty="0"/>
          </a:p>
        </p:txBody>
      </p:sp>
      <p:sp>
        <p:nvSpPr>
          <p:cNvPr id="46" name="Shape 42"/>
          <p:cNvSpPr/>
          <p:nvPr/>
        </p:nvSpPr>
        <p:spPr>
          <a:xfrm>
            <a:off x="5138928" y="4261104"/>
            <a:ext cx="1463040" cy="164592"/>
          </a:xfrm>
          <a:prstGeom prst="rect">
            <a:avLst/>
          </a:prstGeom>
          <a:solidFill>
            <a:srgbClr val="B83030"/>
          </a:solidFill>
          <a:ln w="12700">
            <a:solidFill>
              <a:srgbClr val="B83030"/>
            </a:solidFill>
            <a:prstDash val="solid"/>
          </a:ln>
        </p:spPr>
      </p:sp>
      <p:sp>
        <p:nvSpPr>
          <p:cNvPr id="47" name="Text 43"/>
          <p:cNvSpPr/>
          <p:nvPr/>
        </p:nvSpPr>
        <p:spPr>
          <a:xfrm>
            <a:off x="5138928" y="4261104"/>
            <a:ext cx="1463040" cy="164592"/>
          </a:xfrm>
          <a:prstGeom prst="rect">
            <a:avLst/>
          </a:prstGeom>
          <a:noFill/>
          <a:ln/>
        </p:spPr>
        <p:txBody>
          <a:bodyPr wrap="square" lIns="0" tIns="6350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Common Mistakes</a:t>
            </a:r>
            <a:endParaRPr lang="en-US" sz="800" dirty="0"/>
          </a:p>
        </p:txBody>
      </p:sp>
      <p:sp>
        <p:nvSpPr>
          <p:cNvPr id="48" name="Shape 44"/>
          <p:cNvSpPr/>
          <p:nvPr/>
        </p:nvSpPr>
        <p:spPr>
          <a:xfrm>
            <a:off x="3639312" y="4425696"/>
            <a:ext cx="1463040" cy="2144817"/>
          </a:xfrm>
          <a:prstGeom prst="rect">
            <a:avLst/>
          </a:prstGeom>
          <a:solidFill>
            <a:srgbClr val="FEF3DC"/>
          </a:solidFill>
          <a:ln w="12700">
            <a:solidFill>
              <a:srgbClr val="C97A0A"/>
            </a:solidFill>
            <a:prstDash val="solid"/>
          </a:ln>
        </p:spPr>
      </p:sp>
      <p:sp>
        <p:nvSpPr>
          <p:cNvPr id="49" name="Text 45"/>
          <p:cNvSpPr/>
          <p:nvPr/>
        </p:nvSpPr>
        <p:spPr>
          <a:xfrm>
            <a:off x="3666744" y="4462272"/>
            <a:ext cx="1380744" cy="208995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78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Same person as subject → reflexive!</a:t>
            </a:r>
            <a:endParaRPr lang="en-US" sz="78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78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'I cut myself.' (I = the one who got cut)</a:t>
            </a:r>
            <a:endParaRPr lang="en-US" sz="78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78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Emphasis: 'I built this MYSELF.' (alone!)</a:t>
            </a:r>
            <a:endParaRPr lang="en-US" sz="78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78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by myself / by yourself / by himself = alone</a:t>
            </a:r>
            <a:endParaRPr lang="en-US" sz="780" dirty="0"/>
          </a:p>
        </p:txBody>
      </p:sp>
      <p:sp>
        <p:nvSpPr>
          <p:cNvPr id="50" name="Shape 46"/>
          <p:cNvSpPr/>
          <p:nvPr/>
        </p:nvSpPr>
        <p:spPr>
          <a:xfrm>
            <a:off x="5138928" y="4425696"/>
            <a:ext cx="1463040" cy="2144817"/>
          </a:xfrm>
          <a:prstGeom prst="rect">
            <a:avLst/>
          </a:prstGeom>
          <a:solidFill>
            <a:srgbClr val="FDECEA"/>
          </a:solidFill>
          <a:ln w="12700">
            <a:solidFill>
              <a:srgbClr val="B83030"/>
            </a:solidFill>
            <a:prstDash val="solid"/>
          </a:ln>
        </p:spPr>
      </p:sp>
      <p:sp>
        <p:nvSpPr>
          <p:cNvPr id="51" name="Text 47"/>
          <p:cNvSpPr/>
          <p:nvPr/>
        </p:nvSpPr>
        <p:spPr>
          <a:xfrm>
            <a:off x="5166360" y="4462272"/>
            <a:ext cx="1380744" cy="208995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78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She hurt her.  ✅ She hurt HERSELF. (same person!)</a:t>
            </a:r>
            <a:endParaRPr lang="en-US" sz="78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78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I made it by me.  ✅ I made it by MYSELF.</a:t>
            </a:r>
            <a:endParaRPr lang="en-US" sz="78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78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He fixed it hisself.  ✅ He fixed it HIMSELF.</a:t>
            </a:r>
            <a:endParaRPr lang="en-US" sz="78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78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They enjoyed theirselves.  ✅ They enjoyed THEMSELVES.</a:t>
            </a:r>
            <a:endParaRPr lang="en-US" sz="780" dirty="0"/>
          </a:p>
        </p:txBody>
      </p:sp>
      <p:sp>
        <p:nvSpPr>
          <p:cNvPr id="52" name="Shape 48"/>
          <p:cNvSpPr/>
          <p:nvPr/>
        </p:nvSpPr>
        <p:spPr>
          <a:xfrm>
            <a:off x="3639312" y="6607089"/>
            <a:ext cx="2980944" cy="164592"/>
          </a:xfrm>
          <a:prstGeom prst="rect">
            <a:avLst/>
          </a:prstGeom>
          <a:solidFill>
            <a:srgbClr val="0D7C7B"/>
          </a:solidFill>
          <a:ln w="12700">
            <a:solidFill>
              <a:srgbClr val="0D7C7B"/>
            </a:solidFill>
            <a:prstDash val="solid"/>
          </a:ln>
        </p:spPr>
      </p:sp>
      <p:sp>
        <p:nvSpPr>
          <p:cNvPr id="53" name="Text 49"/>
          <p:cNvSpPr/>
          <p:nvPr/>
        </p:nvSpPr>
        <p:spPr>
          <a:xfrm>
            <a:off x="3657600" y="6607089"/>
            <a:ext cx="298094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 Quick Practice</a:t>
            </a:r>
            <a:endParaRPr lang="en-US" sz="850" dirty="0"/>
          </a:p>
        </p:txBody>
      </p:sp>
      <p:sp>
        <p:nvSpPr>
          <p:cNvPr id="54" name="Shape 50"/>
          <p:cNvSpPr/>
          <p:nvPr/>
        </p:nvSpPr>
        <p:spPr>
          <a:xfrm>
            <a:off x="3639312" y="6771681"/>
            <a:ext cx="2980944" cy="2902671"/>
          </a:xfrm>
          <a:prstGeom prst="rect">
            <a:avLst/>
          </a:prstGeom>
          <a:solidFill>
            <a:srgbClr val="E0F4F4"/>
          </a:solidFill>
          <a:ln w="12700">
            <a:solidFill>
              <a:srgbClr val="0D7C7B"/>
            </a:solidFill>
            <a:prstDash val="solid"/>
          </a:ln>
        </p:spPr>
      </p:sp>
      <p:graphicFrame>
        <p:nvGraphicFramePr>
          <p:cNvPr id="4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0" y="6799113"/>
          <a:ext cx="2944368" cy="914400"/>
        </p:xfrm>
        <a:graphic>
          <a:graphicData uri="http://schemas.openxmlformats.org/drawingml/2006/table">
            <a:tbl>
              <a:tblPr/>
              <a:tblGrid>
                <a:gridCol w="1472184"/>
                <a:gridCol w="1472184"/>
              </a:tblGrid>
              <a:tr h="62407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 I made breakfast _____. (myself)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F2E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5. They built the house _____. (themselves)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F2EC"/>
                    </a:solidFill>
                  </a:tcPr>
                </a:tc>
              </a:tr>
              <a:tr h="62407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 She taught _____ English. (herself)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A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6. He fixed the car _____. (himself)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AF5"/>
                    </a:solidFill>
                  </a:tcPr>
                </a:tc>
              </a:tr>
              <a:tr h="62407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 We painted the room _____. (ourselves)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F2E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7. Did you do it by _____? (yourself)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F2EC"/>
                    </a:solidFill>
                  </a:tcPr>
                </a:tc>
              </a:tr>
              <a:tr h="62407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 Help _____ to some food! (yourself)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A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8. I live by _____ in a small apartment. (myself)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AF5"/>
                    </a:solidFill>
                  </a:tcPr>
                </a:tc>
              </a:tr>
            </a:tbl>
          </a:graphicData>
        </a:graphic>
      </p:graphicFrame>
      <p:sp>
        <p:nvSpPr>
          <p:cNvPr id="56" name="Text 51"/>
          <p:cNvSpPr/>
          <p:nvPr/>
        </p:nvSpPr>
        <p:spPr>
          <a:xfrm>
            <a:off x="3666744" y="9341130"/>
            <a:ext cx="29260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b="1" dirty="0">
                <a:solidFill>
                  <a:srgbClr val="0D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🔑  Answers: 1-myself · 2-herself · 3-ourselves · 4-yourself · 5-themselves · 6-himself · 7-yourself · 8-myself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2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858000" cy="347472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50292" cy="347472"/>
          </a:xfrm>
          <a:prstGeom prst="rect">
            <a:avLst/>
          </a:prstGeom>
          <a:solidFill>
            <a:srgbClr val="F2C93A"/>
          </a:solidFill>
          <a:ln w="12700">
            <a:solidFill>
              <a:srgbClr val="F2C93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0584" y="0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2C9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Speak English in 90 Days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3657600" y="0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0AA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A2 · Book 2 · Дунд шат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577840" y="0"/>
            <a:ext cx="11704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F2C9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20-25 минут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0" y="347472"/>
            <a:ext cx="1335024" cy="237744"/>
          </a:xfrm>
          <a:prstGeom prst="rect">
            <a:avLst/>
          </a:prstGeom>
          <a:solidFill>
            <a:srgbClr val="F2C93A"/>
          </a:solidFill>
          <a:ln w="12700">
            <a:solidFill>
              <a:srgbClr val="F2C93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0" y="347472"/>
            <a:ext cx="13350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43 · ӨДӨР 43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1335024" y="347472"/>
            <a:ext cx="4498848" cy="237744"/>
          </a:xfrm>
          <a:prstGeom prst="rect">
            <a:avLst/>
          </a:prstGeom>
          <a:solidFill>
            <a:srgbClr val="1E7A4A"/>
          </a:solidFill>
          <a:ln w="12700">
            <a:solidFill>
              <a:srgbClr val="1E7A4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408176" y="347472"/>
            <a:ext cx="44256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Reading &amp; Speaking  ·  Унших ба Ярих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5833872" y="347472"/>
            <a:ext cx="1024128" cy="237744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760720" y="347472"/>
            <a:ext cx="104241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F2C9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📚 Page 2</a:t>
            </a:r>
            <a:endParaRPr lang="en-US" sz="750" dirty="0"/>
          </a:p>
        </p:txBody>
      </p:sp>
      <p:sp>
        <p:nvSpPr>
          <p:cNvPr id="13" name="Shape 11"/>
          <p:cNvSpPr/>
          <p:nvPr/>
        </p:nvSpPr>
        <p:spPr>
          <a:xfrm>
            <a:off x="0" y="9601200"/>
            <a:ext cx="6858000" cy="91440"/>
          </a:xfrm>
          <a:prstGeom prst="rect">
            <a:avLst/>
          </a:prstGeom>
          <a:solidFill>
            <a:srgbClr val="E4EEF6"/>
          </a:solidFill>
          <a:ln w="12700">
            <a:solidFill>
              <a:srgbClr val="E4EEF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0" y="9601200"/>
            <a:ext cx="685800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7A9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Speak English in 90 Days  ·  A2 Level  ·  Book 2</a:t>
            </a:r>
            <a:endParaRPr lang="en-US" sz="650" dirty="0"/>
          </a:p>
        </p:txBody>
      </p:sp>
      <p:sp>
        <p:nvSpPr>
          <p:cNvPr id="15" name="Shape 13"/>
          <p:cNvSpPr/>
          <p:nvPr/>
        </p:nvSpPr>
        <p:spPr>
          <a:xfrm>
            <a:off x="179222" y="627278"/>
            <a:ext cx="6528816" cy="1865376"/>
          </a:xfrm>
          <a:prstGeom prst="rect">
            <a:avLst/>
          </a:prstGeom>
          <a:solidFill>
            <a:srgbClr val="D0DCE8"/>
          </a:solidFill>
          <a:ln w="12700">
            <a:solidFill>
              <a:srgbClr val="D0DCE8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64592" y="612648"/>
            <a:ext cx="6528816" cy="1865376"/>
          </a:xfrm>
          <a:prstGeom prst="rect">
            <a:avLst/>
          </a:prstGeom>
          <a:solidFill>
            <a:srgbClr val="FFFFFF"/>
          </a:solidFill>
          <a:ln w="12700">
            <a:solidFill>
              <a:srgbClr val="C8D8E8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64592" y="612648"/>
            <a:ext cx="6528816" cy="256032"/>
          </a:xfrm>
          <a:prstGeom prst="rect">
            <a:avLst/>
          </a:prstGeom>
          <a:solidFill>
            <a:srgbClr val="1E7A4A"/>
          </a:solidFill>
          <a:ln w="12700">
            <a:solidFill>
              <a:srgbClr val="1E7A4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64592" y="868680"/>
            <a:ext cx="6528816" cy="146304"/>
          </a:xfrm>
          <a:prstGeom prst="rect">
            <a:avLst/>
          </a:prstGeom>
          <a:solidFill>
            <a:srgbClr val="E8F5EE"/>
          </a:solidFill>
          <a:ln w="12700">
            <a:solidFill>
              <a:srgbClr val="E8F5E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56032" y="612648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📖  Reading Passage / Унших дасгал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256032" y="877824"/>
            <a:ext cx="64008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3A5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Bold = today's vocab · Read aloud at least twice!</a:t>
            </a:r>
            <a:endParaRPr lang="en-US" sz="750" dirty="0"/>
          </a:p>
        </p:txBody>
      </p:sp>
      <p:sp>
        <p:nvSpPr>
          <p:cNvPr id="21" name="Shape 19"/>
          <p:cNvSpPr/>
          <p:nvPr/>
        </p:nvSpPr>
        <p:spPr>
          <a:xfrm>
            <a:off x="237744" y="1033272"/>
            <a:ext cx="6382512" cy="1380744"/>
          </a:xfrm>
          <a:prstGeom prst="rect">
            <a:avLst/>
          </a:prstGeom>
          <a:solidFill>
            <a:srgbClr val="EBF5F0"/>
          </a:solidFill>
          <a:ln w="12700">
            <a:solidFill>
              <a:srgbClr val="1E7A4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10896" y="1069848"/>
            <a:ext cx="6236208" cy="1298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55000"/>
              </a:lnSpc>
              <a:buNone/>
            </a:pPr>
            <a:r>
              <a:rPr lang="en-US" sz="950" b="1" dirty="0">
                <a:solidFill>
                  <a:srgbClr val="5A3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Bat has a very strict morning routine. </a:t>
            </a:r>
            <a:pPr indent="0" marL="0">
              <a:lnSpc>
                <a:spcPct val="155000"/>
              </a:lnSpc>
              <a:buNone/>
            </a:pPr>
            <a:r>
              <a:rPr lang="en-US" sz="950" dirty="0">
                <a:solidFill>
                  <a:srgbClr val="1A2A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Every day, he wakes up at 6:30 AM by </a:t>
            </a:r>
            <a:pPr indent="0" marL="0">
              <a:lnSpc>
                <a:spcPct val="155000"/>
              </a:lnSpc>
              <a:buNone/>
            </a:pPr>
            <a:r>
              <a:rPr lang="en-US" sz="950" b="1" dirty="0">
                <a:solidFill>
                  <a:srgbClr val="2E6DA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himself</a:t>
            </a:r>
            <a:pPr indent="0" marL="0">
              <a:lnSpc>
                <a:spcPct val="155000"/>
              </a:lnSpc>
              <a:buNone/>
            </a:pPr>
            <a:r>
              <a:rPr lang="en-US" sz="950" dirty="0">
                <a:solidFill>
                  <a:srgbClr val="1A2A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— no alarm needed! He makes his bed </a:t>
            </a:r>
            <a:pPr indent="0" marL="0">
              <a:lnSpc>
                <a:spcPct val="155000"/>
              </a:lnSpc>
              <a:buNone/>
            </a:pPr>
            <a:r>
              <a:rPr lang="en-US" sz="950" b="1" dirty="0">
                <a:solidFill>
                  <a:srgbClr val="2E6DA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himself</a:t>
            </a:r>
            <a:pPr indent="0" marL="0">
              <a:lnSpc>
                <a:spcPct val="155000"/>
              </a:lnSpc>
              <a:buNone/>
            </a:pPr>
            <a:r>
              <a:rPr lang="en-US" sz="950" dirty="0">
                <a:solidFill>
                  <a:srgbClr val="1A2A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, then takes a cold shower. He prepares his breakfast </a:t>
            </a:r>
            <a:pPr indent="0" marL="0">
              <a:lnSpc>
                <a:spcPct val="155000"/>
              </a:lnSpc>
              <a:buNone/>
            </a:pPr>
            <a:r>
              <a:rPr lang="en-US" sz="950" b="1" dirty="0">
                <a:solidFill>
                  <a:srgbClr val="2E6DA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himself</a:t>
            </a:r>
            <a:pPr indent="0" marL="0">
              <a:lnSpc>
                <a:spcPct val="155000"/>
              </a:lnSpc>
              <a:buNone/>
            </a:pPr>
            <a:r>
              <a:rPr lang="en-US" sz="950" dirty="0">
                <a:solidFill>
                  <a:srgbClr val="1A2A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— usually eggs and tea. He says: "I taught </a:t>
            </a:r>
            <a:pPr indent="0" marL="0">
              <a:lnSpc>
                <a:spcPct val="155000"/>
              </a:lnSpc>
              <a:buNone/>
            </a:pPr>
            <a:r>
              <a:rPr lang="en-US" sz="950" b="1" dirty="0">
                <a:solidFill>
                  <a:srgbClr val="2E6DA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myself</a:t>
            </a:r>
            <a:pPr indent="0" marL="0">
              <a:lnSpc>
                <a:spcPct val="155000"/>
              </a:lnSpc>
              <a:buNone/>
            </a:pPr>
            <a:r>
              <a:rPr lang="en-US" sz="950" dirty="0">
                <a:solidFill>
                  <a:srgbClr val="1A2A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to wake up early. Nobody forced me." Sarnai, on the other hand, cannot wake up by </a:t>
            </a:r>
            <a:pPr indent="0" marL="0">
              <a:lnSpc>
                <a:spcPct val="155000"/>
              </a:lnSpc>
              <a:buNone/>
            </a:pPr>
            <a:r>
              <a:rPr lang="en-US" sz="950" b="1" dirty="0">
                <a:solidFill>
                  <a:srgbClr val="2E6DA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herself</a:t>
            </a:r>
            <a:pPr indent="0" marL="0">
              <a:lnSpc>
                <a:spcPct val="155000"/>
              </a:lnSpc>
              <a:buNone/>
            </a:pPr>
            <a:r>
              <a:rPr lang="en-US" sz="950" dirty="0">
                <a:solidFill>
                  <a:srgbClr val="1A2A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easily. She needs three alarms! But once she is up, she gets ready quickly. She tells herself: "You can do this by </a:t>
            </a:r>
            <a:pPr indent="0" marL="0">
              <a:lnSpc>
                <a:spcPct val="155000"/>
              </a:lnSpc>
              <a:buNone/>
            </a:pPr>
            <a:r>
              <a:rPr lang="en-US" sz="950" b="1" dirty="0">
                <a:solidFill>
                  <a:srgbClr val="2E6DA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yourself</a:t>
            </a:r>
            <a:pPr indent="0" marL="0">
              <a:lnSpc>
                <a:spcPct val="155000"/>
              </a:lnSpc>
              <a:buNone/>
            </a:pPr>
            <a:r>
              <a:rPr lang="en-US" sz="950" dirty="0">
                <a:solidFill>
                  <a:srgbClr val="1A2A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!" Both students agree: a good morning routine is the key to a successful day.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179222" y="2565806"/>
            <a:ext cx="3218688" cy="1828800"/>
          </a:xfrm>
          <a:prstGeom prst="rect">
            <a:avLst/>
          </a:prstGeom>
          <a:solidFill>
            <a:srgbClr val="D0DCE8"/>
          </a:solidFill>
          <a:ln w="12700">
            <a:solidFill>
              <a:srgbClr val="D0DCE8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64592" y="2551176"/>
            <a:ext cx="3218688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C8D8E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64592" y="2551176"/>
            <a:ext cx="3218688" cy="256032"/>
          </a:xfrm>
          <a:prstGeom prst="rect">
            <a:avLst/>
          </a:prstGeom>
          <a:solidFill>
            <a:srgbClr val="C97A0A"/>
          </a:solidFill>
          <a:ln w="12700">
            <a:solidFill>
              <a:srgbClr val="C97A0A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164592" y="2807208"/>
            <a:ext cx="3218688" cy="146304"/>
          </a:xfrm>
          <a:prstGeom prst="rect">
            <a:avLst/>
          </a:prstGeom>
          <a:solidFill>
            <a:srgbClr val="FEF3DC"/>
          </a:solidFill>
          <a:ln w="12700">
            <a:solidFill>
              <a:srgbClr val="FEF3DC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56032" y="2551176"/>
            <a:ext cx="30906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🔑  Key Phrases &amp; Translation / Гол хэллэг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256032" y="2816352"/>
            <a:ext cx="309067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3A5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Цээжил! · Memorize these phrases</a:t>
            </a:r>
            <a:endParaRPr lang="en-US" sz="75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19456" y="2971800"/>
          <a:ext cx="3108960" cy="914400"/>
        </p:xfrm>
        <a:graphic>
          <a:graphicData uri="http://schemas.openxmlformats.org/drawingml/2006/table">
            <a:tbl>
              <a:tblPr/>
              <a:tblGrid>
                <a:gridCol w="1057046"/>
                <a:gridCol w="1057046"/>
                <a:gridCol w="994867"/>
              </a:tblGrid>
              <a:tr h="1965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English Phrase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97A0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Mongolian / Монгол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97A0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Grammar Note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97A0A"/>
                    </a:solidFill>
                  </a:tcPr>
                </a:tc>
              </a:tr>
              <a:tr h="1965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2E6DA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 made breakfast myself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Би өглөөний хоолоо өөрөө хийсэн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myself = emphasis (alone)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</a:tr>
              <a:tr h="1965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2E6DA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She taught herself English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Тэр өөрөө англи хэл сурсан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herself = same person as subject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965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2E6DA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He can't do it by himself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Тэр ганцаараа хийж чадахгүй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by himself = alone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</a:tr>
              <a:tr h="1965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2E6DA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Help yourself to some food!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Хоол авч ид — дараагаа бүү ор!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help yourself = please take some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965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2E6DA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Enjoy yourself tonight!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Өнөөдөр сайхан хөгжилд!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enjoy yourself = have fun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</a:tr>
              <a:tr h="1965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2E6DA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 live by myself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Би ганцаараа амьдардаг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by myself = alone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0" name="Shape 27"/>
          <p:cNvSpPr/>
          <p:nvPr/>
        </p:nvSpPr>
        <p:spPr>
          <a:xfrm>
            <a:off x="3489350" y="2565806"/>
            <a:ext cx="3218688" cy="1828800"/>
          </a:xfrm>
          <a:prstGeom prst="rect">
            <a:avLst/>
          </a:prstGeom>
          <a:solidFill>
            <a:srgbClr val="D0DCE8"/>
          </a:solidFill>
          <a:ln w="12700">
            <a:solidFill>
              <a:srgbClr val="D0DCE8"/>
            </a:solidFill>
            <a:prstDash val="solid"/>
          </a:ln>
        </p:spPr>
      </p:sp>
      <p:sp>
        <p:nvSpPr>
          <p:cNvPr id="31" name="Shape 28"/>
          <p:cNvSpPr/>
          <p:nvPr/>
        </p:nvSpPr>
        <p:spPr>
          <a:xfrm>
            <a:off x="3474720" y="2551176"/>
            <a:ext cx="3218688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C8D8E8"/>
            </a:solidFill>
            <a:prstDash val="solid"/>
          </a:ln>
        </p:spPr>
      </p:sp>
      <p:sp>
        <p:nvSpPr>
          <p:cNvPr id="32" name="Shape 29"/>
          <p:cNvSpPr/>
          <p:nvPr/>
        </p:nvSpPr>
        <p:spPr>
          <a:xfrm>
            <a:off x="3474720" y="2551176"/>
            <a:ext cx="3218688" cy="256032"/>
          </a:xfrm>
          <a:prstGeom prst="rect">
            <a:avLst/>
          </a:prstGeom>
          <a:solidFill>
            <a:srgbClr val="0D7C7B"/>
          </a:solidFill>
          <a:ln w="12700">
            <a:solidFill>
              <a:srgbClr val="0D7C7B"/>
            </a:solidFill>
            <a:prstDash val="solid"/>
          </a:ln>
        </p:spPr>
      </p:sp>
      <p:sp>
        <p:nvSpPr>
          <p:cNvPr id="33" name="Shape 30"/>
          <p:cNvSpPr/>
          <p:nvPr/>
        </p:nvSpPr>
        <p:spPr>
          <a:xfrm>
            <a:off x="3474720" y="2807208"/>
            <a:ext cx="3218688" cy="146304"/>
          </a:xfrm>
          <a:prstGeom prst="rect">
            <a:avLst/>
          </a:prstGeom>
          <a:solidFill>
            <a:srgbClr val="E0F4F4"/>
          </a:solidFill>
          <a:ln w="12700">
            <a:solidFill>
              <a:srgbClr val="E0F4F4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3566160" y="2551176"/>
            <a:ext cx="30906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🗣️  Speaking Practice / Ярих дасгал</a:t>
            </a:r>
            <a:endParaRPr lang="en-US" sz="1050" dirty="0"/>
          </a:p>
        </p:txBody>
      </p:sp>
      <p:sp>
        <p:nvSpPr>
          <p:cNvPr id="35" name="Text 32"/>
          <p:cNvSpPr/>
          <p:nvPr/>
        </p:nvSpPr>
        <p:spPr>
          <a:xfrm>
            <a:off x="3566160" y="2816352"/>
            <a:ext cx="309067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3A5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 OUT LOUD — don't write, just speak!</a:t>
            </a:r>
            <a:endParaRPr lang="en-US" sz="750" dirty="0"/>
          </a:p>
        </p:txBody>
      </p:sp>
      <p:sp>
        <p:nvSpPr>
          <p:cNvPr id="36" name="Text 33"/>
          <p:cNvSpPr/>
          <p:nvPr/>
        </p:nvSpPr>
        <p:spPr>
          <a:xfrm>
            <a:off x="3557016" y="2971800"/>
            <a:ext cx="3072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800" b="1" dirty="0">
                <a:solidFill>
                  <a:srgbClr val="0D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 OUT LOUD in English — do not write, just speak!
</a:t>
            </a:r>
            <a:pPr indent="0" marL="0">
              <a:lnSpc>
                <a:spcPct val="120000"/>
              </a:lnSpc>
              <a:buNone/>
            </a:pPr>
            <a:r>
              <a:rPr lang="en-US" sz="750" i="1" dirty="0">
                <a:solidFill>
                  <a:srgbClr val="3A5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Англиар ЧАНГААР хариулаарай — бичихгүй, зөвхөн ярь!</a:t>
            </a:r>
            <a:endParaRPr lang="en-US" sz="800" dirty="0"/>
          </a:p>
        </p:txBody>
      </p:sp>
      <p:graphicFrame>
        <p:nvGraphicFramePr>
          <p:cNvPr id="5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529584" y="3264408"/>
          <a:ext cx="3108960" cy="914400"/>
        </p:xfrm>
        <a:graphic>
          <a:graphicData uri="http://schemas.openxmlformats.org/drawingml/2006/table">
            <a:tbl>
              <a:tblPr/>
              <a:tblGrid>
                <a:gridCol w="3108960"/>
              </a:tblGrid>
              <a:tr h="1691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  What do you do every morning? Describe your routine.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</a:tr>
              <a:tr h="1691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2E6DA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  Do you make your own breakfast, or does someone make it for you?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691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  Can you teach yourself new skills? What have you taught yourself?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</a:tr>
              <a:tr h="1691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2E6DA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  Do you live by yourself or with your family?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691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5.  What is the most important thing to do in the morning?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</a:tr>
              <a:tr h="1691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2E6DA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6.  How do you motivate yourself to get up early?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8" name="Shape 34"/>
          <p:cNvSpPr/>
          <p:nvPr/>
        </p:nvSpPr>
        <p:spPr>
          <a:xfrm>
            <a:off x="179222" y="4467758"/>
            <a:ext cx="6528816" cy="5111496"/>
          </a:xfrm>
          <a:prstGeom prst="rect">
            <a:avLst/>
          </a:prstGeom>
          <a:solidFill>
            <a:srgbClr val="D0DCE8"/>
          </a:solidFill>
          <a:ln w="12700">
            <a:solidFill>
              <a:srgbClr val="D0DCE8"/>
            </a:solidFill>
            <a:prstDash val="solid"/>
          </a:ln>
        </p:spPr>
      </p:sp>
      <p:sp>
        <p:nvSpPr>
          <p:cNvPr id="39" name="Shape 35"/>
          <p:cNvSpPr/>
          <p:nvPr/>
        </p:nvSpPr>
        <p:spPr>
          <a:xfrm>
            <a:off x="164592" y="4453128"/>
            <a:ext cx="6528816" cy="5111496"/>
          </a:xfrm>
          <a:prstGeom prst="rect">
            <a:avLst/>
          </a:prstGeom>
          <a:solidFill>
            <a:srgbClr val="FFFFFF"/>
          </a:solidFill>
          <a:ln w="12700">
            <a:solidFill>
              <a:srgbClr val="C8D8E8"/>
            </a:solidFill>
            <a:prstDash val="solid"/>
          </a:ln>
        </p:spPr>
      </p:sp>
      <p:sp>
        <p:nvSpPr>
          <p:cNvPr id="40" name="Shape 36"/>
          <p:cNvSpPr/>
          <p:nvPr/>
        </p:nvSpPr>
        <p:spPr>
          <a:xfrm>
            <a:off x="164592" y="4453128"/>
            <a:ext cx="6528816" cy="256032"/>
          </a:xfrm>
          <a:prstGeom prst="rect">
            <a:avLst/>
          </a:prstGeom>
          <a:solidFill>
            <a:srgbClr val="6B3FA0"/>
          </a:solidFill>
          <a:ln w="12700">
            <a:solidFill>
              <a:srgbClr val="6B3FA0"/>
            </a:solidFill>
            <a:prstDash val="solid"/>
          </a:ln>
        </p:spPr>
      </p:sp>
      <p:sp>
        <p:nvSpPr>
          <p:cNvPr id="41" name="Shape 37"/>
          <p:cNvSpPr/>
          <p:nvPr/>
        </p:nvSpPr>
        <p:spPr>
          <a:xfrm>
            <a:off x="164592" y="4709160"/>
            <a:ext cx="6528816" cy="146304"/>
          </a:xfrm>
          <a:prstGeom prst="rect">
            <a:avLst/>
          </a:prstGeom>
          <a:solidFill>
            <a:srgbClr val="F0EAFA"/>
          </a:solidFill>
          <a:ln w="12700">
            <a:solidFill>
              <a:srgbClr val="F0EAFA"/>
            </a:solidFill>
            <a:prstDash val="solid"/>
          </a:ln>
        </p:spPr>
      </p:sp>
      <p:sp>
        <p:nvSpPr>
          <p:cNvPr id="42" name="Text 38"/>
          <p:cNvSpPr/>
          <p:nvPr/>
        </p:nvSpPr>
        <p:spPr>
          <a:xfrm>
            <a:off x="256032" y="4453128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💬  Role Play / Дүрд тоглох</a:t>
            </a:r>
            <a:endParaRPr lang="en-US" sz="1050" dirty="0"/>
          </a:p>
        </p:txBody>
      </p:sp>
      <p:sp>
        <p:nvSpPr>
          <p:cNvPr id="43" name="Text 39"/>
          <p:cNvSpPr/>
          <p:nvPr/>
        </p:nvSpPr>
        <p:spPr>
          <a:xfrm>
            <a:off x="256032" y="4718304"/>
            <a:ext cx="64008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3A5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Найзтайгаа дадлагал · Repeat until it sounds natural!</a:t>
            </a:r>
            <a:endParaRPr lang="en-US" sz="750" dirty="0"/>
          </a:p>
        </p:txBody>
      </p:sp>
      <p:graphicFrame>
        <p:nvGraphicFramePr>
          <p:cNvPr id="7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37744" y="4873752"/>
          <a:ext cx="6382512" cy="914400"/>
        </p:xfrm>
        <a:graphic>
          <a:graphicData uri="http://schemas.openxmlformats.org/drawingml/2006/table">
            <a:tbl>
              <a:tblPr/>
              <a:tblGrid>
                <a:gridCol w="3191256"/>
                <a:gridCol w="3191256"/>
              </a:tblGrid>
              <a:tr h="7482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2E6DA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A:  What time do you wake up every morning?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E7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B:  I wake up at 6:30 — by myself, no alarm!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</a:tr>
              <a:tr h="7482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A:  Really? How do you manage that?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B:  I taught myself to wake up early. It took weeks!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482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A:  What do you do first when you get up?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B:  I wash my face, then make breakfast myself.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</a:tr>
              <a:tr h="7482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A:  Do you make your own lunch too?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B:  Yes! I prepare everything myself the night before.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482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A:  That's very independent!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B:  Thank you! My mother says 'do things yourself'.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</a:tr>
              <a:tr h="7482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A:  Good advice. Enjoy yourself this weekend!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B:  Thank you! You enjoy yourself too!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5" name="Shape 40"/>
          <p:cNvSpPr/>
          <p:nvPr/>
        </p:nvSpPr>
        <p:spPr>
          <a:xfrm>
            <a:off x="237744" y="9381744"/>
            <a:ext cx="6382512" cy="146304"/>
          </a:xfrm>
          <a:prstGeom prst="rect">
            <a:avLst/>
          </a:prstGeom>
          <a:solidFill>
            <a:srgbClr val="FEF3DC"/>
          </a:solidFill>
          <a:ln w="12700">
            <a:solidFill>
              <a:srgbClr val="C97A0A"/>
            </a:solidFill>
            <a:prstDash val="solid"/>
          </a:ln>
        </p:spPr>
      </p:sp>
      <p:sp>
        <p:nvSpPr>
          <p:cNvPr id="46" name="Text 41"/>
          <p:cNvSpPr/>
          <p:nvPr/>
        </p:nvSpPr>
        <p:spPr>
          <a:xfrm>
            <a:off x="292608" y="9390888"/>
            <a:ext cx="627278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C97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🌟  A2 Tip: Give longer, connected answers! 'I usually wake up at 7, then I wash myself, after that I eat breakfast because...'  ·  Урт, холбоотой хариулт өгч сурцгаая!</a:t>
            </a:r>
            <a:endParaRPr lang="en-US" sz="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2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858000" cy="347472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50292" cy="347472"/>
          </a:xfrm>
          <a:prstGeom prst="rect">
            <a:avLst/>
          </a:prstGeom>
          <a:solidFill>
            <a:srgbClr val="F2C93A"/>
          </a:solidFill>
          <a:ln w="12700">
            <a:solidFill>
              <a:srgbClr val="F2C93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0584" y="0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2C9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Speak English in 90 Days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3657600" y="0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0AA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A2 · Book 2 · Дунд шат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577840" y="0"/>
            <a:ext cx="11704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F2C9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15-20 минут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0" y="347472"/>
            <a:ext cx="1335024" cy="237744"/>
          </a:xfrm>
          <a:prstGeom prst="rect">
            <a:avLst/>
          </a:prstGeom>
          <a:solidFill>
            <a:srgbClr val="F2C93A"/>
          </a:solidFill>
          <a:ln w="12700">
            <a:solidFill>
              <a:srgbClr val="F2C93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0" y="347472"/>
            <a:ext cx="13350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43 · ӨДӨР 43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1335024" y="347472"/>
            <a:ext cx="4498848" cy="237744"/>
          </a:xfrm>
          <a:prstGeom prst="rect">
            <a:avLst/>
          </a:prstGeom>
          <a:solidFill>
            <a:srgbClr val="6B3FA0"/>
          </a:solidFill>
          <a:ln w="12700">
            <a:solidFill>
              <a:srgbClr val="6B3FA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408176" y="347472"/>
            <a:ext cx="44256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Listening · Practice · Homework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5833872" y="347472"/>
            <a:ext cx="1024128" cy="237744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760720" y="347472"/>
            <a:ext cx="104241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F2C9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🎧 Page 3</a:t>
            </a:r>
            <a:endParaRPr lang="en-US" sz="750" dirty="0"/>
          </a:p>
        </p:txBody>
      </p:sp>
      <p:sp>
        <p:nvSpPr>
          <p:cNvPr id="13" name="Shape 11"/>
          <p:cNvSpPr/>
          <p:nvPr/>
        </p:nvSpPr>
        <p:spPr>
          <a:xfrm>
            <a:off x="0" y="9601200"/>
            <a:ext cx="6858000" cy="91440"/>
          </a:xfrm>
          <a:prstGeom prst="rect">
            <a:avLst/>
          </a:prstGeom>
          <a:solidFill>
            <a:srgbClr val="E4EEF6"/>
          </a:solidFill>
          <a:ln w="12700">
            <a:solidFill>
              <a:srgbClr val="E4EEF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0" y="9601200"/>
            <a:ext cx="685800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7A9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Speak English in 90 Days  ·  A2 Level  ·  Book 2</a:t>
            </a:r>
            <a:endParaRPr lang="en-US" sz="650" dirty="0"/>
          </a:p>
        </p:txBody>
      </p:sp>
      <p:sp>
        <p:nvSpPr>
          <p:cNvPr id="15" name="Shape 13"/>
          <p:cNvSpPr/>
          <p:nvPr/>
        </p:nvSpPr>
        <p:spPr>
          <a:xfrm>
            <a:off x="179222" y="627278"/>
            <a:ext cx="6528816" cy="1956816"/>
          </a:xfrm>
          <a:prstGeom prst="rect">
            <a:avLst/>
          </a:prstGeom>
          <a:solidFill>
            <a:srgbClr val="D0DCE8"/>
          </a:solidFill>
          <a:ln w="12700">
            <a:solidFill>
              <a:srgbClr val="D0DCE8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64592" y="612648"/>
            <a:ext cx="6528816" cy="1956816"/>
          </a:xfrm>
          <a:prstGeom prst="rect">
            <a:avLst/>
          </a:prstGeom>
          <a:solidFill>
            <a:srgbClr val="FFFFFF"/>
          </a:solidFill>
          <a:ln w="12700">
            <a:solidFill>
              <a:srgbClr val="C8D8E8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64592" y="612648"/>
            <a:ext cx="6528816" cy="256032"/>
          </a:xfrm>
          <a:prstGeom prst="rect">
            <a:avLst/>
          </a:prstGeom>
          <a:solidFill>
            <a:srgbClr val="6B3FA0"/>
          </a:solidFill>
          <a:ln w="12700">
            <a:solidFill>
              <a:srgbClr val="6B3FA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64592" y="868680"/>
            <a:ext cx="6528816" cy="146304"/>
          </a:xfrm>
          <a:prstGeom prst="rect">
            <a:avLst/>
          </a:prstGeom>
          <a:solidFill>
            <a:srgbClr val="F0EAFA"/>
          </a:solidFill>
          <a:ln w="12700">
            <a:solidFill>
              <a:srgbClr val="F0EAF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56032" y="612648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🎧  Listening Script / Сонсох текст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256032" y="877824"/>
            <a:ext cx="64008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3A5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 10 questions WITHOUT looking at the text!</a:t>
            </a:r>
            <a:endParaRPr lang="en-US" sz="750" dirty="0"/>
          </a:p>
        </p:txBody>
      </p:sp>
      <p:sp>
        <p:nvSpPr>
          <p:cNvPr id="21" name="Shape 19"/>
          <p:cNvSpPr/>
          <p:nvPr/>
        </p:nvSpPr>
        <p:spPr>
          <a:xfrm>
            <a:off x="237744" y="1033272"/>
            <a:ext cx="6382512" cy="1481328"/>
          </a:xfrm>
          <a:prstGeom prst="rect">
            <a:avLst/>
          </a:prstGeom>
          <a:solidFill>
            <a:srgbClr val="F4F8FC"/>
          </a:solidFill>
          <a:ln w="12700">
            <a:solidFill>
              <a:srgbClr val="2E6DA4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92608" y="1069848"/>
            <a:ext cx="6272784" cy="14081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850" b="1" dirty="0">
                <a:solidFill>
                  <a:srgbClr val="6B3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Teacher: </a:t>
            </a:r>
            <a:pPr indent="0" marL="0">
              <a:lnSpc>
                <a:spcPct val="150000"/>
              </a:lnSpc>
              <a:buNone/>
            </a:pPr>
            <a:r>
              <a:rPr lang="en-US" sz="85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 we learn reflexive pronouns. Bat, do you make your own breakfast?  </a:t>
            </a:r>
            <a:pPr indent="0" marL="0">
              <a:lnSpc>
                <a:spcPct val="150000"/>
              </a:lnSpc>
              <a:buNone/>
            </a:pPr>
            <a:r>
              <a:rPr lang="en-US" sz="850" b="1" dirty="0">
                <a:solidFill>
                  <a:srgbClr val="2E6D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Bat: </a:t>
            </a:r>
            <a:pPr indent="0" marL="0">
              <a:lnSpc>
                <a:spcPct val="150000"/>
              </a:lnSpc>
              <a:buNone/>
            </a:pPr>
            <a:r>
              <a:rPr lang="en-US" sz="85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Yes! I make breakfast myself every morning. Usually eggs and tea.  </a:t>
            </a:r>
            <a:pPr indent="0" marL="0">
              <a:lnSpc>
                <a:spcPct val="150000"/>
              </a:lnSpc>
              <a:buNone/>
            </a:pPr>
            <a:r>
              <a:rPr lang="en-US" sz="850" b="1" dirty="0">
                <a:solidFill>
                  <a:srgbClr val="6B3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Teacher: </a:t>
            </a:r>
            <a:pPr indent="0" marL="0">
              <a:lnSpc>
                <a:spcPct val="150000"/>
              </a:lnSpc>
              <a:buNone/>
            </a:pPr>
            <a:r>
              <a:rPr lang="en-US" sz="85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Excellent! Did you teach yourself to cook, or did someone help you?  </a:t>
            </a:r>
            <a:pPr indent="0" marL="0">
              <a:lnSpc>
                <a:spcPct val="150000"/>
              </a:lnSpc>
              <a:buNone/>
            </a:pPr>
            <a:r>
              <a:rPr lang="en-US" sz="850" b="1" dirty="0">
                <a:solidFill>
                  <a:srgbClr val="2E6D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Bat: </a:t>
            </a:r>
            <a:pPr indent="0" marL="0">
              <a:lnSpc>
                <a:spcPct val="150000"/>
              </a:lnSpc>
              <a:buNone/>
            </a:pPr>
            <a:r>
              <a:rPr lang="en-US" sz="85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taught myself! I watched videos and practised by myself.  </a:t>
            </a:r>
            <a:pPr indent="0" marL="0">
              <a:lnSpc>
                <a:spcPct val="150000"/>
              </a:lnSpc>
              <a:buNone/>
            </a:pPr>
            <a:r>
              <a:rPr lang="en-US" sz="850" b="1" dirty="0">
                <a:solidFill>
                  <a:srgbClr val="6B3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Teacher: </a:t>
            </a:r>
            <a:pPr indent="0" marL="0">
              <a:lnSpc>
                <a:spcPct val="150000"/>
              </a:lnSpc>
              <a:buNone/>
            </a:pPr>
            <a:r>
              <a:rPr lang="en-US" sz="85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Sarnai, what about you? Do you get ready by yourself in the morning?  </a:t>
            </a:r>
            <a:pPr indent="0" marL="0">
              <a:lnSpc>
                <a:spcPct val="150000"/>
              </a:lnSpc>
              <a:buNone/>
            </a:pPr>
            <a:r>
              <a:rPr lang="en-US" sz="850" b="1" dirty="0">
                <a:solidFill>
                  <a:srgbClr val="C97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Sarnai: </a:t>
            </a:r>
            <a:pPr indent="0" marL="0">
              <a:lnSpc>
                <a:spcPct val="150000"/>
              </a:lnSpc>
              <a:buNone/>
            </a:pPr>
            <a:r>
              <a:rPr lang="en-US" sz="85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Yes, I do everything myself — shower, get dressed, make my bag. My parents don't help me anymore.  </a:t>
            </a:r>
            <a:pPr indent="0" marL="0">
              <a:lnSpc>
                <a:spcPct val="150000"/>
              </a:lnSpc>
              <a:buNone/>
            </a:pPr>
            <a:r>
              <a:rPr lang="en-US" sz="850" b="1" dirty="0">
                <a:solidFill>
                  <a:srgbClr val="6B3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Teacher: </a:t>
            </a:r>
            <a:pPr indent="0" marL="0">
              <a:lnSpc>
                <a:spcPct val="150000"/>
              </a:lnSpc>
              <a:buNone/>
            </a:pPr>
            <a:r>
              <a:rPr lang="en-US" sz="85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Very independent! Can you do your homework by yourself now, without help?  </a:t>
            </a:r>
            <a:pPr indent="0" marL="0">
              <a:lnSpc>
                <a:spcPct val="150000"/>
              </a:lnSpc>
              <a:buNone/>
            </a:pPr>
            <a:r>
              <a:rPr lang="en-US" sz="850" b="1" dirty="0">
                <a:solidFill>
                  <a:srgbClr val="C97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Sarnai: </a:t>
            </a:r>
            <a:pPr indent="0" marL="0">
              <a:lnSpc>
                <a:spcPct val="150000"/>
              </a:lnSpc>
              <a:buNone/>
            </a:pPr>
            <a:r>
              <a:rPr lang="en-US" sz="85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of it yes! But sometimes I ask Bat. We help each other, not just ourselves!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179222" y="2657246"/>
            <a:ext cx="3218688" cy="3200400"/>
          </a:xfrm>
          <a:prstGeom prst="rect">
            <a:avLst/>
          </a:prstGeom>
          <a:solidFill>
            <a:srgbClr val="D0DCE8"/>
          </a:solidFill>
          <a:ln w="12700">
            <a:solidFill>
              <a:srgbClr val="D0DCE8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64592" y="2642616"/>
            <a:ext cx="3218688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C8D8E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64592" y="2642616"/>
            <a:ext cx="3218688" cy="256032"/>
          </a:xfrm>
          <a:prstGeom prst="rect">
            <a:avLst/>
          </a:prstGeom>
          <a:solidFill>
            <a:srgbClr val="2E6DA4"/>
          </a:solidFill>
          <a:ln w="12700">
            <a:solidFill>
              <a:srgbClr val="2E6DA4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164592" y="2898648"/>
            <a:ext cx="3218688" cy="146304"/>
          </a:xfrm>
          <a:prstGeom prst="rect">
            <a:avLst/>
          </a:prstGeom>
          <a:solidFill>
            <a:srgbClr val="EBF4FB"/>
          </a:solidFill>
          <a:ln w="12700">
            <a:solidFill>
              <a:srgbClr val="EBF4F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56032" y="2642616"/>
            <a:ext cx="30906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❓  Comprehension Questions (10)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256032" y="2907792"/>
            <a:ext cx="309067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3A5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 the best answer.</a:t>
            </a:r>
            <a:endParaRPr lang="en-US" sz="75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28600" y="3063240"/>
          <a:ext cx="3090672" cy="914400"/>
        </p:xfrm>
        <a:graphic>
          <a:graphicData uri="http://schemas.openxmlformats.org/drawingml/2006/table">
            <a:tbl>
              <a:tblPr/>
              <a:tblGrid>
                <a:gridCol w="247254"/>
                <a:gridCol w="1236269"/>
                <a:gridCol w="1607149"/>
              </a:tblGrid>
              <a:tr h="27889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2E6DA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80" b="1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Does Bat make his own breakfast?</a:t>
                      </a:r>
                      <a:endParaRPr lang="en-US" sz="7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a) no, his mother makes it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b) sometimes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c) yes, himself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</a:tr>
              <a:tr h="27889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2E6DA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80" b="1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How did Bat learn to cook?</a:t>
                      </a:r>
                      <a:endParaRPr lang="en-US" sz="7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a) his mother taught him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b) he took classes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c) he taught himself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889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2E6DA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80" b="1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How did Bat learn — with help or alone?</a:t>
                      </a:r>
                      <a:endParaRPr lang="en-US" sz="7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a) with a friend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b) by himself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c) with his father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</a:tr>
              <a:tr h="27889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2E6DA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80" b="1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Does Sarnai get ready by herself?</a:t>
                      </a:r>
                      <a:endParaRPr lang="en-US" sz="7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a) no, her parents help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b) yes, everything herself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c) sometimes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889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2E6DA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5.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80" b="1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does Sarnai do in the morning?</a:t>
                      </a:r>
                      <a:endParaRPr lang="en-US" sz="7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a) only gets dressed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b) shower, dress, pack bag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c) just eats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</a:tr>
              <a:tr h="27889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2E6DA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6.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80" b="1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 Sarnai's parents still help her?</a:t>
                      </a:r>
                      <a:endParaRPr lang="en-US" sz="7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a) yes, always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b) sometimes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c) not anymore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889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2E6DA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7.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80" b="1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Can Sarnai do all homework by herself?</a:t>
                      </a:r>
                      <a:endParaRPr lang="en-US" sz="7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a) none of it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b) most of it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c) all of it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</a:tr>
              <a:tr h="27889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2E6DA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8.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80" b="1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Who helps Sarnai with some homework?</a:t>
                      </a:r>
                      <a:endParaRPr lang="en-US" sz="7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a) her teacher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b) her parents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c) Bat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889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2E6DA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9.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80" b="1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'by myself' means...</a:t>
                      </a:r>
                      <a:endParaRPr lang="en-US" sz="7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a) with someone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b) at home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c) alone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</a:tr>
              <a:tr h="27889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2E6DA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10.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80" b="1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'I hurt myself' — why use 'myself'?</a:t>
                      </a:r>
                      <a:endParaRPr lang="en-US" sz="7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a) for emphasis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b) subject &amp; object are same person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c) it sounds polite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0" name="Shape 27"/>
          <p:cNvSpPr/>
          <p:nvPr/>
        </p:nvSpPr>
        <p:spPr>
          <a:xfrm>
            <a:off x="3489350" y="2657246"/>
            <a:ext cx="3218688" cy="3200400"/>
          </a:xfrm>
          <a:prstGeom prst="rect">
            <a:avLst/>
          </a:prstGeom>
          <a:solidFill>
            <a:srgbClr val="D0DCE8"/>
          </a:solidFill>
          <a:ln w="12700">
            <a:solidFill>
              <a:srgbClr val="D0DCE8"/>
            </a:solidFill>
            <a:prstDash val="solid"/>
          </a:ln>
        </p:spPr>
      </p:sp>
      <p:sp>
        <p:nvSpPr>
          <p:cNvPr id="31" name="Shape 28"/>
          <p:cNvSpPr/>
          <p:nvPr/>
        </p:nvSpPr>
        <p:spPr>
          <a:xfrm>
            <a:off x="3474720" y="2642616"/>
            <a:ext cx="3218688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C8D8E8"/>
            </a:solidFill>
            <a:prstDash val="solid"/>
          </a:ln>
        </p:spPr>
      </p:sp>
      <p:sp>
        <p:nvSpPr>
          <p:cNvPr id="32" name="Shape 29"/>
          <p:cNvSpPr/>
          <p:nvPr/>
        </p:nvSpPr>
        <p:spPr>
          <a:xfrm>
            <a:off x="3474720" y="2642616"/>
            <a:ext cx="3218688" cy="256032"/>
          </a:xfrm>
          <a:prstGeom prst="rect">
            <a:avLst/>
          </a:prstGeom>
          <a:solidFill>
            <a:srgbClr val="0D7C7B"/>
          </a:solidFill>
          <a:ln w="12700">
            <a:solidFill>
              <a:srgbClr val="0D7C7B"/>
            </a:solidFill>
            <a:prstDash val="solid"/>
          </a:ln>
        </p:spPr>
      </p:sp>
      <p:sp>
        <p:nvSpPr>
          <p:cNvPr id="33" name="Shape 30"/>
          <p:cNvSpPr/>
          <p:nvPr/>
        </p:nvSpPr>
        <p:spPr>
          <a:xfrm>
            <a:off x="3474720" y="2898648"/>
            <a:ext cx="3218688" cy="146304"/>
          </a:xfrm>
          <a:prstGeom prst="rect">
            <a:avLst/>
          </a:prstGeom>
          <a:solidFill>
            <a:srgbClr val="E0F4F4"/>
          </a:solidFill>
          <a:ln w="12700">
            <a:solidFill>
              <a:srgbClr val="E0F4F4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3566160" y="2642616"/>
            <a:ext cx="30906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✏️  Grammar Practice &amp; Matching</a:t>
            </a:r>
            <a:endParaRPr lang="en-US" sz="1050" dirty="0"/>
          </a:p>
        </p:txBody>
      </p:sp>
      <p:sp>
        <p:nvSpPr>
          <p:cNvPr id="35" name="Shape 32"/>
          <p:cNvSpPr/>
          <p:nvPr/>
        </p:nvSpPr>
        <p:spPr>
          <a:xfrm>
            <a:off x="3529584" y="3063240"/>
            <a:ext cx="3108960" cy="164592"/>
          </a:xfrm>
          <a:prstGeom prst="rect">
            <a:avLst/>
          </a:prstGeom>
          <a:solidFill>
            <a:srgbClr val="0D7C7B"/>
          </a:solidFill>
          <a:ln w="12700">
            <a:solidFill>
              <a:srgbClr val="0D7C7B"/>
            </a:solidFill>
            <a:prstDash val="solid"/>
          </a:ln>
        </p:spPr>
      </p:sp>
      <p:sp>
        <p:nvSpPr>
          <p:cNvPr id="36" name="Text 33"/>
          <p:cNvSpPr/>
          <p:nvPr/>
        </p:nvSpPr>
        <p:spPr>
          <a:xfrm>
            <a:off x="3557016" y="3063240"/>
            <a:ext cx="30723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Fill in the blank — myself / yourself / himself / herself / ourselves / themselves</a:t>
            </a:r>
            <a:endParaRPr lang="en-US" sz="800" dirty="0"/>
          </a:p>
        </p:txBody>
      </p:sp>
      <p:graphicFrame>
        <p:nvGraphicFramePr>
          <p:cNvPr id="7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529584" y="3227832"/>
          <a:ext cx="3108960" cy="914400"/>
        </p:xfrm>
        <a:graphic>
          <a:graphicData uri="http://schemas.openxmlformats.org/drawingml/2006/table">
            <a:tbl>
              <a:tblPr/>
              <a:tblGrid>
                <a:gridCol w="3108960"/>
              </a:tblGrid>
              <a:tr h="199339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 I made breakfast _____. (myself)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</a:tr>
              <a:tr h="199339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0D7C7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 She taught _____ English. (herself)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99339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 He fixed the car _____. (himself)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</a:tr>
              <a:tr h="199339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0D7C7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 We painted the room _____. (ourselves)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99339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5. They built the house _____. (themselves)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</a:tr>
              <a:tr h="199339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0D7C7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6. Help _____ to some food! (yourself)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8" name="Shape 34"/>
          <p:cNvSpPr/>
          <p:nvPr/>
        </p:nvSpPr>
        <p:spPr>
          <a:xfrm>
            <a:off x="3529584" y="4478731"/>
            <a:ext cx="3108960" cy="164592"/>
          </a:xfrm>
          <a:prstGeom prst="rect">
            <a:avLst/>
          </a:prstGeom>
          <a:solidFill>
            <a:srgbClr val="6B3FA0"/>
          </a:solidFill>
          <a:ln w="12700">
            <a:solidFill>
              <a:srgbClr val="6B3FA0"/>
            </a:solidFill>
            <a:prstDash val="solid"/>
          </a:ln>
        </p:spPr>
      </p:sp>
      <p:sp>
        <p:nvSpPr>
          <p:cNvPr id="39" name="Text 35"/>
          <p:cNvSpPr/>
          <p:nvPr/>
        </p:nvSpPr>
        <p:spPr>
          <a:xfrm>
            <a:off x="3557016" y="4478731"/>
            <a:ext cx="30723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Matching — English → Mongolian</a:t>
            </a:r>
            <a:endParaRPr lang="en-US" sz="800" dirty="0"/>
          </a:p>
        </p:txBody>
      </p:sp>
      <p:graphicFrame>
        <p:nvGraphicFramePr>
          <p:cNvPr id="10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529584" y="4643323"/>
          <a:ext cx="3108960" cy="914400"/>
        </p:xfrm>
        <a:graphic>
          <a:graphicData uri="http://schemas.openxmlformats.org/drawingml/2006/table">
            <a:tbl>
              <a:tblPr/>
              <a:tblGrid>
                <a:gridCol w="1616659"/>
                <a:gridCol w="1492301"/>
              </a:tblGrid>
              <a:tr h="235915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2E6DA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 myself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0D7C7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A. өөрсдөө (тэд)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</a:tr>
              <a:tr h="235915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2E6DA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 himself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0D7C7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B. өөрөө (тэр-эм)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35915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2E6DA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 herself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0D7C7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C. өөрөө (би)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</a:tr>
              <a:tr h="235915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2E6DA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 ourselves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0D7C7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D. өөрөө (тэр-эр)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35915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2E6DA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5. themselves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0D7C7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E. өөрсдөө (бид)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</a:tr>
            </a:tbl>
          </a:graphicData>
        </a:graphic>
      </p:graphicFrame>
      <p:sp>
        <p:nvSpPr>
          <p:cNvPr id="41" name="Shape 36"/>
          <p:cNvSpPr/>
          <p:nvPr/>
        </p:nvSpPr>
        <p:spPr>
          <a:xfrm>
            <a:off x="179222" y="5930798"/>
            <a:ext cx="2115312" cy="3648456"/>
          </a:xfrm>
          <a:prstGeom prst="rect">
            <a:avLst/>
          </a:prstGeom>
          <a:solidFill>
            <a:srgbClr val="D0DCE8"/>
          </a:solidFill>
          <a:ln w="12700">
            <a:solidFill>
              <a:srgbClr val="D0DCE8"/>
            </a:solidFill>
            <a:prstDash val="solid"/>
          </a:ln>
        </p:spPr>
      </p:sp>
      <p:sp>
        <p:nvSpPr>
          <p:cNvPr id="42" name="Shape 37"/>
          <p:cNvSpPr/>
          <p:nvPr/>
        </p:nvSpPr>
        <p:spPr>
          <a:xfrm>
            <a:off x="164592" y="5916168"/>
            <a:ext cx="2115312" cy="3648456"/>
          </a:xfrm>
          <a:prstGeom prst="rect">
            <a:avLst/>
          </a:prstGeom>
          <a:solidFill>
            <a:srgbClr val="FFFFFF"/>
          </a:solidFill>
          <a:ln w="12700">
            <a:solidFill>
              <a:srgbClr val="C8D8E8"/>
            </a:solidFill>
            <a:prstDash val="solid"/>
          </a:ln>
        </p:spPr>
      </p:sp>
      <p:sp>
        <p:nvSpPr>
          <p:cNvPr id="43" name="Shape 38"/>
          <p:cNvSpPr/>
          <p:nvPr/>
        </p:nvSpPr>
        <p:spPr>
          <a:xfrm>
            <a:off x="164592" y="5916168"/>
            <a:ext cx="2115312" cy="256032"/>
          </a:xfrm>
          <a:prstGeom prst="rect">
            <a:avLst/>
          </a:prstGeom>
          <a:solidFill>
            <a:srgbClr val="C97A0A"/>
          </a:solidFill>
          <a:ln w="12700">
            <a:solidFill>
              <a:srgbClr val="C97A0A"/>
            </a:solidFill>
            <a:prstDash val="solid"/>
          </a:ln>
        </p:spPr>
      </p:sp>
      <p:sp>
        <p:nvSpPr>
          <p:cNvPr id="44" name="Shape 39"/>
          <p:cNvSpPr/>
          <p:nvPr/>
        </p:nvSpPr>
        <p:spPr>
          <a:xfrm>
            <a:off x="164592" y="6172200"/>
            <a:ext cx="2115312" cy="146304"/>
          </a:xfrm>
          <a:prstGeom prst="rect">
            <a:avLst/>
          </a:prstGeom>
          <a:solidFill>
            <a:srgbClr val="FEF3DC"/>
          </a:solidFill>
          <a:ln w="12700">
            <a:solidFill>
              <a:srgbClr val="FEF3DC"/>
            </a:solidFill>
            <a:prstDash val="solid"/>
          </a:ln>
        </p:spPr>
      </p:sp>
      <p:sp>
        <p:nvSpPr>
          <p:cNvPr id="45" name="Text 40"/>
          <p:cNvSpPr/>
          <p:nvPr/>
        </p:nvSpPr>
        <p:spPr>
          <a:xfrm>
            <a:off x="256032" y="5916168"/>
            <a:ext cx="19872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📝  Homework / Гэрийн даалгавар</a:t>
            </a:r>
            <a:endParaRPr lang="en-US" sz="1050" dirty="0"/>
          </a:p>
        </p:txBody>
      </p:sp>
      <p:sp>
        <p:nvSpPr>
          <p:cNvPr id="46" name="Text 41"/>
          <p:cNvSpPr/>
          <p:nvPr/>
        </p:nvSpPr>
        <p:spPr>
          <a:xfrm>
            <a:off x="256032" y="6181344"/>
            <a:ext cx="1987296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3A5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Маргааш болохоос өмнө дуусга</a:t>
            </a:r>
            <a:endParaRPr lang="en-US" sz="750" dirty="0"/>
          </a:p>
        </p:txBody>
      </p:sp>
      <p:sp>
        <p:nvSpPr>
          <p:cNvPr id="47" name="Text 42"/>
          <p:cNvSpPr/>
          <p:nvPr/>
        </p:nvSpPr>
        <p:spPr>
          <a:xfrm>
            <a:off x="256032" y="6345936"/>
            <a:ext cx="1969008" cy="3154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210000"/>
              </a:lnSpc>
              <a:buNone/>
            </a:pPr>
            <a:r>
              <a:rPr lang="en-US" sz="950" b="1" dirty="0">
                <a:solidFill>
                  <a:srgbClr val="C97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✍  </a:t>
            </a:r>
            <a:pPr indent="0" marL="0">
              <a:lnSpc>
                <a:spcPct val="210000"/>
              </a:lnSpc>
              <a:buNone/>
            </a:pPr>
            <a:r>
              <a:rPr lang="en-US" sz="95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Writing: Write your morning routine in 8 sentences using reflexive pronouns where natural.
</a:t>
            </a:r>
            <a:pPr indent="0" marL="0">
              <a:lnSpc>
                <a:spcPct val="210000"/>
              </a:lnSpc>
              <a:buNone/>
            </a:pPr>
            <a:r>
              <a:rPr lang="en-US" sz="950" b="1" dirty="0">
                <a:solidFill>
                  <a:srgbClr val="C97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📖  </a:t>
            </a:r>
            <a:pPr indent="0" marL="0">
              <a:lnSpc>
                <a:spcPct val="210000"/>
              </a:lnSpc>
              <a:buNone/>
            </a:pPr>
            <a:r>
              <a:rPr lang="en-US" sz="95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Vocabulary: Write 5 sentences using: by myself, help yourself, enjoy yourself, teach yourself.
</a:t>
            </a:r>
            <a:pPr indent="0" marL="0">
              <a:lnSpc>
                <a:spcPct val="210000"/>
              </a:lnSpc>
              <a:buNone/>
            </a:pPr>
            <a:r>
              <a:rPr lang="en-US" sz="950" b="1" dirty="0">
                <a:solidFill>
                  <a:srgbClr val="C97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🗣️  </a:t>
            </a:r>
            <a:pPr indent="0" marL="0">
              <a:lnSpc>
                <a:spcPct val="210000"/>
              </a:lnSpc>
              <a:buNone/>
            </a:pPr>
            <a:r>
              <a:rPr lang="en-US" sz="95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Speaking: Tell a friend your morning routine — use 'I do... myself' at least 3 times!
</a:t>
            </a:r>
            <a:pPr indent="0" marL="0">
              <a:lnSpc>
                <a:spcPct val="210000"/>
              </a:lnSpc>
              <a:buNone/>
            </a:pPr>
            <a:r>
              <a:rPr lang="en-US" sz="950" b="1" dirty="0">
                <a:solidFill>
                  <a:srgbClr val="C97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🔁  </a:t>
            </a:r>
            <a:pPr indent="0" marL="0">
              <a:lnSpc>
                <a:spcPct val="210000"/>
              </a:lnSpc>
              <a:buNone/>
            </a:pPr>
            <a:r>
              <a:rPr lang="en-US" sz="95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Review: I→myself · he→himself · she→herself · we→ourselves · they→themselves
</a:t>
            </a:r>
            <a:endParaRPr lang="en-US" sz="950" dirty="0"/>
          </a:p>
        </p:txBody>
      </p:sp>
      <p:sp>
        <p:nvSpPr>
          <p:cNvPr id="48" name="Shape 43"/>
          <p:cNvSpPr/>
          <p:nvPr/>
        </p:nvSpPr>
        <p:spPr>
          <a:xfrm>
            <a:off x="2385974" y="5930798"/>
            <a:ext cx="2115312" cy="3648456"/>
          </a:xfrm>
          <a:prstGeom prst="rect">
            <a:avLst/>
          </a:prstGeom>
          <a:solidFill>
            <a:srgbClr val="D0DCE8"/>
          </a:solidFill>
          <a:ln w="12700">
            <a:solidFill>
              <a:srgbClr val="D0DCE8"/>
            </a:solidFill>
            <a:prstDash val="solid"/>
          </a:ln>
        </p:spPr>
      </p:sp>
      <p:sp>
        <p:nvSpPr>
          <p:cNvPr id="49" name="Shape 44"/>
          <p:cNvSpPr/>
          <p:nvPr/>
        </p:nvSpPr>
        <p:spPr>
          <a:xfrm>
            <a:off x="2371344" y="5916168"/>
            <a:ext cx="2115312" cy="3648456"/>
          </a:xfrm>
          <a:prstGeom prst="rect">
            <a:avLst/>
          </a:prstGeom>
          <a:solidFill>
            <a:srgbClr val="FFFFFF"/>
          </a:solidFill>
          <a:ln w="12700">
            <a:solidFill>
              <a:srgbClr val="C8D8E8"/>
            </a:solidFill>
            <a:prstDash val="solid"/>
          </a:ln>
        </p:spPr>
      </p:sp>
      <p:sp>
        <p:nvSpPr>
          <p:cNvPr id="50" name="Shape 45"/>
          <p:cNvSpPr/>
          <p:nvPr/>
        </p:nvSpPr>
        <p:spPr>
          <a:xfrm>
            <a:off x="2371344" y="5916168"/>
            <a:ext cx="2115312" cy="256032"/>
          </a:xfrm>
          <a:prstGeom prst="rect">
            <a:avLst/>
          </a:prstGeom>
          <a:solidFill>
            <a:srgbClr val="1E7A4A"/>
          </a:solidFill>
          <a:ln w="12700">
            <a:solidFill>
              <a:srgbClr val="1E7A4A"/>
            </a:solidFill>
            <a:prstDash val="solid"/>
          </a:ln>
        </p:spPr>
      </p:sp>
      <p:sp>
        <p:nvSpPr>
          <p:cNvPr id="51" name="Shape 46"/>
          <p:cNvSpPr/>
          <p:nvPr/>
        </p:nvSpPr>
        <p:spPr>
          <a:xfrm>
            <a:off x="2371344" y="6172200"/>
            <a:ext cx="2115312" cy="146304"/>
          </a:xfrm>
          <a:prstGeom prst="rect">
            <a:avLst/>
          </a:prstGeom>
          <a:solidFill>
            <a:srgbClr val="E8F5EE"/>
          </a:solidFill>
          <a:ln w="12700">
            <a:solidFill>
              <a:srgbClr val="E8F5EE"/>
            </a:solidFill>
            <a:prstDash val="solid"/>
          </a:ln>
        </p:spPr>
      </p:sp>
      <p:sp>
        <p:nvSpPr>
          <p:cNvPr id="52" name="Text 47"/>
          <p:cNvSpPr/>
          <p:nvPr/>
        </p:nvSpPr>
        <p:spPr>
          <a:xfrm>
            <a:off x="2462784" y="5916168"/>
            <a:ext cx="19872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🔑  Answer Key / Хариулт</a:t>
            </a:r>
            <a:endParaRPr lang="en-US" sz="1050" dirty="0"/>
          </a:p>
        </p:txBody>
      </p:sp>
      <p:sp>
        <p:nvSpPr>
          <p:cNvPr id="53" name="Text 48"/>
          <p:cNvSpPr/>
          <p:nvPr/>
        </p:nvSpPr>
        <p:spPr>
          <a:xfrm>
            <a:off x="2462784" y="6181344"/>
            <a:ext cx="1987296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3A5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honestly!</a:t>
            </a:r>
            <a:endParaRPr lang="en-US" sz="750" dirty="0"/>
          </a:p>
        </p:txBody>
      </p:sp>
      <p:sp>
        <p:nvSpPr>
          <p:cNvPr id="54" name="Text 49"/>
          <p:cNvSpPr/>
          <p:nvPr/>
        </p:nvSpPr>
        <p:spPr>
          <a:xfrm>
            <a:off x="2462784" y="6345936"/>
            <a:ext cx="1969008" cy="3154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95000"/>
              </a:lnSpc>
              <a:buNone/>
            </a:pPr>
            <a:r>
              <a:rPr lang="en-US" sz="900" b="1" dirty="0">
                <a:solidFill>
                  <a:srgbClr val="1E7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Fill in blanks:
</a:t>
            </a:r>
            <a:pPr indent="0" marL="0">
              <a:lnSpc>
                <a:spcPct val="195000"/>
              </a:lnSpc>
              <a:buNone/>
            </a:pPr>
            <a:r>
              <a:rPr lang="en-US" sz="90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1-myself · 2-herself · 3-himself · 4-ourselves · 5-themselves · 6-yourself
</a:t>
            </a:r>
            <a:pPr indent="0" marL="0">
              <a:lnSpc>
                <a:spcPct val="195000"/>
              </a:lnSpc>
              <a:buNone/>
            </a:pPr>
            <a:r>
              <a:rPr lang="en-US" sz="900" b="1" dirty="0">
                <a:solidFill>
                  <a:srgbClr val="1E7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Matching:
</a:t>
            </a:r>
            <a:pPr indent="0" marL="0">
              <a:lnSpc>
                <a:spcPct val="195000"/>
              </a:lnSpc>
              <a:buNone/>
            </a:pPr>
            <a:r>
              <a:rPr lang="en-US" sz="90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1-C · 2-D · 3-B · 4-E · 5-A
</a:t>
            </a:r>
            <a:pPr indent="0" marL="0">
              <a:lnSpc>
                <a:spcPct val="195000"/>
              </a:lnSpc>
              <a:buNone/>
            </a:pPr>
            <a:r>
              <a:rPr lang="en-US" sz="900" b="1" dirty="0">
                <a:solidFill>
                  <a:srgbClr val="1E7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Listening (1–10):
</a:t>
            </a:r>
            <a:pPr indent="0" marL="0">
              <a:lnSpc>
                <a:spcPct val="195000"/>
              </a:lnSpc>
              <a:buNone/>
            </a:pPr>
            <a:r>
              <a:rPr lang="en-US" sz="90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1-c · 2-c · 3-b · 4-b · 5-b
6-c · 7-b · 8-c · 9-c · 10-b
</a:t>
            </a:r>
            <a:pPr indent="0" marL="0">
              <a:lnSpc>
                <a:spcPct val="195000"/>
              </a:lnSpc>
              <a:buNone/>
            </a:pPr>
            <a:r>
              <a:rPr lang="en-US" sz="900" b="1" dirty="0">
                <a:solidFill>
                  <a:srgbClr val="C97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</a:t>
            </a:r>
            <a:pPr indent="0" marL="0">
              <a:lnSpc>
                <a:spcPct val="195000"/>
              </a:lnSpc>
              <a:buNone/>
            </a:pPr>
            <a:r>
              <a:rPr lang="en-US" sz="850" i="1" dirty="0">
                <a:solidFill>
                  <a:srgbClr val="3A5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Mistakes help you learn!</a:t>
            </a:r>
            <a:endParaRPr lang="en-US" sz="900" dirty="0"/>
          </a:p>
        </p:txBody>
      </p:sp>
      <p:sp>
        <p:nvSpPr>
          <p:cNvPr id="55" name="Shape 50"/>
          <p:cNvSpPr/>
          <p:nvPr/>
        </p:nvSpPr>
        <p:spPr>
          <a:xfrm>
            <a:off x="4592726" y="5930798"/>
            <a:ext cx="2115312" cy="3648456"/>
          </a:xfrm>
          <a:prstGeom prst="rect">
            <a:avLst/>
          </a:prstGeom>
          <a:solidFill>
            <a:srgbClr val="D0DCE8"/>
          </a:solidFill>
          <a:ln w="12700">
            <a:solidFill>
              <a:srgbClr val="D0DCE8"/>
            </a:solidFill>
            <a:prstDash val="solid"/>
          </a:ln>
        </p:spPr>
      </p:sp>
      <p:sp>
        <p:nvSpPr>
          <p:cNvPr id="56" name="Shape 51"/>
          <p:cNvSpPr/>
          <p:nvPr/>
        </p:nvSpPr>
        <p:spPr>
          <a:xfrm>
            <a:off x="4578096" y="5916168"/>
            <a:ext cx="2115312" cy="3648456"/>
          </a:xfrm>
          <a:prstGeom prst="rect">
            <a:avLst/>
          </a:prstGeom>
          <a:solidFill>
            <a:srgbClr val="FFFFFF"/>
          </a:solidFill>
          <a:ln w="12700">
            <a:solidFill>
              <a:srgbClr val="C8D8E8"/>
            </a:solidFill>
            <a:prstDash val="solid"/>
          </a:ln>
        </p:spPr>
      </p:sp>
      <p:sp>
        <p:nvSpPr>
          <p:cNvPr id="57" name="Shape 52"/>
          <p:cNvSpPr/>
          <p:nvPr/>
        </p:nvSpPr>
        <p:spPr>
          <a:xfrm>
            <a:off x="4578096" y="5916168"/>
            <a:ext cx="2115312" cy="256032"/>
          </a:xfrm>
          <a:prstGeom prst="rect">
            <a:avLst/>
          </a:prstGeom>
          <a:solidFill>
            <a:srgbClr val="2E6DA4"/>
          </a:solidFill>
          <a:ln w="12700">
            <a:solidFill>
              <a:srgbClr val="2E6DA4"/>
            </a:solidFill>
            <a:prstDash val="solid"/>
          </a:ln>
        </p:spPr>
      </p:sp>
      <p:sp>
        <p:nvSpPr>
          <p:cNvPr id="58" name="Shape 53"/>
          <p:cNvSpPr/>
          <p:nvPr/>
        </p:nvSpPr>
        <p:spPr>
          <a:xfrm>
            <a:off x="4578096" y="6172200"/>
            <a:ext cx="2115312" cy="146304"/>
          </a:xfrm>
          <a:prstGeom prst="rect">
            <a:avLst/>
          </a:prstGeom>
          <a:solidFill>
            <a:srgbClr val="EBF4FB"/>
          </a:solidFill>
          <a:ln w="12700">
            <a:solidFill>
              <a:srgbClr val="EBF4FB"/>
            </a:solidFill>
            <a:prstDash val="solid"/>
          </a:ln>
        </p:spPr>
      </p:sp>
      <p:sp>
        <p:nvSpPr>
          <p:cNvPr id="59" name="Text 54"/>
          <p:cNvSpPr/>
          <p:nvPr/>
        </p:nvSpPr>
        <p:spPr>
          <a:xfrm>
            <a:off x="4669536" y="5916168"/>
            <a:ext cx="19872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🌟  Day 43 Complete!</a:t>
            </a:r>
            <a:endParaRPr lang="en-US" sz="1050" dirty="0"/>
          </a:p>
        </p:txBody>
      </p:sp>
      <p:sp>
        <p:nvSpPr>
          <p:cNvPr id="60" name="Text 55"/>
          <p:cNvSpPr/>
          <p:nvPr/>
        </p:nvSpPr>
        <p:spPr>
          <a:xfrm>
            <a:off x="4669536" y="6181344"/>
            <a:ext cx="1987296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3A5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 you completed:</a:t>
            </a:r>
            <a:endParaRPr lang="en-US" sz="750" dirty="0"/>
          </a:p>
        </p:txBody>
      </p:sp>
      <p:sp>
        <p:nvSpPr>
          <p:cNvPr id="61" name="Text 56"/>
          <p:cNvSpPr/>
          <p:nvPr/>
        </p:nvSpPr>
        <p:spPr>
          <a:xfrm>
            <a:off x="4669536" y="6345936"/>
            <a:ext cx="1969008" cy="29535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210000"/>
              </a:lnSpc>
              <a:buNone/>
            </a:pPr>
            <a:r>
              <a:rPr lang="en-US" sz="800" dirty="0">
                <a:solidFill>
                  <a:srgbClr val="1E7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20 өглөөний дэглэмийн үг · 20 morning routine words</a:t>
            </a:r>
            <a:endParaRPr lang="en-US" sz="800" dirty="0"/>
          </a:p>
          <a:p>
            <a:pPr indent="0" marL="0">
              <a:lnSpc>
                <a:spcPct val="210000"/>
              </a:lnSpc>
              <a:buNone/>
            </a:pPr>
            <a:r>
              <a:rPr lang="en-US" sz="800" dirty="0">
                <a:solidFill>
                  <a:srgbClr val="1E7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Reflexive pronouns — myself/himself/herself...</a:t>
            </a:r>
            <a:endParaRPr lang="en-US" sz="800" dirty="0"/>
          </a:p>
          <a:p>
            <a:pPr indent="0" marL="0">
              <a:lnSpc>
                <a:spcPct val="210000"/>
              </a:lnSpc>
              <a:buNone/>
            </a:pPr>
            <a:r>
              <a:rPr lang="en-US" sz="800" dirty="0">
                <a:solidFill>
                  <a:srgbClr val="1E7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Өглөөний дэглэмийн тухай уншсан</a:t>
            </a:r>
            <a:endParaRPr lang="en-US" sz="800" dirty="0"/>
          </a:p>
          <a:p>
            <a:pPr indent="0" marL="0">
              <a:lnSpc>
                <a:spcPct val="210000"/>
              </a:lnSpc>
              <a:buNone/>
            </a:pPr>
            <a:r>
              <a:rPr lang="en-US" sz="800" dirty="0">
                <a:solidFill>
                  <a:srgbClr val="1E7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Дасгал · Grammar practice</a:t>
            </a:r>
            <a:endParaRPr lang="en-US" sz="800" dirty="0"/>
          </a:p>
          <a:p>
            <a:pPr indent="0" marL="0">
              <a:lnSpc>
                <a:spcPct val="210000"/>
              </a:lnSpc>
              <a:buNone/>
            </a:pPr>
            <a:r>
              <a:rPr lang="en-US" sz="800" dirty="0">
                <a:solidFill>
                  <a:srgbClr val="1E7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Ярих дасгал · Speaking practice</a:t>
            </a:r>
            <a:endParaRPr lang="en-US" sz="800" dirty="0"/>
          </a:p>
          <a:p>
            <a:pPr indent="0" marL="0">
              <a:lnSpc>
                <a:spcPct val="210000"/>
              </a:lnSpc>
              <a:buNone/>
            </a:pPr>
            <a:r>
              <a:rPr lang="en-US" sz="800" dirty="0">
                <a:solidFill>
                  <a:srgbClr val="1E7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Сонсох · Listening practice</a:t>
            </a:r>
            <a:endParaRPr lang="en-US" sz="800" dirty="0"/>
          </a:p>
          <a:p>
            <a:pPr indent="0" marL="0">
              <a:lnSpc>
                <a:spcPct val="210000"/>
              </a:lnSpc>
              <a:buNone/>
            </a:pPr>
            <a:r>
              <a:rPr lang="en-US" sz="800" dirty="0">
                <a:solidFill>
                  <a:srgbClr val="1E7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Reflexive pronoun хэрэглэж сурсан</a:t>
            </a:r>
            <a:endParaRPr lang="en-US" sz="800" dirty="0"/>
          </a:p>
        </p:txBody>
      </p:sp>
      <p:sp>
        <p:nvSpPr>
          <p:cNvPr id="62" name="Shape 57"/>
          <p:cNvSpPr/>
          <p:nvPr/>
        </p:nvSpPr>
        <p:spPr>
          <a:xfrm>
            <a:off x="4651248" y="9253728"/>
            <a:ext cx="1969008" cy="256032"/>
          </a:xfrm>
          <a:prstGeom prst="rect">
            <a:avLst/>
          </a:prstGeom>
          <a:solidFill>
            <a:srgbClr val="EBF4FB"/>
          </a:solidFill>
          <a:ln w="12700">
            <a:solidFill>
              <a:srgbClr val="2E6DA4"/>
            </a:solidFill>
            <a:prstDash val="solid"/>
          </a:ln>
        </p:spPr>
      </p:sp>
      <p:sp>
        <p:nvSpPr>
          <p:cNvPr id="63" name="Text 58"/>
          <p:cNvSpPr/>
          <p:nvPr/>
        </p:nvSpPr>
        <p:spPr>
          <a:xfrm>
            <a:off x="4687824" y="9262872"/>
            <a:ext cx="19141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2E6D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🚀  Day 44: Healthy Lifestyle — Should / Shouldn't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2026-04-04T16:19:34Z</dcterms:created>
  <dcterms:modified xsi:type="dcterms:W3CDTF">2026-04-04T16:19:34Z</dcterms:modified>
</cp:coreProperties>
</file>