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6858000" cy="9692640"/>
  <p:notesSz cx="969264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25-30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87 · ӨДӨР 87</a:t>
            </a:r>
            <a:endParaRPr lang="en-US" sz="850" dirty="0"/>
          </a:p>
        </p:txBody>
      </p:sp>
      <p:sp>
        <p:nvSpPr>
          <p:cNvPr id="9" name="Shape 7"/>
          <p:cNvSpPr/>
          <p:nvPr/>
        </p:nvSpPr>
        <p:spPr>
          <a:xfrm>
            <a:off x="1335024" y="347472"/>
            <a:ext cx="4498848" cy="237744"/>
          </a:xfrm>
          <a:prstGeom prst="rect">
            <a:avLst/>
          </a:prstGeom>
          <a:solidFill>
            <a:srgbClr val="0D5C7B"/>
          </a:solidFill>
          <a:ln w="12700">
            <a:solidFill>
              <a:srgbClr val="0D5C7B"/>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Technology &amp; Future  ·  Технологи &amp; Ирээдүй</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1</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64592" y="630936"/>
            <a:ext cx="6528816" cy="182880"/>
          </a:xfrm>
          <a:prstGeom prst="rect">
            <a:avLst/>
          </a:prstGeom>
          <a:solidFill>
            <a:srgbClr val="EBF4FB"/>
          </a:solidFill>
          <a:ln w="12700">
            <a:solidFill>
              <a:srgbClr val="2E6DA4"/>
            </a:solidFill>
            <a:prstDash val="solid"/>
          </a:ln>
        </p:spPr>
      </p:sp>
      <p:sp>
        <p:nvSpPr>
          <p:cNvPr id="16" name="Text 14"/>
          <p:cNvSpPr/>
          <p:nvPr/>
        </p:nvSpPr>
        <p:spPr>
          <a:xfrm>
            <a:off x="246888" y="630936"/>
            <a:ext cx="6419088" cy="182880"/>
          </a:xfrm>
          <a:prstGeom prst="rect">
            <a:avLst/>
          </a:prstGeom>
          <a:noFill/>
          <a:ln/>
        </p:spPr>
        <p:txBody>
          <a:bodyPr wrap="square" lIns="0" tIns="0" rIns="0" bIns="0" rtlCol="0" anchor="ctr"/>
          <a:lstStyle/>
          <a:p>
            <a:pPr indent="0" marL="0">
              <a:buNone/>
            </a:pPr>
            <a:r>
              <a:rPr lang="en-US" sz="800" dirty="0">
                <a:solidFill>
                  <a:srgbClr val="1A4A7A"/>
                </a:solidFill>
                <a:latin typeface="Calibri" pitchFamily="34" charset="0"/>
                <a:ea typeface="Calibri" pitchFamily="34" charset="-122"/>
                <a:cs typeface="Calibri" pitchFamily="34" charset="-120"/>
              </a:rPr>
              <a:t>✦ Learn 20 words   ✦ Grammar: Future Perfect — will have finished / will have become / by 2030 I will have learned   ✦ Cover &amp; test yourself</a:t>
            </a:r>
            <a:endParaRPr lang="en-US" sz="800" dirty="0"/>
          </a:p>
        </p:txBody>
      </p:sp>
      <p:sp>
        <p:nvSpPr>
          <p:cNvPr id="17" name="Shape 15"/>
          <p:cNvSpPr/>
          <p:nvPr/>
        </p:nvSpPr>
        <p:spPr>
          <a:xfrm>
            <a:off x="179222" y="874166"/>
            <a:ext cx="3310128" cy="8705088"/>
          </a:xfrm>
          <a:prstGeom prst="rect">
            <a:avLst/>
          </a:prstGeom>
          <a:solidFill>
            <a:srgbClr val="D0DCE8"/>
          </a:solidFill>
          <a:ln w="12700">
            <a:solidFill>
              <a:srgbClr val="D0DCE8"/>
            </a:solidFill>
            <a:prstDash val="solid"/>
          </a:ln>
        </p:spPr>
      </p:sp>
      <p:sp>
        <p:nvSpPr>
          <p:cNvPr id="18" name="Shape 16"/>
          <p:cNvSpPr/>
          <p:nvPr/>
        </p:nvSpPr>
        <p:spPr>
          <a:xfrm>
            <a:off x="164592" y="859536"/>
            <a:ext cx="3310128" cy="8705088"/>
          </a:xfrm>
          <a:prstGeom prst="rect">
            <a:avLst/>
          </a:prstGeom>
          <a:solidFill>
            <a:srgbClr val="FFFFFF"/>
          </a:solidFill>
          <a:ln w="12700">
            <a:solidFill>
              <a:srgbClr val="C8D8E8"/>
            </a:solidFill>
            <a:prstDash val="solid"/>
          </a:ln>
        </p:spPr>
      </p:sp>
      <p:sp>
        <p:nvSpPr>
          <p:cNvPr id="19" name="Shape 17"/>
          <p:cNvSpPr/>
          <p:nvPr/>
        </p:nvSpPr>
        <p:spPr>
          <a:xfrm>
            <a:off x="164592" y="859536"/>
            <a:ext cx="3310128" cy="256032"/>
          </a:xfrm>
          <a:prstGeom prst="rect">
            <a:avLst/>
          </a:prstGeom>
          <a:solidFill>
            <a:srgbClr val="0D5C7B"/>
          </a:solidFill>
          <a:ln w="12700">
            <a:solidFill>
              <a:srgbClr val="0D5C7B"/>
            </a:solidFill>
            <a:prstDash val="solid"/>
          </a:ln>
        </p:spPr>
      </p:sp>
      <p:sp>
        <p:nvSpPr>
          <p:cNvPr id="20" name="Shape 18"/>
          <p:cNvSpPr/>
          <p:nvPr/>
        </p:nvSpPr>
        <p:spPr>
          <a:xfrm>
            <a:off x="164592" y="1115568"/>
            <a:ext cx="3310128" cy="146304"/>
          </a:xfrm>
          <a:prstGeom prst="rect">
            <a:avLst/>
          </a:prstGeom>
          <a:solidFill>
            <a:srgbClr val="EBF4FB"/>
          </a:solidFill>
          <a:ln w="12700">
            <a:solidFill>
              <a:srgbClr val="EBF4FB"/>
            </a:solidFill>
            <a:prstDash val="solid"/>
          </a:ln>
        </p:spPr>
      </p:sp>
      <p:sp>
        <p:nvSpPr>
          <p:cNvPr id="21" name="Text 19"/>
          <p:cNvSpPr/>
          <p:nvPr/>
        </p:nvSpPr>
        <p:spPr>
          <a:xfrm>
            <a:off x="256032" y="859536"/>
            <a:ext cx="318211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Vocabulary — 20 New Words</a:t>
            </a:r>
            <a:endParaRPr lang="en-US" sz="1050" dirty="0"/>
          </a:p>
        </p:txBody>
      </p:sp>
      <p:sp>
        <p:nvSpPr>
          <p:cNvPr id="22" name="Text 20"/>
          <p:cNvSpPr/>
          <p:nvPr/>
        </p:nvSpPr>
        <p:spPr>
          <a:xfrm>
            <a:off x="256032" y="1124712"/>
            <a:ext cx="318211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Read aloud 3 times · Cover Mongolian &amp; test yourself!</a:t>
            </a:r>
            <a:endParaRPr lang="en-US" sz="7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219456" y="1289304"/>
          <a:ext cx="3200400" cy="914400"/>
        </p:xfrm>
        <a:graphic>
          <a:graphicData uri="http://schemas.openxmlformats.org/drawingml/2006/table">
            <a:tbl>
              <a:tblPr/>
              <a:tblGrid>
                <a:gridCol w="182880"/>
                <a:gridCol w="610819"/>
                <a:gridCol w="610819"/>
                <a:gridCol w="794065"/>
                <a:gridCol w="1038393"/>
              </a:tblGrid>
              <a:tr h="352044">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0D5C7B"/>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English</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0D5C7B"/>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Pronunciation</a:t>
                      </a:r>
                      <a:endParaRPr lang="en-US" sz="750" dirty="0">
                        <a:latin typeface="Calibri" charset="0"/>
                        <a:ea typeface="Calibri" charset="0"/>
                        <a:cs typeface="Calibri" charset="0"/>
                      </a:endParaRPr>
                    </a:p>
                    <a:p>
                      <a:pPr algn="l" indent="0" marL="0">
                        <a:buNone/>
                      </a:pPr>
                      <a:r>
                        <a:rPr lang="en-US" sz="750" b="1" dirty="0">
                          <a:solidFill>
                            <a:srgbClr val="FFFFFF"/>
                          </a:solidFill>
                          <a:latin typeface="Calibri" pitchFamily="34" charset="0"/>
                          <a:ea typeface="Calibri" pitchFamily="34" charset="-122"/>
                          <a:cs typeface="Calibri" pitchFamily="34" charset="-120"/>
                        </a:rPr>
                        <a:t>Дуудлага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0D5C7B"/>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Mongolian</a:t>
                      </a:r>
                      <a:endParaRPr lang="en-US" sz="750" dirty="0">
                        <a:latin typeface="Calibri" charset="0"/>
                        <a:ea typeface="Calibri" charset="0"/>
                        <a:cs typeface="Calibri" charset="0"/>
                      </a:endParaRPr>
                    </a:p>
                    <a:p>
                      <a:pPr algn="l" indent="0" marL="0">
                        <a:buNone/>
                      </a:pPr>
                      <a:r>
                        <a:rPr lang="en-US" sz="750" b="1" dirty="0">
                          <a:solidFill>
                            <a:srgbClr val="FFFFFF"/>
                          </a:solidFill>
                          <a:latin typeface="Calibri" pitchFamily="34" charset="0"/>
                          <a:ea typeface="Calibri" pitchFamily="34" charset="-122"/>
                          <a:cs typeface="Calibri" pitchFamily="34" charset="-120"/>
                        </a:rPr>
                        <a:t>Монгол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0D5C7B"/>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sentence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0D5C7B"/>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will have finished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/wɪl hæv ˈfɪnɪʃt/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дуусгасан байх болно</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By next year, I will have finished B1.</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will have learned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/wɪl hæv lɜːrnd/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сурсан байх болно</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By 2030, I will have learned 3 languages.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will have become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/wɪl hæv bɪˈkʌm/</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болсон байх болно</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By then, AI will have become smarter.</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will have transformed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/wɪl hæv trænsˈfɔːrmd/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өөрчилсөн байх болно</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Tech will have transformed every industry.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will have replaced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/wɪl hæv rɪˈpleɪst/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орлосон байх болно</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Some jobs will have been replaced by AI.</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will have developed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/wɪl hæv dɪˈvɛləpt/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хөгжүүлсэн байх болно</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We will have developed new solutions.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by the time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/baɪ ðə taɪm/</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 болоход</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By the time you read this, I'll have left.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by 2030</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/baɪ tuː θaʊzənd θɜːrti/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2030 он болоход</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By 2030, things will have changed greatly.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artificial intelligence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/ˌɑːrtɪfɪʃəl ɪnˈtɛlɪdʒəns/</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хиймэл оюун ухаан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AI will have advanced dramatically.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automation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/ˌɔːtəˈmeɪʃən/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автоматжуулалт</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Automation will have changed many jobs.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11</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breakthrough</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/ˈbreɪkθruː/</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томоохон нээлт</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A breakthrough will have been achieved.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renewable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/rɪˈnjuːəbəl/</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сэргээгдэх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Renewable energy will have expanded.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13</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virtual reality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/ˈvɜːrtʃuəl riˈælɪti/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виртуал бодит байдал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VR will have transformed education.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14</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innovation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/ˌɪnəˈveɪʃən/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шинэчлэл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Innovation will have solved key problems.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interconnected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/ˌɪntəkəˈnɛktɪd/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харилцан холбогдсон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The world will have become interconnected.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16</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sustainable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/səˈsteɪnəbəl/</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тогтвортой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Cities will have become more sustainable.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17</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quantum</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/ˈkwɒntəm/</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квант</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Quantum computing will have arrived.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18</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evolve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/ɪˈvɒlv/</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хөгжих / хувьсах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Technology will have evolved greatly.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19</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surpass</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/sɜːrˈpɑːs/</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давах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AI will have surpassed human intelligence.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milestone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/ˈmaɪlstoʊn/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чухал үе шат</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By Day 90, a huge milestone will have been reached.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24" name="Shape 21"/>
          <p:cNvSpPr/>
          <p:nvPr/>
        </p:nvSpPr>
        <p:spPr>
          <a:xfrm>
            <a:off x="219456" y="9290304"/>
            <a:ext cx="3200400" cy="219456"/>
          </a:xfrm>
          <a:prstGeom prst="rect">
            <a:avLst/>
          </a:prstGeom>
          <a:solidFill>
            <a:srgbClr val="E0F4F4"/>
          </a:solidFill>
          <a:ln w="12700">
            <a:solidFill>
              <a:srgbClr val="0D7C7B"/>
            </a:solidFill>
            <a:prstDash val="solid"/>
          </a:ln>
        </p:spPr>
      </p:sp>
      <p:sp>
        <p:nvSpPr>
          <p:cNvPr id="25" name="Text 22"/>
          <p:cNvSpPr/>
          <p:nvPr/>
        </p:nvSpPr>
        <p:spPr>
          <a:xfrm>
            <a:off x="256032" y="9299448"/>
            <a:ext cx="3127248" cy="201168"/>
          </a:xfrm>
          <a:prstGeom prst="rect">
            <a:avLst/>
          </a:prstGeom>
          <a:noFill/>
          <a:ln/>
        </p:spPr>
        <p:txBody>
          <a:bodyPr wrap="square" lIns="0" tIns="0" rIns="0" bIns="0" rtlCol="0" anchor="ctr"/>
          <a:lstStyle/>
          <a:p>
            <a:pPr indent="0" marL="0">
              <a:lnSpc>
                <a:spcPct val="120000"/>
              </a:lnSpc>
              <a:buNone/>
            </a:pPr>
            <a:r>
              <a:rPr lang="en-US" sz="750" dirty="0">
                <a:solidFill>
                  <a:srgbClr val="0D7C7B"/>
                </a:solidFill>
                <a:latin typeface="Calibri" pitchFamily="34" charset="0"/>
                <a:ea typeface="Calibri" pitchFamily="34" charset="-122"/>
                <a:cs typeface="Calibri" pitchFamily="34" charset="-120"/>
              </a:rPr>
              <a:t>🔊  Artificial /ˌɑːrtɪfɪʃəl/ — 4 syllables · Interconnected /ˌɪntəkəˈnɛktɪd/ — 5 syllables</a:t>
            </a:r>
            <a:endParaRPr lang="en-US" sz="750" dirty="0"/>
          </a:p>
          <a:p>
            <a:pPr indent="0" marL="0">
              <a:lnSpc>
                <a:spcPct val="120000"/>
              </a:lnSpc>
              <a:buNone/>
            </a:pPr>
            <a:r>
              <a:rPr lang="en-US" sz="750" dirty="0">
                <a:solidFill>
                  <a:srgbClr val="0D7C7B"/>
                </a:solidFill>
                <a:latin typeface="Calibri" pitchFamily="34" charset="0"/>
                <a:ea typeface="Calibri" pitchFamily="34" charset="-122"/>
                <a:cs typeface="Calibri" pitchFamily="34" charset="-120"/>
              </a:rPr>
              <a:t>Automation — 4 үе: aw-tuh-MAY-shun. Renewable — 4 үе: rih-NYOO-uh-bul. Breakthrough — 2 үе: BRAYK-throo.</a:t>
            </a:r>
            <a:endParaRPr lang="en-US" sz="750" dirty="0"/>
          </a:p>
        </p:txBody>
      </p:sp>
      <p:sp>
        <p:nvSpPr>
          <p:cNvPr id="26" name="Shape 23"/>
          <p:cNvSpPr/>
          <p:nvPr/>
        </p:nvSpPr>
        <p:spPr>
          <a:xfrm>
            <a:off x="3580790" y="874166"/>
            <a:ext cx="3127248" cy="8705088"/>
          </a:xfrm>
          <a:prstGeom prst="rect">
            <a:avLst/>
          </a:prstGeom>
          <a:solidFill>
            <a:srgbClr val="D0DCE8"/>
          </a:solidFill>
          <a:ln w="12700">
            <a:solidFill>
              <a:srgbClr val="D0DCE8"/>
            </a:solidFill>
            <a:prstDash val="solid"/>
          </a:ln>
        </p:spPr>
      </p:sp>
      <p:sp>
        <p:nvSpPr>
          <p:cNvPr id="27" name="Shape 24"/>
          <p:cNvSpPr/>
          <p:nvPr/>
        </p:nvSpPr>
        <p:spPr>
          <a:xfrm>
            <a:off x="3566160" y="859536"/>
            <a:ext cx="3127248" cy="8705088"/>
          </a:xfrm>
          <a:prstGeom prst="rect">
            <a:avLst/>
          </a:prstGeom>
          <a:solidFill>
            <a:srgbClr val="FFFFFF"/>
          </a:solidFill>
          <a:ln w="12700">
            <a:solidFill>
              <a:srgbClr val="C8D8E8"/>
            </a:solidFill>
            <a:prstDash val="solid"/>
          </a:ln>
        </p:spPr>
      </p:sp>
      <p:sp>
        <p:nvSpPr>
          <p:cNvPr id="28" name="Shape 25"/>
          <p:cNvSpPr/>
          <p:nvPr/>
        </p:nvSpPr>
        <p:spPr>
          <a:xfrm>
            <a:off x="3566160" y="859536"/>
            <a:ext cx="3127248" cy="256032"/>
          </a:xfrm>
          <a:prstGeom prst="rect">
            <a:avLst/>
          </a:prstGeom>
          <a:solidFill>
            <a:srgbClr val="6B3FA0"/>
          </a:solidFill>
          <a:ln w="12700">
            <a:solidFill>
              <a:srgbClr val="6B3FA0"/>
            </a:solidFill>
            <a:prstDash val="solid"/>
          </a:ln>
        </p:spPr>
      </p:sp>
      <p:sp>
        <p:nvSpPr>
          <p:cNvPr id="29" name="Shape 26"/>
          <p:cNvSpPr/>
          <p:nvPr/>
        </p:nvSpPr>
        <p:spPr>
          <a:xfrm>
            <a:off x="3566160" y="1115568"/>
            <a:ext cx="3127248" cy="146304"/>
          </a:xfrm>
          <a:prstGeom prst="rect">
            <a:avLst/>
          </a:prstGeom>
          <a:solidFill>
            <a:srgbClr val="F0EAFA"/>
          </a:solidFill>
          <a:ln w="12700">
            <a:solidFill>
              <a:srgbClr val="F0EAFA"/>
            </a:solidFill>
            <a:prstDash val="solid"/>
          </a:ln>
        </p:spPr>
      </p:sp>
      <p:sp>
        <p:nvSpPr>
          <p:cNvPr id="30" name="Text 27"/>
          <p:cNvSpPr/>
          <p:nvPr/>
        </p:nvSpPr>
        <p:spPr>
          <a:xfrm>
            <a:off x="3657600" y="859536"/>
            <a:ext cx="299923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Grammar — Future Perfect — will have finished / will have become / by 2030 I will have learned</a:t>
            </a:r>
            <a:endParaRPr lang="en-US" sz="1050" dirty="0"/>
          </a:p>
        </p:txBody>
      </p:sp>
      <p:sp>
        <p:nvSpPr>
          <p:cNvPr id="31" name="Text 28"/>
          <p:cNvSpPr/>
          <p:nvPr/>
        </p:nvSpPr>
        <p:spPr>
          <a:xfrm>
            <a:off x="3657600" y="1124712"/>
            <a:ext cx="299923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Learn step by step  ·  Алхам алхмаар судлаарай</a:t>
            </a:r>
            <a:endParaRPr lang="en-US" sz="750" dirty="0"/>
          </a:p>
        </p:txBody>
      </p:sp>
      <p:sp>
        <p:nvSpPr>
          <p:cNvPr id="32" name="Text 29"/>
          <p:cNvSpPr/>
          <p:nvPr/>
        </p:nvSpPr>
        <p:spPr>
          <a:xfrm>
            <a:off x="3648456" y="1289304"/>
            <a:ext cx="2980944" cy="402336"/>
          </a:xfrm>
          <a:prstGeom prst="rect">
            <a:avLst/>
          </a:prstGeom>
          <a:noFill/>
          <a:ln/>
        </p:spPr>
        <p:txBody>
          <a:bodyPr wrap="square" lIns="0" tIns="0" rIns="0" bIns="0" rtlCol="0" anchor="t"/>
          <a:lstStyle/>
          <a:p>
            <a:pPr indent="0" marL="0">
              <a:lnSpc>
                <a:spcPct val="128000"/>
              </a:lnSpc>
              <a:buNone/>
            </a:pPr>
            <a:r>
              <a:rPr lang="en-US" sz="800" dirty="0">
                <a:solidFill>
                  <a:srgbClr val="1A2A3A"/>
                </a:solidFill>
                <a:latin typeface="Calibri" pitchFamily="34" charset="0"/>
                <a:ea typeface="Calibri" pitchFamily="34" charset="-122"/>
                <a:cs typeface="Calibri" pitchFamily="34" charset="-120"/>
              </a:rPr>
              <a:t>The FUTURE PERFECT (will have + past participle) describes an action completed BEFORE a specific future point. 'By 2030, AI WILL HAVE TRANSFORMED every industry.' 'By the time you read this, I WILL HAVE LEFT.' Key signals: by + time (by 2030, by next year, by then), by the time + clause. Compare: Future Simple: 'I will finish.' (at some point) vs Future Perfect: 'I WILL HAVE FINISHED by Friday.' (completed before Friday). Future Perfect emphasises COMPLETION before a deadline.</a:t>
            </a:r>
            <a:endParaRPr lang="en-US" sz="800" dirty="0"/>
          </a:p>
        </p:txBody>
      </p:sp>
      <p:sp>
        <p:nvSpPr>
          <p:cNvPr id="33" name="Text 30"/>
          <p:cNvSpPr/>
          <p:nvPr/>
        </p:nvSpPr>
        <p:spPr>
          <a:xfrm>
            <a:off x="3648456" y="1709928"/>
            <a:ext cx="2980944" cy="347472"/>
          </a:xfrm>
          <a:prstGeom prst="rect">
            <a:avLst/>
          </a:prstGeom>
          <a:noFill/>
          <a:ln/>
        </p:spPr>
        <p:txBody>
          <a:bodyPr wrap="square" lIns="0" tIns="0" rIns="0" bIns="0" rtlCol="0" anchor="t"/>
          <a:lstStyle/>
          <a:p>
            <a:pPr indent="0" marL="0">
              <a:lnSpc>
                <a:spcPct val="125000"/>
              </a:lnSpc>
              <a:buNone/>
            </a:pPr>
            <a:r>
              <a:rPr lang="en-US" sz="750" dirty="0">
                <a:solidFill>
                  <a:srgbClr val="3A5060"/>
                </a:solidFill>
                <a:latin typeface="Calibri" pitchFamily="34" charset="0"/>
                <a:ea typeface="Calibri" pitchFamily="34" charset="-122"/>
                <a:cs typeface="Calibri" pitchFamily="34" charset="-120"/>
              </a:rPr>
              <a:t>FUTURE PERFECT (will have + past participle) нь ирээдүйн тодорхой цагаас ӨМНӨ дуусах үйлдлийг тайлбарладаг. 'By 2030, AI WILL HAVE TRANSFORMED every industry.' Гол цагийн илэрхийлэлүүд: by + цаг, by the time + өгүүлбэр. Харьцуул: Future Simple: 'I will finish.' (хэзээ нэгэн цагт) vs Future Perfect: 'I WILL HAVE FINISHED by Friday.' (Баасан гарагаас ӨМНӨ дуусна). Дуусах хугацааг онцолно.</a:t>
            </a:r>
            <a:endParaRPr lang="en-US" sz="75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3639312" y="2075688"/>
          <a:ext cx="2980944" cy="914400"/>
        </p:xfrm>
        <a:graphic>
          <a:graphicData uri="http://schemas.openxmlformats.org/drawingml/2006/table">
            <a:tbl>
              <a:tblPr/>
              <a:tblGrid>
                <a:gridCol w="417332"/>
                <a:gridCol w="417332"/>
                <a:gridCol w="536570"/>
                <a:gridCol w="536570"/>
                <a:gridCol w="536570"/>
                <a:gridCol w="536570"/>
              </a:tblGrid>
              <a:tr h="192024">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Form</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Rule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Question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Монгол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will have + p.p.</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future perfect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By 2030, I'll have learned 3 languages.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By 2030, I won't have retired.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Will you have finished by then?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ирээдүйн тодорхой цагаас өмнө дуусах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by + time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deadline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By next year, she will have graduated.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Will she have graduated by then?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by + цаг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by the time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clause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By the time you arrive, I'll have cooked.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Will you have cooked by then?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by the time + өгүүлбэр</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won't have + p.p.</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negative FP</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 won't have finished by then.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Won't you have finished by then?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үгүйсгэл хэлбэр</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FP vs Future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comparison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 will have finished vs I will finish</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дуусах цаг онцлох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bl>
          </a:graphicData>
        </a:graphic>
      </p:graphicFrame>
      <p:sp>
        <p:nvSpPr>
          <p:cNvPr id="35" name="Shape 31"/>
          <p:cNvSpPr/>
          <p:nvPr/>
        </p:nvSpPr>
        <p:spPr>
          <a:xfrm>
            <a:off x="3639312" y="3273552"/>
            <a:ext cx="2980944" cy="164592"/>
          </a:xfrm>
          <a:prstGeom prst="rect">
            <a:avLst/>
          </a:prstGeom>
          <a:solidFill>
            <a:srgbClr val="0D7C7B"/>
          </a:solidFill>
          <a:ln w="12700">
            <a:solidFill>
              <a:srgbClr val="0D7C7B"/>
            </a:solidFill>
            <a:prstDash val="solid"/>
          </a:ln>
        </p:spPr>
      </p:sp>
      <p:sp>
        <p:nvSpPr>
          <p:cNvPr id="36" name="Text 32"/>
          <p:cNvSpPr/>
          <p:nvPr/>
        </p:nvSpPr>
        <p:spPr>
          <a:xfrm>
            <a:off x="3657600" y="3273552"/>
            <a:ext cx="298094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Key Forms</a:t>
            </a:r>
            <a:endParaRPr lang="en-US" sz="800" dirty="0"/>
          </a:p>
        </p:txBody>
      </p:sp>
      <p:sp>
        <p:nvSpPr>
          <p:cNvPr id="37" name="Shape 33"/>
          <p:cNvSpPr/>
          <p:nvPr/>
        </p:nvSpPr>
        <p:spPr>
          <a:xfrm>
            <a:off x="3639312" y="3438144"/>
            <a:ext cx="2980944" cy="274320"/>
          </a:xfrm>
          <a:prstGeom prst="rect">
            <a:avLst/>
          </a:prstGeom>
          <a:solidFill>
            <a:srgbClr val="E0F4F4"/>
          </a:solidFill>
          <a:ln w="12700">
            <a:solidFill>
              <a:srgbClr val="0D7C7B"/>
            </a:solidFill>
            <a:prstDash val="solid"/>
          </a:ln>
        </p:spPr>
      </p:sp>
      <p:sp>
        <p:nvSpPr>
          <p:cNvPr id="38" name="Text 34"/>
          <p:cNvSpPr/>
          <p:nvPr/>
        </p:nvSpPr>
        <p:spPr>
          <a:xfrm>
            <a:off x="3657600" y="3465576"/>
            <a:ext cx="1639519" cy="237744"/>
          </a:xfrm>
          <a:prstGeom prst="rect">
            <a:avLst/>
          </a:prstGeom>
          <a:noFill/>
          <a:ln/>
        </p:spPr>
        <p:txBody>
          <a:bodyPr wrap="square" lIns="0" tIns="0" rIns="0" bIns="0" rtlCol="0" anchor="t"/>
          <a:lstStyle/>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I'll have + p.p. = I will have + p.p.</a:t>
            </a:r>
            <a:endParaRPr lang="en-US" sz="850" dirty="0"/>
          </a:p>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Won't have + p.p. = will not have + p.p.</a:t>
            </a:r>
            <a:endParaRPr lang="en-US" sz="850" dirty="0"/>
          </a:p>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Key: by + time · by the time + clause</a:t>
            </a:r>
            <a:endParaRPr lang="en-US" sz="850" dirty="0"/>
          </a:p>
        </p:txBody>
      </p:sp>
      <p:sp>
        <p:nvSpPr>
          <p:cNvPr id="39" name="Text 35"/>
          <p:cNvSpPr/>
          <p:nvPr/>
        </p:nvSpPr>
        <p:spPr>
          <a:xfrm>
            <a:off x="5297119" y="3465576"/>
            <a:ext cx="1311615" cy="237744"/>
          </a:xfrm>
          <a:prstGeom prst="rect">
            <a:avLst/>
          </a:prstGeom>
          <a:noFill/>
          <a:ln/>
        </p:spPr>
        <p:txBody>
          <a:bodyPr wrap="square" lIns="0" tIns="0" rIns="0" bIns="0" rtlCol="0" anchor="t"/>
          <a:lstStyle/>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I'll have finished = I will have finished</a:t>
            </a:r>
            <a:endParaRPr lang="en-US" sz="750" dirty="0"/>
          </a:p>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Won't have = will not have</a:t>
            </a:r>
            <a:endParaRPr lang="en-US" sz="750" dirty="0"/>
          </a:p>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By 2030 / By the time / By then — гол цагийн илэрхийлэлүүд</a:t>
            </a:r>
            <a:endParaRPr lang="en-US" sz="750" dirty="0"/>
          </a:p>
        </p:txBody>
      </p:sp>
      <p:sp>
        <p:nvSpPr>
          <p:cNvPr id="40" name="Shape 36"/>
          <p:cNvSpPr/>
          <p:nvPr/>
        </p:nvSpPr>
        <p:spPr>
          <a:xfrm>
            <a:off x="3639312" y="3749040"/>
            <a:ext cx="2980944" cy="164592"/>
          </a:xfrm>
          <a:prstGeom prst="rect">
            <a:avLst/>
          </a:prstGeom>
          <a:solidFill>
            <a:srgbClr val="1A3A5C"/>
          </a:solidFill>
          <a:ln w="12700">
            <a:solidFill>
              <a:srgbClr val="1A3A5C"/>
            </a:solidFill>
            <a:prstDash val="solid"/>
          </a:ln>
        </p:spPr>
      </p:sp>
      <p:sp>
        <p:nvSpPr>
          <p:cNvPr id="41" name="Text 37"/>
          <p:cNvSpPr/>
          <p:nvPr/>
        </p:nvSpPr>
        <p:spPr>
          <a:xfrm>
            <a:off x="3657600" y="3749040"/>
            <a:ext cx="298094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Rules &amp; Usage</a:t>
            </a:r>
            <a:endParaRPr lang="en-US" sz="800" dirty="0"/>
          </a:p>
        </p:txBody>
      </p:sp>
      <p:sp>
        <p:nvSpPr>
          <p:cNvPr id="42" name="Shape 38"/>
          <p:cNvSpPr/>
          <p:nvPr/>
        </p:nvSpPr>
        <p:spPr>
          <a:xfrm>
            <a:off x="3639312" y="3913632"/>
            <a:ext cx="2980944" cy="310896"/>
          </a:xfrm>
          <a:prstGeom prst="rect">
            <a:avLst/>
          </a:prstGeom>
          <a:solidFill>
            <a:srgbClr val="F8FAFC"/>
          </a:solidFill>
          <a:ln w="12700">
            <a:solidFill>
              <a:srgbClr val="C8D8E8"/>
            </a:solidFill>
            <a:prstDash val="solid"/>
          </a:ln>
        </p:spPr>
      </p:sp>
      <p:sp>
        <p:nvSpPr>
          <p:cNvPr id="43" name="Text 39"/>
          <p:cNvSpPr/>
          <p:nvPr/>
        </p:nvSpPr>
        <p:spPr>
          <a:xfrm>
            <a:off x="3657600" y="3941064"/>
            <a:ext cx="2944368" cy="274320"/>
          </a:xfrm>
          <a:prstGeom prst="rect">
            <a:avLst/>
          </a:prstGeom>
          <a:noFill/>
          <a:ln/>
        </p:spPr>
        <p:txBody>
          <a:bodyPr wrap="square" lIns="0" tIns="0" rIns="0" bIns="0" rtlCol="0" anchor="t"/>
          <a:lstStyle/>
          <a:p>
            <a:pPr indent="0" marL="0">
              <a:lnSpc>
                <a:spcPct val="130000"/>
              </a:lnSpc>
              <a:buNone/>
            </a:pPr>
            <a:r>
              <a:rPr lang="en-US" sz="800" b="1" dirty="0">
                <a:solidFill>
                  <a:srgbClr val="B83030"/>
                </a:solidFill>
                <a:latin typeface="Calibri" pitchFamily="34" charset="0"/>
                <a:ea typeface="Calibri" pitchFamily="34" charset="-122"/>
                <a:cs typeface="Calibri" pitchFamily="34" charset="-120"/>
              </a:rPr>
              <a:t>Rule 1: </a:t>
            </a:r>
            <a:pPr indent="0" marL="0">
              <a:lnSpc>
                <a:spcPct val="130000"/>
              </a:lnSpc>
              <a:buNone/>
            </a:pPr>
            <a:r>
              <a:rPr lang="en-US" sz="800" dirty="0">
                <a:solidFill>
                  <a:srgbClr val="1A2A3A"/>
                </a:solidFill>
                <a:latin typeface="Calibri" pitchFamily="34" charset="0"/>
                <a:ea typeface="Calibri" pitchFamily="34" charset="-122"/>
                <a:cs typeface="Calibri" pitchFamily="34" charset="-120"/>
              </a:rPr>
              <a:t>By 2030, many problems WON'T HAVE BEEN solved yet. By next year, I WON'T HAVE finished every goal.
</a:t>
            </a:r>
            <a:pPr indent="0" marL="0">
              <a:lnSpc>
                <a:spcPct val="130000"/>
              </a:lnSpc>
              <a:buNone/>
            </a:pPr>
            <a:r>
              <a:rPr lang="en-US" sz="800" b="1" dirty="0">
                <a:solidFill>
                  <a:srgbClr val="0D7C7B"/>
                </a:solidFill>
                <a:latin typeface="Calibri" pitchFamily="34" charset="0"/>
                <a:ea typeface="Calibri" pitchFamily="34" charset="-122"/>
                <a:cs typeface="Calibri" pitchFamily="34" charset="-120"/>
              </a:rPr>
              <a:t>Rule 2: </a:t>
            </a:r>
            <a:pPr indent="0" marL="0">
              <a:lnSpc>
                <a:spcPct val="130000"/>
              </a:lnSpc>
              <a:buNone/>
            </a:pPr>
            <a:r>
              <a:rPr lang="en-US" sz="800" dirty="0">
                <a:solidFill>
                  <a:srgbClr val="1A2A3A"/>
                </a:solidFill>
                <a:latin typeface="Calibri" pitchFamily="34" charset="0"/>
                <a:ea typeface="Calibri" pitchFamily="34" charset="-122"/>
                <a:cs typeface="Calibri" pitchFamily="34" charset="-120"/>
              </a:rPr>
              <a:t>WILL you have finished by Day 90?  WILL AI have surpassed humans by 2050?  BY THE TIME you retire, WHAT will you have achieved?</a:t>
            </a:r>
            <a:endParaRPr lang="en-US" sz="800" dirty="0"/>
          </a:p>
        </p:txBody>
      </p:sp>
      <p:sp>
        <p:nvSpPr>
          <p:cNvPr id="44" name="Shape 40"/>
          <p:cNvSpPr/>
          <p:nvPr/>
        </p:nvSpPr>
        <p:spPr>
          <a:xfrm>
            <a:off x="3639312" y="4261104"/>
            <a:ext cx="1463040" cy="164592"/>
          </a:xfrm>
          <a:prstGeom prst="rect">
            <a:avLst/>
          </a:prstGeom>
          <a:solidFill>
            <a:srgbClr val="C97A0A"/>
          </a:solidFill>
          <a:ln w="12700">
            <a:solidFill>
              <a:srgbClr val="C97A0A"/>
            </a:solidFill>
            <a:prstDash val="solid"/>
          </a:ln>
        </p:spPr>
      </p:sp>
      <p:sp>
        <p:nvSpPr>
          <p:cNvPr id="45" name="Text 41"/>
          <p:cNvSpPr/>
          <p:nvPr/>
        </p:nvSpPr>
        <p:spPr>
          <a:xfrm>
            <a:off x="3639312" y="4261104"/>
            <a:ext cx="1463040" cy="164592"/>
          </a:xfrm>
          <a:prstGeom prst="rect">
            <a:avLst/>
          </a:prstGeom>
          <a:noFill/>
          <a:ln/>
        </p:spPr>
        <p:txBody>
          <a:bodyPr wrap="square" lIns="0" tIns="6350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Grammar Tip</a:t>
            </a:r>
            <a:endParaRPr lang="en-US" sz="800" dirty="0"/>
          </a:p>
        </p:txBody>
      </p:sp>
      <p:sp>
        <p:nvSpPr>
          <p:cNvPr id="46" name="Shape 42"/>
          <p:cNvSpPr/>
          <p:nvPr/>
        </p:nvSpPr>
        <p:spPr>
          <a:xfrm>
            <a:off x="5138928" y="4261104"/>
            <a:ext cx="1463040" cy="164592"/>
          </a:xfrm>
          <a:prstGeom prst="rect">
            <a:avLst/>
          </a:prstGeom>
          <a:solidFill>
            <a:srgbClr val="B83030"/>
          </a:solidFill>
          <a:ln w="12700">
            <a:solidFill>
              <a:srgbClr val="B83030"/>
            </a:solidFill>
            <a:prstDash val="solid"/>
          </a:ln>
        </p:spPr>
      </p:sp>
      <p:sp>
        <p:nvSpPr>
          <p:cNvPr id="47" name="Text 43"/>
          <p:cNvSpPr/>
          <p:nvPr/>
        </p:nvSpPr>
        <p:spPr>
          <a:xfrm>
            <a:off x="5138928" y="4261104"/>
            <a:ext cx="1463040" cy="164592"/>
          </a:xfrm>
          <a:prstGeom prst="rect">
            <a:avLst/>
          </a:prstGeom>
          <a:noFill/>
          <a:ln/>
        </p:spPr>
        <p:txBody>
          <a:bodyPr wrap="square" lIns="0" tIns="6350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Common Mistakes</a:t>
            </a:r>
            <a:endParaRPr lang="en-US" sz="800" dirty="0"/>
          </a:p>
        </p:txBody>
      </p:sp>
      <p:sp>
        <p:nvSpPr>
          <p:cNvPr id="48" name="Shape 44"/>
          <p:cNvSpPr/>
          <p:nvPr/>
        </p:nvSpPr>
        <p:spPr>
          <a:xfrm>
            <a:off x="3639312" y="4425696"/>
            <a:ext cx="1463040" cy="2144817"/>
          </a:xfrm>
          <a:prstGeom prst="rect">
            <a:avLst/>
          </a:prstGeom>
          <a:solidFill>
            <a:srgbClr val="FEF3DC"/>
          </a:solidFill>
          <a:ln w="12700">
            <a:solidFill>
              <a:srgbClr val="C97A0A"/>
            </a:solidFill>
            <a:prstDash val="solid"/>
          </a:ln>
        </p:spPr>
      </p:sp>
      <p:sp>
        <p:nvSpPr>
          <p:cNvPr id="49" name="Text 45"/>
          <p:cNvSpPr/>
          <p:nvPr/>
        </p:nvSpPr>
        <p:spPr>
          <a:xfrm>
            <a:off x="3666744" y="4462272"/>
            <a:ext cx="1380744" cy="2089953"/>
          </a:xfrm>
          <a:prstGeom prst="rect">
            <a:avLst/>
          </a:prstGeom>
          <a:noFill/>
          <a:ln/>
        </p:spPr>
        <p:txBody>
          <a:bodyPr wrap="square" lIns="0" tIns="0" rIns="0" bIns="0" rtlCol="0" anchor="t"/>
          <a:lstStyle/>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Future Perfect = will have + past participle</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Shows completion BEFORE a future point</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Key signals: by + time / by the time + clause</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Negative: won't have + p.p.</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Question: Will + S + have + p.p.?</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Don't confuse with Future Simple!</a:t>
            </a:r>
            <a:endParaRPr lang="en-US" sz="780" dirty="0"/>
          </a:p>
        </p:txBody>
      </p:sp>
      <p:sp>
        <p:nvSpPr>
          <p:cNvPr id="50" name="Shape 46"/>
          <p:cNvSpPr/>
          <p:nvPr/>
        </p:nvSpPr>
        <p:spPr>
          <a:xfrm>
            <a:off x="5138928" y="4425696"/>
            <a:ext cx="1463040" cy="2144817"/>
          </a:xfrm>
          <a:prstGeom prst="rect">
            <a:avLst/>
          </a:prstGeom>
          <a:solidFill>
            <a:srgbClr val="FDECEA"/>
          </a:solidFill>
          <a:ln w="12700">
            <a:solidFill>
              <a:srgbClr val="B83030"/>
            </a:solidFill>
            <a:prstDash val="solid"/>
          </a:ln>
        </p:spPr>
      </p:sp>
      <p:sp>
        <p:nvSpPr>
          <p:cNvPr id="51" name="Text 47"/>
          <p:cNvSpPr/>
          <p:nvPr/>
        </p:nvSpPr>
        <p:spPr>
          <a:xfrm>
            <a:off x="5166360" y="4462272"/>
            <a:ext cx="1380744" cy="2089953"/>
          </a:xfrm>
          <a:prstGeom prst="rect">
            <a:avLst/>
          </a:prstGeom>
          <a:noFill/>
          <a:ln/>
        </p:spPr>
        <p:txBody>
          <a:bodyPr wrap="square" lIns="0" tIns="0" rIns="0" bIns="0" rtlCol="0" anchor="t"/>
          <a:lstStyle/>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By 2030, AI will transform everything.  ✅ By 2030, AI WILL HAVE TRANSFORMED. (FP shows completion by that point!)</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I will have finish by Friday.  ✅ I will have FINISHED. (past participle!)</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By the time she arrives, I finish.  ✅ I WILL HAVE FINISHED.</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Will you have finishing by then?  ✅ Will you have FINISHED by then?</a:t>
            </a:r>
            <a:endParaRPr lang="en-US" sz="780" dirty="0"/>
          </a:p>
        </p:txBody>
      </p:sp>
      <p:sp>
        <p:nvSpPr>
          <p:cNvPr id="52" name="Shape 48"/>
          <p:cNvSpPr/>
          <p:nvPr/>
        </p:nvSpPr>
        <p:spPr>
          <a:xfrm>
            <a:off x="3639312" y="6607089"/>
            <a:ext cx="2980944" cy="164592"/>
          </a:xfrm>
          <a:prstGeom prst="rect">
            <a:avLst/>
          </a:prstGeom>
          <a:solidFill>
            <a:srgbClr val="0D7C7B"/>
          </a:solidFill>
          <a:ln w="12700">
            <a:solidFill>
              <a:srgbClr val="0D7C7B"/>
            </a:solidFill>
            <a:prstDash val="solid"/>
          </a:ln>
        </p:spPr>
      </p:sp>
      <p:sp>
        <p:nvSpPr>
          <p:cNvPr id="53" name="Text 49"/>
          <p:cNvSpPr/>
          <p:nvPr/>
        </p:nvSpPr>
        <p:spPr>
          <a:xfrm>
            <a:off x="3657600" y="6607089"/>
            <a:ext cx="2980944" cy="16459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  Quick Practice</a:t>
            </a:r>
            <a:endParaRPr lang="en-US" sz="850" dirty="0"/>
          </a:p>
        </p:txBody>
      </p:sp>
      <p:sp>
        <p:nvSpPr>
          <p:cNvPr id="54" name="Shape 50"/>
          <p:cNvSpPr/>
          <p:nvPr/>
        </p:nvSpPr>
        <p:spPr>
          <a:xfrm>
            <a:off x="3639312" y="6771681"/>
            <a:ext cx="2980944" cy="2902671"/>
          </a:xfrm>
          <a:prstGeom prst="rect">
            <a:avLst/>
          </a:prstGeom>
          <a:solidFill>
            <a:srgbClr val="E0F4F4"/>
          </a:solidFill>
          <a:ln w="12700">
            <a:solidFill>
              <a:srgbClr val="0D7C7B"/>
            </a:solidFill>
            <a:prstDash val="solid"/>
          </a:ln>
        </p:spPr>
      </p:sp>
      <p:graphicFrame>
        <p:nvGraphicFramePr>
          <p:cNvPr id="4" name="Table 2"/>
          <p:cNvGraphicFramePr>
            <a:graphicFrameLocks noGrp="1"/>
          </p:cNvGraphicFramePr>
          <p:nvPr>
            <p:extLst>
              <p:ext uri="{D42A27DB-BD31-4B8C-83A1-F6EECF244321}">
                <p14:modId xmlns:p14="http://schemas.microsoft.com/office/powerpoint/2010/main" val="1579011935"/>
              </p:ext>
            </p:extLst>
          </p:nvPr>
        </p:nvGraphicFramePr>
        <p:xfrm>
          <a:off x="3657600" y="6799113"/>
          <a:ext cx="2944368" cy="914400"/>
        </p:xfrm>
        <a:graphic>
          <a:graphicData uri="http://schemas.openxmlformats.org/drawingml/2006/table">
            <a:tbl>
              <a:tblPr/>
              <a:tblGrid>
                <a:gridCol w="1472184"/>
                <a:gridCol w="1472184"/>
              </a:tblGrid>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1. By Day 90, I _____ have completed the course! (will)</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5. By 2050, robots _____ have replaced many jobs. (will)</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2. By next year, she _____ have graduated. (will)</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6. By the time you read this, I _____ have left. (will)</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3. By 2030, AI _____ have transformed every industry. (will)</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7. _____ you have finished by Friday? (Will)</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4. By then, I _____ have visited 10 countries. (will)</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8. By 2050, cities _____ have become fully sustainable. (will)</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r>
            </a:tbl>
          </a:graphicData>
        </a:graphic>
      </p:graphicFrame>
      <p:sp>
        <p:nvSpPr>
          <p:cNvPr id="56" name="Text 51"/>
          <p:cNvSpPr/>
          <p:nvPr/>
        </p:nvSpPr>
        <p:spPr>
          <a:xfrm>
            <a:off x="3666744" y="9341130"/>
            <a:ext cx="2926080" cy="128016"/>
          </a:xfrm>
          <a:prstGeom prst="rect">
            <a:avLst/>
          </a:prstGeom>
          <a:noFill/>
          <a:ln/>
        </p:spPr>
        <p:txBody>
          <a:bodyPr wrap="square" lIns="0" tIns="0" rIns="0" bIns="0" rtlCol="0" anchor="t"/>
          <a:lstStyle/>
          <a:p>
            <a:pPr indent="0" marL="0">
              <a:buNone/>
            </a:pPr>
            <a:r>
              <a:rPr lang="en-US" sz="800" b="1" dirty="0">
                <a:solidFill>
                  <a:srgbClr val="0D7C7B"/>
                </a:solidFill>
                <a:latin typeface="Calibri" pitchFamily="34" charset="0"/>
                <a:ea typeface="Calibri" pitchFamily="34" charset="-122"/>
                <a:cs typeface="Calibri" pitchFamily="34" charset="-120"/>
              </a:rPr>
              <a:t>🔑  Answers: 1-will · 2-will · 3-will · 4-will · 5-will · 6-will · 7-Will · 8-will</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25-30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87 · ӨДӨР 87</a:t>
            </a:r>
            <a:endParaRPr lang="en-US" sz="850" dirty="0"/>
          </a:p>
        </p:txBody>
      </p:sp>
      <p:sp>
        <p:nvSpPr>
          <p:cNvPr id="9" name="Shape 7"/>
          <p:cNvSpPr/>
          <p:nvPr/>
        </p:nvSpPr>
        <p:spPr>
          <a:xfrm>
            <a:off x="1335024" y="347472"/>
            <a:ext cx="4498848" cy="237744"/>
          </a:xfrm>
          <a:prstGeom prst="rect">
            <a:avLst/>
          </a:prstGeom>
          <a:solidFill>
            <a:srgbClr val="1E7A4A"/>
          </a:solidFill>
          <a:ln w="12700">
            <a:solidFill>
              <a:srgbClr val="1E7A4A"/>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Reading &amp; Speaking  ·  Унших ба Ярих</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2</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79222" y="627278"/>
            <a:ext cx="6528816" cy="1865376"/>
          </a:xfrm>
          <a:prstGeom prst="rect">
            <a:avLst/>
          </a:prstGeom>
          <a:solidFill>
            <a:srgbClr val="D0DCE8"/>
          </a:solidFill>
          <a:ln w="12700">
            <a:solidFill>
              <a:srgbClr val="D0DCE8"/>
            </a:solidFill>
            <a:prstDash val="solid"/>
          </a:ln>
        </p:spPr>
      </p:sp>
      <p:sp>
        <p:nvSpPr>
          <p:cNvPr id="16" name="Shape 14"/>
          <p:cNvSpPr/>
          <p:nvPr/>
        </p:nvSpPr>
        <p:spPr>
          <a:xfrm>
            <a:off x="164592" y="612648"/>
            <a:ext cx="6528816" cy="1865376"/>
          </a:xfrm>
          <a:prstGeom prst="rect">
            <a:avLst/>
          </a:prstGeom>
          <a:solidFill>
            <a:srgbClr val="FFFFFF"/>
          </a:solidFill>
          <a:ln w="12700">
            <a:solidFill>
              <a:srgbClr val="C8D8E8"/>
            </a:solidFill>
            <a:prstDash val="solid"/>
          </a:ln>
        </p:spPr>
      </p:sp>
      <p:sp>
        <p:nvSpPr>
          <p:cNvPr id="17" name="Shape 15"/>
          <p:cNvSpPr/>
          <p:nvPr/>
        </p:nvSpPr>
        <p:spPr>
          <a:xfrm>
            <a:off x="164592" y="612648"/>
            <a:ext cx="6528816" cy="256032"/>
          </a:xfrm>
          <a:prstGeom prst="rect">
            <a:avLst/>
          </a:prstGeom>
          <a:solidFill>
            <a:srgbClr val="1E7A4A"/>
          </a:solidFill>
          <a:ln w="12700">
            <a:solidFill>
              <a:srgbClr val="1E7A4A"/>
            </a:solidFill>
            <a:prstDash val="solid"/>
          </a:ln>
        </p:spPr>
      </p:sp>
      <p:sp>
        <p:nvSpPr>
          <p:cNvPr id="18" name="Shape 16"/>
          <p:cNvSpPr/>
          <p:nvPr/>
        </p:nvSpPr>
        <p:spPr>
          <a:xfrm>
            <a:off x="164592" y="868680"/>
            <a:ext cx="6528816" cy="146304"/>
          </a:xfrm>
          <a:prstGeom prst="rect">
            <a:avLst/>
          </a:prstGeom>
          <a:solidFill>
            <a:srgbClr val="E8F5EE"/>
          </a:solidFill>
          <a:ln w="12700">
            <a:solidFill>
              <a:srgbClr val="E8F5EE"/>
            </a:solidFill>
            <a:prstDash val="solid"/>
          </a:ln>
        </p:spPr>
      </p:sp>
      <p:sp>
        <p:nvSpPr>
          <p:cNvPr id="19" name="Text 17"/>
          <p:cNvSpPr/>
          <p:nvPr/>
        </p:nvSpPr>
        <p:spPr>
          <a:xfrm>
            <a:off x="256032" y="61264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Reading Passage / Унших дасгал</a:t>
            </a:r>
            <a:endParaRPr lang="en-US" sz="1050" dirty="0"/>
          </a:p>
        </p:txBody>
      </p:sp>
      <p:sp>
        <p:nvSpPr>
          <p:cNvPr id="20" name="Text 18"/>
          <p:cNvSpPr/>
          <p:nvPr/>
        </p:nvSpPr>
        <p:spPr>
          <a:xfrm>
            <a:off x="256032" y="87782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Bold = today's vocab · Read aloud at least twice!</a:t>
            </a:r>
            <a:endParaRPr lang="en-US" sz="750" dirty="0"/>
          </a:p>
        </p:txBody>
      </p:sp>
      <p:sp>
        <p:nvSpPr>
          <p:cNvPr id="21" name="Shape 19"/>
          <p:cNvSpPr/>
          <p:nvPr/>
        </p:nvSpPr>
        <p:spPr>
          <a:xfrm>
            <a:off x="237744" y="1033272"/>
            <a:ext cx="6382512" cy="1380744"/>
          </a:xfrm>
          <a:prstGeom prst="rect">
            <a:avLst/>
          </a:prstGeom>
          <a:solidFill>
            <a:srgbClr val="EBF5F0"/>
          </a:solidFill>
          <a:ln w="12700">
            <a:solidFill>
              <a:srgbClr val="1E7A4A"/>
            </a:solidFill>
            <a:prstDash val="solid"/>
          </a:ln>
        </p:spPr>
      </p:sp>
      <p:sp>
        <p:nvSpPr>
          <p:cNvPr id="22" name="Text 20"/>
          <p:cNvSpPr/>
          <p:nvPr/>
        </p:nvSpPr>
        <p:spPr>
          <a:xfrm>
            <a:off x="310896" y="1069848"/>
            <a:ext cx="6236208" cy="1298448"/>
          </a:xfrm>
          <a:prstGeom prst="rect">
            <a:avLst/>
          </a:prstGeom>
          <a:noFill/>
          <a:ln/>
        </p:spPr>
        <p:txBody>
          <a:bodyPr wrap="square" lIns="0" tIns="0" rIns="0" bIns="0" rtlCol="0" anchor="t"/>
          <a:lstStyle/>
          <a:p>
            <a:pPr indent="0" marL="0">
              <a:lnSpc>
                <a:spcPct val="155000"/>
              </a:lnSpc>
              <a:buNone/>
            </a:pPr>
            <a:r>
              <a:rPr lang="en-US" sz="950" b="1" dirty="0">
                <a:solidFill>
                  <a:srgbClr val="0D5C7B"/>
                </a:solidFill>
                <a:latin typeface="Georgia" pitchFamily="34" charset="0"/>
                <a:ea typeface="Georgia" pitchFamily="34" charset="-122"/>
                <a:cs typeface="Georgia" pitchFamily="34" charset="-120"/>
              </a:rPr>
              <a:t>Bat writes about the future of technology. </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"By 2030, AI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will have transformed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virtually every industry. By the time today's students enter the workforce, many traditional jobs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will have been replaced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by automation. However, new roles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will have been created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 and those who speak English fluently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will have gained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a significant advantage. By 2050, renewable energy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will have become</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the dominant power source. </a:t>
            </a:r>
            <a:pPr indent="0" marL="0">
              <a:lnSpc>
                <a:spcPct val="155000"/>
              </a:lnSpc>
              <a:buNone/>
            </a:pPr>
            <a:r>
              <a:rPr lang="en-US" sz="950" b="1" dirty="0">
                <a:solidFill>
                  <a:srgbClr val="8B4A9C"/>
                </a:solidFill>
                <a:latin typeface="Georgia" pitchFamily="34" charset="0"/>
                <a:ea typeface="Georgia" pitchFamily="34" charset="-122"/>
                <a:cs typeface="Georgia" pitchFamily="34" charset="-120"/>
              </a:rPr>
              <a:t>What I believe</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is that by the time these changes have arrived, the students who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will have studied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hardest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will have positioned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themselves for success. By Day 90, you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will have completed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one of the most significant journeys of your life!"</a:t>
            </a:r>
            <a:endParaRPr lang="en-US" sz="950" dirty="0"/>
          </a:p>
        </p:txBody>
      </p:sp>
      <p:sp>
        <p:nvSpPr>
          <p:cNvPr id="23" name="Shape 21"/>
          <p:cNvSpPr/>
          <p:nvPr/>
        </p:nvSpPr>
        <p:spPr>
          <a:xfrm>
            <a:off x="179222" y="2565806"/>
            <a:ext cx="3218688" cy="1828800"/>
          </a:xfrm>
          <a:prstGeom prst="rect">
            <a:avLst/>
          </a:prstGeom>
          <a:solidFill>
            <a:srgbClr val="D0DCE8"/>
          </a:solidFill>
          <a:ln w="12700">
            <a:solidFill>
              <a:srgbClr val="D0DCE8"/>
            </a:solidFill>
            <a:prstDash val="solid"/>
          </a:ln>
        </p:spPr>
      </p:sp>
      <p:sp>
        <p:nvSpPr>
          <p:cNvPr id="24" name="Shape 22"/>
          <p:cNvSpPr/>
          <p:nvPr/>
        </p:nvSpPr>
        <p:spPr>
          <a:xfrm>
            <a:off x="164592" y="2551176"/>
            <a:ext cx="3218688" cy="1828800"/>
          </a:xfrm>
          <a:prstGeom prst="rect">
            <a:avLst/>
          </a:prstGeom>
          <a:solidFill>
            <a:srgbClr val="FFFFFF"/>
          </a:solidFill>
          <a:ln w="12700">
            <a:solidFill>
              <a:srgbClr val="C8D8E8"/>
            </a:solidFill>
            <a:prstDash val="solid"/>
          </a:ln>
        </p:spPr>
      </p:sp>
      <p:sp>
        <p:nvSpPr>
          <p:cNvPr id="25" name="Shape 23"/>
          <p:cNvSpPr/>
          <p:nvPr/>
        </p:nvSpPr>
        <p:spPr>
          <a:xfrm>
            <a:off x="164592" y="2551176"/>
            <a:ext cx="3218688" cy="256032"/>
          </a:xfrm>
          <a:prstGeom prst="rect">
            <a:avLst/>
          </a:prstGeom>
          <a:solidFill>
            <a:srgbClr val="C97A0A"/>
          </a:solidFill>
          <a:ln w="12700">
            <a:solidFill>
              <a:srgbClr val="C97A0A"/>
            </a:solidFill>
            <a:prstDash val="solid"/>
          </a:ln>
        </p:spPr>
      </p:sp>
      <p:sp>
        <p:nvSpPr>
          <p:cNvPr id="26" name="Shape 24"/>
          <p:cNvSpPr/>
          <p:nvPr/>
        </p:nvSpPr>
        <p:spPr>
          <a:xfrm>
            <a:off x="164592" y="2807208"/>
            <a:ext cx="3218688" cy="146304"/>
          </a:xfrm>
          <a:prstGeom prst="rect">
            <a:avLst/>
          </a:prstGeom>
          <a:solidFill>
            <a:srgbClr val="FEF3DC"/>
          </a:solidFill>
          <a:ln w="12700">
            <a:solidFill>
              <a:srgbClr val="FEF3DC"/>
            </a:solidFill>
            <a:prstDash val="solid"/>
          </a:ln>
        </p:spPr>
      </p:sp>
      <p:sp>
        <p:nvSpPr>
          <p:cNvPr id="27" name="Text 25"/>
          <p:cNvSpPr/>
          <p:nvPr/>
        </p:nvSpPr>
        <p:spPr>
          <a:xfrm>
            <a:off x="256032" y="255117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Key Phrases &amp; Translation / Гол хэллэг</a:t>
            </a:r>
            <a:endParaRPr lang="en-US" sz="1050" dirty="0"/>
          </a:p>
        </p:txBody>
      </p:sp>
      <p:sp>
        <p:nvSpPr>
          <p:cNvPr id="28" name="Text 26"/>
          <p:cNvSpPr/>
          <p:nvPr/>
        </p:nvSpPr>
        <p:spPr>
          <a:xfrm>
            <a:off x="256032" y="281635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Цээжил! · Memorize these phrases</a:t>
            </a:r>
            <a:endParaRPr lang="en-US" sz="7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19456" y="2971800"/>
          <a:ext cx="3108960" cy="914400"/>
        </p:xfrm>
        <a:graphic>
          <a:graphicData uri="http://schemas.openxmlformats.org/drawingml/2006/table">
            <a:tbl>
              <a:tblPr/>
              <a:tblGrid>
                <a:gridCol w="1057046"/>
                <a:gridCol w="1057046"/>
                <a:gridCol w="994867"/>
              </a:tblGrid>
              <a:tr h="196596">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English Phrase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Mongolian / Монгол</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Grammar Note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By 2030, I will have learned 3 languages</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2030 он болоход 3 хэл сурсан байх болно</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will have + p.p. + by + year</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By the time you arrive, I will have cooked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Та ирэхэд хоол хийж дуусах болно</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by the time + clause + will have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AI will have transformed every industry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AI бүх салбарыг өөрчилсөн байх болно</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will have transformed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By Day 90, I will have completed the course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90-р өдөр болоход курсаа дуусгасан байх болно</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by Day 90 + will have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Many jobs will have been replaced by AI</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Олон ажлын байр AI-аар орлогдсон байх болно</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future perfect passive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Will you have finished by Friday?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Та Баасан гарагаас өмнө дуусгасан байх уу?</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Will + have + p.p.?</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0" name="Shape 27"/>
          <p:cNvSpPr/>
          <p:nvPr/>
        </p:nvSpPr>
        <p:spPr>
          <a:xfrm>
            <a:off x="3489350" y="2565806"/>
            <a:ext cx="3218688" cy="1828800"/>
          </a:xfrm>
          <a:prstGeom prst="rect">
            <a:avLst/>
          </a:prstGeom>
          <a:solidFill>
            <a:srgbClr val="D0DCE8"/>
          </a:solidFill>
          <a:ln w="12700">
            <a:solidFill>
              <a:srgbClr val="D0DCE8"/>
            </a:solidFill>
            <a:prstDash val="solid"/>
          </a:ln>
        </p:spPr>
      </p:sp>
      <p:sp>
        <p:nvSpPr>
          <p:cNvPr id="31" name="Shape 28"/>
          <p:cNvSpPr/>
          <p:nvPr/>
        </p:nvSpPr>
        <p:spPr>
          <a:xfrm>
            <a:off x="3474720" y="2551176"/>
            <a:ext cx="3218688" cy="1828800"/>
          </a:xfrm>
          <a:prstGeom prst="rect">
            <a:avLst/>
          </a:prstGeom>
          <a:solidFill>
            <a:srgbClr val="FFFFFF"/>
          </a:solidFill>
          <a:ln w="12700">
            <a:solidFill>
              <a:srgbClr val="C8D8E8"/>
            </a:solidFill>
            <a:prstDash val="solid"/>
          </a:ln>
        </p:spPr>
      </p:sp>
      <p:sp>
        <p:nvSpPr>
          <p:cNvPr id="32" name="Shape 29"/>
          <p:cNvSpPr/>
          <p:nvPr/>
        </p:nvSpPr>
        <p:spPr>
          <a:xfrm>
            <a:off x="3474720" y="2551176"/>
            <a:ext cx="3218688" cy="256032"/>
          </a:xfrm>
          <a:prstGeom prst="rect">
            <a:avLst/>
          </a:prstGeom>
          <a:solidFill>
            <a:srgbClr val="0D7C7B"/>
          </a:solidFill>
          <a:ln w="12700">
            <a:solidFill>
              <a:srgbClr val="0D7C7B"/>
            </a:solidFill>
            <a:prstDash val="solid"/>
          </a:ln>
        </p:spPr>
      </p:sp>
      <p:sp>
        <p:nvSpPr>
          <p:cNvPr id="33" name="Shape 30"/>
          <p:cNvSpPr/>
          <p:nvPr/>
        </p:nvSpPr>
        <p:spPr>
          <a:xfrm>
            <a:off x="3474720" y="2807208"/>
            <a:ext cx="3218688" cy="146304"/>
          </a:xfrm>
          <a:prstGeom prst="rect">
            <a:avLst/>
          </a:prstGeom>
          <a:solidFill>
            <a:srgbClr val="E0F4F4"/>
          </a:solidFill>
          <a:ln w="12700">
            <a:solidFill>
              <a:srgbClr val="E0F4F4"/>
            </a:solidFill>
            <a:prstDash val="solid"/>
          </a:ln>
        </p:spPr>
      </p:sp>
      <p:sp>
        <p:nvSpPr>
          <p:cNvPr id="34" name="Text 31"/>
          <p:cNvSpPr/>
          <p:nvPr/>
        </p:nvSpPr>
        <p:spPr>
          <a:xfrm>
            <a:off x="3566160" y="255117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Speaking Practice / Ярих дасгал</a:t>
            </a:r>
            <a:endParaRPr lang="en-US" sz="1050" dirty="0"/>
          </a:p>
        </p:txBody>
      </p:sp>
      <p:sp>
        <p:nvSpPr>
          <p:cNvPr id="35" name="Text 32"/>
          <p:cNvSpPr/>
          <p:nvPr/>
        </p:nvSpPr>
        <p:spPr>
          <a:xfrm>
            <a:off x="3566160" y="281635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Answer OUT LOUD — don't write, just speak!</a:t>
            </a:r>
            <a:endParaRPr lang="en-US" sz="750" dirty="0"/>
          </a:p>
        </p:txBody>
      </p:sp>
      <p:sp>
        <p:nvSpPr>
          <p:cNvPr id="36" name="Text 33"/>
          <p:cNvSpPr/>
          <p:nvPr/>
        </p:nvSpPr>
        <p:spPr>
          <a:xfrm>
            <a:off x="3557016" y="2971800"/>
            <a:ext cx="3072384" cy="274320"/>
          </a:xfrm>
          <a:prstGeom prst="rect">
            <a:avLst/>
          </a:prstGeom>
          <a:noFill/>
          <a:ln/>
        </p:spPr>
        <p:txBody>
          <a:bodyPr wrap="square" lIns="0" tIns="0" rIns="0" bIns="0" rtlCol="0" anchor="t"/>
          <a:lstStyle/>
          <a:p>
            <a:pPr indent="0" marL="0">
              <a:lnSpc>
                <a:spcPct val="120000"/>
              </a:lnSpc>
              <a:buNone/>
            </a:pPr>
            <a:r>
              <a:rPr lang="en-US" sz="800" b="1" dirty="0">
                <a:solidFill>
                  <a:srgbClr val="0D7C7B"/>
                </a:solidFill>
                <a:latin typeface="Calibri" pitchFamily="34" charset="0"/>
                <a:ea typeface="Calibri" pitchFamily="34" charset="-122"/>
                <a:cs typeface="Calibri" pitchFamily="34" charset="-120"/>
              </a:rPr>
              <a:t>Answer OUT LOUD in English — do not write, just speak!
</a:t>
            </a:r>
            <a:pPr indent="0" marL="0">
              <a:lnSpc>
                <a:spcPct val="120000"/>
              </a:lnSpc>
              <a:buNone/>
            </a:pPr>
            <a:r>
              <a:rPr lang="en-US" sz="750" i="1" dirty="0">
                <a:solidFill>
                  <a:srgbClr val="3A5060"/>
                </a:solidFill>
                <a:latin typeface="Calibri" pitchFamily="34" charset="0"/>
                <a:ea typeface="Calibri" pitchFamily="34" charset="-122"/>
                <a:cs typeface="Calibri" pitchFamily="34" charset="-120"/>
              </a:rPr>
              <a:t>Англиар ЧАНГААР хариулаарай — бичихгүй, зөвхөн ярь!</a:t>
            </a:r>
            <a:endParaRPr lang="en-US" sz="80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3529584" y="3264408"/>
          <a:ext cx="3108960" cy="914400"/>
        </p:xfrm>
        <a:graphic>
          <a:graphicData uri="http://schemas.openxmlformats.org/drawingml/2006/table">
            <a:tbl>
              <a:tblPr/>
              <a:tblGrid>
                <a:gridCol w="3108960"/>
              </a:tblGrid>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1.  By the time you finish Book 3, what will you have achieved?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2.  By 2030, what will technology have changed in Mongolia?</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3.  By the time you retire, what will you have accomplished?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4.  Complete: 'By next year, I will have...'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5.  Will AI have replaced teachers by 2050? Discuss!</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6.  By the time your children grow up, what will the world have become?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8" name="Shape 34"/>
          <p:cNvSpPr/>
          <p:nvPr/>
        </p:nvSpPr>
        <p:spPr>
          <a:xfrm>
            <a:off x="179222" y="4467758"/>
            <a:ext cx="6528816" cy="5111496"/>
          </a:xfrm>
          <a:prstGeom prst="rect">
            <a:avLst/>
          </a:prstGeom>
          <a:solidFill>
            <a:srgbClr val="D0DCE8"/>
          </a:solidFill>
          <a:ln w="12700">
            <a:solidFill>
              <a:srgbClr val="D0DCE8"/>
            </a:solidFill>
            <a:prstDash val="solid"/>
          </a:ln>
        </p:spPr>
      </p:sp>
      <p:sp>
        <p:nvSpPr>
          <p:cNvPr id="39" name="Shape 35"/>
          <p:cNvSpPr/>
          <p:nvPr/>
        </p:nvSpPr>
        <p:spPr>
          <a:xfrm>
            <a:off x="164592" y="4453128"/>
            <a:ext cx="6528816" cy="5111496"/>
          </a:xfrm>
          <a:prstGeom prst="rect">
            <a:avLst/>
          </a:prstGeom>
          <a:solidFill>
            <a:srgbClr val="FFFFFF"/>
          </a:solidFill>
          <a:ln w="12700">
            <a:solidFill>
              <a:srgbClr val="C8D8E8"/>
            </a:solidFill>
            <a:prstDash val="solid"/>
          </a:ln>
        </p:spPr>
      </p:sp>
      <p:sp>
        <p:nvSpPr>
          <p:cNvPr id="40" name="Shape 36"/>
          <p:cNvSpPr/>
          <p:nvPr/>
        </p:nvSpPr>
        <p:spPr>
          <a:xfrm>
            <a:off x="164592" y="4453128"/>
            <a:ext cx="6528816" cy="256032"/>
          </a:xfrm>
          <a:prstGeom prst="rect">
            <a:avLst/>
          </a:prstGeom>
          <a:solidFill>
            <a:srgbClr val="6B3FA0"/>
          </a:solidFill>
          <a:ln w="12700">
            <a:solidFill>
              <a:srgbClr val="6B3FA0"/>
            </a:solidFill>
            <a:prstDash val="solid"/>
          </a:ln>
        </p:spPr>
      </p:sp>
      <p:sp>
        <p:nvSpPr>
          <p:cNvPr id="41" name="Shape 37"/>
          <p:cNvSpPr/>
          <p:nvPr/>
        </p:nvSpPr>
        <p:spPr>
          <a:xfrm>
            <a:off x="164592" y="4709160"/>
            <a:ext cx="6528816" cy="146304"/>
          </a:xfrm>
          <a:prstGeom prst="rect">
            <a:avLst/>
          </a:prstGeom>
          <a:solidFill>
            <a:srgbClr val="F0EAFA"/>
          </a:solidFill>
          <a:ln w="12700">
            <a:solidFill>
              <a:srgbClr val="F0EAFA"/>
            </a:solidFill>
            <a:prstDash val="solid"/>
          </a:ln>
        </p:spPr>
      </p:sp>
      <p:sp>
        <p:nvSpPr>
          <p:cNvPr id="42" name="Text 38"/>
          <p:cNvSpPr/>
          <p:nvPr/>
        </p:nvSpPr>
        <p:spPr>
          <a:xfrm>
            <a:off x="256032" y="445312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Role Play / Дүрд тоглох</a:t>
            </a:r>
            <a:endParaRPr lang="en-US" sz="1050" dirty="0"/>
          </a:p>
        </p:txBody>
      </p:sp>
      <p:sp>
        <p:nvSpPr>
          <p:cNvPr id="43" name="Text 39"/>
          <p:cNvSpPr/>
          <p:nvPr/>
        </p:nvSpPr>
        <p:spPr>
          <a:xfrm>
            <a:off x="256032" y="471830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Найзтайгаа дадлагал · Repeat until it sounds natural!</a:t>
            </a:r>
            <a:endParaRPr lang="en-US" sz="750" dirty="0"/>
          </a:p>
        </p:txBody>
      </p:sp>
      <p:graphicFrame>
        <p:nvGraphicFramePr>
          <p:cNvPr id="7" name="Table 2"/>
          <p:cNvGraphicFramePr>
            <a:graphicFrameLocks noGrp="1"/>
          </p:cNvGraphicFramePr>
          <p:nvPr>
            <p:extLst>
              <p:ext uri="{D42A27DB-BD31-4B8C-83A1-F6EECF244321}">
                <p14:modId xmlns:p14="http://schemas.microsoft.com/office/powerpoint/2010/main" val="1579011935"/>
              </p:ext>
            </p:extLst>
          </p:nvPr>
        </p:nvGraphicFramePr>
        <p:xfrm>
          <a:off x="237744" y="4873752"/>
          <a:ext cx="6382512" cy="914400"/>
        </p:xfrm>
        <a:graphic>
          <a:graphicData uri="http://schemas.openxmlformats.org/drawingml/2006/table">
            <a:tbl>
              <a:tblPr/>
              <a:tblGrid>
                <a:gridCol w="3191256"/>
                <a:gridCol w="3191256"/>
              </a:tblGrid>
              <a:tr h="748284">
                <a:tc>
                  <a:txBody>
                    <a:bodyPr/>
                    <a:lstStyle/>
                    <a:p>
                      <a:pPr algn="l" indent="0" marL="0">
                        <a:buNone/>
                      </a:pPr>
                      <a:r>
                        <a:rPr lang="en-US" sz="900" b="1" dirty="0">
                          <a:solidFill>
                            <a:srgbClr val="2E6DA4"/>
                          </a:solidFill>
                          <a:latin typeface="Calibri" pitchFamily="34" charset="0"/>
                          <a:ea typeface="Calibri" pitchFamily="34" charset="-122"/>
                          <a:cs typeface="Calibri" pitchFamily="34" charset="-120"/>
                        </a:rPr>
                        <a:t>A:  By Day 90, what will you have achieved?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1E7A4A"/>
                          </a:solidFill>
                          <a:latin typeface="Calibri" pitchFamily="34" charset="0"/>
                          <a:ea typeface="Calibri" pitchFamily="34" charset="-122"/>
                          <a:cs typeface="Calibri" pitchFamily="34" charset="-120"/>
                        </a:rPr>
                        <a:t>B:  I will have studied English for 90 consecutive days!</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Will you have improved significantly?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I'll have gone from A1 to B1 — an extraordinary achievement!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By 2030, what will AI have done to our jobs?</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Many routine jobs will have been automated. Creative work stays safer.</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Will English still matter by then?</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By 2030, English will have become even more essential globally.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By the time you turn 30, what will you have done?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I will have learned 3 languages and worked internationally!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I believe you will have done it!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What I know is the journey will have been worth every single day!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45" name="Shape 40"/>
          <p:cNvSpPr/>
          <p:nvPr/>
        </p:nvSpPr>
        <p:spPr>
          <a:xfrm>
            <a:off x="237744" y="9381744"/>
            <a:ext cx="6382512" cy="146304"/>
          </a:xfrm>
          <a:prstGeom prst="rect">
            <a:avLst/>
          </a:prstGeom>
          <a:solidFill>
            <a:srgbClr val="FEF3DC"/>
          </a:solidFill>
          <a:ln w="12700">
            <a:solidFill>
              <a:srgbClr val="C97A0A"/>
            </a:solidFill>
            <a:prstDash val="solid"/>
          </a:ln>
        </p:spPr>
      </p:sp>
      <p:sp>
        <p:nvSpPr>
          <p:cNvPr id="46" name="Text 41"/>
          <p:cNvSpPr/>
          <p:nvPr/>
        </p:nvSpPr>
        <p:spPr>
          <a:xfrm>
            <a:off x="292608" y="9390888"/>
            <a:ext cx="6272784" cy="137160"/>
          </a:xfrm>
          <a:prstGeom prst="rect">
            <a:avLst/>
          </a:prstGeom>
          <a:noFill/>
          <a:ln/>
        </p:spPr>
        <p:txBody>
          <a:bodyPr wrap="square" lIns="0" tIns="0" rIns="0" bIns="0" rtlCol="0" anchor="ctr"/>
          <a:lstStyle/>
          <a:p>
            <a:pPr indent="0" marL="0">
              <a:buNone/>
            </a:pPr>
            <a:r>
              <a:rPr lang="en-US" sz="750" i="1" dirty="0">
                <a:solidFill>
                  <a:srgbClr val="C97A0A"/>
                </a:solidFill>
                <a:latin typeface="Calibri" pitchFamily="34" charset="0"/>
                <a:ea typeface="Calibri" pitchFamily="34" charset="-122"/>
                <a:cs typeface="Calibri" pitchFamily="34" charset="-120"/>
              </a:rPr>
              <a:t>🌟  B1 Tip: Future Perfect is the tense of ambitious goals! 'By the time I finish this course, I will have studied English for 90 days.' It shows you can think AHEAD and measure future achievement — a sign of real linguistic maturity!</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15-20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87 · ӨДӨР 87</a:t>
            </a:r>
            <a:endParaRPr lang="en-US" sz="850" dirty="0"/>
          </a:p>
        </p:txBody>
      </p:sp>
      <p:sp>
        <p:nvSpPr>
          <p:cNvPr id="9" name="Shape 7"/>
          <p:cNvSpPr/>
          <p:nvPr/>
        </p:nvSpPr>
        <p:spPr>
          <a:xfrm>
            <a:off x="1335024" y="347472"/>
            <a:ext cx="4498848" cy="237744"/>
          </a:xfrm>
          <a:prstGeom prst="rect">
            <a:avLst/>
          </a:prstGeom>
          <a:solidFill>
            <a:srgbClr val="6B3FA0"/>
          </a:solidFill>
          <a:ln w="12700">
            <a:solidFill>
              <a:srgbClr val="6B3FA0"/>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Listening · Practice · Homework</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3</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79222" y="627278"/>
            <a:ext cx="6528816" cy="1956816"/>
          </a:xfrm>
          <a:prstGeom prst="rect">
            <a:avLst/>
          </a:prstGeom>
          <a:solidFill>
            <a:srgbClr val="D0DCE8"/>
          </a:solidFill>
          <a:ln w="12700">
            <a:solidFill>
              <a:srgbClr val="D0DCE8"/>
            </a:solidFill>
            <a:prstDash val="solid"/>
          </a:ln>
        </p:spPr>
      </p:sp>
      <p:sp>
        <p:nvSpPr>
          <p:cNvPr id="16" name="Shape 14"/>
          <p:cNvSpPr/>
          <p:nvPr/>
        </p:nvSpPr>
        <p:spPr>
          <a:xfrm>
            <a:off x="164592" y="612648"/>
            <a:ext cx="6528816" cy="1956816"/>
          </a:xfrm>
          <a:prstGeom prst="rect">
            <a:avLst/>
          </a:prstGeom>
          <a:solidFill>
            <a:srgbClr val="FFFFFF"/>
          </a:solidFill>
          <a:ln w="12700">
            <a:solidFill>
              <a:srgbClr val="C8D8E8"/>
            </a:solidFill>
            <a:prstDash val="solid"/>
          </a:ln>
        </p:spPr>
      </p:sp>
      <p:sp>
        <p:nvSpPr>
          <p:cNvPr id="17" name="Shape 15"/>
          <p:cNvSpPr/>
          <p:nvPr/>
        </p:nvSpPr>
        <p:spPr>
          <a:xfrm>
            <a:off x="164592" y="612648"/>
            <a:ext cx="6528816" cy="256032"/>
          </a:xfrm>
          <a:prstGeom prst="rect">
            <a:avLst/>
          </a:prstGeom>
          <a:solidFill>
            <a:srgbClr val="6B3FA0"/>
          </a:solidFill>
          <a:ln w="12700">
            <a:solidFill>
              <a:srgbClr val="6B3FA0"/>
            </a:solidFill>
            <a:prstDash val="solid"/>
          </a:ln>
        </p:spPr>
      </p:sp>
      <p:sp>
        <p:nvSpPr>
          <p:cNvPr id="18" name="Shape 16"/>
          <p:cNvSpPr/>
          <p:nvPr/>
        </p:nvSpPr>
        <p:spPr>
          <a:xfrm>
            <a:off x="164592" y="868680"/>
            <a:ext cx="6528816" cy="146304"/>
          </a:xfrm>
          <a:prstGeom prst="rect">
            <a:avLst/>
          </a:prstGeom>
          <a:solidFill>
            <a:srgbClr val="F0EAFA"/>
          </a:solidFill>
          <a:ln w="12700">
            <a:solidFill>
              <a:srgbClr val="F0EAFA"/>
            </a:solidFill>
            <a:prstDash val="solid"/>
          </a:ln>
        </p:spPr>
      </p:sp>
      <p:sp>
        <p:nvSpPr>
          <p:cNvPr id="19" name="Text 17"/>
          <p:cNvSpPr/>
          <p:nvPr/>
        </p:nvSpPr>
        <p:spPr>
          <a:xfrm>
            <a:off x="256032" y="61264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Listening Script / Сонсох текст</a:t>
            </a:r>
            <a:endParaRPr lang="en-US" sz="1050" dirty="0"/>
          </a:p>
        </p:txBody>
      </p:sp>
      <p:sp>
        <p:nvSpPr>
          <p:cNvPr id="20" name="Text 18"/>
          <p:cNvSpPr/>
          <p:nvPr/>
        </p:nvSpPr>
        <p:spPr>
          <a:xfrm>
            <a:off x="256032" y="87782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Answer 10 questions WITHOUT looking at the text!</a:t>
            </a:r>
            <a:endParaRPr lang="en-US" sz="750" dirty="0"/>
          </a:p>
        </p:txBody>
      </p:sp>
      <p:sp>
        <p:nvSpPr>
          <p:cNvPr id="21" name="Shape 19"/>
          <p:cNvSpPr/>
          <p:nvPr/>
        </p:nvSpPr>
        <p:spPr>
          <a:xfrm>
            <a:off x="237744" y="1033272"/>
            <a:ext cx="6382512" cy="1481328"/>
          </a:xfrm>
          <a:prstGeom prst="rect">
            <a:avLst/>
          </a:prstGeom>
          <a:solidFill>
            <a:srgbClr val="F4F8FC"/>
          </a:solidFill>
          <a:ln w="12700">
            <a:solidFill>
              <a:srgbClr val="2E6DA4"/>
            </a:solidFill>
            <a:prstDash val="solid"/>
          </a:ln>
        </p:spPr>
      </p:sp>
      <p:sp>
        <p:nvSpPr>
          <p:cNvPr id="22" name="Text 20"/>
          <p:cNvSpPr/>
          <p:nvPr/>
        </p:nvSpPr>
        <p:spPr>
          <a:xfrm>
            <a:off x="292608" y="1069848"/>
            <a:ext cx="6272784" cy="1408176"/>
          </a:xfrm>
          <a:prstGeom prst="rect">
            <a:avLst/>
          </a:prstGeom>
          <a:noFill/>
          <a:ln/>
        </p:spPr>
        <p:txBody>
          <a:bodyPr wrap="square" lIns="0" tIns="0" rIns="0" bIns="0" rtlCol="0" anchor="t"/>
          <a:lstStyle/>
          <a:p>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Today: Future Perfect — achievements! Bat, by Day 90, what will you have done?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I will have studied English for 90 days! I will have learned over 1,800 new words. And I will have mastered more than 40 grammar structures!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Impressive! Sarnai, by 2050, what will technology have changed?  </a:t>
            </a:r>
            <a:pPr indent="0" marL="0">
              <a:lnSpc>
                <a:spcPct val="150000"/>
              </a:lnSpc>
              <a:buNone/>
            </a:pPr>
            <a:r>
              <a:rPr lang="en-US" sz="850" b="1" dirty="0">
                <a:solidFill>
                  <a:srgbClr val="C97A0A"/>
                </a:solidFill>
                <a:latin typeface="Calibri" pitchFamily="34" charset="0"/>
                <a:ea typeface="Calibri" pitchFamily="34" charset="-122"/>
                <a:cs typeface="Calibri" pitchFamily="34" charset="-120"/>
              </a:rPr>
              <a:t>Sarnai: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By 2050, AI will have transformed education completely. VR will have replaced many traditional classrooms. And renewable energy will have solved our climate crisis — hopefully!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Will English have remained important?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It is certain that by 2050, English will have become the universal language of science, technology, and human connection. What we will have built through this course is the foundation for that world!</a:t>
            </a:r>
            <a:endParaRPr lang="en-US" sz="850" dirty="0"/>
          </a:p>
        </p:txBody>
      </p:sp>
      <p:sp>
        <p:nvSpPr>
          <p:cNvPr id="23" name="Shape 21"/>
          <p:cNvSpPr/>
          <p:nvPr/>
        </p:nvSpPr>
        <p:spPr>
          <a:xfrm>
            <a:off x="179222" y="2657246"/>
            <a:ext cx="3218688" cy="3200400"/>
          </a:xfrm>
          <a:prstGeom prst="rect">
            <a:avLst/>
          </a:prstGeom>
          <a:solidFill>
            <a:srgbClr val="D0DCE8"/>
          </a:solidFill>
          <a:ln w="12700">
            <a:solidFill>
              <a:srgbClr val="D0DCE8"/>
            </a:solidFill>
            <a:prstDash val="solid"/>
          </a:ln>
        </p:spPr>
      </p:sp>
      <p:sp>
        <p:nvSpPr>
          <p:cNvPr id="24" name="Shape 22"/>
          <p:cNvSpPr/>
          <p:nvPr/>
        </p:nvSpPr>
        <p:spPr>
          <a:xfrm>
            <a:off x="164592" y="2642616"/>
            <a:ext cx="3218688" cy="3200400"/>
          </a:xfrm>
          <a:prstGeom prst="rect">
            <a:avLst/>
          </a:prstGeom>
          <a:solidFill>
            <a:srgbClr val="FFFFFF"/>
          </a:solidFill>
          <a:ln w="12700">
            <a:solidFill>
              <a:srgbClr val="C8D8E8"/>
            </a:solidFill>
            <a:prstDash val="solid"/>
          </a:ln>
        </p:spPr>
      </p:sp>
      <p:sp>
        <p:nvSpPr>
          <p:cNvPr id="25" name="Shape 23"/>
          <p:cNvSpPr/>
          <p:nvPr/>
        </p:nvSpPr>
        <p:spPr>
          <a:xfrm>
            <a:off x="164592" y="2642616"/>
            <a:ext cx="3218688" cy="256032"/>
          </a:xfrm>
          <a:prstGeom prst="rect">
            <a:avLst/>
          </a:prstGeom>
          <a:solidFill>
            <a:srgbClr val="2E6DA4"/>
          </a:solidFill>
          <a:ln w="12700">
            <a:solidFill>
              <a:srgbClr val="2E6DA4"/>
            </a:solidFill>
            <a:prstDash val="solid"/>
          </a:ln>
        </p:spPr>
      </p:sp>
      <p:sp>
        <p:nvSpPr>
          <p:cNvPr id="26" name="Shape 24"/>
          <p:cNvSpPr/>
          <p:nvPr/>
        </p:nvSpPr>
        <p:spPr>
          <a:xfrm>
            <a:off x="164592" y="2898648"/>
            <a:ext cx="3218688" cy="146304"/>
          </a:xfrm>
          <a:prstGeom prst="rect">
            <a:avLst/>
          </a:prstGeom>
          <a:solidFill>
            <a:srgbClr val="EBF4FB"/>
          </a:solidFill>
          <a:ln w="12700">
            <a:solidFill>
              <a:srgbClr val="EBF4FB"/>
            </a:solidFill>
            <a:prstDash val="solid"/>
          </a:ln>
        </p:spPr>
      </p:sp>
      <p:sp>
        <p:nvSpPr>
          <p:cNvPr id="27" name="Text 25"/>
          <p:cNvSpPr/>
          <p:nvPr/>
        </p:nvSpPr>
        <p:spPr>
          <a:xfrm>
            <a:off x="256032" y="264261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Comprehension Questions (10)</a:t>
            </a:r>
            <a:endParaRPr lang="en-US" sz="1050" dirty="0"/>
          </a:p>
        </p:txBody>
      </p:sp>
      <p:sp>
        <p:nvSpPr>
          <p:cNvPr id="28" name="Text 26"/>
          <p:cNvSpPr/>
          <p:nvPr/>
        </p:nvSpPr>
        <p:spPr>
          <a:xfrm>
            <a:off x="256032" y="290779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Choose the best answer.</a:t>
            </a:r>
            <a:endParaRPr lang="en-US" sz="7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28600" y="3063240"/>
          <a:ext cx="3090672" cy="914400"/>
        </p:xfrm>
        <a:graphic>
          <a:graphicData uri="http://schemas.openxmlformats.org/drawingml/2006/table">
            <a:tbl>
              <a:tblPr/>
              <a:tblGrid>
                <a:gridCol w="247254"/>
                <a:gridCol w="1236269"/>
                <a:gridCol w="1607149"/>
              </a:tblGrid>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will Bat have done by Day 90?</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studied 80 days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studied 90 days, learned 1800 words, mastered 40+ structures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completed two books only</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will AI have done to education by 2050?</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replaced teachers entirely</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transformed it completely</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had little effect</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will VR have replaced?</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textbooks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teachers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many traditional classrooms</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does Sarnai say about renewable energy?</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it won't help</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it will have solved the climate crisis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it will be too expensive</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does Bat say about English by 2050?</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it will have declined</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it will be equal to other languages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it will have become the universal language</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does Bat call the English course?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a difficult journey</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the foundation for that world</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a requirement</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'I will have studied for 90 days' — which tense?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Future Simple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Future Continuous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Future Perfect</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'Will have learned' expresses...</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an ongoing future action</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a completed action before a future point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a current action</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'By 2050' signals which tense?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Past Perfect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Future Perfect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Present Perfect</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Future Perfect = will + ___ + past participle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be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had</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have</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0" name="Shape 27"/>
          <p:cNvSpPr/>
          <p:nvPr/>
        </p:nvSpPr>
        <p:spPr>
          <a:xfrm>
            <a:off x="3489350" y="2657246"/>
            <a:ext cx="3218688" cy="3200400"/>
          </a:xfrm>
          <a:prstGeom prst="rect">
            <a:avLst/>
          </a:prstGeom>
          <a:solidFill>
            <a:srgbClr val="D0DCE8"/>
          </a:solidFill>
          <a:ln w="12700">
            <a:solidFill>
              <a:srgbClr val="D0DCE8"/>
            </a:solidFill>
            <a:prstDash val="solid"/>
          </a:ln>
        </p:spPr>
      </p:sp>
      <p:sp>
        <p:nvSpPr>
          <p:cNvPr id="31" name="Shape 28"/>
          <p:cNvSpPr/>
          <p:nvPr/>
        </p:nvSpPr>
        <p:spPr>
          <a:xfrm>
            <a:off x="3474720" y="2642616"/>
            <a:ext cx="3218688" cy="3200400"/>
          </a:xfrm>
          <a:prstGeom prst="rect">
            <a:avLst/>
          </a:prstGeom>
          <a:solidFill>
            <a:srgbClr val="FFFFFF"/>
          </a:solidFill>
          <a:ln w="12700">
            <a:solidFill>
              <a:srgbClr val="C8D8E8"/>
            </a:solidFill>
            <a:prstDash val="solid"/>
          </a:ln>
        </p:spPr>
      </p:sp>
      <p:sp>
        <p:nvSpPr>
          <p:cNvPr id="32" name="Shape 29"/>
          <p:cNvSpPr/>
          <p:nvPr/>
        </p:nvSpPr>
        <p:spPr>
          <a:xfrm>
            <a:off x="3474720" y="2642616"/>
            <a:ext cx="3218688" cy="256032"/>
          </a:xfrm>
          <a:prstGeom prst="rect">
            <a:avLst/>
          </a:prstGeom>
          <a:solidFill>
            <a:srgbClr val="0D7C7B"/>
          </a:solidFill>
          <a:ln w="12700">
            <a:solidFill>
              <a:srgbClr val="0D7C7B"/>
            </a:solidFill>
            <a:prstDash val="solid"/>
          </a:ln>
        </p:spPr>
      </p:sp>
      <p:sp>
        <p:nvSpPr>
          <p:cNvPr id="33" name="Shape 30"/>
          <p:cNvSpPr/>
          <p:nvPr/>
        </p:nvSpPr>
        <p:spPr>
          <a:xfrm>
            <a:off x="3474720" y="2898648"/>
            <a:ext cx="3218688" cy="146304"/>
          </a:xfrm>
          <a:prstGeom prst="rect">
            <a:avLst/>
          </a:prstGeom>
          <a:solidFill>
            <a:srgbClr val="E0F4F4"/>
          </a:solidFill>
          <a:ln w="12700">
            <a:solidFill>
              <a:srgbClr val="E0F4F4"/>
            </a:solidFill>
            <a:prstDash val="solid"/>
          </a:ln>
        </p:spPr>
      </p:sp>
      <p:sp>
        <p:nvSpPr>
          <p:cNvPr id="34" name="Text 31"/>
          <p:cNvSpPr/>
          <p:nvPr/>
        </p:nvSpPr>
        <p:spPr>
          <a:xfrm>
            <a:off x="3566160" y="264261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Grammar Practice &amp; Matching</a:t>
            </a:r>
            <a:endParaRPr lang="en-US" sz="1050" dirty="0"/>
          </a:p>
        </p:txBody>
      </p:sp>
      <p:sp>
        <p:nvSpPr>
          <p:cNvPr id="35" name="Shape 32"/>
          <p:cNvSpPr/>
          <p:nvPr/>
        </p:nvSpPr>
        <p:spPr>
          <a:xfrm>
            <a:off x="3529584" y="3063240"/>
            <a:ext cx="3108960" cy="164592"/>
          </a:xfrm>
          <a:prstGeom prst="rect">
            <a:avLst/>
          </a:prstGeom>
          <a:solidFill>
            <a:srgbClr val="0D7C7B"/>
          </a:solidFill>
          <a:ln w="12700">
            <a:solidFill>
              <a:srgbClr val="0D7C7B"/>
            </a:solidFill>
            <a:prstDash val="solid"/>
          </a:ln>
        </p:spPr>
      </p:sp>
      <p:sp>
        <p:nvSpPr>
          <p:cNvPr id="36" name="Text 33"/>
          <p:cNvSpPr/>
          <p:nvPr/>
        </p:nvSpPr>
        <p:spPr>
          <a:xfrm>
            <a:off x="3557016" y="3063240"/>
            <a:ext cx="307238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Fill in the blank — Future Perfect — will have + past participle</a:t>
            </a:r>
            <a:endParaRPr lang="en-US" sz="8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529584" y="3227832"/>
          <a:ext cx="3108960" cy="914400"/>
        </p:xfrm>
        <a:graphic>
          <a:graphicData uri="http://schemas.openxmlformats.org/drawingml/2006/table">
            <a:tbl>
              <a:tblPr/>
              <a:tblGrid>
                <a:gridCol w="3108960"/>
              </a:tblGrid>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1. By Day 90, I _____ have completed the course. (will)</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2. By 2030, AI _____ have transformed every industry. (will)</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3. By the time she arrives, I _____ have cooked dinner. (will)</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4. By 2050, cities _____ have become more sustainable. (will)</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5. _____ you have finished by Friday? (Will)</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6. Many jobs _____ have been replaced by AI by 2040. (will)</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8" name="Shape 34"/>
          <p:cNvSpPr/>
          <p:nvPr/>
        </p:nvSpPr>
        <p:spPr>
          <a:xfrm>
            <a:off x="3529584" y="4478731"/>
            <a:ext cx="3108960" cy="164592"/>
          </a:xfrm>
          <a:prstGeom prst="rect">
            <a:avLst/>
          </a:prstGeom>
          <a:solidFill>
            <a:srgbClr val="6B3FA0"/>
          </a:solidFill>
          <a:ln w="12700">
            <a:solidFill>
              <a:srgbClr val="6B3FA0"/>
            </a:solidFill>
            <a:prstDash val="solid"/>
          </a:ln>
        </p:spPr>
      </p:sp>
      <p:sp>
        <p:nvSpPr>
          <p:cNvPr id="39" name="Text 35"/>
          <p:cNvSpPr/>
          <p:nvPr/>
        </p:nvSpPr>
        <p:spPr>
          <a:xfrm>
            <a:off x="3557016" y="4478731"/>
            <a:ext cx="307238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Matching — English → Mongolian</a:t>
            </a:r>
            <a:endParaRPr lang="en-US" sz="800" dirty="0"/>
          </a:p>
        </p:txBody>
      </p:sp>
      <p:graphicFrame>
        <p:nvGraphicFramePr>
          <p:cNvPr id="10" name="Table 2"/>
          <p:cNvGraphicFramePr>
            <a:graphicFrameLocks noGrp="1"/>
          </p:cNvGraphicFramePr>
          <p:nvPr>
            <p:extLst>
              <p:ext uri="{D42A27DB-BD31-4B8C-83A1-F6EECF244321}">
                <p14:modId xmlns:p14="http://schemas.microsoft.com/office/powerpoint/2010/main" val="1579011935"/>
              </p:ext>
            </p:extLst>
          </p:nvPr>
        </p:nvGraphicFramePr>
        <p:xfrm>
          <a:off x="3529584" y="4643323"/>
          <a:ext cx="3108960" cy="914400"/>
        </p:xfrm>
        <a:graphic>
          <a:graphicData uri="http://schemas.openxmlformats.org/drawingml/2006/table">
            <a:tbl>
              <a:tblPr/>
              <a:tblGrid>
                <a:gridCol w="1616659"/>
                <a:gridCol w="1492301"/>
              </a:tblGrid>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1. will have finished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A. by the time + өгүүлбэр</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2. won't have replaced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B. дуусгасан байх болно</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3. by the time...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C. болоход (цагийн илэрхийлэл)</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4. by 2030</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D. орлохгүй байх болно</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5. will have been created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E. үүсгэсэн байх болно (FP passive)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bl>
          </a:graphicData>
        </a:graphic>
      </p:graphicFrame>
      <p:sp>
        <p:nvSpPr>
          <p:cNvPr id="41" name="Shape 36"/>
          <p:cNvSpPr/>
          <p:nvPr/>
        </p:nvSpPr>
        <p:spPr>
          <a:xfrm>
            <a:off x="179222" y="5930798"/>
            <a:ext cx="2115312" cy="3648456"/>
          </a:xfrm>
          <a:prstGeom prst="rect">
            <a:avLst/>
          </a:prstGeom>
          <a:solidFill>
            <a:srgbClr val="D0DCE8"/>
          </a:solidFill>
          <a:ln w="12700">
            <a:solidFill>
              <a:srgbClr val="D0DCE8"/>
            </a:solidFill>
            <a:prstDash val="solid"/>
          </a:ln>
        </p:spPr>
      </p:sp>
      <p:sp>
        <p:nvSpPr>
          <p:cNvPr id="42" name="Shape 37"/>
          <p:cNvSpPr/>
          <p:nvPr/>
        </p:nvSpPr>
        <p:spPr>
          <a:xfrm>
            <a:off x="164592" y="5916168"/>
            <a:ext cx="2115312" cy="3648456"/>
          </a:xfrm>
          <a:prstGeom prst="rect">
            <a:avLst/>
          </a:prstGeom>
          <a:solidFill>
            <a:srgbClr val="FFFFFF"/>
          </a:solidFill>
          <a:ln w="12700">
            <a:solidFill>
              <a:srgbClr val="C8D8E8"/>
            </a:solidFill>
            <a:prstDash val="solid"/>
          </a:ln>
        </p:spPr>
      </p:sp>
      <p:sp>
        <p:nvSpPr>
          <p:cNvPr id="43" name="Shape 38"/>
          <p:cNvSpPr/>
          <p:nvPr/>
        </p:nvSpPr>
        <p:spPr>
          <a:xfrm>
            <a:off x="164592" y="5916168"/>
            <a:ext cx="2115312" cy="256032"/>
          </a:xfrm>
          <a:prstGeom prst="rect">
            <a:avLst/>
          </a:prstGeom>
          <a:solidFill>
            <a:srgbClr val="C97A0A"/>
          </a:solidFill>
          <a:ln w="12700">
            <a:solidFill>
              <a:srgbClr val="C97A0A"/>
            </a:solidFill>
            <a:prstDash val="solid"/>
          </a:ln>
        </p:spPr>
      </p:sp>
      <p:sp>
        <p:nvSpPr>
          <p:cNvPr id="44" name="Shape 39"/>
          <p:cNvSpPr/>
          <p:nvPr/>
        </p:nvSpPr>
        <p:spPr>
          <a:xfrm>
            <a:off x="164592" y="6172200"/>
            <a:ext cx="2115312" cy="146304"/>
          </a:xfrm>
          <a:prstGeom prst="rect">
            <a:avLst/>
          </a:prstGeom>
          <a:solidFill>
            <a:srgbClr val="FEF3DC"/>
          </a:solidFill>
          <a:ln w="12700">
            <a:solidFill>
              <a:srgbClr val="FEF3DC"/>
            </a:solidFill>
            <a:prstDash val="solid"/>
          </a:ln>
        </p:spPr>
      </p:sp>
      <p:sp>
        <p:nvSpPr>
          <p:cNvPr id="45" name="Text 40"/>
          <p:cNvSpPr/>
          <p:nvPr/>
        </p:nvSpPr>
        <p:spPr>
          <a:xfrm>
            <a:off x="256032"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Homework / Гэрийн даалгавар</a:t>
            </a:r>
            <a:endParaRPr lang="en-US" sz="1050" dirty="0"/>
          </a:p>
        </p:txBody>
      </p:sp>
      <p:sp>
        <p:nvSpPr>
          <p:cNvPr id="46" name="Text 41"/>
          <p:cNvSpPr/>
          <p:nvPr/>
        </p:nvSpPr>
        <p:spPr>
          <a:xfrm>
            <a:off x="256032"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Маргааш болохоос өмнө дуусга</a:t>
            </a:r>
            <a:endParaRPr lang="en-US" sz="750" dirty="0"/>
          </a:p>
        </p:txBody>
      </p:sp>
      <p:sp>
        <p:nvSpPr>
          <p:cNvPr id="47" name="Text 42"/>
          <p:cNvSpPr/>
          <p:nvPr/>
        </p:nvSpPr>
        <p:spPr>
          <a:xfrm>
            <a:off x="256032" y="6345936"/>
            <a:ext cx="1969008" cy="3154680"/>
          </a:xfrm>
          <a:prstGeom prst="rect">
            <a:avLst/>
          </a:prstGeom>
          <a:noFill/>
          <a:ln/>
        </p:spPr>
        <p:txBody>
          <a:bodyPr wrap="square" lIns="0" tIns="0" rIns="0" bIns="0" rtlCol="0" anchor="t"/>
          <a:lstStyle/>
          <a:p>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Writing: Write 5 Future Perfect sentences about your life: 'By [year], I will have...'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Vocabulary: Write predictions for 2030, 2050, and 2100 using Future Perfect.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Speaking: Answer: 'By the time you turn 40, what will you have achieved?' — speak for 1 minute!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Review: Future Perfect = will have + past participle · By + time · By the time + clause · Won't have = negative
</a:t>
            </a:r>
            <a:endParaRPr lang="en-US" sz="950" dirty="0"/>
          </a:p>
        </p:txBody>
      </p:sp>
      <p:sp>
        <p:nvSpPr>
          <p:cNvPr id="48" name="Shape 43"/>
          <p:cNvSpPr/>
          <p:nvPr/>
        </p:nvSpPr>
        <p:spPr>
          <a:xfrm>
            <a:off x="2385974" y="5930798"/>
            <a:ext cx="2115312" cy="3648456"/>
          </a:xfrm>
          <a:prstGeom prst="rect">
            <a:avLst/>
          </a:prstGeom>
          <a:solidFill>
            <a:srgbClr val="D0DCE8"/>
          </a:solidFill>
          <a:ln w="12700">
            <a:solidFill>
              <a:srgbClr val="D0DCE8"/>
            </a:solidFill>
            <a:prstDash val="solid"/>
          </a:ln>
        </p:spPr>
      </p:sp>
      <p:sp>
        <p:nvSpPr>
          <p:cNvPr id="49" name="Shape 44"/>
          <p:cNvSpPr/>
          <p:nvPr/>
        </p:nvSpPr>
        <p:spPr>
          <a:xfrm>
            <a:off x="2371344" y="5916168"/>
            <a:ext cx="2115312" cy="3648456"/>
          </a:xfrm>
          <a:prstGeom prst="rect">
            <a:avLst/>
          </a:prstGeom>
          <a:solidFill>
            <a:srgbClr val="FFFFFF"/>
          </a:solidFill>
          <a:ln w="12700">
            <a:solidFill>
              <a:srgbClr val="C8D8E8"/>
            </a:solidFill>
            <a:prstDash val="solid"/>
          </a:ln>
        </p:spPr>
      </p:sp>
      <p:sp>
        <p:nvSpPr>
          <p:cNvPr id="50" name="Shape 45"/>
          <p:cNvSpPr/>
          <p:nvPr/>
        </p:nvSpPr>
        <p:spPr>
          <a:xfrm>
            <a:off x="2371344" y="5916168"/>
            <a:ext cx="2115312" cy="256032"/>
          </a:xfrm>
          <a:prstGeom prst="rect">
            <a:avLst/>
          </a:prstGeom>
          <a:solidFill>
            <a:srgbClr val="1E7A4A"/>
          </a:solidFill>
          <a:ln w="12700">
            <a:solidFill>
              <a:srgbClr val="1E7A4A"/>
            </a:solidFill>
            <a:prstDash val="solid"/>
          </a:ln>
        </p:spPr>
      </p:sp>
      <p:sp>
        <p:nvSpPr>
          <p:cNvPr id="51" name="Shape 46"/>
          <p:cNvSpPr/>
          <p:nvPr/>
        </p:nvSpPr>
        <p:spPr>
          <a:xfrm>
            <a:off x="2371344" y="6172200"/>
            <a:ext cx="2115312" cy="146304"/>
          </a:xfrm>
          <a:prstGeom prst="rect">
            <a:avLst/>
          </a:prstGeom>
          <a:solidFill>
            <a:srgbClr val="E8F5EE"/>
          </a:solidFill>
          <a:ln w="12700">
            <a:solidFill>
              <a:srgbClr val="E8F5EE"/>
            </a:solidFill>
            <a:prstDash val="solid"/>
          </a:ln>
        </p:spPr>
      </p:sp>
      <p:sp>
        <p:nvSpPr>
          <p:cNvPr id="52" name="Text 47"/>
          <p:cNvSpPr/>
          <p:nvPr/>
        </p:nvSpPr>
        <p:spPr>
          <a:xfrm>
            <a:off x="2462784"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Answer Key / Хариулт</a:t>
            </a:r>
            <a:endParaRPr lang="en-US" sz="1050" dirty="0"/>
          </a:p>
        </p:txBody>
      </p:sp>
      <p:sp>
        <p:nvSpPr>
          <p:cNvPr id="53" name="Text 48"/>
          <p:cNvSpPr/>
          <p:nvPr/>
        </p:nvSpPr>
        <p:spPr>
          <a:xfrm>
            <a:off x="2462784"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Check honestly!</a:t>
            </a:r>
            <a:endParaRPr lang="en-US" sz="750" dirty="0"/>
          </a:p>
        </p:txBody>
      </p:sp>
      <p:sp>
        <p:nvSpPr>
          <p:cNvPr id="54" name="Text 49"/>
          <p:cNvSpPr/>
          <p:nvPr/>
        </p:nvSpPr>
        <p:spPr>
          <a:xfrm>
            <a:off x="2462784" y="6345936"/>
            <a:ext cx="1969008" cy="3154680"/>
          </a:xfrm>
          <a:prstGeom prst="rect">
            <a:avLst/>
          </a:prstGeom>
          <a:noFill/>
          <a:ln/>
        </p:spPr>
        <p:txBody>
          <a:bodyPr wrap="square" lIns="0" tIns="0" rIns="0" bIns="0" rtlCol="0" anchor="t"/>
          <a:lstStyle/>
          <a:p>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Fill in blanks: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1-will · 2-will · 3-will · 4-will · 5-Will · 6-will
</a:t>
            </a:r>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Matching: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1-B · 2-D · 3-A · 4-C · 5-E
</a:t>
            </a:r>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Listening (1–10):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1-b · 2-b · 3-c · 4-b · 5-c
6-b · 7-c · 8-b · 9-b · 10-c
</a:t>
            </a:r>
            <a:pPr indent="0" marL="0">
              <a:lnSpc>
                <a:spcPct val="195000"/>
              </a:lnSpc>
              <a:buNone/>
            </a:pPr>
            <a:r>
              <a:rPr lang="en-US" sz="900" b="1" dirty="0">
                <a:solidFill>
                  <a:srgbClr val="C97A0A"/>
                </a:solidFill>
                <a:latin typeface="Calibri" pitchFamily="34" charset="0"/>
                <a:ea typeface="Calibri" pitchFamily="34" charset="-122"/>
                <a:cs typeface="Calibri" pitchFamily="34" charset="-120"/>
              </a:rPr>
              <a:t>💡  </a:t>
            </a:r>
            <a:pPr indent="0" marL="0">
              <a:lnSpc>
                <a:spcPct val="195000"/>
              </a:lnSpc>
              <a:buNone/>
            </a:pPr>
            <a:r>
              <a:rPr lang="en-US" sz="850" i="1" dirty="0">
                <a:solidFill>
                  <a:srgbClr val="3A5060"/>
                </a:solidFill>
                <a:latin typeface="Calibri" pitchFamily="34" charset="0"/>
                <a:ea typeface="Calibri" pitchFamily="34" charset="-122"/>
                <a:cs typeface="Calibri" pitchFamily="34" charset="-120"/>
              </a:rPr>
              <a:t>Mistakes help you learn!</a:t>
            </a:r>
            <a:endParaRPr lang="en-US" sz="900" dirty="0"/>
          </a:p>
        </p:txBody>
      </p:sp>
      <p:sp>
        <p:nvSpPr>
          <p:cNvPr id="55" name="Shape 50"/>
          <p:cNvSpPr/>
          <p:nvPr/>
        </p:nvSpPr>
        <p:spPr>
          <a:xfrm>
            <a:off x="4592726" y="5930798"/>
            <a:ext cx="2115312" cy="3648456"/>
          </a:xfrm>
          <a:prstGeom prst="rect">
            <a:avLst/>
          </a:prstGeom>
          <a:solidFill>
            <a:srgbClr val="D0DCE8"/>
          </a:solidFill>
          <a:ln w="12700">
            <a:solidFill>
              <a:srgbClr val="D0DCE8"/>
            </a:solidFill>
            <a:prstDash val="solid"/>
          </a:ln>
        </p:spPr>
      </p:sp>
      <p:sp>
        <p:nvSpPr>
          <p:cNvPr id="56" name="Shape 51"/>
          <p:cNvSpPr/>
          <p:nvPr/>
        </p:nvSpPr>
        <p:spPr>
          <a:xfrm>
            <a:off x="4578096" y="5916168"/>
            <a:ext cx="2115312" cy="3648456"/>
          </a:xfrm>
          <a:prstGeom prst="rect">
            <a:avLst/>
          </a:prstGeom>
          <a:solidFill>
            <a:srgbClr val="FFFFFF"/>
          </a:solidFill>
          <a:ln w="12700">
            <a:solidFill>
              <a:srgbClr val="C8D8E8"/>
            </a:solidFill>
            <a:prstDash val="solid"/>
          </a:ln>
        </p:spPr>
      </p:sp>
      <p:sp>
        <p:nvSpPr>
          <p:cNvPr id="57" name="Shape 52"/>
          <p:cNvSpPr/>
          <p:nvPr/>
        </p:nvSpPr>
        <p:spPr>
          <a:xfrm>
            <a:off x="4578096" y="5916168"/>
            <a:ext cx="2115312" cy="256032"/>
          </a:xfrm>
          <a:prstGeom prst="rect">
            <a:avLst/>
          </a:prstGeom>
          <a:solidFill>
            <a:srgbClr val="2E6DA4"/>
          </a:solidFill>
          <a:ln w="12700">
            <a:solidFill>
              <a:srgbClr val="2E6DA4"/>
            </a:solidFill>
            <a:prstDash val="solid"/>
          </a:ln>
        </p:spPr>
      </p:sp>
      <p:sp>
        <p:nvSpPr>
          <p:cNvPr id="58" name="Shape 53"/>
          <p:cNvSpPr/>
          <p:nvPr/>
        </p:nvSpPr>
        <p:spPr>
          <a:xfrm>
            <a:off x="4578096" y="6172200"/>
            <a:ext cx="2115312" cy="146304"/>
          </a:xfrm>
          <a:prstGeom prst="rect">
            <a:avLst/>
          </a:prstGeom>
          <a:solidFill>
            <a:srgbClr val="EBF4FB"/>
          </a:solidFill>
          <a:ln w="12700">
            <a:solidFill>
              <a:srgbClr val="EBF4FB"/>
            </a:solidFill>
            <a:prstDash val="solid"/>
          </a:ln>
        </p:spPr>
      </p:sp>
      <p:sp>
        <p:nvSpPr>
          <p:cNvPr id="59" name="Text 54"/>
          <p:cNvSpPr/>
          <p:nvPr/>
        </p:nvSpPr>
        <p:spPr>
          <a:xfrm>
            <a:off x="4669536"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Day 87 Complete!</a:t>
            </a:r>
            <a:endParaRPr lang="en-US" sz="1050" dirty="0"/>
          </a:p>
        </p:txBody>
      </p:sp>
      <p:sp>
        <p:nvSpPr>
          <p:cNvPr id="60" name="Text 55"/>
          <p:cNvSpPr/>
          <p:nvPr/>
        </p:nvSpPr>
        <p:spPr>
          <a:xfrm>
            <a:off x="4669536"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Today you completed:</a:t>
            </a:r>
            <a:endParaRPr lang="en-US" sz="750" dirty="0"/>
          </a:p>
        </p:txBody>
      </p:sp>
      <p:sp>
        <p:nvSpPr>
          <p:cNvPr id="61" name="Text 56"/>
          <p:cNvSpPr/>
          <p:nvPr/>
        </p:nvSpPr>
        <p:spPr>
          <a:xfrm>
            <a:off x="4669536" y="6345936"/>
            <a:ext cx="1969008" cy="2953512"/>
          </a:xfrm>
          <a:prstGeom prst="rect">
            <a:avLst/>
          </a:prstGeom>
          <a:noFill/>
          <a:ln/>
        </p:spPr>
        <p:txBody>
          <a:bodyPr wrap="square" lIns="0" tIns="0" rIns="0" bIns="0" rtlCol="0" anchor="t"/>
          <a:lstStyle/>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20 технологийн үг · 20 technology words</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Future Perfect — will have + past participle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Ирээдүйн технологийн тухай уншсан</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Дасгал · Grammar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Ярих дасгал · Future predictions</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Сонсох · Listening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Future Perfect хэрэглэж сурсан</a:t>
            </a:r>
            <a:endParaRPr lang="en-US" sz="800" dirty="0"/>
          </a:p>
        </p:txBody>
      </p:sp>
      <p:sp>
        <p:nvSpPr>
          <p:cNvPr id="62" name="Shape 57"/>
          <p:cNvSpPr/>
          <p:nvPr/>
        </p:nvSpPr>
        <p:spPr>
          <a:xfrm>
            <a:off x="4651248" y="9253728"/>
            <a:ext cx="1969008" cy="256032"/>
          </a:xfrm>
          <a:prstGeom prst="rect">
            <a:avLst/>
          </a:prstGeom>
          <a:solidFill>
            <a:srgbClr val="EBF4FB"/>
          </a:solidFill>
          <a:ln w="12700">
            <a:solidFill>
              <a:srgbClr val="2E6DA4"/>
            </a:solidFill>
            <a:prstDash val="solid"/>
          </a:ln>
        </p:spPr>
      </p:sp>
      <p:sp>
        <p:nvSpPr>
          <p:cNvPr id="63" name="Text 58"/>
          <p:cNvSpPr/>
          <p:nvPr/>
        </p:nvSpPr>
        <p:spPr>
          <a:xfrm>
            <a:off x="4687824" y="9262872"/>
            <a:ext cx="1914144" cy="237744"/>
          </a:xfrm>
          <a:prstGeom prst="rect">
            <a:avLst/>
          </a:prstGeom>
          <a:noFill/>
          <a:ln/>
        </p:spPr>
        <p:txBody>
          <a:bodyPr wrap="square" lIns="0" tIns="0" rIns="0" bIns="0" rtlCol="0" anchor="ctr"/>
          <a:lstStyle/>
          <a:p>
            <a:pPr indent="0" marL="0">
              <a:buNone/>
            </a:pPr>
            <a:r>
              <a:rPr lang="en-US" sz="800" b="1" dirty="0">
                <a:solidFill>
                  <a:srgbClr val="2E6DA4"/>
                </a:solidFill>
                <a:latin typeface="Calibri" pitchFamily="34" charset="0"/>
                <a:ea typeface="Calibri" pitchFamily="34" charset="-122"/>
                <a:cs typeface="Calibri" pitchFamily="34" charset="-120"/>
              </a:rPr>
              <a:t>🚀  Day 88: Week 13 Review — All Book 3 grammar</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2026-04-12T11:07:16Z</dcterms:created>
  <dcterms:modified xsi:type="dcterms:W3CDTF">2026-04-12T11:07:16Z</dcterms:modified>
</cp:coreProperties>
</file>