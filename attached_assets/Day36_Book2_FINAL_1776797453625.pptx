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6858000" cy="9692640"/>
  <p:notesSz cx="969264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· Book 2 · Дунд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20-25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36 · ӨДӨР 36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1A5C8C"/>
          </a:solidFill>
          <a:ln w="12700">
            <a:solidFill>
              <a:srgbClr val="1A5C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Describing People  ·  Хүмүүсийг харьцуулан тайлбарлах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Page 1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A2 Level  ·  Book 2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64592" y="630936"/>
            <a:ext cx="6528816" cy="182880"/>
          </a:xfrm>
          <a:prstGeom prst="rect">
            <a:avLst/>
          </a:prstGeom>
          <a:solidFill>
            <a:srgbClr val="EBF4FB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" y="630936"/>
            <a:ext cx="6419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Learn 20 words   ✦ Grammar: Comparative adjectives — taller, smarter, more beautiful   ✦ Cover &amp; test yourself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79222" y="874166"/>
            <a:ext cx="3310128" cy="8705088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59536"/>
            <a:ext cx="3310128" cy="8705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4592" y="859536"/>
            <a:ext cx="3310128" cy="256032"/>
          </a:xfrm>
          <a:prstGeom prst="rect">
            <a:avLst/>
          </a:prstGeom>
          <a:solidFill>
            <a:srgbClr val="1A5C8C"/>
          </a:solidFill>
          <a:ln w="12700">
            <a:solidFill>
              <a:srgbClr val="1A5C8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4592" y="1115568"/>
            <a:ext cx="3310128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859536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📝  Vocabulary — 20 New Words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56032" y="1124712"/>
            <a:ext cx="31821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aloud 3 times · Cover Mongolian &amp; test yourself!</a:t>
            </a:r>
            <a:endParaRPr lang="en-US" sz="7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" y="1289304"/>
          <a:ext cx="3200400" cy="914400"/>
        </p:xfrm>
        <a:graphic>
          <a:graphicData uri="http://schemas.openxmlformats.org/drawingml/2006/table">
            <a:tbl>
              <a:tblPr/>
              <a:tblGrid>
                <a:gridCol w="182880"/>
                <a:gridCol w="610819"/>
                <a:gridCol w="610819"/>
                <a:gridCol w="794065"/>
                <a:gridCol w="1038393"/>
              </a:tblGrid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Pronunciation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Дуудлага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Mongolian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Монгол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sentence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8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5C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taller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/ˈtɔːlər/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илүү өндөр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 is taller than his brother.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5C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/ˈʃɔːrtər/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илүү намхан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is shorter than me.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5C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/ˈsmɑːrtər/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илүү ухаалаг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 is smarter than I thought.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5C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/ˈfɑːstər/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илүү хурдан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runs faster than anyone.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5C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/ˈstrɒŋər/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илүү хүчтэй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 is stronger than last year.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5C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beautiful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/mɔːr ˈbjuːtɪfəl/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илүү үзэсгэлэнтэй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is more beautiful than ever.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5C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intelligent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/mɔːr ɪnˈtɛlɪdʒənt/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илүү оюунлаг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is more intelligent than him.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5C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interesting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/mɔːr ˈɪntrəstɪŋ/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илүү сонирхолтой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book is more interesting.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5C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expensive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/mɔːr ɪkˈspɛnsɪv/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илүү үнэтэй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jacket is more expensive.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5C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popular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/mɔːr ˈpɒpjʊlər/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илүү алдартай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 is more popular than ever.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5C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than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/ðæn/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 -с (харьцуулах)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 is taller than his friend.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5C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 ... as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/æz ... æz/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 -тай адил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is as tall as her sister.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5C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as ... as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/nɒt æz ... æz/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 -тай адил биш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 is not as fast as her.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5C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similar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/ˈsɪmɪlər/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төстэй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They have similar personalities.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5C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/ˈdɪfrənt/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ялгаатай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Their styles are very different.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5C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personality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/ˌpɜːrsəˈnælɪti/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зан чанар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has a warm personality.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5C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appearance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/əˈpɪərəns/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гадаад төрх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 appearance changed a lot.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5C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character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/ˈkærɪktər/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зан чанар / дүр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 has a strong character.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5C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/kəmˈpɛər/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харьцуулах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Let's compare the two people.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5C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whereas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/wɛərˈæz/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харин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 is tall, whereas Sarnai is short.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219456" y="9290304"/>
            <a:ext cx="3200400" cy="219456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56032" y="9299448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  Smarter /ˈsmɑːrtər/ · Stronger /ˈstrɒŋər/ · More beautiful /mɔːr ˈbjuːtɪfəl/ — 4 syllables!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Comparative-ийн дуудлага: taller = TALL+er · smarter = SMART+er · more beautiful = MORE + beautiful.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3580790" y="874166"/>
            <a:ext cx="3127248" cy="8705088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566160" y="859536"/>
            <a:ext cx="3127248" cy="8705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566160" y="859536"/>
            <a:ext cx="3127248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566160" y="1115568"/>
            <a:ext cx="3127248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657600" y="859536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 Grammar — Comparative adjectives — taller, smarter, more beautiful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3657600" y="1124712"/>
            <a:ext cx="29992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step by step  ·  Алхам алхмаар судлаарай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3648456" y="1289304"/>
            <a:ext cx="2980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adjectives compare TWO people or things. SHORT adjectives (1-2 syllables): add -ER + than → tall→taller, smart→smarter, fast→faster. Irregular spelling: big→bigger (double), nice→nicer (-e). LONG adjectives (3+ syllables): use MORE + adjective + than → more beautiful, more intelligent, more expensive. IRREGULAR: good→better, bad→worse, far→further.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3648456" y="1709928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Харьцуулах тэмдэг нэр нь ХОЁР хүн эсвэл зүйлийг харьцуулдаг. БОГИНО тэмдэг нэр (1-2 үе): -ER + than нэм → tall→taller, smart→smarter. УРТ тэмдэг нэр (3+ үе): MORE + тэмдэг нэр + than → more beautiful, more intelligent. ДУР МЭДЭН хэлбэр: good→better, bad→worse, far→further.</a:t>
            </a:r>
            <a:endParaRPr lang="en-US" sz="75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39312" y="2075688"/>
          <a:ext cx="2980944" cy="914400"/>
        </p:xfrm>
        <a:graphic>
          <a:graphicData uri="http://schemas.openxmlformats.org/drawingml/2006/table">
            <a:tbl>
              <a:tblPr/>
              <a:tblGrid>
                <a:gridCol w="417332"/>
                <a:gridCol w="417332"/>
                <a:gridCol w="536570"/>
                <a:gridCol w="536570"/>
                <a:gridCol w="536570"/>
                <a:gridCol w="536570"/>
              </a:tblGrid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+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−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Монгол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 adj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er + than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 is taller than me.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 is not taller.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he taller than you?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илүү ... (богино)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 adj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+ adj + than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is more beautiful.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is not more beautiful.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she more beautiful?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илүү ... (урт)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irregular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good→better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is better than that.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is not better.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this better?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дур мэдэн хэлбэр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as...as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is as tall as him.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is not as tall as him.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she as tall as him?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 -тай адил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whereas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contrast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 is tall, whereas...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do they differ?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харин / харьцуулбал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</a:tbl>
          </a:graphicData>
        </a:graphic>
      </p:graphicFrame>
      <p:sp>
        <p:nvSpPr>
          <p:cNvPr id="35" name="Shape 31"/>
          <p:cNvSpPr/>
          <p:nvPr/>
        </p:nvSpPr>
        <p:spPr>
          <a:xfrm>
            <a:off x="3639312" y="3273552"/>
            <a:ext cx="2980944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3657600" y="3273552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  Key Forms / Товчилсон хэлбэр</a:t>
            </a:r>
            <a:endParaRPr lang="en-US" sz="800" dirty="0"/>
          </a:p>
        </p:txBody>
      </p:sp>
      <p:sp>
        <p:nvSpPr>
          <p:cNvPr id="37" name="Shape 33"/>
          <p:cNvSpPr/>
          <p:nvPr/>
        </p:nvSpPr>
        <p:spPr>
          <a:xfrm>
            <a:off x="3639312" y="3438144"/>
            <a:ext cx="2980944" cy="274320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3657600" y="3465576"/>
            <a:ext cx="16395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than · smarter than · more beautiful than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than · worse than · further than</a:t>
            </a:r>
            <a:endParaRPr lang="en-US" sz="850" dirty="0"/>
          </a:p>
        </p:txBody>
      </p:sp>
      <p:sp>
        <p:nvSpPr>
          <p:cNvPr id="39" name="Text 35"/>
          <p:cNvSpPr/>
          <p:nvPr/>
        </p:nvSpPr>
        <p:spPr>
          <a:xfrm>
            <a:off x="5297119" y="3465576"/>
            <a:ext cx="13116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Харьцуулах тэмдэг нэрийн дараа ҮРГЭЛЖ 'than' хэрэглэнэ!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THAN · more beautiful THAN — 'then' биш!</a:t>
            </a:r>
            <a:endParaRPr lang="en-US" sz="750" dirty="0"/>
          </a:p>
        </p:txBody>
      </p:sp>
      <p:sp>
        <p:nvSpPr>
          <p:cNvPr id="40" name="Shape 36"/>
          <p:cNvSpPr/>
          <p:nvPr/>
        </p:nvSpPr>
        <p:spPr>
          <a:xfrm>
            <a:off x="3639312" y="3749040"/>
            <a:ext cx="2980944" cy="16459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3657600" y="3749040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  Rules &amp; Usage / Дүрэм &amp; Хэрэглэгдэх хүрээ</a:t>
            </a:r>
            <a:endParaRPr lang="en-US" sz="800" dirty="0"/>
          </a:p>
        </p:txBody>
      </p:sp>
      <p:sp>
        <p:nvSpPr>
          <p:cNvPr id="42" name="Shape 38"/>
          <p:cNvSpPr/>
          <p:nvPr/>
        </p:nvSpPr>
        <p:spPr>
          <a:xfrm>
            <a:off x="3639312" y="3913632"/>
            <a:ext cx="2980944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3657600" y="3941064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B8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1: </a:t>
            </a:r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is NOT TALLER than me. This is NOT MORE EXPENSIVE. She is NOT AS SMART AS him.
</a:t>
            </a:r>
            <a:pPr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2: </a:t>
            </a:r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taller?  WHICH is more expensive?  IS he smarter THAN her?  Are they as tall AS each other?</a:t>
            </a:r>
            <a:endParaRPr lang="en-US" sz="800" dirty="0"/>
          </a:p>
        </p:txBody>
      </p:sp>
      <p:sp>
        <p:nvSpPr>
          <p:cNvPr id="44" name="Shape 40"/>
          <p:cNvSpPr/>
          <p:nvPr/>
        </p:nvSpPr>
        <p:spPr>
          <a:xfrm>
            <a:off x="3639312" y="4261104"/>
            <a:ext cx="1463040" cy="16459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3639312" y="4261104"/>
            <a:ext cx="1463040" cy="16459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Grammar Tip</a:t>
            </a:r>
            <a:endParaRPr lang="en-US" sz="800" dirty="0"/>
          </a:p>
        </p:txBody>
      </p:sp>
      <p:sp>
        <p:nvSpPr>
          <p:cNvPr id="46" name="Shape 42"/>
          <p:cNvSpPr/>
          <p:nvPr/>
        </p:nvSpPr>
        <p:spPr>
          <a:xfrm>
            <a:off x="5138928" y="4261104"/>
            <a:ext cx="1463040" cy="164592"/>
          </a:xfrm>
          <a:prstGeom prst="rect">
            <a:avLst/>
          </a:prstGeom>
          <a:solidFill>
            <a:srgbClr val="B83030"/>
          </a:solidFill>
          <a:ln w="12700">
            <a:solidFill>
              <a:srgbClr val="B83030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138928" y="4261104"/>
            <a:ext cx="1463040" cy="16459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Common Mistakes</a:t>
            </a:r>
            <a:endParaRPr lang="en-US" sz="800" dirty="0"/>
          </a:p>
        </p:txBody>
      </p:sp>
      <p:sp>
        <p:nvSpPr>
          <p:cNvPr id="48" name="Shape 44"/>
          <p:cNvSpPr/>
          <p:nvPr/>
        </p:nvSpPr>
        <p:spPr>
          <a:xfrm>
            <a:off x="3639312" y="4425696"/>
            <a:ext cx="1463040" cy="2144817"/>
          </a:xfrm>
          <a:prstGeom prst="rect">
            <a:avLst/>
          </a:prstGeom>
          <a:solidFill>
            <a:srgbClr val="FEF3DC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3666744" y="4462272"/>
            <a:ext cx="1380744" cy="2089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1-2 syllables: add -er → tall→taller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3+ syllables: use more → more beautiful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Always use 'than' after comparative!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good→better · bad→worse · far→further</a:t>
            </a:r>
            <a:endParaRPr lang="en-US" sz="780" dirty="0"/>
          </a:p>
        </p:txBody>
      </p:sp>
      <p:sp>
        <p:nvSpPr>
          <p:cNvPr id="50" name="Shape 46"/>
          <p:cNvSpPr/>
          <p:nvPr/>
        </p:nvSpPr>
        <p:spPr>
          <a:xfrm>
            <a:off x="5138928" y="4425696"/>
            <a:ext cx="1463040" cy="2144817"/>
          </a:xfrm>
          <a:prstGeom prst="rect">
            <a:avLst/>
          </a:prstGeom>
          <a:solidFill>
            <a:srgbClr val="FDECEA"/>
          </a:solidFill>
          <a:ln w="12700">
            <a:solidFill>
              <a:srgbClr val="B83030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5166360" y="4462272"/>
            <a:ext cx="1380744" cy="2089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He is more tall than me.  ✅ He is TALLER than me.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She is beautifuler.  ✅ She is MORE BEAUTIFUL.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He is taller then me.  ✅ He is taller THAN me.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This is more good.  ✅ This is BETTER.</a:t>
            </a:r>
            <a:endParaRPr lang="en-US" sz="780" dirty="0"/>
          </a:p>
        </p:txBody>
      </p:sp>
      <p:sp>
        <p:nvSpPr>
          <p:cNvPr id="52" name="Shape 48"/>
          <p:cNvSpPr/>
          <p:nvPr/>
        </p:nvSpPr>
        <p:spPr>
          <a:xfrm>
            <a:off x="3639312" y="6607089"/>
            <a:ext cx="2980944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3657600" y="6607089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Quick Practice</a:t>
            </a:r>
            <a:endParaRPr lang="en-US" sz="850" dirty="0"/>
          </a:p>
        </p:txBody>
      </p:sp>
      <p:sp>
        <p:nvSpPr>
          <p:cNvPr id="54" name="Shape 50"/>
          <p:cNvSpPr/>
          <p:nvPr/>
        </p:nvSpPr>
        <p:spPr>
          <a:xfrm>
            <a:off x="3639312" y="6771681"/>
            <a:ext cx="2980944" cy="2902671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graphicFrame>
        <p:nvGraphicFramePr>
          <p:cNvPr id="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0" y="6799113"/>
          <a:ext cx="2944368" cy="914400"/>
        </p:xfrm>
        <a:graphic>
          <a:graphicData uri="http://schemas.openxmlformats.org/drawingml/2006/table">
            <a:tbl>
              <a:tblPr/>
              <a:tblGrid>
                <a:gridCol w="1472184"/>
                <a:gridCol w="1472184"/>
              </a:tblGrid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Bat is _____ than his brother. (tall)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This book is _____ than that one. (interesting)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She is _____ than me. (smart)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Gold is _____ than silver. (expensive)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He runs _____ than anyone. (fast)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 My English is _____ than before. (good→better)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She is _____ beautiful _____ her sister. (as...as)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 Today is _____ than yesterday. (bad→worse)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</a:tr>
            </a:tbl>
          </a:graphicData>
        </a:graphic>
      </p:graphicFrame>
      <p:sp>
        <p:nvSpPr>
          <p:cNvPr id="56" name="Text 51"/>
          <p:cNvSpPr/>
          <p:nvPr/>
        </p:nvSpPr>
        <p:spPr>
          <a:xfrm>
            <a:off x="3666744" y="9341130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Answers: 1-taller · 2-smarter · 3-faster · 4-as/as · 5-more interesting · 6-more expensive · 7-better · 8-worse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· Book 2 · Дунд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20-25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36 · ӨДӨР 36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&amp; Speaking  ·  Унших ба Ярих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Page 2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A2 Level  ·  Book 2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79222" y="627278"/>
            <a:ext cx="6528816" cy="186537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" y="612648"/>
            <a:ext cx="6528816" cy="186537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4592" y="612648"/>
            <a:ext cx="6528816" cy="256032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68680"/>
            <a:ext cx="6528816" cy="146304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6126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 Reading Passage / Унших дасгал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6032" y="87782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 = today's vocab · Read aloud at least twice!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37744" y="1033272"/>
            <a:ext cx="6382512" cy="1380744"/>
          </a:xfrm>
          <a:prstGeom prst="rect">
            <a:avLst/>
          </a:prstGeom>
          <a:solidFill>
            <a:srgbClr val="EBF5F0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0896" y="1069848"/>
            <a:ext cx="623620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1A5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Bat and Dorj are best friends, but they are very different! 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Bat is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taller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than Dorj, but Dorj is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stronger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than Bat. Bat is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more talkative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than Dorj,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8B4A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whereas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Dorj is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quieter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and more serious. In school, Bat is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better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at English and Dorj is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more intelligent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at mathematics. Sarnai thinks Dorj is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more interesting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because he reads more books. But Bat says: "I am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funnier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than Dorj — and laughter is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more important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than anything!" Both boys agree that English is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more useful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than they thought.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79222" y="2565806"/>
            <a:ext cx="3218688" cy="18288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4592" y="2551176"/>
            <a:ext cx="321868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2551176"/>
            <a:ext cx="3218688" cy="25603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4592" y="2807208"/>
            <a:ext cx="3218688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FEF3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255117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🔑  Key Phrases &amp; Translation / Гол хэллэг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56032" y="281635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Цээжил! · Memorize these phrases</a:t>
            </a:r>
            <a:endParaRPr lang="en-US" sz="7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" y="2971800"/>
          <a:ext cx="3108960" cy="914400"/>
        </p:xfrm>
        <a:graphic>
          <a:graphicData uri="http://schemas.openxmlformats.org/drawingml/2006/table">
            <a:tbl>
              <a:tblPr/>
              <a:tblGrid>
                <a:gridCol w="1057046"/>
                <a:gridCol w="1057046"/>
                <a:gridCol w="994867"/>
              </a:tblGrid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 Phrase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Mongolian / Монгол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Grammar Note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 is taller than me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Тэр надаас илүү өндөр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 adj + er + than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is more beautiful than him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Тэр түүнээс илүү үзэсгэлэнтэй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+ long adj + than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 English is better than before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Миний англи хэл өмнөхөөс дээр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 → better (irregular)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is as tall as her sister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Тэр эгчтэйгээ адил өндөр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 + adj + as (equal)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 is tall, whereas Dorj is short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Бат өндөр, харин Дорж намхан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whereas = contrast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is more expensive?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Аль нь илүү үнэтэй вэ?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comparing with 'which'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3489350" y="2565806"/>
            <a:ext cx="3218688" cy="18288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474720" y="2551176"/>
            <a:ext cx="321868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474720" y="2551176"/>
            <a:ext cx="3218688" cy="25603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474720" y="2807208"/>
            <a:ext cx="3218688" cy="146304"/>
          </a:xfrm>
          <a:prstGeom prst="rect">
            <a:avLst/>
          </a:prstGeom>
          <a:solidFill>
            <a:srgbClr val="E0F4F4"/>
          </a:solidFill>
          <a:ln w="12700">
            <a:solidFill>
              <a:srgbClr val="E0F4F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566160" y="255117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🗣️  Speaking Practice / Ярих дасгал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566160" y="281635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OUT LOUD — don't write, just speak!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3557016" y="2971800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OUT LOUD in English — do not write, just speak!
</a:t>
            </a:r>
            <a:pPr indent="0" marL="0">
              <a:lnSpc>
                <a:spcPct val="12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Англиар ЧАНГААР хариулаарай — бичихгүй, зөвхөн ярь!</a:t>
            </a:r>
            <a:endParaRPr lang="en-US" sz="8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3264408"/>
          <a:ext cx="3108960" cy="914400"/>
        </p:xfrm>
        <a:graphic>
          <a:graphicData uri="http://schemas.openxmlformats.org/drawingml/2006/table">
            <a:tbl>
              <a:tblPr/>
              <a:tblGrid>
                <a:gridCol w="3108960"/>
              </a:tblGrid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 Who is taller — you or your best friend?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 Which is more interesting — movies or books? Why?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 Is English more difficult than Mongolian?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 Who is smarter — you or your sibling? (be honest!)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 Which is more expensive — a phone or a laptop?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 Compare two famous people using comparative adjectives!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Shape 34"/>
          <p:cNvSpPr/>
          <p:nvPr/>
        </p:nvSpPr>
        <p:spPr>
          <a:xfrm>
            <a:off x="179222" y="4467758"/>
            <a:ext cx="6528816" cy="511149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164592" y="4453128"/>
            <a:ext cx="6528816" cy="5111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164592" y="4453128"/>
            <a:ext cx="6528816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164592" y="4709160"/>
            <a:ext cx="6528816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256032" y="44531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💬  Role Play / Дүрд тоглох</a:t>
            </a:r>
            <a:endParaRPr lang="en-US" sz="1050" dirty="0"/>
          </a:p>
        </p:txBody>
      </p:sp>
      <p:sp>
        <p:nvSpPr>
          <p:cNvPr id="43" name="Text 39"/>
          <p:cNvSpPr/>
          <p:nvPr/>
        </p:nvSpPr>
        <p:spPr>
          <a:xfrm>
            <a:off x="256032" y="471830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Найзтайгаа дадлагал · Repeat until it sounds natural!</a:t>
            </a:r>
            <a:endParaRPr lang="en-US" sz="750" dirty="0"/>
          </a:p>
        </p:txBody>
      </p:sp>
      <p:graphicFrame>
        <p:nvGraphicFramePr>
          <p:cNvPr id="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37744" y="4873752"/>
          <a:ext cx="6382512" cy="914400"/>
        </p:xfrm>
        <a:graphic>
          <a:graphicData uri="http://schemas.openxmlformats.org/drawingml/2006/table">
            <a:tbl>
              <a:tblPr/>
              <a:tblGrid>
                <a:gridCol w="3191256"/>
                <a:gridCol w="3191256"/>
              </a:tblGrid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Who do you think is taller — Bat or Dorj?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Bat is definitely taller. He grew a lot this year!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But is Bat smarter than Dorj?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Hmm, Dorj is more intelligent at maths.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What about English?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Bat is much better at English than Dorj.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Which subject is more interesting — maths or English?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English is more interesting for me. I love it!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Is Korean more difficult than English?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Yes! Korean is harder than English for me.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Are you as good at English as Sarnai?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No! She is much better than me. But I am improving!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5" name="Shape 40"/>
          <p:cNvSpPr/>
          <p:nvPr/>
        </p:nvSpPr>
        <p:spPr>
          <a:xfrm>
            <a:off x="237744" y="9381744"/>
            <a:ext cx="6382512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292608" y="9390888"/>
            <a:ext cx="62727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 A2 Tip: At A2 level, give full answers with comparisons! Don't say 'yes' — say 'Yes, Seoul is bigger than Ulaanbaatar because...'  ·  Харьцуулах үгс хэрэглэж дэлгэрэнгүй хариулт өг!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· Book 2 · Дунд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15-20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36 · ӨДӨР 36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· Practice · Homework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🎧 Page 3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A2 Level  ·  Book 2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79222" y="627278"/>
            <a:ext cx="6528816" cy="195681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" y="612648"/>
            <a:ext cx="6528816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4592" y="612648"/>
            <a:ext cx="6528816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68680"/>
            <a:ext cx="6528816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6126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🎧  Listening Script / Сонсох текст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6032" y="87782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10 questions WITHOUT looking at the text!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37744" y="1033272"/>
            <a:ext cx="6382512" cy="1481328"/>
          </a:xfrm>
          <a:prstGeom prst="rect">
            <a:avLst/>
          </a:prstGeom>
          <a:solidFill>
            <a:srgbClr val="F4F8FC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" y="1069848"/>
            <a:ext cx="627278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we compare! Bat, are you taller than Dorj?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Yes! I am taller than Dorj. But he is stronger than me.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Interesting! Who is smarter?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Dorj is more intelligent at maths. But I am better at English!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Sarnai, which subject is more interesting — maths or English?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Sarnai: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is definitely more interesting than maths for me. And it is more useful too!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English more difficult than Mongolian?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Sarnai: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English grammar is more complex. But Mongolian spelling is worse than English!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Ha! Every language has its challenges. The more you practise, the better you get!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79222" y="2657246"/>
            <a:ext cx="3218688" cy="32004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4592" y="2642616"/>
            <a:ext cx="321868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2642616"/>
            <a:ext cx="3218688" cy="25603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4592" y="2898648"/>
            <a:ext cx="3218688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264261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Comprehension Questions (10)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56032" y="290779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best answer.</a:t>
            </a:r>
            <a:endParaRPr lang="en-US" sz="7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3063240"/>
          <a:ext cx="3090672" cy="914400"/>
        </p:xfrm>
        <a:graphic>
          <a:graphicData uri="http://schemas.openxmlformats.org/drawingml/2006/table">
            <a:tbl>
              <a:tblPr/>
              <a:tblGrid>
                <a:gridCol w="247254"/>
                <a:gridCol w="1236269"/>
                <a:gridCol w="1607149"/>
              </a:tblGrid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is taller — Bat or Dorj?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Dorj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they are the same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Bat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is stronger?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Bat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Dorj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they are equal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is better at maths?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Bat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they are equal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Dorj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is better at English?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Dorj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Bat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Sarnai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subject does Sarnai prefer?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maths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science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English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does Sarnai prefer English?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it is easier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it is more interesting and useful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she has a better teacher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English more difficult than Mongolian?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no, it is easier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yes, grammar is more complex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they are the same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does the teacher say about Mongolian?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it is easier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spelling is worse than English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it is more logical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does the teacher say about practice?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it is boring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more practice = getting better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it takes too long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comparative is irregular?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taller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more interesting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better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3489350" y="2657246"/>
            <a:ext cx="3218688" cy="32004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474720" y="2642616"/>
            <a:ext cx="321868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474720" y="2642616"/>
            <a:ext cx="3218688" cy="25603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474720" y="2898648"/>
            <a:ext cx="3218688" cy="146304"/>
          </a:xfrm>
          <a:prstGeom prst="rect">
            <a:avLst/>
          </a:prstGeom>
          <a:solidFill>
            <a:srgbClr val="E0F4F4"/>
          </a:solidFill>
          <a:ln w="12700">
            <a:solidFill>
              <a:srgbClr val="E0F4F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566160" y="264261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✏️  Grammar Practice &amp; Matching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3529584" y="3063240"/>
            <a:ext cx="3108960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557016" y="3063240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the blank — comparative adjectives</a:t>
            </a:r>
            <a:endParaRPr lang="en-US" sz="8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3227832"/>
          <a:ext cx="3108960" cy="914400"/>
        </p:xfrm>
        <a:graphic>
          <a:graphicData uri="http://schemas.openxmlformats.org/drawingml/2006/table">
            <a:tbl>
              <a:tblPr/>
              <a:tblGrid>
                <a:gridCol w="3108960"/>
              </a:tblGrid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Bat is _____ than his brother. (tall→taller)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This book is _____ than that one. (interesting)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She is _____ than me. (smart→smarter)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Gold is _____ than silver. (expensive)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My English is _____ than before. (good→better)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Today is _____ than yesterday. (bad→worse)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Shape 34"/>
          <p:cNvSpPr/>
          <p:nvPr/>
        </p:nvSpPr>
        <p:spPr>
          <a:xfrm>
            <a:off x="3529584" y="4478731"/>
            <a:ext cx="3108960" cy="16459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3557016" y="4478731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— English → Mongolian</a:t>
            </a:r>
            <a:endParaRPr lang="en-US" sz="800" dirty="0"/>
          </a:p>
        </p:txBody>
      </p:sp>
      <p:graphicFrame>
        <p:nvGraphicFramePr>
          <p:cNvPr id="1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4643323"/>
          <a:ext cx="3108960" cy="914400"/>
        </p:xfrm>
        <a:graphic>
          <a:graphicData uri="http://schemas.openxmlformats.org/drawingml/2006/table">
            <a:tbl>
              <a:tblPr/>
              <a:tblGrid>
                <a:gridCol w="1616659"/>
                <a:gridCol w="1492301"/>
              </a:tblGrid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taller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 илүү сонирхолтой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smarter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 илүү хурдан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more interesting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C. илүү өндөр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faster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D. илүү ухаалаг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better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E. илүү сайн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</a:tbl>
          </a:graphicData>
        </a:graphic>
      </p:graphicFrame>
      <p:sp>
        <p:nvSpPr>
          <p:cNvPr id="41" name="Shape 36"/>
          <p:cNvSpPr/>
          <p:nvPr/>
        </p:nvSpPr>
        <p:spPr>
          <a:xfrm>
            <a:off x="179222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164592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164592" y="5916168"/>
            <a:ext cx="2115312" cy="25603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164592" y="6172200"/>
            <a:ext cx="2115312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FEF3DC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256032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📝  Homework / Гэрийн даалгавар</a:t>
            </a:r>
            <a:endParaRPr lang="en-US" sz="1050" dirty="0"/>
          </a:p>
        </p:txBody>
      </p:sp>
      <p:sp>
        <p:nvSpPr>
          <p:cNvPr id="46" name="Text 41"/>
          <p:cNvSpPr/>
          <p:nvPr/>
        </p:nvSpPr>
        <p:spPr>
          <a:xfrm>
            <a:off x="256032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Маргааш болохоос өмнө дуусга</a:t>
            </a:r>
            <a:endParaRPr lang="en-US" sz="750" dirty="0"/>
          </a:p>
        </p:txBody>
      </p:sp>
      <p:sp>
        <p:nvSpPr>
          <p:cNvPr id="47" name="Text 42"/>
          <p:cNvSpPr/>
          <p:nvPr/>
        </p:nvSpPr>
        <p:spPr>
          <a:xfrm>
            <a:off x="256032" y="6345936"/>
            <a:ext cx="196900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Writing: Write 5 sentences comparing yourself to a family member or friend using comparatives.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Vocabulary: Write all spelling rules — when to add -er and when to use 'more'.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Speaking: Compare two famous Mongolians using 5 comparative adjectives.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Review: Short adj (1-2 syl) → +er · Long adj (3+ syl) → more · good→better · bad→worse
</a:t>
            </a:r>
            <a:endParaRPr lang="en-US" sz="950" dirty="0"/>
          </a:p>
        </p:txBody>
      </p:sp>
      <p:sp>
        <p:nvSpPr>
          <p:cNvPr id="48" name="Shape 43"/>
          <p:cNvSpPr/>
          <p:nvPr/>
        </p:nvSpPr>
        <p:spPr>
          <a:xfrm>
            <a:off x="2385974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2371344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2371344" y="5916168"/>
            <a:ext cx="2115312" cy="256032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2371344" y="6172200"/>
            <a:ext cx="2115312" cy="146304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2462784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🔑  Answer Key / Хариулт</a:t>
            </a:r>
            <a:endParaRPr lang="en-US" sz="1050" dirty="0"/>
          </a:p>
        </p:txBody>
      </p:sp>
      <p:sp>
        <p:nvSpPr>
          <p:cNvPr id="53" name="Text 48"/>
          <p:cNvSpPr/>
          <p:nvPr/>
        </p:nvSpPr>
        <p:spPr>
          <a:xfrm>
            <a:off x="2462784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honestly!</a:t>
            </a:r>
            <a:endParaRPr lang="en-US" sz="750" dirty="0"/>
          </a:p>
        </p:txBody>
      </p:sp>
      <p:sp>
        <p:nvSpPr>
          <p:cNvPr id="54" name="Text 49"/>
          <p:cNvSpPr/>
          <p:nvPr/>
        </p:nvSpPr>
        <p:spPr>
          <a:xfrm>
            <a:off x="2462784" y="6345936"/>
            <a:ext cx="196900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blanks: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1-taller · 2-more interesting · 3-smarter · 4-more expensive · 5-better · 6-worse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1-C · 2-D · 3-A · 4-B · 5-E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(1–10):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1-c · 2-b · 3-c · 4-b · 5-c
6-b · 7-b · 8-b · 9-b · 10-c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</a:t>
            </a:r>
            <a:pPr indent="0" marL="0">
              <a:lnSpc>
                <a:spcPct val="195000"/>
              </a:lnSpc>
              <a:buNone/>
            </a:pPr>
            <a:r>
              <a:rPr lang="en-US" sz="8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Mistakes help you learn!</a:t>
            </a:r>
            <a:endParaRPr lang="en-US" sz="900" dirty="0"/>
          </a:p>
        </p:txBody>
      </p:sp>
      <p:sp>
        <p:nvSpPr>
          <p:cNvPr id="55" name="Shape 50"/>
          <p:cNvSpPr/>
          <p:nvPr/>
        </p:nvSpPr>
        <p:spPr>
          <a:xfrm>
            <a:off x="4592726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56" name="Shape 51"/>
          <p:cNvSpPr/>
          <p:nvPr/>
        </p:nvSpPr>
        <p:spPr>
          <a:xfrm>
            <a:off x="4578096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4578096" y="5916168"/>
            <a:ext cx="2115312" cy="25603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8" name="Shape 53"/>
          <p:cNvSpPr/>
          <p:nvPr/>
        </p:nvSpPr>
        <p:spPr>
          <a:xfrm>
            <a:off x="4578096" y="6172200"/>
            <a:ext cx="2115312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59" name="Text 54"/>
          <p:cNvSpPr/>
          <p:nvPr/>
        </p:nvSpPr>
        <p:spPr>
          <a:xfrm>
            <a:off x="4669536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🌟  Day 36 Complete!</a:t>
            </a:r>
            <a:endParaRPr lang="en-US" sz="1050" dirty="0"/>
          </a:p>
        </p:txBody>
      </p:sp>
      <p:sp>
        <p:nvSpPr>
          <p:cNvPr id="60" name="Text 55"/>
          <p:cNvSpPr/>
          <p:nvPr/>
        </p:nvSpPr>
        <p:spPr>
          <a:xfrm>
            <a:off x="4669536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 completed:</a:t>
            </a:r>
            <a:endParaRPr lang="en-US" sz="750" dirty="0"/>
          </a:p>
        </p:txBody>
      </p:sp>
      <p:sp>
        <p:nvSpPr>
          <p:cNvPr id="61" name="Text 56"/>
          <p:cNvSpPr/>
          <p:nvPr/>
        </p:nvSpPr>
        <p:spPr>
          <a:xfrm>
            <a:off x="4669536" y="6345936"/>
            <a:ext cx="1969008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20 харьцуулах үг · 20 comparison words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Comparative adjectives — -er / more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Хүмүүсийг харьцуулан уншсан · Read comparisons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Дасгал · Grammar practice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Ярих дасгал · Speaking practice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Сонсох · Listening practice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Хүмүүсийг харьцуулж сурсан · Compared people</a:t>
            </a:r>
            <a:endParaRPr lang="en-US" sz="800" dirty="0"/>
          </a:p>
        </p:txBody>
      </p:sp>
      <p:sp>
        <p:nvSpPr>
          <p:cNvPr id="62" name="Shape 57"/>
          <p:cNvSpPr/>
          <p:nvPr/>
        </p:nvSpPr>
        <p:spPr>
          <a:xfrm>
            <a:off x="4651248" y="9253728"/>
            <a:ext cx="1969008" cy="256032"/>
          </a:xfrm>
          <a:prstGeom prst="rect">
            <a:avLst/>
          </a:prstGeom>
          <a:solidFill>
            <a:srgbClr val="EBF4FB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4687824" y="9262872"/>
            <a:ext cx="1914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Day 37: Comparing Things &amp; Places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2026-04-04T03:09:24Z</dcterms:created>
  <dcterms:modified xsi:type="dcterms:W3CDTF">2026-04-04T03:09:24Z</dcterms:modified>
</cp:coreProperties>
</file>