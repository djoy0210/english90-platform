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</p:sldIdLst>
  <p:notesMasterIdLst>
    <p:notesMasterId r:id="rId5"/>
  </p:notesMasterIdLst>
  <p:sldSz cx="6858000" cy="9692640"/>
  <p:notesSz cx="9692640" cy="6858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notesMaster" Target="notesMasters/notesMaster1.xml"/><Relationship Id="rId6" Type="http://schemas.openxmlformats.org/officeDocument/2006/relationships/presProps" Target="presProps.xml"/><Relationship Id="rId7" Type="http://schemas.openxmlformats.org/officeDocument/2006/relationships/viewProps" Target="viewProps.xml"/><Relationship Id="rId8" Type="http://schemas.openxmlformats.org/officeDocument/2006/relationships/theme" Target="theme/theme1.xml"/><Relationship Id="rId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2F6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6858000" cy="347472"/>
          </a:xfrm>
          <a:prstGeom prst="rect">
            <a:avLst/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50292" cy="347472"/>
          </a:xfrm>
          <a:prstGeom prst="rect">
            <a:avLst/>
          </a:prstGeom>
          <a:solidFill>
            <a:srgbClr val="F2C93A"/>
          </a:solidFill>
          <a:ln w="12700">
            <a:solidFill>
              <a:srgbClr val="F2C93A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00584" y="0"/>
            <a:ext cx="3657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2C93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Speak English in 90 Days</a:t>
            </a:r>
            <a:endParaRPr lang="en-US" sz="1350" dirty="0"/>
          </a:p>
        </p:txBody>
      </p:sp>
      <p:sp>
        <p:nvSpPr>
          <p:cNvPr id="5" name="Text 3"/>
          <p:cNvSpPr/>
          <p:nvPr/>
        </p:nvSpPr>
        <p:spPr>
          <a:xfrm>
            <a:off x="3657600" y="0"/>
            <a:ext cx="1920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90AA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B1 · Book 3 · Дэвшилтэт шат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5577840" y="0"/>
            <a:ext cx="117043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F2C9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25-30 минут</a:t>
            </a:r>
            <a:endParaRPr lang="en-US" sz="850" dirty="0"/>
          </a:p>
        </p:txBody>
      </p:sp>
      <p:sp>
        <p:nvSpPr>
          <p:cNvPr id="7" name="Shape 5"/>
          <p:cNvSpPr/>
          <p:nvPr/>
        </p:nvSpPr>
        <p:spPr>
          <a:xfrm>
            <a:off x="0" y="347472"/>
            <a:ext cx="1335024" cy="237744"/>
          </a:xfrm>
          <a:prstGeom prst="rect">
            <a:avLst/>
          </a:prstGeom>
          <a:solidFill>
            <a:srgbClr val="F2C93A"/>
          </a:solidFill>
          <a:ln w="12700">
            <a:solidFill>
              <a:srgbClr val="F2C93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0" y="347472"/>
            <a:ext cx="133502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1A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61 · ӨДӨР 61</a:t>
            </a:r>
            <a:endParaRPr lang="en-US" sz="850" dirty="0"/>
          </a:p>
        </p:txBody>
      </p:sp>
      <p:sp>
        <p:nvSpPr>
          <p:cNvPr id="9" name="Shape 7"/>
          <p:cNvSpPr/>
          <p:nvPr/>
        </p:nvSpPr>
        <p:spPr>
          <a:xfrm>
            <a:off x="1335024" y="347472"/>
            <a:ext cx="4498848" cy="237744"/>
          </a:xfrm>
          <a:prstGeom prst="rect">
            <a:avLst/>
          </a:prstGeom>
          <a:solidFill>
            <a:srgbClr val="5A1A8C"/>
          </a:solidFill>
          <a:ln w="12700">
            <a:solidFill>
              <a:srgbClr val="5A1A8C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408176" y="347472"/>
            <a:ext cx="442569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Storytelling  ·  Түүх ярих</a:t>
            </a:r>
            <a:endParaRPr lang="en-US" sz="850" dirty="0"/>
          </a:p>
        </p:txBody>
      </p:sp>
      <p:sp>
        <p:nvSpPr>
          <p:cNvPr id="11" name="Shape 9"/>
          <p:cNvSpPr/>
          <p:nvPr/>
        </p:nvSpPr>
        <p:spPr>
          <a:xfrm>
            <a:off x="5833872" y="347472"/>
            <a:ext cx="1024128" cy="237744"/>
          </a:xfrm>
          <a:prstGeom prst="rect">
            <a:avLst/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760720" y="347472"/>
            <a:ext cx="104241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F2C9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📖 Page 1</a:t>
            </a:r>
            <a:endParaRPr lang="en-US" sz="750" dirty="0"/>
          </a:p>
        </p:txBody>
      </p:sp>
      <p:sp>
        <p:nvSpPr>
          <p:cNvPr id="13" name="Shape 11"/>
          <p:cNvSpPr/>
          <p:nvPr/>
        </p:nvSpPr>
        <p:spPr>
          <a:xfrm>
            <a:off x="0" y="9601200"/>
            <a:ext cx="6858000" cy="91440"/>
          </a:xfrm>
          <a:prstGeom prst="rect">
            <a:avLst/>
          </a:prstGeom>
          <a:solidFill>
            <a:srgbClr val="E4EEF6"/>
          </a:solidFill>
          <a:ln w="12700">
            <a:solidFill>
              <a:srgbClr val="E4EEF6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0" y="9601200"/>
            <a:ext cx="6858000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dirty="0">
                <a:solidFill>
                  <a:srgbClr val="7A90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Speak English in 90 Days  ·  B1 Level  ·  Book 3</a:t>
            </a:r>
            <a:endParaRPr lang="en-US" sz="650" dirty="0"/>
          </a:p>
        </p:txBody>
      </p:sp>
      <p:sp>
        <p:nvSpPr>
          <p:cNvPr id="15" name="Shape 13"/>
          <p:cNvSpPr/>
          <p:nvPr/>
        </p:nvSpPr>
        <p:spPr>
          <a:xfrm>
            <a:off x="164592" y="630936"/>
            <a:ext cx="6528816" cy="182880"/>
          </a:xfrm>
          <a:prstGeom prst="rect">
            <a:avLst/>
          </a:prstGeom>
          <a:solidFill>
            <a:srgbClr val="EBF4FB"/>
          </a:solidFill>
          <a:ln w="12700">
            <a:solidFill>
              <a:srgbClr val="2E6DA4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246888" y="630936"/>
            <a:ext cx="641908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1A4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✦ Learn 20 words   ✦ Grammar: Past Continuous — was/were + -ing (background action in a story)   ✦ Cover &amp; test yourself</a:t>
            </a:r>
            <a:endParaRPr lang="en-US" sz="800" dirty="0"/>
          </a:p>
        </p:txBody>
      </p:sp>
      <p:sp>
        <p:nvSpPr>
          <p:cNvPr id="17" name="Shape 15"/>
          <p:cNvSpPr/>
          <p:nvPr/>
        </p:nvSpPr>
        <p:spPr>
          <a:xfrm>
            <a:off x="179222" y="874166"/>
            <a:ext cx="3310128" cy="8705088"/>
          </a:xfrm>
          <a:prstGeom prst="rect">
            <a:avLst/>
          </a:prstGeom>
          <a:solidFill>
            <a:srgbClr val="D0DCE8"/>
          </a:solidFill>
          <a:ln w="12700">
            <a:solidFill>
              <a:srgbClr val="D0DCE8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164592" y="859536"/>
            <a:ext cx="3310128" cy="8705088"/>
          </a:xfrm>
          <a:prstGeom prst="rect">
            <a:avLst/>
          </a:prstGeom>
          <a:solidFill>
            <a:srgbClr val="FFFFFF"/>
          </a:solidFill>
          <a:ln w="12700">
            <a:solidFill>
              <a:srgbClr val="C8D8E8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164592" y="859536"/>
            <a:ext cx="3310128" cy="256032"/>
          </a:xfrm>
          <a:prstGeom prst="rect">
            <a:avLst/>
          </a:prstGeom>
          <a:solidFill>
            <a:srgbClr val="5A1A8C"/>
          </a:solidFill>
          <a:ln w="12700">
            <a:solidFill>
              <a:srgbClr val="5A1A8C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164592" y="1115568"/>
            <a:ext cx="3310128" cy="146304"/>
          </a:xfrm>
          <a:prstGeom prst="rect">
            <a:avLst/>
          </a:prstGeom>
          <a:solidFill>
            <a:srgbClr val="EBF4FB"/>
          </a:solidFill>
          <a:ln w="12700">
            <a:solidFill>
              <a:srgbClr val="EBF4FB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256032" y="859536"/>
            <a:ext cx="318211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📝  Vocabulary — 20 New Words</a:t>
            </a:r>
            <a:endParaRPr lang="en-US" sz="1050" dirty="0"/>
          </a:p>
        </p:txBody>
      </p:sp>
      <p:sp>
        <p:nvSpPr>
          <p:cNvPr id="22" name="Text 20"/>
          <p:cNvSpPr/>
          <p:nvPr/>
        </p:nvSpPr>
        <p:spPr>
          <a:xfrm>
            <a:off x="256032" y="1124712"/>
            <a:ext cx="3182112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i="1" dirty="0">
                <a:solidFill>
                  <a:srgbClr val="3A5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 aloud 3 times · Cover Mongolian &amp; test yourself!</a:t>
            </a:r>
            <a:endParaRPr lang="en-US" sz="750" dirty="0"/>
          </a:p>
        </p:txBody>
      </p:sp>
      <p:graphicFrame>
        <p:nvGraphicFramePr>
          <p:cNvPr id="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219456" y="1289304"/>
          <a:ext cx="3200400" cy="914400"/>
        </p:xfrm>
        <a:graphic>
          <a:graphicData uri="http://schemas.openxmlformats.org/drawingml/2006/table">
            <a:tbl>
              <a:tblPr/>
              <a:tblGrid>
                <a:gridCol w="182880"/>
                <a:gridCol w="610819"/>
                <a:gridCol w="610819"/>
                <a:gridCol w="794065"/>
                <a:gridCol w="1038393"/>
              </a:tblGrid>
              <a:tr h="3520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#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A1A8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English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A1A8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Pronunciation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US" sz="7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Дуудлага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A1A8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Mongolian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US" sz="7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Монгол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A1A8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Example sentence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A1A8C"/>
                    </a:solidFill>
                  </a:tcPr>
                </a:tc>
              </a:tr>
              <a:tr h="3520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dirty="0">
                          <a:solidFill>
                            <a:srgbClr val="7A90A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b="1" dirty="0">
                          <a:solidFill>
                            <a:srgbClr val="5A1A8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was sleeping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i="1" dirty="0">
                          <a:solidFill>
                            <a:srgbClr val="3A506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/wɒz ˈsliːpɪŋ/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dirty="0">
                          <a:solidFill>
                            <a:srgbClr val="1A2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унтаж байсан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00" i="1" dirty="0">
                          <a:solidFill>
                            <a:srgbClr val="7A90A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 was sleeping when it rang.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</a:tr>
              <a:tr h="3520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dirty="0">
                          <a:solidFill>
                            <a:srgbClr val="7A90A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b="1" dirty="0">
                          <a:solidFill>
                            <a:srgbClr val="5A1A8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were talking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i="1" dirty="0">
                          <a:solidFill>
                            <a:srgbClr val="3A506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/wɜːr ˈtɔːkɪŋ/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dirty="0">
                          <a:solidFill>
                            <a:srgbClr val="1A2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ярьж байсан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00" i="1" dirty="0">
                          <a:solidFill>
                            <a:srgbClr val="7A90A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They were talking all evening.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520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dirty="0">
                          <a:solidFill>
                            <a:srgbClr val="7A90A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b="1" dirty="0">
                          <a:solidFill>
                            <a:srgbClr val="5A1A8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was raining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i="1" dirty="0">
                          <a:solidFill>
                            <a:srgbClr val="3A506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/wɒz ˈreɪnɪŋ/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dirty="0">
                          <a:solidFill>
                            <a:srgbClr val="1A2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бороо орж байсан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00" i="1" dirty="0">
                          <a:solidFill>
                            <a:srgbClr val="7A90A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It was raining when I left.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</a:tr>
              <a:tr h="3520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dirty="0">
                          <a:solidFill>
                            <a:srgbClr val="7A90A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b="1" dirty="0">
                          <a:solidFill>
                            <a:srgbClr val="5A1A8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was working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i="1" dirty="0">
                          <a:solidFill>
                            <a:srgbClr val="3A506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/wɒz ˈwɜːrkɪŋ/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dirty="0">
                          <a:solidFill>
                            <a:srgbClr val="1A2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ажиллаж байсан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00" i="1" dirty="0">
                          <a:solidFill>
                            <a:srgbClr val="7A90A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She was working late last night.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520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dirty="0">
                          <a:solidFill>
                            <a:srgbClr val="7A90A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b="1" dirty="0">
                          <a:solidFill>
                            <a:srgbClr val="5A1A8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were studying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i="1" dirty="0">
                          <a:solidFill>
                            <a:srgbClr val="3A506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/wɜːr ˈstʌdiɪŋ/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dirty="0">
                          <a:solidFill>
                            <a:srgbClr val="1A2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суралцаж байсан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00" i="1" dirty="0">
                          <a:solidFill>
                            <a:srgbClr val="7A90A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We were studying all afternoon.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</a:tr>
              <a:tr h="3520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dirty="0">
                          <a:solidFill>
                            <a:srgbClr val="7A90A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b="1" dirty="0">
                          <a:solidFill>
                            <a:srgbClr val="5A1A8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was walking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i="1" dirty="0">
                          <a:solidFill>
                            <a:srgbClr val="3A506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/wɒz ˈwɔːkɪŋ/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dirty="0">
                          <a:solidFill>
                            <a:srgbClr val="1A2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явган явж байсан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00" i="1" dirty="0">
                          <a:solidFill>
                            <a:srgbClr val="7A90A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He was walking home when it happened.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520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dirty="0">
                          <a:solidFill>
                            <a:srgbClr val="7A90A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b="1" dirty="0">
                          <a:solidFill>
                            <a:srgbClr val="5A1A8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were playing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i="1" dirty="0">
                          <a:solidFill>
                            <a:srgbClr val="3A506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/wɜːr ˈpleɪɪŋ/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dirty="0">
                          <a:solidFill>
                            <a:srgbClr val="1A2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тоглож байсан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00" i="1" dirty="0">
                          <a:solidFill>
                            <a:srgbClr val="7A90A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The children were playing outside.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</a:tr>
              <a:tr h="3520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dirty="0">
                          <a:solidFill>
                            <a:srgbClr val="7A90A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b="1" dirty="0">
                          <a:solidFill>
                            <a:srgbClr val="5A1A8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was cooking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i="1" dirty="0">
                          <a:solidFill>
                            <a:srgbClr val="3A506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/wɒz ˈkʊkɪŋ/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dirty="0">
                          <a:solidFill>
                            <a:srgbClr val="1A2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хоол хийж байсан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00" i="1" dirty="0">
                          <a:solidFill>
                            <a:srgbClr val="7A90A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She was cooking when I arrived.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520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dirty="0">
                          <a:solidFill>
                            <a:srgbClr val="7A90A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b="1" dirty="0">
                          <a:solidFill>
                            <a:srgbClr val="5A1A8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background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i="1" dirty="0">
                          <a:solidFill>
                            <a:srgbClr val="3A506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/ˈbækɡraʊnd/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dirty="0">
                          <a:solidFill>
                            <a:srgbClr val="1A2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арын үйлдэл / орчин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00" i="1" dirty="0">
                          <a:solidFill>
                            <a:srgbClr val="7A90A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Past Continuous gives background.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</a:tr>
              <a:tr h="3520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dirty="0">
                          <a:solidFill>
                            <a:srgbClr val="7A90A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b="1" dirty="0">
                          <a:solidFill>
                            <a:srgbClr val="5A1A8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interrupt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i="1" dirty="0">
                          <a:solidFill>
                            <a:srgbClr val="3A506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/ˌɪntəˈrʌpt/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dirty="0">
                          <a:solidFill>
                            <a:srgbClr val="1A2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таслах / зогсоох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00" i="1" dirty="0">
                          <a:solidFill>
                            <a:srgbClr val="7A90A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The phone interrupted my sleep.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520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dirty="0">
                          <a:solidFill>
                            <a:srgbClr val="7A90A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11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b="1" dirty="0">
                          <a:solidFill>
                            <a:srgbClr val="5A1A8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suddenly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i="1" dirty="0">
                          <a:solidFill>
                            <a:srgbClr val="3A506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/ˈsʌdənli/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dirty="0">
                          <a:solidFill>
                            <a:srgbClr val="1A2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гэнэт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00" i="1" dirty="0">
                          <a:solidFill>
                            <a:srgbClr val="7A90A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Suddenly, the lights went out.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</a:tr>
              <a:tr h="3520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dirty="0">
                          <a:solidFill>
                            <a:srgbClr val="7A90A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12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b="1" dirty="0">
                          <a:solidFill>
                            <a:srgbClr val="5A1A8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at that moment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i="1" dirty="0">
                          <a:solidFill>
                            <a:srgbClr val="3A506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/æt ðæt ˈmoʊmənt/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dirty="0">
                          <a:solidFill>
                            <a:srgbClr val="1A2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тэр мөчид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00" i="1" dirty="0">
                          <a:solidFill>
                            <a:srgbClr val="7A90A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At that moment, he arrived.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520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dirty="0">
                          <a:solidFill>
                            <a:srgbClr val="7A90A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13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b="1" dirty="0">
                          <a:solidFill>
                            <a:srgbClr val="5A1A8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while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i="1" dirty="0">
                          <a:solidFill>
                            <a:srgbClr val="3A506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/waɪl/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dirty="0">
                          <a:solidFill>
                            <a:srgbClr val="1A2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... байх зуур / харин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00" i="1" dirty="0">
                          <a:solidFill>
                            <a:srgbClr val="7A90A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While I was sleeping, she arrived.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</a:tr>
              <a:tr h="3520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dirty="0">
                          <a:solidFill>
                            <a:srgbClr val="7A90A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14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b="1" dirty="0">
                          <a:solidFill>
                            <a:srgbClr val="5A1A8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meanwhile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i="1" dirty="0">
                          <a:solidFill>
                            <a:srgbClr val="3A506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/ˈmiːnˌwaɪl/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dirty="0">
                          <a:solidFill>
                            <a:srgbClr val="1A2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тэр зуур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00" i="1" dirty="0">
                          <a:solidFill>
                            <a:srgbClr val="7A90A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Meanwhile, Bat was cooking dinner.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520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dirty="0">
                          <a:solidFill>
                            <a:srgbClr val="7A90A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15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b="1" dirty="0">
                          <a:solidFill>
                            <a:srgbClr val="5A1A8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storm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i="1" dirty="0">
                          <a:solidFill>
                            <a:srgbClr val="3A506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/stɔːrm/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dirty="0">
                          <a:solidFill>
                            <a:srgbClr val="1A2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шуурга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00" i="1" dirty="0">
                          <a:solidFill>
                            <a:srgbClr val="7A90A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 storm was coming while we hiked.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</a:tr>
              <a:tr h="3520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dirty="0">
                          <a:solidFill>
                            <a:srgbClr val="7A90A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16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b="1" dirty="0">
                          <a:solidFill>
                            <a:srgbClr val="5A1A8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darkness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i="1" dirty="0">
                          <a:solidFill>
                            <a:srgbClr val="3A506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/ˈdɑːrknəs/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dirty="0">
                          <a:solidFill>
                            <a:srgbClr val="1A2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харанхуй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00" i="1" dirty="0">
                          <a:solidFill>
                            <a:srgbClr val="7A90A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The darkness was falling fast.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520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dirty="0">
                          <a:solidFill>
                            <a:srgbClr val="7A90A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17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b="1" dirty="0">
                          <a:solidFill>
                            <a:srgbClr val="5A1A8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thunder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i="1" dirty="0">
                          <a:solidFill>
                            <a:srgbClr val="3A506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/ˈθʌndər/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dirty="0">
                          <a:solidFill>
                            <a:srgbClr val="1A2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аянга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00" i="1" dirty="0">
                          <a:solidFill>
                            <a:srgbClr val="7A90A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Thunder was rumbling in the distance.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</a:tr>
              <a:tr h="3520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dirty="0">
                          <a:solidFill>
                            <a:srgbClr val="7A90A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18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b="1" dirty="0">
                          <a:solidFill>
                            <a:srgbClr val="5A1A8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scene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i="1" dirty="0">
                          <a:solidFill>
                            <a:srgbClr val="3A506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/siːn/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dirty="0">
                          <a:solidFill>
                            <a:srgbClr val="1A2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үзэгдэл / тандарт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00" i="1" dirty="0">
                          <a:solidFill>
                            <a:srgbClr val="7A90A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Set the scene with Past Continuous.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520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dirty="0">
                          <a:solidFill>
                            <a:srgbClr val="7A90A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19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b="1" dirty="0">
                          <a:solidFill>
                            <a:srgbClr val="5A1A8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atmosphere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i="1" dirty="0">
                          <a:solidFill>
                            <a:srgbClr val="3A506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/ˈætməsfɪər/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dirty="0">
                          <a:solidFill>
                            <a:srgbClr val="1A2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уур амьсгал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00" i="1" dirty="0">
                          <a:solidFill>
                            <a:srgbClr val="7A90A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The atmosphere was tense and quiet.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</a:tr>
              <a:tr h="3520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dirty="0">
                          <a:solidFill>
                            <a:srgbClr val="7A90A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b="1" dirty="0">
                          <a:solidFill>
                            <a:srgbClr val="5A1A8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describe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i="1" dirty="0">
                          <a:solidFill>
                            <a:srgbClr val="3A506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/dɪˈskraɪb/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dirty="0">
                          <a:solidFill>
                            <a:srgbClr val="1A2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тайлбарлах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00" i="1" dirty="0">
                          <a:solidFill>
                            <a:srgbClr val="7A90A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Describe what was happening.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24" name="Shape 21"/>
          <p:cNvSpPr/>
          <p:nvPr/>
        </p:nvSpPr>
        <p:spPr>
          <a:xfrm>
            <a:off x="219456" y="9290304"/>
            <a:ext cx="3200400" cy="219456"/>
          </a:xfrm>
          <a:prstGeom prst="rect">
            <a:avLst/>
          </a:prstGeom>
          <a:solidFill>
            <a:srgbClr val="E0F4F4"/>
          </a:solidFill>
          <a:ln w="12700">
            <a:solidFill>
              <a:srgbClr val="0D7C7B"/>
            </a:solidFill>
            <a:prstDash val="solid"/>
          </a:ln>
        </p:spPr>
      </p:sp>
      <p:sp>
        <p:nvSpPr>
          <p:cNvPr id="25" name="Text 22"/>
          <p:cNvSpPr/>
          <p:nvPr/>
        </p:nvSpPr>
        <p:spPr>
          <a:xfrm>
            <a:off x="256032" y="9299448"/>
            <a:ext cx="312724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750" dirty="0">
                <a:solidFill>
                  <a:srgbClr val="0D7C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🔊  Continuous /kənˈtɪnjuəs/ — 4 syllables · Interrupt /ˌɪntəˈrʌpt/ — 3 syllables</a:t>
            </a:r>
            <a:endParaRPr lang="en-US" sz="75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750" dirty="0">
                <a:solidFill>
                  <a:srgbClr val="0D7C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Continuous — 4 үе: kun-TIN-yoo-us. Meanwhile — 2 үе: MEEN-wyle. Atmosphere — 3 үе: AT-mus-feer.</a:t>
            </a:r>
            <a:endParaRPr lang="en-US" sz="750" dirty="0"/>
          </a:p>
        </p:txBody>
      </p:sp>
      <p:sp>
        <p:nvSpPr>
          <p:cNvPr id="26" name="Shape 23"/>
          <p:cNvSpPr/>
          <p:nvPr/>
        </p:nvSpPr>
        <p:spPr>
          <a:xfrm>
            <a:off x="3580790" y="874166"/>
            <a:ext cx="3127248" cy="8705088"/>
          </a:xfrm>
          <a:prstGeom prst="rect">
            <a:avLst/>
          </a:prstGeom>
          <a:solidFill>
            <a:srgbClr val="D0DCE8"/>
          </a:solidFill>
          <a:ln w="12700">
            <a:solidFill>
              <a:srgbClr val="D0DCE8"/>
            </a:solidFill>
            <a:prstDash val="solid"/>
          </a:ln>
        </p:spPr>
      </p:sp>
      <p:sp>
        <p:nvSpPr>
          <p:cNvPr id="27" name="Shape 24"/>
          <p:cNvSpPr/>
          <p:nvPr/>
        </p:nvSpPr>
        <p:spPr>
          <a:xfrm>
            <a:off x="3566160" y="859536"/>
            <a:ext cx="3127248" cy="8705088"/>
          </a:xfrm>
          <a:prstGeom prst="rect">
            <a:avLst/>
          </a:prstGeom>
          <a:solidFill>
            <a:srgbClr val="FFFFFF"/>
          </a:solidFill>
          <a:ln w="12700">
            <a:solidFill>
              <a:srgbClr val="C8D8E8"/>
            </a:solidFill>
            <a:prstDash val="solid"/>
          </a:ln>
        </p:spPr>
      </p:sp>
      <p:sp>
        <p:nvSpPr>
          <p:cNvPr id="28" name="Shape 25"/>
          <p:cNvSpPr/>
          <p:nvPr/>
        </p:nvSpPr>
        <p:spPr>
          <a:xfrm>
            <a:off x="3566160" y="859536"/>
            <a:ext cx="3127248" cy="256032"/>
          </a:xfrm>
          <a:prstGeom prst="rect">
            <a:avLst/>
          </a:prstGeom>
          <a:solidFill>
            <a:srgbClr val="6B3FA0"/>
          </a:solidFill>
          <a:ln w="12700">
            <a:solidFill>
              <a:srgbClr val="6B3FA0"/>
            </a:solidFill>
            <a:prstDash val="solid"/>
          </a:ln>
        </p:spPr>
      </p:sp>
      <p:sp>
        <p:nvSpPr>
          <p:cNvPr id="29" name="Shape 26"/>
          <p:cNvSpPr/>
          <p:nvPr/>
        </p:nvSpPr>
        <p:spPr>
          <a:xfrm>
            <a:off x="3566160" y="1115568"/>
            <a:ext cx="3127248" cy="146304"/>
          </a:xfrm>
          <a:prstGeom prst="rect">
            <a:avLst/>
          </a:prstGeom>
          <a:solidFill>
            <a:srgbClr val="F0EAFA"/>
          </a:solidFill>
          <a:ln w="12700">
            <a:solidFill>
              <a:srgbClr val="F0EAFA"/>
            </a:solidFill>
            <a:prstDash val="solid"/>
          </a:ln>
        </p:spPr>
      </p:sp>
      <p:sp>
        <p:nvSpPr>
          <p:cNvPr id="30" name="Text 27"/>
          <p:cNvSpPr/>
          <p:nvPr/>
        </p:nvSpPr>
        <p:spPr>
          <a:xfrm>
            <a:off x="3657600" y="859536"/>
            <a:ext cx="29992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📖  Grammar — Past Continuous — was/were + -ing (background action in a story)</a:t>
            </a:r>
            <a:endParaRPr lang="en-US" sz="1050" dirty="0"/>
          </a:p>
        </p:txBody>
      </p:sp>
      <p:sp>
        <p:nvSpPr>
          <p:cNvPr id="31" name="Text 28"/>
          <p:cNvSpPr/>
          <p:nvPr/>
        </p:nvSpPr>
        <p:spPr>
          <a:xfrm>
            <a:off x="3657600" y="1124712"/>
            <a:ext cx="2999232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i="1" dirty="0">
                <a:solidFill>
                  <a:srgbClr val="3A5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Learn step by step  ·  Алхам алхмаар судлаарай</a:t>
            </a:r>
            <a:endParaRPr lang="en-US" sz="750" dirty="0"/>
          </a:p>
        </p:txBody>
      </p:sp>
      <p:sp>
        <p:nvSpPr>
          <p:cNvPr id="32" name="Text 29"/>
          <p:cNvSpPr/>
          <p:nvPr/>
        </p:nvSpPr>
        <p:spPr>
          <a:xfrm>
            <a:off x="3648456" y="1289304"/>
            <a:ext cx="29809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8000"/>
              </a:lnSpc>
              <a:buNone/>
            </a:pPr>
            <a:r>
              <a:rPr lang="en-US" sz="800" dirty="0">
                <a:solidFill>
                  <a:srgbClr val="1A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PAST CONTINUOUS describes a BACKGROUND ACTION or ONGOING SITUATION at a specific time in the past. Form: WAS/WERE + verb-ING. It is often used with PAST SIMPLE to show: 1) A longer background action interrupted by a shorter one: 'I WAS SLEEPING (continuous) when the phone RANG (past simple).' 2) Two parallel actions happening at the same time: 'While she WAS COOKING, he WAS WATCHING TV.' Signal words: when, while, as, at that moment, at 7pm, all morning.</a:t>
            </a:r>
            <a:endParaRPr lang="en-US" sz="800" dirty="0"/>
          </a:p>
        </p:txBody>
      </p:sp>
      <p:sp>
        <p:nvSpPr>
          <p:cNvPr id="33" name="Text 30"/>
          <p:cNvSpPr/>
          <p:nvPr/>
        </p:nvSpPr>
        <p:spPr>
          <a:xfrm>
            <a:off x="3648456" y="1709928"/>
            <a:ext cx="298094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750" dirty="0">
                <a:solidFill>
                  <a:srgbClr val="3A5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ӨНГӨРСӨН ТАСРАЛТГҮЙ ЦАГ нь өнгөрсөн цагийн тодорхой нэг үед болж байсан АРЫН ҮЙЛДЭЛ эсвэл ҮРГЭЛЖИЛЖ БАЙСАН НӨХЦЛИЙГ тайлбарладаг. Хэлбэр: WAS/WERE + үйл үг+ING. Past Simple-тэй хамт хэрэглэгдэж: 1) Урт үйлдлийг богино үйлдэл таслах: 'I WAS SLEEPING when the phone RANG.' 2) Зэрэг явагдаж байсан хоёр үйлдэл: 'While she WAS COOKING, he WAS WATCHING TV.' Дохио үгс: when, while, as, at that moment.</a:t>
            </a:r>
            <a:endParaRPr lang="en-US" sz="750" dirty="0"/>
          </a:p>
        </p:txBody>
      </p:sp>
      <p:graphicFrame>
        <p:nvGraphicFramePr>
          <p:cNvPr id="3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639312" y="2075688"/>
          <a:ext cx="2980944" cy="914400"/>
        </p:xfrm>
        <a:graphic>
          <a:graphicData uri="http://schemas.openxmlformats.org/drawingml/2006/table">
            <a:tbl>
              <a:tblPr/>
              <a:tblGrid>
                <a:gridCol w="417332"/>
                <a:gridCol w="417332"/>
                <a:gridCol w="536570"/>
                <a:gridCol w="536570"/>
                <a:gridCol w="536570"/>
                <a:gridCol w="536570"/>
              </a:tblGrid>
              <a:tr h="19202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Form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3A5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Rule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3A5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Example +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3A5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Example −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3A5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Question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3A5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Монгол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3A5C"/>
                    </a:solidFill>
                  </a:tcPr>
                </a:tc>
              </a:tr>
              <a:tr h="19202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b="1" dirty="0">
                          <a:solidFill>
                            <a:srgbClr val="2E6DA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I/he/she/it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b="1" dirty="0">
                          <a:solidFill>
                            <a:srgbClr val="6B3FA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was + -ing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00" dirty="0">
                          <a:solidFill>
                            <a:srgbClr val="1A2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 was sleeping.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00" dirty="0">
                          <a:solidFill>
                            <a:srgbClr val="B830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 was not sleeping.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00" dirty="0">
                          <a:solidFill>
                            <a:srgbClr val="0D7C7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Was I sleeping?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dirty="0">
                          <a:solidFill>
                            <a:srgbClr val="3A506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... байсан (нэгдмэл)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</a:tr>
              <a:tr h="19202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b="1" dirty="0">
                          <a:solidFill>
                            <a:srgbClr val="2E6DA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you/we/they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b="1" dirty="0">
                          <a:solidFill>
                            <a:srgbClr val="6B3FA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were + -ing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00" dirty="0">
                          <a:solidFill>
                            <a:srgbClr val="1A2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They were talking.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00" dirty="0">
                          <a:solidFill>
                            <a:srgbClr val="B830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They were not talking.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00" dirty="0">
                          <a:solidFill>
                            <a:srgbClr val="0D7C7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Were they talking?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dirty="0">
                          <a:solidFill>
                            <a:srgbClr val="3A506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... байсан (олон тоо)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19202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b="1" dirty="0">
                          <a:solidFill>
                            <a:srgbClr val="2E6DA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while + cont.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b="1" dirty="0">
                          <a:solidFill>
                            <a:srgbClr val="6B3FA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parallel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00" dirty="0">
                          <a:solidFill>
                            <a:srgbClr val="1A2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While I was reading, she was cooking.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00" dirty="0">
                          <a:solidFill>
                            <a:srgbClr val="B830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00" dirty="0">
                          <a:solidFill>
                            <a:srgbClr val="0D7C7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What were you doing while...?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dirty="0">
                          <a:solidFill>
                            <a:srgbClr val="3A506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... байх зуур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</a:tr>
              <a:tr h="19202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b="1" dirty="0">
                          <a:solidFill>
                            <a:srgbClr val="2E6DA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when + simple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b="1" dirty="0">
                          <a:solidFill>
                            <a:srgbClr val="6B3FA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interruption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00" dirty="0">
                          <a:solidFill>
                            <a:srgbClr val="1A2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 was sleeping when it rang.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00" dirty="0">
                          <a:solidFill>
                            <a:srgbClr val="B830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00" dirty="0">
                          <a:solidFill>
                            <a:srgbClr val="0D7C7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What were you doing when...?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dirty="0">
                          <a:solidFill>
                            <a:srgbClr val="3A506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... үед (таслав)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19202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b="1" dirty="0">
                          <a:solidFill>
                            <a:srgbClr val="2E6DA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at 7pm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b="1" dirty="0">
                          <a:solidFill>
                            <a:srgbClr val="6B3FA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specific time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00" dirty="0">
                          <a:solidFill>
                            <a:srgbClr val="1A2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At 7pm, we were eating dinner.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00" dirty="0">
                          <a:solidFill>
                            <a:srgbClr val="B830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00" dirty="0">
                          <a:solidFill>
                            <a:srgbClr val="0D7C7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What were you doing at 7pm?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dirty="0">
                          <a:solidFill>
                            <a:srgbClr val="3A506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... цагт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</a:tr>
            </a:tbl>
          </a:graphicData>
        </a:graphic>
      </p:graphicFrame>
      <p:sp>
        <p:nvSpPr>
          <p:cNvPr id="35" name="Shape 31"/>
          <p:cNvSpPr/>
          <p:nvPr/>
        </p:nvSpPr>
        <p:spPr>
          <a:xfrm>
            <a:off x="3639312" y="3273552"/>
            <a:ext cx="2980944" cy="164592"/>
          </a:xfrm>
          <a:prstGeom prst="rect">
            <a:avLst/>
          </a:prstGeom>
          <a:solidFill>
            <a:srgbClr val="0D7C7B"/>
          </a:solidFill>
          <a:ln w="12700">
            <a:solidFill>
              <a:srgbClr val="0D7C7B"/>
            </a:solidFill>
            <a:prstDash val="solid"/>
          </a:ln>
        </p:spPr>
      </p:sp>
      <p:sp>
        <p:nvSpPr>
          <p:cNvPr id="36" name="Text 32"/>
          <p:cNvSpPr/>
          <p:nvPr/>
        </p:nvSpPr>
        <p:spPr>
          <a:xfrm>
            <a:off x="3657600" y="3273552"/>
            <a:ext cx="298094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✂  Key Forms</a:t>
            </a:r>
            <a:endParaRPr lang="en-US" sz="800" dirty="0"/>
          </a:p>
        </p:txBody>
      </p:sp>
      <p:sp>
        <p:nvSpPr>
          <p:cNvPr id="37" name="Shape 33"/>
          <p:cNvSpPr/>
          <p:nvPr/>
        </p:nvSpPr>
        <p:spPr>
          <a:xfrm>
            <a:off x="3639312" y="3438144"/>
            <a:ext cx="2980944" cy="274320"/>
          </a:xfrm>
          <a:prstGeom prst="rect">
            <a:avLst/>
          </a:prstGeom>
          <a:solidFill>
            <a:srgbClr val="E0F4F4"/>
          </a:solidFill>
          <a:ln w="12700">
            <a:solidFill>
              <a:srgbClr val="0D7C7B"/>
            </a:solidFill>
            <a:prstDash val="solid"/>
          </a:ln>
        </p:spPr>
      </p:sp>
      <p:sp>
        <p:nvSpPr>
          <p:cNvPr id="38" name="Text 34"/>
          <p:cNvSpPr/>
          <p:nvPr/>
        </p:nvSpPr>
        <p:spPr>
          <a:xfrm>
            <a:off x="3657600" y="3465576"/>
            <a:ext cx="1639519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850" b="1" dirty="0">
                <a:solidFill>
                  <a:srgbClr val="0D7C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was not = wasn't · were not = weren't</a:t>
            </a:r>
            <a:endParaRPr lang="en-US" sz="85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850" b="1" dirty="0">
                <a:solidFill>
                  <a:srgbClr val="0D7C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 was sleeping. (not 'I were sleeping'!) · They were eating. (not 'They was eating!')</a:t>
            </a:r>
            <a:endParaRPr lang="en-US" sz="850" dirty="0"/>
          </a:p>
        </p:txBody>
      </p:sp>
      <p:sp>
        <p:nvSpPr>
          <p:cNvPr id="39" name="Text 35"/>
          <p:cNvSpPr/>
          <p:nvPr/>
        </p:nvSpPr>
        <p:spPr>
          <a:xfrm>
            <a:off x="5297119" y="3465576"/>
            <a:ext cx="1311615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750" i="1" dirty="0">
                <a:solidFill>
                  <a:srgbClr val="3A5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wasn't = was not · weren't = were not</a:t>
            </a:r>
            <a:endParaRPr lang="en-US" sz="75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750" i="1" dirty="0">
                <a:solidFill>
                  <a:srgbClr val="3A5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I/he/she/it → WAS · you/we/they → WERE — энэ ялгааг санаарай!</a:t>
            </a:r>
            <a:endParaRPr lang="en-US" sz="750" dirty="0"/>
          </a:p>
        </p:txBody>
      </p:sp>
      <p:sp>
        <p:nvSpPr>
          <p:cNvPr id="40" name="Shape 36"/>
          <p:cNvSpPr/>
          <p:nvPr/>
        </p:nvSpPr>
        <p:spPr>
          <a:xfrm>
            <a:off x="3639312" y="3749040"/>
            <a:ext cx="2980944" cy="164592"/>
          </a:xfrm>
          <a:prstGeom prst="rect">
            <a:avLst/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</p:spPr>
      </p:sp>
      <p:sp>
        <p:nvSpPr>
          <p:cNvPr id="41" name="Text 37"/>
          <p:cNvSpPr/>
          <p:nvPr/>
        </p:nvSpPr>
        <p:spPr>
          <a:xfrm>
            <a:off x="3657600" y="3749040"/>
            <a:ext cx="298094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⚖  Rules &amp; Usage</a:t>
            </a:r>
            <a:endParaRPr lang="en-US" sz="800" dirty="0"/>
          </a:p>
        </p:txBody>
      </p:sp>
      <p:sp>
        <p:nvSpPr>
          <p:cNvPr id="42" name="Shape 38"/>
          <p:cNvSpPr/>
          <p:nvPr/>
        </p:nvSpPr>
        <p:spPr>
          <a:xfrm>
            <a:off x="3639312" y="3913632"/>
            <a:ext cx="2980944" cy="310896"/>
          </a:xfrm>
          <a:prstGeom prst="rect">
            <a:avLst/>
          </a:prstGeom>
          <a:solidFill>
            <a:srgbClr val="F8FAFC"/>
          </a:solidFill>
          <a:ln w="12700">
            <a:solidFill>
              <a:srgbClr val="C8D8E8"/>
            </a:solidFill>
            <a:prstDash val="solid"/>
          </a:ln>
        </p:spPr>
      </p:sp>
      <p:sp>
        <p:nvSpPr>
          <p:cNvPr id="43" name="Text 39"/>
          <p:cNvSpPr/>
          <p:nvPr/>
        </p:nvSpPr>
        <p:spPr>
          <a:xfrm>
            <a:off x="3657600" y="3941064"/>
            <a:ext cx="29443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800" b="1" dirty="0">
                <a:solidFill>
                  <a:srgbClr val="B830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Rule 1: </a:t>
            </a:r>
            <a:pPr indent="0" marL="0">
              <a:lnSpc>
                <a:spcPct val="130000"/>
              </a:lnSpc>
              <a:buNone/>
            </a:pPr>
            <a:r>
              <a:rPr lang="en-US" sz="800" dirty="0">
                <a:solidFill>
                  <a:srgbClr val="1A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 WASN'T sleeping — I was reading. She WASN'T cooking — she was studying. They WEREN'T talking — they were listening.
</a:t>
            </a:r>
            <a:pPr indent="0" marL="0">
              <a:lnSpc>
                <a:spcPct val="130000"/>
              </a:lnSpc>
              <a:buNone/>
            </a:pPr>
            <a:r>
              <a:rPr lang="en-US" sz="800" b="1" dirty="0">
                <a:solidFill>
                  <a:srgbClr val="0D7C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Rule 2: </a:t>
            </a:r>
            <a:pPr indent="0" marL="0">
              <a:lnSpc>
                <a:spcPct val="130000"/>
              </a:lnSpc>
              <a:buNone/>
            </a:pPr>
            <a:r>
              <a:rPr lang="en-US" sz="800" dirty="0">
                <a:solidFill>
                  <a:srgbClr val="1A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were you doing at 7pm?  WERE you sleeping when I called?  WHO was talking while you were working?</a:t>
            </a:r>
            <a:endParaRPr lang="en-US" sz="800" dirty="0"/>
          </a:p>
        </p:txBody>
      </p:sp>
      <p:sp>
        <p:nvSpPr>
          <p:cNvPr id="44" name="Shape 40"/>
          <p:cNvSpPr/>
          <p:nvPr/>
        </p:nvSpPr>
        <p:spPr>
          <a:xfrm>
            <a:off x="3639312" y="4261104"/>
            <a:ext cx="1463040" cy="164592"/>
          </a:xfrm>
          <a:prstGeom prst="rect">
            <a:avLst/>
          </a:prstGeom>
          <a:solidFill>
            <a:srgbClr val="C97A0A"/>
          </a:solidFill>
          <a:ln w="12700">
            <a:solidFill>
              <a:srgbClr val="C97A0A"/>
            </a:solidFill>
            <a:prstDash val="solid"/>
          </a:ln>
        </p:spPr>
      </p:sp>
      <p:sp>
        <p:nvSpPr>
          <p:cNvPr id="45" name="Text 41"/>
          <p:cNvSpPr/>
          <p:nvPr/>
        </p:nvSpPr>
        <p:spPr>
          <a:xfrm>
            <a:off x="3639312" y="4261104"/>
            <a:ext cx="1463040" cy="164592"/>
          </a:xfrm>
          <a:prstGeom prst="rect">
            <a:avLst/>
          </a:prstGeom>
          <a:noFill/>
          <a:ln/>
        </p:spPr>
        <p:txBody>
          <a:bodyPr wrap="square" lIns="0" tIns="6350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💡  Grammar Tip</a:t>
            </a:r>
            <a:endParaRPr lang="en-US" sz="800" dirty="0"/>
          </a:p>
        </p:txBody>
      </p:sp>
      <p:sp>
        <p:nvSpPr>
          <p:cNvPr id="46" name="Shape 42"/>
          <p:cNvSpPr/>
          <p:nvPr/>
        </p:nvSpPr>
        <p:spPr>
          <a:xfrm>
            <a:off x="5138928" y="4261104"/>
            <a:ext cx="1463040" cy="164592"/>
          </a:xfrm>
          <a:prstGeom prst="rect">
            <a:avLst/>
          </a:prstGeom>
          <a:solidFill>
            <a:srgbClr val="B83030"/>
          </a:solidFill>
          <a:ln w="12700">
            <a:solidFill>
              <a:srgbClr val="B83030"/>
            </a:solidFill>
            <a:prstDash val="solid"/>
          </a:ln>
        </p:spPr>
      </p:sp>
      <p:sp>
        <p:nvSpPr>
          <p:cNvPr id="47" name="Text 43"/>
          <p:cNvSpPr/>
          <p:nvPr/>
        </p:nvSpPr>
        <p:spPr>
          <a:xfrm>
            <a:off x="5138928" y="4261104"/>
            <a:ext cx="1463040" cy="164592"/>
          </a:xfrm>
          <a:prstGeom prst="rect">
            <a:avLst/>
          </a:prstGeom>
          <a:noFill/>
          <a:ln/>
        </p:spPr>
        <p:txBody>
          <a:bodyPr wrap="square" lIns="0" tIns="6350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  Common Mistakes</a:t>
            </a:r>
            <a:endParaRPr lang="en-US" sz="800" dirty="0"/>
          </a:p>
        </p:txBody>
      </p:sp>
      <p:sp>
        <p:nvSpPr>
          <p:cNvPr id="48" name="Shape 44"/>
          <p:cNvSpPr/>
          <p:nvPr/>
        </p:nvSpPr>
        <p:spPr>
          <a:xfrm>
            <a:off x="3639312" y="4425696"/>
            <a:ext cx="1463040" cy="2144817"/>
          </a:xfrm>
          <a:prstGeom prst="rect">
            <a:avLst/>
          </a:prstGeom>
          <a:solidFill>
            <a:srgbClr val="FEF3DC"/>
          </a:solidFill>
          <a:ln w="12700">
            <a:solidFill>
              <a:srgbClr val="C97A0A"/>
            </a:solidFill>
            <a:prstDash val="solid"/>
          </a:ln>
        </p:spPr>
      </p:sp>
      <p:sp>
        <p:nvSpPr>
          <p:cNvPr id="49" name="Text 45"/>
          <p:cNvSpPr/>
          <p:nvPr/>
        </p:nvSpPr>
        <p:spPr>
          <a:xfrm>
            <a:off x="3666744" y="4462272"/>
            <a:ext cx="1380744" cy="208995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5000"/>
              </a:lnSpc>
              <a:buNone/>
            </a:pPr>
            <a:r>
              <a:rPr lang="en-US" sz="780" dirty="0">
                <a:solidFill>
                  <a:srgbClr val="1A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was/were + -ing = past continuous</a:t>
            </a:r>
            <a:endParaRPr lang="en-US" sz="78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780" dirty="0">
                <a:solidFill>
                  <a:srgbClr val="1A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I/he/she/it + WAS · you/we/they + WERE</a:t>
            </a:r>
            <a:endParaRPr lang="en-US" sz="78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780" dirty="0">
                <a:solidFill>
                  <a:srgbClr val="1A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while + continuous · when + past simple</a:t>
            </a:r>
            <a:endParaRPr lang="en-US" sz="78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780" dirty="0">
                <a:solidFill>
                  <a:srgbClr val="1A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'I was sleeping WHEN it rang' (interrupted)</a:t>
            </a:r>
            <a:endParaRPr lang="en-US" sz="78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780" dirty="0">
                <a:solidFill>
                  <a:srgbClr val="1A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Use for background/setting in stories!</a:t>
            </a:r>
            <a:endParaRPr lang="en-US" sz="780" dirty="0"/>
          </a:p>
        </p:txBody>
      </p:sp>
      <p:sp>
        <p:nvSpPr>
          <p:cNvPr id="50" name="Shape 46"/>
          <p:cNvSpPr/>
          <p:nvPr/>
        </p:nvSpPr>
        <p:spPr>
          <a:xfrm>
            <a:off x="5138928" y="4425696"/>
            <a:ext cx="1463040" cy="2144817"/>
          </a:xfrm>
          <a:prstGeom prst="rect">
            <a:avLst/>
          </a:prstGeom>
          <a:solidFill>
            <a:srgbClr val="FDECEA"/>
          </a:solidFill>
          <a:ln w="12700">
            <a:solidFill>
              <a:srgbClr val="B83030"/>
            </a:solidFill>
            <a:prstDash val="solid"/>
          </a:ln>
        </p:spPr>
      </p:sp>
      <p:sp>
        <p:nvSpPr>
          <p:cNvPr id="51" name="Text 47"/>
          <p:cNvSpPr/>
          <p:nvPr/>
        </p:nvSpPr>
        <p:spPr>
          <a:xfrm>
            <a:off x="5166360" y="4462272"/>
            <a:ext cx="1380744" cy="208995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5000"/>
              </a:lnSpc>
              <a:buNone/>
            </a:pPr>
            <a:r>
              <a:rPr lang="en-US" sz="780" dirty="0">
                <a:solidFill>
                  <a:srgbClr val="1A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❌ I were sleeping.  ✅ I WAS sleeping. (I → was not were!)</a:t>
            </a:r>
            <a:endParaRPr lang="en-US" sz="78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780" dirty="0">
                <a:solidFill>
                  <a:srgbClr val="1A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❌ They was talking.  ✅ They WERE talking. (they → were!)</a:t>
            </a:r>
            <a:endParaRPr lang="en-US" sz="78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780" dirty="0">
                <a:solidFill>
                  <a:srgbClr val="1A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❌ I was sleep.  ✅ I was SLEEPING. (need -ing form!)</a:t>
            </a:r>
            <a:endParaRPr lang="en-US" sz="78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780" dirty="0">
                <a:solidFill>
                  <a:srgbClr val="1A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❌ While I slept, she cooked.  ✅ While I WAS SLEEPING, she WAS COOKING.</a:t>
            </a:r>
            <a:endParaRPr lang="en-US" sz="780" dirty="0"/>
          </a:p>
        </p:txBody>
      </p:sp>
      <p:sp>
        <p:nvSpPr>
          <p:cNvPr id="52" name="Shape 48"/>
          <p:cNvSpPr/>
          <p:nvPr/>
        </p:nvSpPr>
        <p:spPr>
          <a:xfrm>
            <a:off x="3639312" y="6607089"/>
            <a:ext cx="2980944" cy="164592"/>
          </a:xfrm>
          <a:prstGeom prst="rect">
            <a:avLst/>
          </a:prstGeom>
          <a:solidFill>
            <a:srgbClr val="0D7C7B"/>
          </a:solidFill>
          <a:ln w="12700">
            <a:solidFill>
              <a:srgbClr val="0D7C7B"/>
            </a:solidFill>
            <a:prstDash val="solid"/>
          </a:ln>
        </p:spPr>
      </p:sp>
      <p:sp>
        <p:nvSpPr>
          <p:cNvPr id="53" name="Text 49"/>
          <p:cNvSpPr/>
          <p:nvPr/>
        </p:nvSpPr>
        <p:spPr>
          <a:xfrm>
            <a:off x="3657600" y="6607089"/>
            <a:ext cx="298094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⚡  Quick Practice</a:t>
            </a:r>
            <a:endParaRPr lang="en-US" sz="850" dirty="0"/>
          </a:p>
        </p:txBody>
      </p:sp>
      <p:sp>
        <p:nvSpPr>
          <p:cNvPr id="54" name="Shape 50"/>
          <p:cNvSpPr/>
          <p:nvPr/>
        </p:nvSpPr>
        <p:spPr>
          <a:xfrm>
            <a:off x="3639312" y="6771681"/>
            <a:ext cx="2980944" cy="2902671"/>
          </a:xfrm>
          <a:prstGeom prst="rect">
            <a:avLst/>
          </a:prstGeom>
          <a:solidFill>
            <a:srgbClr val="E0F4F4"/>
          </a:solidFill>
          <a:ln w="12700">
            <a:solidFill>
              <a:srgbClr val="0D7C7B"/>
            </a:solidFill>
            <a:prstDash val="solid"/>
          </a:ln>
        </p:spPr>
      </p:sp>
      <p:graphicFrame>
        <p:nvGraphicFramePr>
          <p:cNvPr id="4" name="Table 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657600" y="6799113"/>
          <a:ext cx="2944368" cy="914400"/>
        </p:xfrm>
        <a:graphic>
          <a:graphicData uri="http://schemas.openxmlformats.org/drawingml/2006/table">
            <a:tbl>
              <a:tblPr/>
              <a:tblGrid>
                <a:gridCol w="1472184"/>
                <a:gridCol w="1472184"/>
              </a:tblGrid>
              <a:tr h="62407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A2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1. I _____ sleeping when the phone rang. (was)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F2E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A2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5. While she _____ studying, he was cooking. (was)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F2EC"/>
                    </a:solidFill>
                  </a:tcPr>
                </a:tc>
              </a:tr>
              <a:tr h="62407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A2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2. They _____ talking all evening. (were)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AF5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A2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6. What _____ you doing at 8pm? (were)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AF5"/>
                    </a:solidFill>
                  </a:tcPr>
                </a:tc>
              </a:tr>
              <a:tr h="62407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A2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3. It _____ raining when I left home. (was)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F2E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A2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7. The children _____ playing outside all day. (were)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F2EC"/>
                    </a:solidFill>
                  </a:tcPr>
                </a:tc>
              </a:tr>
              <a:tr h="62407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A2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4. She _____ working when I arrived. (was)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AF5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A2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8. We _____ watching TV when the storm started. (were)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AF5"/>
                    </a:solidFill>
                  </a:tcPr>
                </a:tc>
              </a:tr>
            </a:tbl>
          </a:graphicData>
        </a:graphic>
      </p:graphicFrame>
      <p:sp>
        <p:nvSpPr>
          <p:cNvPr id="56" name="Text 51"/>
          <p:cNvSpPr/>
          <p:nvPr/>
        </p:nvSpPr>
        <p:spPr>
          <a:xfrm>
            <a:off x="3666744" y="9341130"/>
            <a:ext cx="292608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00" b="1" dirty="0">
                <a:solidFill>
                  <a:srgbClr val="0D7C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🔑  Answers: 1-was · 2-were · 3-was · 4-was · 5-was · 6-were · 7-were · 8-were</a:t>
            </a:r>
            <a:endParaRPr lang="en-US" sz="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2F6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6858000" cy="347472"/>
          </a:xfrm>
          <a:prstGeom prst="rect">
            <a:avLst/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50292" cy="347472"/>
          </a:xfrm>
          <a:prstGeom prst="rect">
            <a:avLst/>
          </a:prstGeom>
          <a:solidFill>
            <a:srgbClr val="F2C93A"/>
          </a:solidFill>
          <a:ln w="12700">
            <a:solidFill>
              <a:srgbClr val="F2C93A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00584" y="0"/>
            <a:ext cx="3657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2C93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Speak English in 90 Days</a:t>
            </a:r>
            <a:endParaRPr lang="en-US" sz="1350" dirty="0"/>
          </a:p>
        </p:txBody>
      </p:sp>
      <p:sp>
        <p:nvSpPr>
          <p:cNvPr id="5" name="Text 3"/>
          <p:cNvSpPr/>
          <p:nvPr/>
        </p:nvSpPr>
        <p:spPr>
          <a:xfrm>
            <a:off x="3657600" y="0"/>
            <a:ext cx="1920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90AA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B1 · Book 3 · Дэвшилтэт шат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5577840" y="0"/>
            <a:ext cx="117043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F2C9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25-30 минут</a:t>
            </a:r>
            <a:endParaRPr lang="en-US" sz="850" dirty="0"/>
          </a:p>
        </p:txBody>
      </p:sp>
      <p:sp>
        <p:nvSpPr>
          <p:cNvPr id="7" name="Shape 5"/>
          <p:cNvSpPr/>
          <p:nvPr/>
        </p:nvSpPr>
        <p:spPr>
          <a:xfrm>
            <a:off x="0" y="347472"/>
            <a:ext cx="1335024" cy="237744"/>
          </a:xfrm>
          <a:prstGeom prst="rect">
            <a:avLst/>
          </a:prstGeom>
          <a:solidFill>
            <a:srgbClr val="F2C93A"/>
          </a:solidFill>
          <a:ln w="12700">
            <a:solidFill>
              <a:srgbClr val="F2C93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0" y="347472"/>
            <a:ext cx="133502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1A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61 · ӨДӨР 61</a:t>
            </a:r>
            <a:endParaRPr lang="en-US" sz="850" dirty="0"/>
          </a:p>
        </p:txBody>
      </p:sp>
      <p:sp>
        <p:nvSpPr>
          <p:cNvPr id="9" name="Shape 7"/>
          <p:cNvSpPr/>
          <p:nvPr/>
        </p:nvSpPr>
        <p:spPr>
          <a:xfrm>
            <a:off x="1335024" y="347472"/>
            <a:ext cx="4498848" cy="237744"/>
          </a:xfrm>
          <a:prstGeom prst="rect">
            <a:avLst/>
          </a:prstGeom>
          <a:solidFill>
            <a:srgbClr val="1E7A4A"/>
          </a:solidFill>
          <a:ln w="12700">
            <a:solidFill>
              <a:srgbClr val="1E7A4A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408176" y="347472"/>
            <a:ext cx="442569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Reading &amp; Speaking  ·  Унших ба Ярих</a:t>
            </a:r>
            <a:endParaRPr lang="en-US" sz="850" dirty="0"/>
          </a:p>
        </p:txBody>
      </p:sp>
      <p:sp>
        <p:nvSpPr>
          <p:cNvPr id="11" name="Shape 9"/>
          <p:cNvSpPr/>
          <p:nvPr/>
        </p:nvSpPr>
        <p:spPr>
          <a:xfrm>
            <a:off x="5833872" y="347472"/>
            <a:ext cx="1024128" cy="237744"/>
          </a:xfrm>
          <a:prstGeom prst="rect">
            <a:avLst/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760720" y="347472"/>
            <a:ext cx="104241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F2C9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📚 Page 2</a:t>
            </a:r>
            <a:endParaRPr lang="en-US" sz="750" dirty="0"/>
          </a:p>
        </p:txBody>
      </p:sp>
      <p:sp>
        <p:nvSpPr>
          <p:cNvPr id="13" name="Shape 11"/>
          <p:cNvSpPr/>
          <p:nvPr/>
        </p:nvSpPr>
        <p:spPr>
          <a:xfrm>
            <a:off x="0" y="9601200"/>
            <a:ext cx="6858000" cy="91440"/>
          </a:xfrm>
          <a:prstGeom prst="rect">
            <a:avLst/>
          </a:prstGeom>
          <a:solidFill>
            <a:srgbClr val="E4EEF6"/>
          </a:solidFill>
          <a:ln w="12700">
            <a:solidFill>
              <a:srgbClr val="E4EEF6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0" y="9601200"/>
            <a:ext cx="6858000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dirty="0">
                <a:solidFill>
                  <a:srgbClr val="7A90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Speak English in 90 Days  ·  B1 Level  ·  Book 3</a:t>
            </a:r>
            <a:endParaRPr lang="en-US" sz="650" dirty="0"/>
          </a:p>
        </p:txBody>
      </p:sp>
      <p:sp>
        <p:nvSpPr>
          <p:cNvPr id="15" name="Shape 13"/>
          <p:cNvSpPr/>
          <p:nvPr/>
        </p:nvSpPr>
        <p:spPr>
          <a:xfrm>
            <a:off x="179222" y="627278"/>
            <a:ext cx="6528816" cy="1865376"/>
          </a:xfrm>
          <a:prstGeom prst="rect">
            <a:avLst/>
          </a:prstGeom>
          <a:solidFill>
            <a:srgbClr val="D0DCE8"/>
          </a:solidFill>
          <a:ln w="12700">
            <a:solidFill>
              <a:srgbClr val="D0DCE8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164592" y="612648"/>
            <a:ext cx="6528816" cy="1865376"/>
          </a:xfrm>
          <a:prstGeom prst="rect">
            <a:avLst/>
          </a:prstGeom>
          <a:solidFill>
            <a:srgbClr val="FFFFFF"/>
          </a:solidFill>
          <a:ln w="12700">
            <a:solidFill>
              <a:srgbClr val="C8D8E8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164592" y="612648"/>
            <a:ext cx="6528816" cy="256032"/>
          </a:xfrm>
          <a:prstGeom prst="rect">
            <a:avLst/>
          </a:prstGeom>
          <a:solidFill>
            <a:srgbClr val="1E7A4A"/>
          </a:solidFill>
          <a:ln w="12700">
            <a:solidFill>
              <a:srgbClr val="1E7A4A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164592" y="868680"/>
            <a:ext cx="6528816" cy="146304"/>
          </a:xfrm>
          <a:prstGeom prst="rect">
            <a:avLst/>
          </a:prstGeom>
          <a:solidFill>
            <a:srgbClr val="E8F5EE"/>
          </a:solidFill>
          <a:ln w="12700">
            <a:solidFill>
              <a:srgbClr val="E8F5EE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256032" y="612648"/>
            <a:ext cx="6400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📖  Reading Passage / Унших дасгал</a:t>
            </a:r>
            <a:endParaRPr lang="en-US" sz="1050" dirty="0"/>
          </a:p>
        </p:txBody>
      </p:sp>
      <p:sp>
        <p:nvSpPr>
          <p:cNvPr id="20" name="Text 18"/>
          <p:cNvSpPr/>
          <p:nvPr/>
        </p:nvSpPr>
        <p:spPr>
          <a:xfrm>
            <a:off x="256032" y="877824"/>
            <a:ext cx="640080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i="1" dirty="0">
                <a:solidFill>
                  <a:srgbClr val="3A5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Bold = today's vocab · Read aloud at least twice!</a:t>
            </a:r>
            <a:endParaRPr lang="en-US" sz="750" dirty="0"/>
          </a:p>
        </p:txBody>
      </p:sp>
      <p:sp>
        <p:nvSpPr>
          <p:cNvPr id="21" name="Shape 19"/>
          <p:cNvSpPr/>
          <p:nvPr/>
        </p:nvSpPr>
        <p:spPr>
          <a:xfrm>
            <a:off x="237744" y="1033272"/>
            <a:ext cx="6382512" cy="1380744"/>
          </a:xfrm>
          <a:prstGeom prst="rect">
            <a:avLst/>
          </a:prstGeom>
          <a:solidFill>
            <a:srgbClr val="EBF5F0"/>
          </a:solidFill>
          <a:ln w="12700">
            <a:solidFill>
              <a:srgbClr val="1E7A4A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310896" y="1069848"/>
            <a:ext cx="6236208" cy="12984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55000"/>
              </a:lnSpc>
              <a:buNone/>
            </a:pPr>
            <a:r>
              <a:rPr lang="en-US" sz="950" b="1" dirty="0">
                <a:solidFill>
                  <a:srgbClr val="5A1A8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It was a stormy Monday evening. </a:t>
            </a:r>
            <a:pPr indent="0" marL="0">
              <a:lnSpc>
                <a:spcPct val="155000"/>
              </a:lnSpc>
              <a:buNone/>
            </a:pPr>
            <a:r>
              <a:rPr lang="en-US" sz="950" dirty="0">
                <a:solidFill>
                  <a:srgbClr val="1A2A3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Bat </a:t>
            </a:r>
            <a:pPr indent="0" marL="0">
              <a:lnSpc>
                <a:spcPct val="155000"/>
              </a:lnSpc>
              <a:buNone/>
            </a:pPr>
            <a:r>
              <a:rPr lang="en-US" sz="950" b="1" dirty="0">
                <a:solidFill>
                  <a:srgbClr val="2E6DA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was sitting</a:t>
            </a:r>
            <a:pPr indent="0" marL="0">
              <a:lnSpc>
                <a:spcPct val="155000"/>
              </a:lnSpc>
              <a:buNone/>
            </a:pPr>
            <a:r>
              <a:rPr lang="en-US" sz="950" dirty="0">
                <a:solidFill>
                  <a:srgbClr val="1A2A3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at his desk and </a:t>
            </a:r>
            <a:pPr indent="0" marL="0">
              <a:lnSpc>
                <a:spcPct val="155000"/>
              </a:lnSpc>
              <a:buNone/>
            </a:pPr>
            <a:r>
              <a:rPr lang="en-US" sz="950" b="1" dirty="0">
                <a:solidFill>
                  <a:srgbClr val="2E6DA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was studying</a:t>
            </a:r>
            <a:pPr indent="0" marL="0">
              <a:lnSpc>
                <a:spcPct val="155000"/>
              </a:lnSpc>
              <a:buNone/>
            </a:pPr>
            <a:r>
              <a:rPr lang="en-US" sz="950" dirty="0">
                <a:solidFill>
                  <a:srgbClr val="1A2A3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English vocabulary. Outside, the wind </a:t>
            </a:r>
            <a:pPr indent="0" marL="0">
              <a:lnSpc>
                <a:spcPct val="155000"/>
              </a:lnSpc>
              <a:buNone/>
            </a:pPr>
            <a:r>
              <a:rPr lang="en-US" sz="950" b="1" dirty="0">
                <a:solidFill>
                  <a:srgbClr val="2E6DA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was howling</a:t>
            </a:r>
            <a:pPr indent="0" marL="0">
              <a:lnSpc>
                <a:spcPct val="155000"/>
              </a:lnSpc>
              <a:buNone/>
            </a:pPr>
            <a:r>
              <a:rPr lang="en-US" sz="950" dirty="0">
                <a:solidFill>
                  <a:srgbClr val="1A2A3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and rain </a:t>
            </a:r>
            <a:pPr indent="0" marL="0">
              <a:lnSpc>
                <a:spcPct val="155000"/>
              </a:lnSpc>
              <a:buNone/>
            </a:pPr>
            <a:r>
              <a:rPr lang="en-US" sz="950" b="1" dirty="0">
                <a:solidFill>
                  <a:srgbClr val="2E6DA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was falling</a:t>
            </a:r>
            <a:pPr indent="0" marL="0">
              <a:lnSpc>
                <a:spcPct val="155000"/>
              </a:lnSpc>
              <a:buNone/>
            </a:pPr>
            <a:r>
              <a:rPr lang="en-US" sz="950" dirty="0">
                <a:solidFill>
                  <a:srgbClr val="1A2A3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heavily. Meanwhile, his mother </a:t>
            </a:r>
            <a:pPr indent="0" marL="0">
              <a:lnSpc>
                <a:spcPct val="155000"/>
              </a:lnSpc>
              <a:buNone/>
            </a:pPr>
            <a:r>
              <a:rPr lang="en-US" sz="950" b="1" dirty="0">
                <a:solidFill>
                  <a:srgbClr val="2E6DA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was cooking</a:t>
            </a:r>
            <a:pPr indent="0" marL="0">
              <a:lnSpc>
                <a:spcPct val="155000"/>
              </a:lnSpc>
              <a:buNone/>
            </a:pPr>
            <a:r>
              <a:rPr lang="en-US" sz="950" dirty="0">
                <a:solidFill>
                  <a:srgbClr val="1A2A3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tsuivan in the kitchen, and his sister </a:t>
            </a:r>
            <a:pPr indent="0" marL="0">
              <a:lnSpc>
                <a:spcPct val="155000"/>
              </a:lnSpc>
              <a:buNone/>
            </a:pPr>
            <a:r>
              <a:rPr lang="en-US" sz="950" b="1" dirty="0">
                <a:solidFill>
                  <a:srgbClr val="2E6DA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was listening</a:t>
            </a:r>
            <a:pPr indent="0" marL="0">
              <a:lnSpc>
                <a:spcPct val="155000"/>
              </a:lnSpc>
              <a:buNone/>
            </a:pPr>
            <a:r>
              <a:rPr lang="en-US" sz="950" dirty="0">
                <a:solidFill>
                  <a:srgbClr val="1A2A3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to music in her room. Suddenly — a loud crack of thunder! The lights went out. Everything went dark. While Bat </a:t>
            </a:r>
            <a:pPr indent="0" marL="0">
              <a:lnSpc>
                <a:spcPct val="155000"/>
              </a:lnSpc>
              <a:buNone/>
            </a:pPr>
            <a:r>
              <a:rPr lang="en-US" sz="950" b="1" dirty="0">
                <a:solidFill>
                  <a:srgbClr val="2E6DA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was reaching</a:t>
            </a:r>
            <a:pPr indent="0" marL="0">
              <a:lnSpc>
                <a:spcPct val="155000"/>
              </a:lnSpc>
              <a:buNone/>
            </a:pPr>
            <a:r>
              <a:rPr lang="en-US" sz="950" dirty="0">
                <a:solidFill>
                  <a:srgbClr val="1A2A3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for his phone to use as a torch, he knocked his textbook off the desk. His mother called out: "Don't worry! I </a:t>
            </a:r>
            <a:pPr indent="0" marL="0">
              <a:lnSpc>
                <a:spcPct val="155000"/>
              </a:lnSpc>
              <a:buNone/>
            </a:pPr>
            <a:r>
              <a:rPr lang="en-US" sz="950" b="1" dirty="0">
                <a:solidFill>
                  <a:srgbClr val="2E6DA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was expecting</a:t>
            </a:r>
            <a:pPr indent="0" marL="0">
              <a:lnSpc>
                <a:spcPct val="155000"/>
              </a:lnSpc>
              <a:buNone/>
            </a:pPr>
            <a:r>
              <a:rPr lang="en-US" sz="950" dirty="0">
                <a:solidFill>
                  <a:srgbClr val="1A2A3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this — I bought candles yesterday!"</a:t>
            </a:r>
            <a:endParaRPr lang="en-US" sz="950" dirty="0"/>
          </a:p>
        </p:txBody>
      </p:sp>
      <p:sp>
        <p:nvSpPr>
          <p:cNvPr id="23" name="Shape 21"/>
          <p:cNvSpPr/>
          <p:nvPr/>
        </p:nvSpPr>
        <p:spPr>
          <a:xfrm>
            <a:off x="179222" y="2565806"/>
            <a:ext cx="3218688" cy="1828800"/>
          </a:xfrm>
          <a:prstGeom prst="rect">
            <a:avLst/>
          </a:prstGeom>
          <a:solidFill>
            <a:srgbClr val="D0DCE8"/>
          </a:solidFill>
          <a:ln w="12700">
            <a:solidFill>
              <a:srgbClr val="D0DCE8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164592" y="2551176"/>
            <a:ext cx="3218688" cy="1828800"/>
          </a:xfrm>
          <a:prstGeom prst="rect">
            <a:avLst/>
          </a:prstGeom>
          <a:solidFill>
            <a:srgbClr val="FFFFFF"/>
          </a:solidFill>
          <a:ln w="12700">
            <a:solidFill>
              <a:srgbClr val="C8D8E8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164592" y="2551176"/>
            <a:ext cx="3218688" cy="256032"/>
          </a:xfrm>
          <a:prstGeom prst="rect">
            <a:avLst/>
          </a:prstGeom>
          <a:solidFill>
            <a:srgbClr val="C97A0A"/>
          </a:solidFill>
          <a:ln w="12700">
            <a:solidFill>
              <a:srgbClr val="C97A0A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164592" y="2807208"/>
            <a:ext cx="3218688" cy="146304"/>
          </a:xfrm>
          <a:prstGeom prst="rect">
            <a:avLst/>
          </a:prstGeom>
          <a:solidFill>
            <a:srgbClr val="FEF3DC"/>
          </a:solidFill>
          <a:ln w="12700">
            <a:solidFill>
              <a:srgbClr val="FEF3DC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256032" y="2551176"/>
            <a:ext cx="309067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🔑  Key Phrases &amp; Translation / Гол хэллэг</a:t>
            </a:r>
            <a:endParaRPr lang="en-US" sz="1050" dirty="0"/>
          </a:p>
        </p:txBody>
      </p:sp>
      <p:sp>
        <p:nvSpPr>
          <p:cNvPr id="28" name="Text 26"/>
          <p:cNvSpPr/>
          <p:nvPr/>
        </p:nvSpPr>
        <p:spPr>
          <a:xfrm>
            <a:off x="256032" y="2816352"/>
            <a:ext cx="3090672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i="1" dirty="0">
                <a:solidFill>
                  <a:srgbClr val="3A5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Цээжил! · Memorize these phrases</a:t>
            </a:r>
            <a:endParaRPr lang="en-US" sz="750" dirty="0"/>
          </a:p>
        </p:txBody>
      </p:sp>
      <p:graphicFrame>
        <p:nvGraphicFramePr>
          <p:cNvPr id="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219456" y="2971800"/>
          <a:ext cx="3108960" cy="914400"/>
        </p:xfrm>
        <a:graphic>
          <a:graphicData uri="http://schemas.openxmlformats.org/drawingml/2006/table">
            <a:tbl>
              <a:tblPr/>
              <a:tblGrid>
                <a:gridCol w="1057046"/>
                <a:gridCol w="1057046"/>
                <a:gridCol w="994867"/>
              </a:tblGrid>
              <a:tr h="19659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English Phrase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97A0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Mongolian / Монгол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97A0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Grammar Note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97A0A"/>
                    </a:solidFill>
                  </a:tcPr>
                </a:tc>
              </a:tr>
              <a:tr h="19659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b="1" dirty="0">
                          <a:solidFill>
                            <a:srgbClr val="2E6DA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 was sleeping when it rang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A2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Утас дуугарах үед би унтаж байсан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i="1" dirty="0">
                          <a:solidFill>
                            <a:srgbClr val="3A506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was/were + -ing = background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</a:tr>
              <a:tr h="19659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b="1" dirty="0">
                          <a:solidFill>
                            <a:srgbClr val="2E6DA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While she was cooking, he was watching TV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A2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Тэр хоол хийж байх зуур тэр телевиз үзэж байсан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i="1" dirty="0">
                          <a:solidFill>
                            <a:srgbClr val="3A506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while + two continuous actions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19659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b="1" dirty="0">
                          <a:solidFill>
                            <a:srgbClr val="2E6DA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What were you doing at 7pm?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A2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Та 7 цагт юу хийж байсан вэ?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i="1" dirty="0">
                          <a:solidFill>
                            <a:srgbClr val="3A506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past continuous question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</a:tr>
              <a:tr h="19659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b="1" dirty="0">
                          <a:solidFill>
                            <a:srgbClr val="2E6DA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It was raining when I left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A2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Гарах үед бороо орж байсан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i="1" dirty="0">
                          <a:solidFill>
                            <a:srgbClr val="3A506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past continuous + past simple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19659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b="1" dirty="0">
                          <a:solidFill>
                            <a:srgbClr val="2E6DA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They were talking all evening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A2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Тэд бүх оройн турш ярьж байсан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i="1" dirty="0">
                          <a:solidFill>
                            <a:srgbClr val="3A506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were + -ing = ongoing past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</a:tr>
              <a:tr h="19659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b="1" dirty="0">
                          <a:solidFill>
                            <a:srgbClr val="2E6DA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At that moment, she was studying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A2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Тэр мөчид тэр суралцаж байсан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i="1" dirty="0">
                          <a:solidFill>
                            <a:srgbClr val="3A506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at that moment + continuous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30" name="Shape 27"/>
          <p:cNvSpPr/>
          <p:nvPr/>
        </p:nvSpPr>
        <p:spPr>
          <a:xfrm>
            <a:off x="3489350" y="2565806"/>
            <a:ext cx="3218688" cy="1828800"/>
          </a:xfrm>
          <a:prstGeom prst="rect">
            <a:avLst/>
          </a:prstGeom>
          <a:solidFill>
            <a:srgbClr val="D0DCE8"/>
          </a:solidFill>
          <a:ln w="12700">
            <a:solidFill>
              <a:srgbClr val="D0DCE8"/>
            </a:solidFill>
            <a:prstDash val="solid"/>
          </a:ln>
        </p:spPr>
      </p:sp>
      <p:sp>
        <p:nvSpPr>
          <p:cNvPr id="31" name="Shape 28"/>
          <p:cNvSpPr/>
          <p:nvPr/>
        </p:nvSpPr>
        <p:spPr>
          <a:xfrm>
            <a:off x="3474720" y="2551176"/>
            <a:ext cx="3218688" cy="1828800"/>
          </a:xfrm>
          <a:prstGeom prst="rect">
            <a:avLst/>
          </a:prstGeom>
          <a:solidFill>
            <a:srgbClr val="FFFFFF"/>
          </a:solidFill>
          <a:ln w="12700">
            <a:solidFill>
              <a:srgbClr val="C8D8E8"/>
            </a:solidFill>
            <a:prstDash val="solid"/>
          </a:ln>
        </p:spPr>
      </p:sp>
      <p:sp>
        <p:nvSpPr>
          <p:cNvPr id="32" name="Shape 29"/>
          <p:cNvSpPr/>
          <p:nvPr/>
        </p:nvSpPr>
        <p:spPr>
          <a:xfrm>
            <a:off x="3474720" y="2551176"/>
            <a:ext cx="3218688" cy="256032"/>
          </a:xfrm>
          <a:prstGeom prst="rect">
            <a:avLst/>
          </a:prstGeom>
          <a:solidFill>
            <a:srgbClr val="0D7C7B"/>
          </a:solidFill>
          <a:ln w="12700">
            <a:solidFill>
              <a:srgbClr val="0D7C7B"/>
            </a:solidFill>
            <a:prstDash val="solid"/>
          </a:ln>
        </p:spPr>
      </p:sp>
      <p:sp>
        <p:nvSpPr>
          <p:cNvPr id="33" name="Shape 30"/>
          <p:cNvSpPr/>
          <p:nvPr/>
        </p:nvSpPr>
        <p:spPr>
          <a:xfrm>
            <a:off x="3474720" y="2807208"/>
            <a:ext cx="3218688" cy="146304"/>
          </a:xfrm>
          <a:prstGeom prst="rect">
            <a:avLst/>
          </a:prstGeom>
          <a:solidFill>
            <a:srgbClr val="E0F4F4"/>
          </a:solidFill>
          <a:ln w="12700">
            <a:solidFill>
              <a:srgbClr val="E0F4F4"/>
            </a:solidFill>
            <a:prstDash val="solid"/>
          </a:ln>
        </p:spPr>
      </p:sp>
      <p:sp>
        <p:nvSpPr>
          <p:cNvPr id="34" name="Text 31"/>
          <p:cNvSpPr/>
          <p:nvPr/>
        </p:nvSpPr>
        <p:spPr>
          <a:xfrm>
            <a:off x="3566160" y="2551176"/>
            <a:ext cx="309067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🗣️  Speaking Practice / Ярих дасгал</a:t>
            </a:r>
            <a:endParaRPr lang="en-US" sz="1050" dirty="0"/>
          </a:p>
        </p:txBody>
      </p:sp>
      <p:sp>
        <p:nvSpPr>
          <p:cNvPr id="35" name="Text 32"/>
          <p:cNvSpPr/>
          <p:nvPr/>
        </p:nvSpPr>
        <p:spPr>
          <a:xfrm>
            <a:off x="3566160" y="2816352"/>
            <a:ext cx="3090672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i="1" dirty="0">
                <a:solidFill>
                  <a:srgbClr val="3A5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Answer OUT LOUD — don't write, just speak!</a:t>
            </a:r>
            <a:endParaRPr lang="en-US" sz="750" dirty="0"/>
          </a:p>
        </p:txBody>
      </p:sp>
      <p:sp>
        <p:nvSpPr>
          <p:cNvPr id="36" name="Text 33"/>
          <p:cNvSpPr/>
          <p:nvPr/>
        </p:nvSpPr>
        <p:spPr>
          <a:xfrm>
            <a:off x="3557016" y="2971800"/>
            <a:ext cx="307238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800" b="1" dirty="0">
                <a:solidFill>
                  <a:srgbClr val="0D7C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Answer OUT LOUD in English — do not write, just speak!
</a:t>
            </a:r>
            <a:pPr indent="0" marL="0">
              <a:lnSpc>
                <a:spcPct val="120000"/>
              </a:lnSpc>
              <a:buNone/>
            </a:pPr>
            <a:r>
              <a:rPr lang="en-US" sz="750" i="1" dirty="0">
                <a:solidFill>
                  <a:srgbClr val="3A5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Англиар ЧАНГААР хариулаарай — бичихгүй, зөвхөн ярь!</a:t>
            </a:r>
            <a:endParaRPr lang="en-US" sz="800" dirty="0"/>
          </a:p>
        </p:txBody>
      </p:sp>
      <p:graphicFrame>
        <p:nvGraphicFramePr>
          <p:cNvPr id="5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529584" y="3264408"/>
          <a:ext cx="3108960" cy="914400"/>
        </p:xfrm>
        <a:graphic>
          <a:graphicData uri="http://schemas.openxmlformats.org/drawingml/2006/table">
            <a:tbl>
              <a:tblPr/>
              <a:tblGrid>
                <a:gridCol w="3108960"/>
              </a:tblGrid>
              <a:tr h="16916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1A2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1.  What were you doing at 8pm last night?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</a:tr>
              <a:tr h="16916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2E6DA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2.  What was happening in your house while you were doing homework?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16916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1A2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3.  What were you doing when you first heard about COVID-19?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</a:tr>
              <a:tr h="16916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2E6DA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4.  Describe what everyone in your family was doing last Sunday morning.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16916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1A2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5.  What were you studying when your teacher walked in today?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</a:tr>
              <a:tr h="16916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2E6DA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6.  Tell a story: 'It was a dark night. I was walking home when suddenly...'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38" name="Shape 34"/>
          <p:cNvSpPr/>
          <p:nvPr/>
        </p:nvSpPr>
        <p:spPr>
          <a:xfrm>
            <a:off x="179222" y="4467758"/>
            <a:ext cx="6528816" cy="5111496"/>
          </a:xfrm>
          <a:prstGeom prst="rect">
            <a:avLst/>
          </a:prstGeom>
          <a:solidFill>
            <a:srgbClr val="D0DCE8"/>
          </a:solidFill>
          <a:ln w="12700">
            <a:solidFill>
              <a:srgbClr val="D0DCE8"/>
            </a:solidFill>
            <a:prstDash val="solid"/>
          </a:ln>
        </p:spPr>
      </p:sp>
      <p:sp>
        <p:nvSpPr>
          <p:cNvPr id="39" name="Shape 35"/>
          <p:cNvSpPr/>
          <p:nvPr/>
        </p:nvSpPr>
        <p:spPr>
          <a:xfrm>
            <a:off x="164592" y="4453128"/>
            <a:ext cx="6528816" cy="5111496"/>
          </a:xfrm>
          <a:prstGeom prst="rect">
            <a:avLst/>
          </a:prstGeom>
          <a:solidFill>
            <a:srgbClr val="FFFFFF"/>
          </a:solidFill>
          <a:ln w="12700">
            <a:solidFill>
              <a:srgbClr val="C8D8E8"/>
            </a:solidFill>
            <a:prstDash val="solid"/>
          </a:ln>
        </p:spPr>
      </p:sp>
      <p:sp>
        <p:nvSpPr>
          <p:cNvPr id="40" name="Shape 36"/>
          <p:cNvSpPr/>
          <p:nvPr/>
        </p:nvSpPr>
        <p:spPr>
          <a:xfrm>
            <a:off x="164592" y="4453128"/>
            <a:ext cx="6528816" cy="256032"/>
          </a:xfrm>
          <a:prstGeom prst="rect">
            <a:avLst/>
          </a:prstGeom>
          <a:solidFill>
            <a:srgbClr val="6B3FA0"/>
          </a:solidFill>
          <a:ln w="12700">
            <a:solidFill>
              <a:srgbClr val="6B3FA0"/>
            </a:solidFill>
            <a:prstDash val="solid"/>
          </a:ln>
        </p:spPr>
      </p:sp>
      <p:sp>
        <p:nvSpPr>
          <p:cNvPr id="41" name="Shape 37"/>
          <p:cNvSpPr/>
          <p:nvPr/>
        </p:nvSpPr>
        <p:spPr>
          <a:xfrm>
            <a:off x="164592" y="4709160"/>
            <a:ext cx="6528816" cy="146304"/>
          </a:xfrm>
          <a:prstGeom prst="rect">
            <a:avLst/>
          </a:prstGeom>
          <a:solidFill>
            <a:srgbClr val="F0EAFA"/>
          </a:solidFill>
          <a:ln w="12700">
            <a:solidFill>
              <a:srgbClr val="F0EAFA"/>
            </a:solidFill>
            <a:prstDash val="solid"/>
          </a:ln>
        </p:spPr>
      </p:sp>
      <p:sp>
        <p:nvSpPr>
          <p:cNvPr id="42" name="Text 38"/>
          <p:cNvSpPr/>
          <p:nvPr/>
        </p:nvSpPr>
        <p:spPr>
          <a:xfrm>
            <a:off x="256032" y="4453128"/>
            <a:ext cx="6400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💬  Role Play / Дүрд тоглох</a:t>
            </a:r>
            <a:endParaRPr lang="en-US" sz="1050" dirty="0"/>
          </a:p>
        </p:txBody>
      </p:sp>
      <p:sp>
        <p:nvSpPr>
          <p:cNvPr id="43" name="Text 39"/>
          <p:cNvSpPr/>
          <p:nvPr/>
        </p:nvSpPr>
        <p:spPr>
          <a:xfrm>
            <a:off x="256032" y="4718304"/>
            <a:ext cx="640080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i="1" dirty="0">
                <a:solidFill>
                  <a:srgbClr val="3A5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Найзтайгаа дадлагал · Repeat until it sounds natural!</a:t>
            </a:r>
            <a:endParaRPr lang="en-US" sz="750" dirty="0"/>
          </a:p>
        </p:txBody>
      </p:sp>
      <p:graphicFrame>
        <p:nvGraphicFramePr>
          <p:cNvPr id="7" name="Table 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237744" y="4873752"/>
          <a:ext cx="6382512" cy="914400"/>
        </p:xfrm>
        <a:graphic>
          <a:graphicData uri="http://schemas.openxmlformats.org/drawingml/2006/table">
            <a:tbl>
              <a:tblPr/>
              <a:tblGrid>
                <a:gridCol w="3191256"/>
                <a:gridCol w="3191256"/>
              </a:tblGrid>
              <a:tr h="74828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2E6DA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A:  What were you doing when I called you last night?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E7A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B:  Sorry! I was studying English and didn't hear my phone.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</a:tr>
              <a:tr h="74828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A2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A:  Were you studying all evening?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3A506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B:  Yes! While I was studying, my sister was watching TV loudly.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74828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A2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A:  What was the weather like when you left school?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3A506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B:  It was raining heavily. I was walking home and got completely wet!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</a:tr>
              <a:tr h="74828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A2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A:  What were you doing at midnight during the New Year?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3A506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B:  We were all sitting together and watching fireworks outside.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74828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A2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A:  Were you sleeping when the earthquake happened?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3A506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B:  Yes! I was sleeping deeply when the whole building shook.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</a:tr>
              <a:tr h="74828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A2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A:  What were you thinking at that moment?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3A506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B:  I was hoping it would stop. Thankfully it did!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45" name="Shape 40"/>
          <p:cNvSpPr/>
          <p:nvPr/>
        </p:nvSpPr>
        <p:spPr>
          <a:xfrm>
            <a:off x="237744" y="9381744"/>
            <a:ext cx="6382512" cy="146304"/>
          </a:xfrm>
          <a:prstGeom prst="rect">
            <a:avLst/>
          </a:prstGeom>
          <a:solidFill>
            <a:srgbClr val="FEF3DC"/>
          </a:solidFill>
          <a:ln w="12700">
            <a:solidFill>
              <a:srgbClr val="C97A0A"/>
            </a:solidFill>
            <a:prstDash val="solid"/>
          </a:ln>
        </p:spPr>
      </p:sp>
      <p:sp>
        <p:nvSpPr>
          <p:cNvPr id="46" name="Text 41"/>
          <p:cNvSpPr/>
          <p:nvPr/>
        </p:nvSpPr>
        <p:spPr>
          <a:xfrm>
            <a:off x="292608" y="9390888"/>
            <a:ext cx="6272784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i="1" dirty="0">
                <a:solidFill>
                  <a:srgbClr val="C97A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🌟  B1 Tip: At B1 level, combine tenses naturally! 'I was sleeping WHEN my phone rang.' 'She had just arrived WHEN the storm started.' This is what makes you sound truly intermediate!</a:t>
            </a:r>
            <a:endParaRPr lang="en-US" sz="7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2F6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6858000" cy="347472"/>
          </a:xfrm>
          <a:prstGeom prst="rect">
            <a:avLst/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50292" cy="347472"/>
          </a:xfrm>
          <a:prstGeom prst="rect">
            <a:avLst/>
          </a:prstGeom>
          <a:solidFill>
            <a:srgbClr val="F2C93A"/>
          </a:solidFill>
          <a:ln w="12700">
            <a:solidFill>
              <a:srgbClr val="F2C93A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00584" y="0"/>
            <a:ext cx="3657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2C93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Speak English in 90 Days</a:t>
            </a:r>
            <a:endParaRPr lang="en-US" sz="1350" dirty="0"/>
          </a:p>
        </p:txBody>
      </p:sp>
      <p:sp>
        <p:nvSpPr>
          <p:cNvPr id="5" name="Text 3"/>
          <p:cNvSpPr/>
          <p:nvPr/>
        </p:nvSpPr>
        <p:spPr>
          <a:xfrm>
            <a:off x="3657600" y="0"/>
            <a:ext cx="1920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90AA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B1 · Book 3 · Дэвшилтэт шат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5577840" y="0"/>
            <a:ext cx="117043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F2C9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15-20 минут</a:t>
            </a:r>
            <a:endParaRPr lang="en-US" sz="850" dirty="0"/>
          </a:p>
        </p:txBody>
      </p:sp>
      <p:sp>
        <p:nvSpPr>
          <p:cNvPr id="7" name="Shape 5"/>
          <p:cNvSpPr/>
          <p:nvPr/>
        </p:nvSpPr>
        <p:spPr>
          <a:xfrm>
            <a:off x="0" y="347472"/>
            <a:ext cx="1335024" cy="237744"/>
          </a:xfrm>
          <a:prstGeom prst="rect">
            <a:avLst/>
          </a:prstGeom>
          <a:solidFill>
            <a:srgbClr val="F2C93A"/>
          </a:solidFill>
          <a:ln w="12700">
            <a:solidFill>
              <a:srgbClr val="F2C93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0" y="347472"/>
            <a:ext cx="133502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1A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61 · ӨДӨР 61</a:t>
            </a:r>
            <a:endParaRPr lang="en-US" sz="850" dirty="0"/>
          </a:p>
        </p:txBody>
      </p:sp>
      <p:sp>
        <p:nvSpPr>
          <p:cNvPr id="9" name="Shape 7"/>
          <p:cNvSpPr/>
          <p:nvPr/>
        </p:nvSpPr>
        <p:spPr>
          <a:xfrm>
            <a:off x="1335024" y="347472"/>
            <a:ext cx="4498848" cy="237744"/>
          </a:xfrm>
          <a:prstGeom prst="rect">
            <a:avLst/>
          </a:prstGeom>
          <a:solidFill>
            <a:srgbClr val="6B3FA0"/>
          </a:solidFill>
          <a:ln w="12700">
            <a:solidFill>
              <a:srgbClr val="6B3FA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408176" y="347472"/>
            <a:ext cx="442569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Listening · Practice · Homework</a:t>
            </a:r>
            <a:endParaRPr lang="en-US" sz="850" dirty="0"/>
          </a:p>
        </p:txBody>
      </p:sp>
      <p:sp>
        <p:nvSpPr>
          <p:cNvPr id="11" name="Shape 9"/>
          <p:cNvSpPr/>
          <p:nvPr/>
        </p:nvSpPr>
        <p:spPr>
          <a:xfrm>
            <a:off x="5833872" y="347472"/>
            <a:ext cx="1024128" cy="237744"/>
          </a:xfrm>
          <a:prstGeom prst="rect">
            <a:avLst/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760720" y="347472"/>
            <a:ext cx="104241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F2C9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🎧 Page 3</a:t>
            </a:r>
            <a:endParaRPr lang="en-US" sz="750" dirty="0"/>
          </a:p>
        </p:txBody>
      </p:sp>
      <p:sp>
        <p:nvSpPr>
          <p:cNvPr id="13" name="Shape 11"/>
          <p:cNvSpPr/>
          <p:nvPr/>
        </p:nvSpPr>
        <p:spPr>
          <a:xfrm>
            <a:off x="0" y="9601200"/>
            <a:ext cx="6858000" cy="91440"/>
          </a:xfrm>
          <a:prstGeom prst="rect">
            <a:avLst/>
          </a:prstGeom>
          <a:solidFill>
            <a:srgbClr val="E4EEF6"/>
          </a:solidFill>
          <a:ln w="12700">
            <a:solidFill>
              <a:srgbClr val="E4EEF6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0" y="9601200"/>
            <a:ext cx="6858000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dirty="0">
                <a:solidFill>
                  <a:srgbClr val="7A90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Speak English in 90 Days  ·  B1 Level  ·  Book 3</a:t>
            </a:r>
            <a:endParaRPr lang="en-US" sz="650" dirty="0"/>
          </a:p>
        </p:txBody>
      </p:sp>
      <p:sp>
        <p:nvSpPr>
          <p:cNvPr id="15" name="Shape 13"/>
          <p:cNvSpPr/>
          <p:nvPr/>
        </p:nvSpPr>
        <p:spPr>
          <a:xfrm>
            <a:off x="179222" y="627278"/>
            <a:ext cx="6528816" cy="1956816"/>
          </a:xfrm>
          <a:prstGeom prst="rect">
            <a:avLst/>
          </a:prstGeom>
          <a:solidFill>
            <a:srgbClr val="D0DCE8"/>
          </a:solidFill>
          <a:ln w="12700">
            <a:solidFill>
              <a:srgbClr val="D0DCE8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164592" y="612648"/>
            <a:ext cx="6528816" cy="1956816"/>
          </a:xfrm>
          <a:prstGeom prst="rect">
            <a:avLst/>
          </a:prstGeom>
          <a:solidFill>
            <a:srgbClr val="FFFFFF"/>
          </a:solidFill>
          <a:ln w="12700">
            <a:solidFill>
              <a:srgbClr val="C8D8E8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164592" y="612648"/>
            <a:ext cx="6528816" cy="256032"/>
          </a:xfrm>
          <a:prstGeom prst="rect">
            <a:avLst/>
          </a:prstGeom>
          <a:solidFill>
            <a:srgbClr val="6B3FA0"/>
          </a:solidFill>
          <a:ln w="12700">
            <a:solidFill>
              <a:srgbClr val="6B3FA0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164592" y="868680"/>
            <a:ext cx="6528816" cy="146304"/>
          </a:xfrm>
          <a:prstGeom prst="rect">
            <a:avLst/>
          </a:prstGeom>
          <a:solidFill>
            <a:srgbClr val="F0EAFA"/>
          </a:solidFill>
          <a:ln w="12700">
            <a:solidFill>
              <a:srgbClr val="F0EAFA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256032" y="612648"/>
            <a:ext cx="6400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🎧  Listening Script / Сонсох текст</a:t>
            </a:r>
            <a:endParaRPr lang="en-US" sz="1050" dirty="0"/>
          </a:p>
        </p:txBody>
      </p:sp>
      <p:sp>
        <p:nvSpPr>
          <p:cNvPr id="20" name="Text 18"/>
          <p:cNvSpPr/>
          <p:nvPr/>
        </p:nvSpPr>
        <p:spPr>
          <a:xfrm>
            <a:off x="256032" y="877824"/>
            <a:ext cx="640080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i="1" dirty="0">
                <a:solidFill>
                  <a:srgbClr val="3A5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Answer 10 questions WITHOUT looking at the text!</a:t>
            </a:r>
            <a:endParaRPr lang="en-US" sz="750" dirty="0"/>
          </a:p>
        </p:txBody>
      </p:sp>
      <p:sp>
        <p:nvSpPr>
          <p:cNvPr id="21" name="Shape 19"/>
          <p:cNvSpPr/>
          <p:nvPr/>
        </p:nvSpPr>
        <p:spPr>
          <a:xfrm>
            <a:off x="237744" y="1033272"/>
            <a:ext cx="6382512" cy="1481328"/>
          </a:xfrm>
          <a:prstGeom prst="rect">
            <a:avLst/>
          </a:prstGeom>
          <a:solidFill>
            <a:srgbClr val="F4F8FC"/>
          </a:solidFill>
          <a:ln w="12700">
            <a:solidFill>
              <a:srgbClr val="2E6DA4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292608" y="1069848"/>
            <a:ext cx="6272784" cy="14081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850" b="1" dirty="0">
                <a:solidFill>
                  <a:srgbClr val="6B3F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Teacher: </a:t>
            </a:r>
            <a:pPr indent="0" marL="0">
              <a:lnSpc>
                <a:spcPct val="150000"/>
              </a:lnSpc>
              <a:buNone/>
            </a:pPr>
            <a:r>
              <a:rPr lang="en-US" sz="850" dirty="0">
                <a:solidFill>
                  <a:srgbClr val="1A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Welcome to Book 3 — B1 level! Today: Past Continuous. Bat, what were you doing yesterday at 6pm?  </a:t>
            </a:r>
            <a:pPr indent="0" marL="0">
              <a:lnSpc>
                <a:spcPct val="150000"/>
              </a:lnSpc>
              <a:buNone/>
            </a:pPr>
            <a:r>
              <a:rPr lang="en-US" sz="850" b="1" dirty="0">
                <a:solidFill>
                  <a:srgbClr val="2E6D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Bat: </a:t>
            </a:r>
            <a:pPr indent="0" marL="0">
              <a:lnSpc>
                <a:spcPct val="150000"/>
              </a:lnSpc>
              <a:buNone/>
            </a:pPr>
            <a:r>
              <a:rPr lang="en-US" sz="850" dirty="0">
                <a:solidFill>
                  <a:srgbClr val="1A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 was walking home from school. It was raining and I was thinking about today's lesson!  </a:t>
            </a:r>
            <a:pPr indent="0" marL="0">
              <a:lnSpc>
                <a:spcPct val="150000"/>
              </a:lnSpc>
              <a:buNone/>
            </a:pPr>
            <a:r>
              <a:rPr lang="en-US" sz="850" b="1" dirty="0">
                <a:solidFill>
                  <a:srgbClr val="6B3F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Teacher: </a:t>
            </a:r>
            <a:pPr indent="0" marL="0">
              <a:lnSpc>
                <a:spcPct val="150000"/>
              </a:lnSpc>
              <a:buNone/>
            </a:pPr>
            <a:r>
              <a:rPr lang="en-US" sz="850" dirty="0">
                <a:solidFill>
                  <a:srgbClr val="1A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Good! Were you listening to music while you were walking?  </a:t>
            </a:r>
            <a:pPr indent="0" marL="0">
              <a:lnSpc>
                <a:spcPct val="150000"/>
              </a:lnSpc>
              <a:buNone/>
            </a:pPr>
            <a:r>
              <a:rPr lang="en-US" sz="850" b="1" dirty="0">
                <a:solidFill>
                  <a:srgbClr val="2E6D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Bat: </a:t>
            </a:r>
            <a:pPr indent="0" marL="0">
              <a:lnSpc>
                <a:spcPct val="150000"/>
              </a:lnSpc>
              <a:buNone/>
            </a:pPr>
            <a:r>
              <a:rPr lang="en-US" sz="850" dirty="0">
                <a:solidFill>
                  <a:srgbClr val="1A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Yes! I was listening to an English podcast while I was walking. Two continuous actions at the same time!  </a:t>
            </a:r>
            <a:pPr indent="0" marL="0">
              <a:lnSpc>
                <a:spcPct val="150000"/>
              </a:lnSpc>
              <a:buNone/>
            </a:pPr>
            <a:r>
              <a:rPr lang="en-US" sz="850" b="1" dirty="0">
                <a:solidFill>
                  <a:srgbClr val="6B3F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Teacher: </a:t>
            </a:r>
            <a:pPr indent="0" marL="0">
              <a:lnSpc>
                <a:spcPct val="150000"/>
              </a:lnSpc>
              <a:buNone/>
            </a:pPr>
            <a:r>
              <a:rPr lang="en-US" sz="850" dirty="0">
                <a:solidFill>
                  <a:srgbClr val="1A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Excellent! Sarnai, what were you doing at 9pm last night?  </a:t>
            </a:r>
            <a:pPr indent="0" marL="0">
              <a:lnSpc>
                <a:spcPct val="150000"/>
              </a:lnSpc>
              <a:buNone/>
            </a:pPr>
            <a:r>
              <a:rPr lang="en-US" sz="850" b="1" dirty="0">
                <a:solidFill>
                  <a:srgbClr val="C97A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Sarnai: </a:t>
            </a:r>
            <a:pPr indent="0" marL="0">
              <a:lnSpc>
                <a:spcPct val="150000"/>
              </a:lnSpc>
              <a:buNone/>
            </a:pPr>
            <a:r>
              <a:rPr lang="en-US" sz="850" dirty="0">
                <a:solidFill>
                  <a:srgbClr val="1A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 was painting a new picture. While I was painting, my brother was playing video games very loudly next to me!  </a:t>
            </a:r>
            <a:pPr indent="0" marL="0">
              <a:lnSpc>
                <a:spcPct val="150000"/>
              </a:lnSpc>
              <a:buNone/>
            </a:pPr>
            <a:r>
              <a:rPr lang="en-US" sz="850" b="1" dirty="0">
                <a:solidFill>
                  <a:srgbClr val="6B3F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Teacher: </a:t>
            </a:r>
            <a:pPr indent="0" marL="0">
              <a:lnSpc>
                <a:spcPct val="150000"/>
              </a:lnSpc>
              <a:buNone/>
            </a:pPr>
            <a:r>
              <a:rPr lang="en-US" sz="850" dirty="0">
                <a:solidFill>
                  <a:srgbClr val="1A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Ha! Were you concentrating well?  </a:t>
            </a:r>
            <a:pPr indent="0" marL="0">
              <a:lnSpc>
                <a:spcPct val="150000"/>
              </a:lnSpc>
              <a:buNone/>
            </a:pPr>
            <a:r>
              <a:rPr lang="en-US" sz="850" b="1" dirty="0">
                <a:solidFill>
                  <a:srgbClr val="C97A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Sarnai: </a:t>
            </a:r>
            <a:pPr indent="0" marL="0">
              <a:lnSpc>
                <a:spcPct val="150000"/>
              </a:lnSpc>
              <a:buNone/>
            </a:pPr>
            <a:r>
              <a:rPr lang="en-US" sz="850" dirty="0">
                <a:solidFill>
                  <a:srgbClr val="1A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 really! But when he finally went to bed, everything was quiet and I was painting beautifully until midnight.</a:t>
            </a:r>
            <a:endParaRPr lang="en-US" sz="850" dirty="0"/>
          </a:p>
        </p:txBody>
      </p:sp>
      <p:sp>
        <p:nvSpPr>
          <p:cNvPr id="23" name="Shape 21"/>
          <p:cNvSpPr/>
          <p:nvPr/>
        </p:nvSpPr>
        <p:spPr>
          <a:xfrm>
            <a:off x="179222" y="2657246"/>
            <a:ext cx="3218688" cy="3200400"/>
          </a:xfrm>
          <a:prstGeom prst="rect">
            <a:avLst/>
          </a:prstGeom>
          <a:solidFill>
            <a:srgbClr val="D0DCE8"/>
          </a:solidFill>
          <a:ln w="12700">
            <a:solidFill>
              <a:srgbClr val="D0DCE8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164592" y="2642616"/>
            <a:ext cx="3218688" cy="3200400"/>
          </a:xfrm>
          <a:prstGeom prst="rect">
            <a:avLst/>
          </a:prstGeom>
          <a:solidFill>
            <a:srgbClr val="FFFFFF"/>
          </a:solidFill>
          <a:ln w="12700">
            <a:solidFill>
              <a:srgbClr val="C8D8E8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164592" y="2642616"/>
            <a:ext cx="3218688" cy="256032"/>
          </a:xfrm>
          <a:prstGeom prst="rect">
            <a:avLst/>
          </a:prstGeom>
          <a:solidFill>
            <a:srgbClr val="2E6DA4"/>
          </a:solidFill>
          <a:ln w="12700">
            <a:solidFill>
              <a:srgbClr val="2E6DA4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164592" y="2898648"/>
            <a:ext cx="3218688" cy="146304"/>
          </a:xfrm>
          <a:prstGeom prst="rect">
            <a:avLst/>
          </a:prstGeom>
          <a:solidFill>
            <a:srgbClr val="EBF4FB"/>
          </a:solidFill>
          <a:ln w="12700">
            <a:solidFill>
              <a:srgbClr val="EBF4FB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256032" y="2642616"/>
            <a:ext cx="309067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❓  Comprehension Questions (10)</a:t>
            </a:r>
            <a:endParaRPr lang="en-US" sz="1050" dirty="0"/>
          </a:p>
        </p:txBody>
      </p:sp>
      <p:sp>
        <p:nvSpPr>
          <p:cNvPr id="28" name="Text 26"/>
          <p:cNvSpPr/>
          <p:nvPr/>
        </p:nvSpPr>
        <p:spPr>
          <a:xfrm>
            <a:off x="256032" y="2907792"/>
            <a:ext cx="3090672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i="1" dirty="0">
                <a:solidFill>
                  <a:srgbClr val="3A5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Choose the best answer.</a:t>
            </a:r>
            <a:endParaRPr lang="en-US" sz="750" dirty="0"/>
          </a:p>
        </p:txBody>
      </p:sp>
      <p:graphicFrame>
        <p:nvGraphicFramePr>
          <p:cNvPr id="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228600" y="3063240"/>
          <a:ext cx="3090672" cy="914400"/>
        </p:xfrm>
        <a:graphic>
          <a:graphicData uri="http://schemas.openxmlformats.org/drawingml/2006/table">
            <a:tbl>
              <a:tblPr/>
              <a:tblGrid>
                <a:gridCol w="247254"/>
                <a:gridCol w="1236269"/>
                <a:gridCol w="1607149"/>
              </a:tblGrid>
              <a:tr h="27889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b="1" dirty="0">
                          <a:solidFill>
                            <a:srgbClr val="2E6DA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1.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t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80" b="1" dirty="0">
                          <a:solidFill>
                            <a:srgbClr val="1A2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What was Bat doing at 6pm yesterday?</a:t>
                      </a:r>
                      <a:endParaRPr lang="en-US" sz="7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t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i="1" dirty="0">
                          <a:solidFill>
                            <a:srgbClr val="3A506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a) studying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US" sz="750" i="1" dirty="0">
                          <a:solidFill>
                            <a:srgbClr val="3A506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b) cooking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US" sz="750" i="1" dirty="0">
                          <a:solidFill>
                            <a:srgbClr val="3A506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c) walking home from school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t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</a:tr>
              <a:tr h="27889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b="1" dirty="0">
                          <a:solidFill>
                            <a:srgbClr val="2E6DA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2.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t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80" b="1" dirty="0">
                          <a:solidFill>
                            <a:srgbClr val="1A2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What was the weather like?</a:t>
                      </a:r>
                      <a:endParaRPr lang="en-US" sz="7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t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i="1" dirty="0">
                          <a:solidFill>
                            <a:srgbClr val="3A506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a) sunny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US" sz="750" i="1" dirty="0">
                          <a:solidFill>
                            <a:srgbClr val="3A506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b) raining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US" sz="750" i="1" dirty="0">
                          <a:solidFill>
                            <a:srgbClr val="3A506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c) snowing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t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7889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b="1" dirty="0">
                          <a:solidFill>
                            <a:srgbClr val="2E6DA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3.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t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80" b="1" dirty="0">
                          <a:solidFill>
                            <a:srgbClr val="1A2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What was Bat listening to while walking?</a:t>
                      </a:r>
                      <a:endParaRPr lang="en-US" sz="7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t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i="1" dirty="0">
                          <a:solidFill>
                            <a:srgbClr val="3A506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a) music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US" sz="750" i="1" dirty="0">
                          <a:solidFill>
                            <a:srgbClr val="3A506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b) an English podcast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US" sz="750" i="1" dirty="0">
                          <a:solidFill>
                            <a:srgbClr val="3A506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c) the radio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t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</a:tr>
              <a:tr h="27889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b="1" dirty="0">
                          <a:solidFill>
                            <a:srgbClr val="2E6DA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4.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t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80" b="1" dirty="0">
                          <a:solidFill>
                            <a:srgbClr val="1A2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What was Bat thinking about?</a:t>
                      </a:r>
                      <a:endParaRPr lang="en-US" sz="7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t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i="1" dirty="0">
                          <a:solidFill>
                            <a:srgbClr val="3A506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a) food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US" sz="750" i="1" dirty="0">
                          <a:solidFill>
                            <a:srgbClr val="3A506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b) his friends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US" sz="750" i="1" dirty="0">
                          <a:solidFill>
                            <a:srgbClr val="3A506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c) today's lesson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t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7889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b="1" dirty="0">
                          <a:solidFill>
                            <a:srgbClr val="2E6DA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5.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t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80" b="1" dirty="0">
                          <a:solidFill>
                            <a:srgbClr val="1A2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What was Sarnai doing at 9pm?</a:t>
                      </a:r>
                      <a:endParaRPr lang="en-US" sz="7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t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i="1" dirty="0">
                          <a:solidFill>
                            <a:srgbClr val="3A506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a) studying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US" sz="750" i="1" dirty="0">
                          <a:solidFill>
                            <a:srgbClr val="3A506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b) painting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US" sz="750" i="1" dirty="0">
                          <a:solidFill>
                            <a:srgbClr val="3A506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c) watching TV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t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</a:tr>
              <a:tr h="27889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b="1" dirty="0">
                          <a:solidFill>
                            <a:srgbClr val="2E6DA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6.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t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80" b="1" dirty="0">
                          <a:solidFill>
                            <a:srgbClr val="1A2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What was her brother doing?</a:t>
                      </a:r>
                      <a:endParaRPr lang="en-US" sz="7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t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i="1" dirty="0">
                          <a:solidFill>
                            <a:srgbClr val="3A506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a) sleeping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US" sz="750" i="1" dirty="0">
                          <a:solidFill>
                            <a:srgbClr val="3A506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b) studying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US" sz="750" i="1" dirty="0">
                          <a:solidFill>
                            <a:srgbClr val="3A506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c) playing video games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t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7889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b="1" dirty="0">
                          <a:solidFill>
                            <a:srgbClr val="2E6DA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7.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t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80" b="1" dirty="0">
                          <a:solidFill>
                            <a:srgbClr val="1A2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Was Sarnai concentrating well?</a:t>
                      </a:r>
                      <a:endParaRPr lang="en-US" sz="7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t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i="1" dirty="0">
                          <a:solidFill>
                            <a:srgbClr val="3A506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a) yes, very well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US" sz="750" i="1" dirty="0">
                          <a:solidFill>
                            <a:srgbClr val="3A506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b) not really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US" sz="750" i="1" dirty="0">
                          <a:solidFill>
                            <a:srgbClr val="3A506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c) perfectly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t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</a:tr>
              <a:tr h="27889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b="1" dirty="0">
                          <a:solidFill>
                            <a:srgbClr val="2E6DA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8.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t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80" b="1" dirty="0">
                          <a:solidFill>
                            <a:srgbClr val="1A2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When could Sarnai paint well?</a:t>
                      </a:r>
                      <a:endParaRPr lang="en-US" sz="7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t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i="1" dirty="0">
                          <a:solidFill>
                            <a:srgbClr val="3A506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a) early morning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US" sz="750" i="1" dirty="0">
                          <a:solidFill>
                            <a:srgbClr val="3A506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b) during the day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US" sz="750" i="1" dirty="0">
                          <a:solidFill>
                            <a:srgbClr val="3A506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c) when her brother went to bed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t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7889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b="1" dirty="0">
                          <a:solidFill>
                            <a:srgbClr val="2E6DA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9.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t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80" b="1" dirty="0">
                          <a:solidFill>
                            <a:srgbClr val="1A2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How long did Sarnai paint?</a:t>
                      </a:r>
                      <a:endParaRPr lang="en-US" sz="7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t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i="1" dirty="0">
                          <a:solidFill>
                            <a:srgbClr val="3A506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a) until 10pm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US" sz="750" i="1" dirty="0">
                          <a:solidFill>
                            <a:srgbClr val="3A506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b) all day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US" sz="750" i="1" dirty="0">
                          <a:solidFill>
                            <a:srgbClr val="3A506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c) until midnight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t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</a:tr>
              <a:tr h="27889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b="1" dirty="0">
                          <a:solidFill>
                            <a:srgbClr val="2E6DA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10.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t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80" b="1" dirty="0">
                          <a:solidFill>
                            <a:srgbClr val="1A2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'I was walking' — which tense is this?</a:t>
                      </a:r>
                      <a:endParaRPr lang="en-US" sz="7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t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i="1" dirty="0">
                          <a:solidFill>
                            <a:srgbClr val="3A506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a) Past Simple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US" sz="750" i="1" dirty="0">
                          <a:solidFill>
                            <a:srgbClr val="3A506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b) Past Continuous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US" sz="750" i="1" dirty="0">
                          <a:solidFill>
                            <a:srgbClr val="3A506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c) Present Continuous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t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30" name="Shape 27"/>
          <p:cNvSpPr/>
          <p:nvPr/>
        </p:nvSpPr>
        <p:spPr>
          <a:xfrm>
            <a:off x="3489350" y="2657246"/>
            <a:ext cx="3218688" cy="3200400"/>
          </a:xfrm>
          <a:prstGeom prst="rect">
            <a:avLst/>
          </a:prstGeom>
          <a:solidFill>
            <a:srgbClr val="D0DCE8"/>
          </a:solidFill>
          <a:ln w="12700">
            <a:solidFill>
              <a:srgbClr val="D0DCE8"/>
            </a:solidFill>
            <a:prstDash val="solid"/>
          </a:ln>
        </p:spPr>
      </p:sp>
      <p:sp>
        <p:nvSpPr>
          <p:cNvPr id="31" name="Shape 28"/>
          <p:cNvSpPr/>
          <p:nvPr/>
        </p:nvSpPr>
        <p:spPr>
          <a:xfrm>
            <a:off x="3474720" y="2642616"/>
            <a:ext cx="3218688" cy="3200400"/>
          </a:xfrm>
          <a:prstGeom prst="rect">
            <a:avLst/>
          </a:prstGeom>
          <a:solidFill>
            <a:srgbClr val="FFFFFF"/>
          </a:solidFill>
          <a:ln w="12700">
            <a:solidFill>
              <a:srgbClr val="C8D8E8"/>
            </a:solidFill>
            <a:prstDash val="solid"/>
          </a:ln>
        </p:spPr>
      </p:sp>
      <p:sp>
        <p:nvSpPr>
          <p:cNvPr id="32" name="Shape 29"/>
          <p:cNvSpPr/>
          <p:nvPr/>
        </p:nvSpPr>
        <p:spPr>
          <a:xfrm>
            <a:off x="3474720" y="2642616"/>
            <a:ext cx="3218688" cy="256032"/>
          </a:xfrm>
          <a:prstGeom prst="rect">
            <a:avLst/>
          </a:prstGeom>
          <a:solidFill>
            <a:srgbClr val="0D7C7B"/>
          </a:solidFill>
          <a:ln w="12700">
            <a:solidFill>
              <a:srgbClr val="0D7C7B"/>
            </a:solidFill>
            <a:prstDash val="solid"/>
          </a:ln>
        </p:spPr>
      </p:sp>
      <p:sp>
        <p:nvSpPr>
          <p:cNvPr id="33" name="Shape 30"/>
          <p:cNvSpPr/>
          <p:nvPr/>
        </p:nvSpPr>
        <p:spPr>
          <a:xfrm>
            <a:off x="3474720" y="2898648"/>
            <a:ext cx="3218688" cy="146304"/>
          </a:xfrm>
          <a:prstGeom prst="rect">
            <a:avLst/>
          </a:prstGeom>
          <a:solidFill>
            <a:srgbClr val="E0F4F4"/>
          </a:solidFill>
          <a:ln w="12700">
            <a:solidFill>
              <a:srgbClr val="E0F4F4"/>
            </a:solidFill>
            <a:prstDash val="solid"/>
          </a:ln>
        </p:spPr>
      </p:sp>
      <p:sp>
        <p:nvSpPr>
          <p:cNvPr id="34" name="Text 31"/>
          <p:cNvSpPr/>
          <p:nvPr/>
        </p:nvSpPr>
        <p:spPr>
          <a:xfrm>
            <a:off x="3566160" y="2642616"/>
            <a:ext cx="309067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✏️  Grammar Practice &amp; Matching</a:t>
            </a:r>
            <a:endParaRPr lang="en-US" sz="1050" dirty="0"/>
          </a:p>
        </p:txBody>
      </p:sp>
      <p:sp>
        <p:nvSpPr>
          <p:cNvPr id="35" name="Shape 32"/>
          <p:cNvSpPr/>
          <p:nvPr/>
        </p:nvSpPr>
        <p:spPr>
          <a:xfrm>
            <a:off x="3529584" y="3063240"/>
            <a:ext cx="3108960" cy="164592"/>
          </a:xfrm>
          <a:prstGeom prst="rect">
            <a:avLst/>
          </a:prstGeom>
          <a:solidFill>
            <a:srgbClr val="0D7C7B"/>
          </a:solidFill>
          <a:ln w="12700">
            <a:solidFill>
              <a:srgbClr val="0D7C7B"/>
            </a:solidFill>
            <a:prstDash val="solid"/>
          </a:ln>
        </p:spPr>
      </p:sp>
      <p:sp>
        <p:nvSpPr>
          <p:cNvPr id="36" name="Text 33"/>
          <p:cNvSpPr/>
          <p:nvPr/>
        </p:nvSpPr>
        <p:spPr>
          <a:xfrm>
            <a:off x="3557016" y="3063240"/>
            <a:ext cx="307238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Fill in the blank — was / were / wasn't / weren't + -ing</a:t>
            </a:r>
            <a:endParaRPr lang="en-US" sz="800" dirty="0"/>
          </a:p>
        </p:txBody>
      </p:sp>
      <p:graphicFrame>
        <p:nvGraphicFramePr>
          <p:cNvPr id="7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529584" y="3227832"/>
          <a:ext cx="3108960" cy="914400"/>
        </p:xfrm>
        <a:graphic>
          <a:graphicData uri="http://schemas.openxmlformats.org/drawingml/2006/table">
            <a:tbl>
              <a:tblPr/>
              <a:tblGrid>
                <a:gridCol w="3108960"/>
              </a:tblGrid>
              <a:tr h="199339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1A2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1. I _____ sleeping when the phone rang. (was)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</a:tr>
              <a:tr h="199339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0D7C7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2. They _____ talking all evening. (were)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199339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1A2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3. It _____ raining when I left. (was)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</a:tr>
              <a:tr h="199339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0D7C7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4. She _____ working when I arrived. (was)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199339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1A2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5. _____ you studying at 9pm? (Were)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</a:tr>
              <a:tr h="199339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0D7C7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6. We _____ watching TV when the storm started. (were)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38" name="Shape 34"/>
          <p:cNvSpPr/>
          <p:nvPr/>
        </p:nvSpPr>
        <p:spPr>
          <a:xfrm>
            <a:off x="3529584" y="4478731"/>
            <a:ext cx="3108960" cy="164592"/>
          </a:xfrm>
          <a:prstGeom prst="rect">
            <a:avLst/>
          </a:prstGeom>
          <a:solidFill>
            <a:srgbClr val="6B3FA0"/>
          </a:solidFill>
          <a:ln w="12700">
            <a:solidFill>
              <a:srgbClr val="6B3FA0"/>
            </a:solidFill>
            <a:prstDash val="solid"/>
          </a:ln>
        </p:spPr>
      </p:sp>
      <p:sp>
        <p:nvSpPr>
          <p:cNvPr id="39" name="Text 35"/>
          <p:cNvSpPr/>
          <p:nvPr/>
        </p:nvSpPr>
        <p:spPr>
          <a:xfrm>
            <a:off x="3557016" y="4478731"/>
            <a:ext cx="307238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Matching — English → Mongolian</a:t>
            </a:r>
            <a:endParaRPr lang="en-US" sz="800" dirty="0"/>
          </a:p>
        </p:txBody>
      </p:sp>
      <p:graphicFrame>
        <p:nvGraphicFramePr>
          <p:cNvPr id="10" name="Table 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529584" y="4643323"/>
          <a:ext cx="3108960" cy="914400"/>
        </p:xfrm>
        <a:graphic>
          <a:graphicData uri="http://schemas.openxmlformats.org/drawingml/2006/table">
            <a:tbl>
              <a:tblPr/>
              <a:tblGrid>
                <a:gridCol w="1616659"/>
                <a:gridCol w="1492301"/>
              </a:tblGrid>
              <a:tr h="235915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b="1" dirty="0">
                          <a:solidFill>
                            <a:srgbClr val="2E6DA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1. was sleeping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0D7C7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A. ярьж байсан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</a:tr>
              <a:tr h="235915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b="1" dirty="0">
                          <a:solidFill>
                            <a:srgbClr val="2E6DA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2. were talking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0D7C7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B. бороо орж байсан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35915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b="1" dirty="0">
                          <a:solidFill>
                            <a:srgbClr val="2E6DA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3. was raining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0D7C7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C. ажиллаж байсан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</a:tr>
              <a:tr h="235915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b="1" dirty="0">
                          <a:solidFill>
                            <a:srgbClr val="2E6DA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4. was working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0D7C7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D. унтаж байсан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35915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b="1" dirty="0">
                          <a:solidFill>
                            <a:srgbClr val="2E6DA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5. were studying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0D7C7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E. суралцаж байсан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</a:tr>
            </a:tbl>
          </a:graphicData>
        </a:graphic>
      </p:graphicFrame>
      <p:sp>
        <p:nvSpPr>
          <p:cNvPr id="41" name="Shape 36"/>
          <p:cNvSpPr/>
          <p:nvPr/>
        </p:nvSpPr>
        <p:spPr>
          <a:xfrm>
            <a:off x="179222" y="5930798"/>
            <a:ext cx="2115312" cy="3648456"/>
          </a:xfrm>
          <a:prstGeom prst="rect">
            <a:avLst/>
          </a:prstGeom>
          <a:solidFill>
            <a:srgbClr val="D0DCE8"/>
          </a:solidFill>
          <a:ln w="12700">
            <a:solidFill>
              <a:srgbClr val="D0DCE8"/>
            </a:solidFill>
            <a:prstDash val="solid"/>
          </a:ln>
        </p:spPr>
      </p:sp>
      <p:sp>
        <p:nvSpPr>
          <p:cNvPr id="42" name="Shape 37"/>
          <p:cNvSpPr/>
          <p:nvPr/>
        </p:nvSpPr>
        <p:spPr>
          <a:xfrm>
            <a:off x="164592" y="5916168"/>
            <a:ext cx="2115312" cy="3648456"/>
          </a:xfrm>
          <a:prstGeom prst="rect">
            <a:avLst/>
          </a:prstGeom>
          <a:solidFill>
            <a:srgbClr val="FFFFFF"/>
          </a:solidFill>
          <a:ln w="12700">
            <a:solidFill>
              <a:srgbClr val="C8D8E8"/>
            </a:solidFill>
            <a:prstDash val="solid"/>
          </a:ln>
        </p:spPr>
      </p:sp>
      <p:sp>
        <p:nvSpPr>
          <p:cNvPr id="43" name="Shape 38"/>
          <p:cNvSpPr/>
          <p:nvPr/>
        </p:nvSpPr>
        <p:spPr>
          <a:xfrm>
            <a:off x="164592" y="5916168"/>
            <a:ext cx="2115312" cy="256032"/>
          </a:xfrm>
          <a:prstGeom prst="rect">
            <a:avLst/>
          </a:prstGeom>
          <a:solidFill>
            <a:srgbClr val="C97A0A"/>
          </a:solidFill>
          <a:ln w="12700">
            <a:solidFill>
              <a:srgbClr val="C97A0A"/>
            </a:solidFill>
            <a:prstDash val="solid"/>
          </a:ln>
        </p:spPr>
      </p:sp>
      <p:sp>
        <p:nvSpPr>
          <p:cNvPr id="44" name="Shape 39"/>
          <p:cNvSpPr/>
          <p:nvPr/>
        </p:nvSpPr>
        <p:spPr>
          <a:xfrm>
            <a:off x="164592" y="6172200"/>
            <a:ext cx="2115312" cy="146304"/>
          </a:xfrm>
          <a:prstGeom prst="rect">
            <a:avLst/>
          </a:prstGeom>
          <a:solidFill>
            <a:srgbClr val="FEF3DC"/>
          </a:solidFill>
          <a:ln w="12700">
            <a:solidFill>
              <a:srgbClr val="FEF3DC"/>
            </a:solidFill>
            <a:prstDash val="solid"/>
          </a:ln>
        </p:spPr>
      </p:sp>
      <p:sp>
        <p:nvSpPr>
          <p:cNvPr id="45" name="Text 40"/>
          <p:cNvSpPr/>
          <p:nvPr/>
        </p:nvSpPr>
        <p:spPr>
          <a:xfrm>
            <a:off x="256032" y="5916168"/>
            <a:ext cx="198729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📝  Homework / Гэрийн даалгавар</a:t>
            </a:r>
            <a:endParaRPr lang="en-US" sz="1050" dirty="0"/>
          </a:p>
        </p:txBody>
      </p:sp>
      <p:sp>
        <p:nvSpPr>
          <p:cNvPr id="46" name="Text 41"/>
          <p:cNvSpPr/>
          <p:nvPr/>
        </p:nvSpPr>
        <p:spPr>
          <a:xfrm>
            <a:off x="256032" y="6181344"/>
            <a:ext cx="1987296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i="1" dirty="0">
                <a:solidFill>
                  <a:srgbClr val="3A5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Маргааш болохоос өмнө дуусга</a:t>
            </a:r>
            <a:endParaRPr lang="en-US" sz="750" dirty="0"/>
          </a:p>
        </p:txBody>
      </p:sp>
      <p:sp>
        <p:nvSpPr>
          <p:cNvPr id="47" name="Text 42"/>
          <p:cNvSpPr/>
          <p:nvPr/>
        </p:nvSpPr>
        <p:spPr>
          <a:xfrm>
            <a:off x="256032" y="6345936"/>
            <a:ext cx="1969008" cy="3154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210000"/>
              </a:lnSpc>
              <a:buNone/>
            </a:pPr>
            <a:r>
              <a:rPr lang="en-US" sz="950" b="1" dirty="0">
                <a:solidFill>
                  <a:srgbClr val="C97A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✍  </a:t>
            </a:r>
            <a:pPr indent="0" marL="0">
              <a:lnSpc>
                <a:spcPct val="210000"/>
              </a:lnSpc>
              <a:buNone/>
            </a:pPr>
            <a:r>
              <a:rPr lang="en-US" sz="950" dirty="0">
                <a:solidFill>
                  <a:srgbClr val="1A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Writing: Write a short story (8-10 sentences) using Past Continuous to describe background actions.
</a:t>
            </a:r>
            <a:pPr indent="0" marL="0">
              <a:lnSpc>
                <a:spcPct val="210000"/>
              </a:lnSpc>
              <a:buNone/>
            </a:pPr>
            <a:r>
              <a:rPr lang="en-US" sz="950" b="1" dirty="0">
                <a:solidFill>
                  <a:srgbClr val="C97A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📖  </a:t>
            </a:r>
            <a:pPr indent="0" marL="0">
              <a:lnSpc>
                <a:spcPct val="210000"/>
              </a:lnSpc>
              <a:buNone/>
            </a:pPr>
            <a:r>
              <a:rPr lang="en-US" sz="950" dirty="0">
                <a:solidFill>
                  <a:srgbClr val="1A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Vocabulary: Write 5 sentences describing what people were doing at 8pm yesterday.
</a:t>
            </a:r>
            <a:pPr indent="0" marL="0">
              <a:lnSpc>
                <a:spcPct val="210000"/>
              </a:lnSpc>
              <a:buNone/>
            </a:pPr>
            <a:r>
              <a:rPr lang="en-US" sz="950" b="1" dirty="0">
                <a:solidFill>
                  <a:srgbClr val="C97A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🗣️  </a:t>
            </a:r>
            <a:pPr indent="0" marL="0">
              <a:lnSpc>
                <a:spcPct val="210000"/>
              </a:lnSpc>
              <a:buNone/>
            </a:pPr>
            <a:r>
              <a:rPr lang="en-US" sz="950" dirty="0">
                <a:solidFill>
                  <a:srgbClr val="1A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Speaking: Tell a story that starts with: 'It was a stormy night. I was sitting at home when suddenly...'
</a:t>
            </a:r>
            <a:pPr indent="0" marL="0">
              <a:lnSpc>
                <a:spcPct val="210000"/>
              </a:lnSpc>
              <a:buNone/>
            </a:pPr>
            <a:r>
              <a:rPr lang="en-US" sz="950" b="1" dirty="0">
                <a:solidFill>
                  <a:srgbClr val="C97A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🔁  </a:t>
            </a:r>
            <a:pPr indent="0" marL="0">
              <a:lnSpc>
                <a:spcPct val="210000"/>
              </a:lnSpc>
              <a:buNone/>
            </a:pPr>
            <a:r>
              <a:rPr lang="en-US" sz="950" dirty="0">
                <a:solidFill>
                  <a:srgbClr val="1A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Review: was/were + -ing = Past Continuous · while + continuous · when + Past Simple (interruption)
</a:t>
            </a:r>
            <a:endParaRPr lang="en-US" sz="950" dirty="0"/>
          </a:p>
        </p:txBody>
      </p:sp>
      <p:sp>
        <p:nvSpPr>
          <p:cNvPr id="48" name="Shape 43"/>
          <p:cNvSpPr/>
          <p:nvPr/>
        </p:nvSpPr>
        <p:spPr>
          <a:xfrm>
            <a:off x="2385974" y="5930798"/>
            <a:ext cx="2115312" cy="3648456"/>
          </a:xfrm>
          <a:prstGeom prst="rect">
            <a:avLst/>
          </a:prstGeom>
          <a:solidFill>
            <a:srgbClr val="D0DCE8"/>
          </a:solidFill>
          <a:ln w="12700">
            <a:solidFill>
              <a:srgbClr val="D0DCE8"/>
            </a:solidFill>
            <a:prstDash val="solid"/>
          </a:ln>
        </p:spPr>
      </p:sp>
      <p:sp>
        <p:nvSpPr>
          <p:cNvPr id="49" name="Shape 44"/>
          <p:cNvSpPr/>
          <p:nvPr/>
        </p:nvSpPr>
        <p:spPr>
          <a:xfrm>
            <a:off x="2371344" y="5916168"/>
            <a:ext cx="2115312" cy="3648456"/>
          </a:xfrm>
          <a:prstGeom prst="rect">
            <a:avLst/>
          </a:prstGeom>
          <a:solidFill>
            <a:srgbClr val="FFFFFF"/>
          </a:solidFill>
          <a:ln w="12700">
            <a:solidFill>
              <a:srgbClr val="C8D8E8"/>
            </a:solidFill>
            <a:prstDash val="solid"/>
          </a:ln>
        </p:spPr>
      </p:sp>
      <p:sp>
        <p:nvSpPr>
          <p:cNvPr id="50" name="Shape 45"/>
          <p:cNvSpPr/>
          <p:nvPr/>
        </p:nvSpPr>
        <p:spPr>
          <a:xfrm>
            <a:off x="2371344" y="5916168"/>
            <a:ext cx="2115312" cy="256032"/>
          </a:xfrm>
          <a:prstGeom prst="rect">
            <a:avLst/>
          </a:prstGeom>
          <a:solidFill>
            <a:srgbClr val="1E7A4A"/>
          </a:solidFill>
          <a:ln w="12700">
            <a:solidFill>
              <a:srgbClr val="1E7A4A"/>
            </a:solidFill>
            <a:prstDash val="solid"/>
          </a:ln>
        </p:spPr>
      </p:sp>
      <p:sp>
        <p:nvSpPr>
          <p:cNvPr id="51" name="Shape 46"/>
          <p:cNvSpPr/>
          <p:nvPr/>
        </p:nvSpPr>
        <p:spPr>
          <a:xfrm>
            <a:off x="2371344" y="6172200"/>
            <a:ext cx="2115312" cy="146304"/>
          </a:xfrm>
          <a:prstGeom prst="rect">
            <a:avLst/>
          </a:prstGeom>
          <a:solidFill>
            <a:srgbClr val="E8F5EE"/>
          </a:solidFill>
          <a:ln w="12700">
            <a:solidFill>
              <a:srgbClr val="E8F5EE"/>
            </a:solidFill>
            <a:prstDash val="solid"/>
          </a:ln>
        </p:spPr>
      </p:sp>
      <p:sp>
        <p:nvSpPr>
          <p:cNvPr id="52" name="Text 47"/>
          <p:cNvSpPr/>
          <p:nvPr/>
        </p:nvSpPr>
        <p:spPr>
          <a:xfrm>
            <a:off x="2462784" y="5916168"/>
            <a:ext cx="198729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🔑  Answer Key / Хариулт</a:t>
            </a:r>
            <a:endParaRPr lang="en-US" sz="1050" dirty="0"/>
          </a:p>
        </p:txBody>
      </p:sp>
      <p:sp>
        <p:nvSpPr>
          <p:cNvPr id="53" name="Text 48"/>
          <p:cNvSpPr/>
          <p:nvPr/>
        </p:nvSpPr>
        <p:spPr>
          <a:xfrm>
            <a:off x="2462784" y="6181344"/>
            <a:ext cx="1987296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i="1" dirty="0">
                <a:solidFill>
                  <a:srgbClr val="3A5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 honestly!</a:t>
            </a:r>
            <a:endParaRPr lang="en-US" sz="750" dirty="0"/>
          </a:p>
        </p:txBody>
      </p:sp>
      <p:sp>
        <p:nvSpPr>
          <p:cNvPr id="54" name="Text 49"/>
          <p:cNvSpPr/>
          <p:nvPr/>
        </p:nvSpPr>
        <p:spPr>
          <a:xfrm>
            <a:off x="2462784" y="6345936"/>
            <a:ext cx="1969008" cy="3154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95000"/>
              </a:lnSpc>
              <a:buNone/>
            </a:pPr>
            <a:r>
              <a:rPr lang="en-US" sz="900" b="1" dirty="0">
                <a:solidFill>
                  <a:srgbClr val="1E7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Fill in blanks:
</a:t>
            </a:r>
            <a:pPr indent="0" marL="0">
              <a:lnSpc>
                <a:spcPct val="195000"/>
              </a:lnSpc>
              <a:buNone/>
            </a:pPr>
            <a:r>
              <a:rPr lang="en-US" sz="900" dirty="0">
                <a:solidFill>
                  <a:srgbClr val="1A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1-was · 2-were · 3-was · 4-was · 5-Were · 6-were
</a:t>
            </a:r>
            <a:pPr indent="0" marL="0">
              <a:lnSpc>
                <a:spcPct val="195000"/>
              </a:lnSpc>
              <a:buNone/>
            </a:pPr>
            <a:r>
              <a:rPr lang="en-US" sz="900" b="1" dirty="0">
                <a:solidFill>
                  <a:srgbClr val="1E7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Matching:
</a:t>
            </a:r>
            <a:pPr indent="0" marL="0">
              <a:lnSpc>
                <a:spcPct val="195000"/>
              </a:lnSpc>
              <a:buNone/>
            </a:pPr>
            <a:r>
              <a:rPr lang="en-US" sz="900" dirty="0">
                <a:solidFill>
                  <a:srgbClr val="1A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1-D · 2-A · 3-B · 4-C · 5-E
</a:t>
            </a:r>
            <a:pPr indent="0" marL="0">
              <a:lnSpc>
                <a:spcPct val="195000"/>
              </a:lnSpc>
              <a:buNone/>
            </a:pPr>
            <a:r>
              <a:rPr lang="en-US" sz="900" b="1" dirty="0">
                <a:solidFill>
                  <a:srgbClr val="1E7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Listening (1–10):
</a:t>
            </a:r>
            <a:pPr indent="0" marL="0">
              <a:lnSpc>
                <a:spcPct val="195000"/>
              </a:lnSpc>
              <a:buNone/>
            </a:pPr>
            <a:r>
              <a:rPr lang="en-US" sz="900" dirty="0">
                <a:solidFill>
                  <a:srgbClr val="1A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1-c · 2-b · 3-b · 4-c · 5-b
6-c · 7-b · 8-c · 9-c · 10-b
</a:t>
            </a:r>
            <a:pPr indent="0" marL="0">
              <a:lnSpc>
                <a:spcPct val="195000"/>
              </a:lnSpc>
              <a:buNone/>
            </a:pPr>
            <a:r>
              <a:rPr lang="en-US" sz="900" b="1" dirty="0">
                <a:solidFill>
                  <a:srgbClr val="C97A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💡  </a:t>
            </a:r>
            <a:pPr indent="0" marL="0">
              <a:lnSpc>
                <a:spcPct val="195000"/>
              </a:lnSpc>
              <a:buNone/>
            </a:pPr>
            <a:r>
              <a:rPr lang="en-US" sz="850" i="1" dirty="0">
                <a:solidFill>
                  <a:srgbClr val="3A5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Mistakes help you learn!</a:t>
            </a:r>
            <a:endParaRPr lang="en-US" sz="900" dirty="0"/>
          </a:p>
        </p:txBody>
      </p:sp>
      <p:sp>
        <p:nvSpPr>
          <p:cNvPr id="55" name="Shape 50"/>
          <p:cNvSpPr/>
          <p:nvPr/>
        </p:nvSpPr>
        <p:spPr>
          <a:xfrm>
            <a:off x="4592726" y="5930798"/>
            <a:ext cx="2115312" cy="3648456"/>
          </a:xfrm>
          <a:prstGeom prst="rect">
            <a:avLst/>
          </a:prstGeom>
          <a:solidFill>
            <a:srgbClr val="D0DCE8"/>
          </a:solidFill>
          <a:ln w="12700">
            <a:solidFill>
              <a:srgbClr val="D0DCE8"/>
            </a:solidFill>
            <a:prstDash val="solid"/>
          </a:ln>
        </p:spPr>
      </p:sp>
      <p:sp>
        <p:nvSpPr>
          <p:cNvPr id="56" name="Shape 51"/>
          <p:cNvSpPr/>
          <p:nvPr/>
        </p:nvSpPr>
        <p:spPr>
          <a:xfrm>
            <a:off x="4578096" y="5916168"/>
            <a:ext cx="2115312" cy="3648456"/>
          </a:xfrm>
          <a:prstGeom prst="rect">
            <a:avLst/>
          </a:prstGeom>
          <a:solidFill>
            <a:srgbClr val="FFFFFF"/>
          </a:solidFill>
          <a:ln w="12700">
            <a:solidFill>
              <a:srgbClr val="C8D8E8"/>
            </a:solidFill>
            <a:prstDash val="solid"/>
          </a:ln>
        </p:spPr>
      </p:sp>
      <p:sp>
        <p:nvSpPr>
          <p:cNvPr id="57" name="Shape 52"/>
          <p:cNvSpPr/>
          <p:nvPr/>
        </p:nvSpPr>
        <p:spPr>
          <a:xfrm>
            <a:off x="4578096" y="5916168"/>
            <a:ext cx="2115312" cy="256032"/>
          </a:xfrm>
          <a:prstGeom prst="rect">
            <a:avLst/>
          </a:prstGeom>
          <a:solidFill>
            <a:srgbClr val="2E6DA4"/>
          </a:solidFill>
          <a:ln w="12700">
            <a:solidFill>
              <a:srgbClr val="2E6DA4"/>
            </a:solidFill>
            <a:prstDash val="solid"/>
          </a:ln>
        </p:spPr>
      </p:sp>
      <p:sp>
        <p:nvSpPr>
          <p:cNvPr id="58" name="Shape 53"/>
          <p:cNvSpPr/>
          <p:nvPr/>
        </p:nvSpPr>
        <p:spPr>
          <a:xfrm>
            <a:off x="4578096" y="6172200"/>
            <a:ext cx="2115312" cy="146304"/>
          </a:xfrm>
          <a:prstGeom prst="rect">
            <a:avLst/>
          </a:prstGeom>
          <a:solidFill>
            <a:srgbClr val="EBF4FB"/>
          </a:solidFill>
          <a:ln w="12700">
            <a:solidFill>
              <a:srgbClr val="EBF4FB"/>
            </a:solidFill>
            <a:prstDash val="solid"/>
          </a:ln>
        </p:spPr>
      </p:sp>
      <p:sp>
        <p:nvSpPr>
          <p:cNvPr id="59" name="Text 54"/>
          <p:cNvSpPr/>
          <p:nvPr/>
        </p:nvSpPr>
        <p:spPr>
          <a:xfrm>
            <a:off x="4669536" y="5916168"/>
            <a:ext cx="198729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🌟  Day 61 Complete!</a:t>
            </a:r>
            <a:endParaRPr lang="en-US" sz="1050" dirty="0"/>
          </a:p>
        </p:txBody>
      </p:sp>
      <p:sp>
        <p:nvSpPr>
          <p:cNvPr id="60" name="Text 55"/>
          <p:cNvSpPr/>
          <p:nvPr/>
        </p:nvSpPr>
        <p:spPr>
          <a:xfrm>
            <a:off x="4669536" y="6181344"/>
            <a:ext cx="1987296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i="1" dirty="0">
                <a:solidFill>
                  <a:srgbClr val="3A5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Today you completed:</a:t>
            </a:r>
            <a:endParaRPr lang="en-US" sz="750" dirty="0"/>
          </a:p>
        </p:txBody>
      </p:sp>
      <p:sp>
        <p:nvSpPr>
          <p:cNvPr id="61" name="Text 56"/>
          <p:cNvSpPr/>
          <p:nvPr/>
        </p:nvSpPr>
        <p:spPr>
          <a:xfrm>
            <a:off x="4669536" y="6345936"/>
            <a:ext cx="1969008" cy="29535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210000"/>
              </a:lnSpc>
              <a:buNone/>
            </a:pPr>
            <a:r>
              <a:rPr lang="en-US" sz="800" dirty="0">
                <a:solidFill>
                  <a:srgbClr val="1E7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 20 түүх ярих үг · 20 storytelling words</a:t>
            </a:r>
            <a:endParaRPr lang="en-US" sz="800" dirty="0"/>
          </a:p>
          <a:p>
            <a:pPr indent="0" marL="0">
              <a:lnSpc>
                <a:spcPct val="210000"/>
              </a:lnSpc>
              <a:buNone/>
            </a:pPr>
            <a:r>
              <a:rPr lang="en-US" sz="800" dirty="0">
                <a:solidFill>
                  <a:srgbClr val="1E7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 Past Continuous — was/were + -ing</a:t>
            </a:r>
            <a:endParaRPr lang="en-US" sz="800" dirty="0"/>
          </a:p>
          <a:p>
            <a:pPr indent="0" marL="0">
              <a:lnSpc>
                <a:spcPct val="210000"/>
              </a:lnSpc>
              <a:buNone/>
            </a:pPr>
            <a:r>
              <a:rPr lang="en-US" sz="800" dirty="0">
                <a:solidFill>
                  <a:srgbClr val="1E7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 Шуурганы тухай уншсан · Read stormy evening</a:t>
            </a:r>
            <a:endParaRPr lang="en-US" sz="800" dirty="0"/>
          </a:p>
          <a:p>
            <a:pPr indent="0" marL="0">
              <a:lnSpc>
                <a:spcPct val="210000"/>
              </a:lnSpc>
              <a:buNone/>
            </a:pPr>
            <a:r>
              <a:rPr lang="en-US" sz="800" dirty="0">
                <a:solidFill>
                  <a:srgbClr val="1E7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 Дасгал · Grammar practice</a:t>
            </a:r>
            <a:endParaRPr lang="en-US" sz="800" dirty="0"/>
          </a:p>
          <a:p>
            <a:pPr indent="0" marL="0">
              <a:lnSpc>
                <a:spcPct val="210000"/>
              </a:lnSpc>
              <a:buNone/>
            </a:pPr>
            <a:r>
              <a:rPr lang="en-US" sz="800" dirty="0">
                <a:solidFill>
                  <a:srgbClr val="1E7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 Ярих дасгал · Speaking practice</a:t>
            </a:r>
            <a:endParaRPr lang="en-US" sz="800" dirty="0"/>
          </a:p>
          <a:p>
            <a:pPr indent="0" marL="0">
              <a:lnSpc>
                <a:spcPct val="210000"/>
              </a:lnSpc>
              <a:buNone/>
            </a:pPr>
            <a:r>
              <a:rPr lang="en-US" sz="800" dirty="0">
                <a:solidFill>
                  <a:srgbClr val="1E7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 Сонсох · Listening practice</a:t>
            </a:r>
            <a:endParaRPr lang="en-US" sz="800" dirty="0"/>
          </a:p>
          <a:p>
            <a:pPr indent="0" marL="0">
              <a:lnSpc>
                <a:spcPct val="210000"/>
              </a:lnSpc>
              <a:buNone/>
            </a:pPr>
            <a:r>
              <a:rPr lang="en-US" sz="800" dirty="0">
                <a:solidFill>
                  <a:srgbClr val="1E7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 Past Continuous хэрэглэж сурсан</a:t>
            </a:r>
            <a:endParaRPr lang="en-US" sz="800" dirty="0"/>
          </a:p>
        </p:txBody>
      </p:sp>
      <p:sp>
        <p:nvSpPr>
          <p:cNvPr id="62" name="Shape 57"/>
          <p:cNvSpPr/>
          <p:nvPr/>
        </p:nvSpPr>
        <p:spPr>
          <a:xfrm>
            <a:off x="4651248" y="9253728"/>
            <a:ext cx="1969008" cy="256032"/>
          </a:xfrm>
          <a:prstGeom prst="rect">
            <a:avLst/>
          </a:prstGeom>
          <a:solidFill>
            <a:srgbClr val="EBF4FB"/>
          </a:solidFill>
          <a:ln w="12700">
            <a:solidFill>
              <a:srgbClr val="2E6DA4"/>
            </a:solidFill>
            <a:prstDash val="solid"/>
          </a:ln>
        </p:spPr>
      </p:sp>
      <p:sp>
        <p:nvSpPr>
          <p:cNvPr id="63" name="Text 58"/>
          <p:cNvSpPr/>
          <p:nvPr/>
        </p:nvSpPr>
        <p:spPr>
          <a:xfrm>
            <a:off x="4687824" y="9262872"/>
            <a:ext cx="19141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2E6D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🚀  Day 62: Interruptions &amp; Events — Past Simple vs Past Continuous</a:t>
            </a:r>
            <a:endParaRPr lang="en-US" sz="8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3</Slides>
  <Notes>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6" baseType="lpstr">
      <vt:lpstr>Arial</vt:lpstr>
      <vt:lpstr>Calibri</vt:lpstr>
      <vt:lpstr>Office Theme</vt:lpstr>
      <vt:lpstr>Slide 1</vt:lpstr>
      <vt:lpstr>Slide 2</vt:lpstr>
      <vt:lpstr>Slide 3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2026-04-08T14:16:39Z</dcterms:created>
  <dcterms:modified xsi:type="dcterms:W3CDTF">2026-04-08T14:16:39Z</dcterms:modified>
</cp:coreProperties>
</file>