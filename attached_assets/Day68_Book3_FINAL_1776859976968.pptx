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6858000" cy="9692640"/>
  <p:notesSz cx="969264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B1 · Book 3 · Дэвшилтэт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25-30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68 · ӨДӨР 68</a:t>
            </a:r>
            <a:endParaRPr lang="en-US" sz="850" dirty="0"/>
          </a:p>
        </p:txBody>
      </p:sp>
      <p:sp>
        <p:nvSpPr>
          <p:cNvPr id="9" name="Shape 7"/>
          <p:cNvSpPr/>
          <p:nvPr/>
        </p:nvSpPr>
        <p:spPr>
          <a:xfrm>
            <a:off x="1335024" y="347472"/>
            <a:ext cx="4498848" cy="237744"/>
          </a:xfrm>
          <a:prstGeom prst="rect">
            <a:avLst/>
          </a:prstGeom>
          <a:solidFill>
            <a:srgbClr val="1A5C8C"/>
          </a:solidFill>
          <a:ln w="12700">
            <a:solidFill>
              <a:srgbClr val="1A5C8C"/>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Giving Strong Advice  ·  Хүчтэй зөвлөгөө өгөх</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1</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B1 Level  ·  Book 3</a:t>
            </a:r>
            <a:endParaRPr lang="en-US" sz="650" dirty="0"/>
          </a:p>
        </p:txBody>
      </p:sp>
      <p:sp>
        <p:nvSpPr>
          <p:cNvPr id="15" name="Shape 13"/>
          <p:cNvSpPr/>
          <p:nvPr/>
        </p:nvSpPr>
        <p:spPr>
          <a:xfrm>
            <a:off x="164592" y="630936"/>
            <a:ext cx="6528816" cy="182880"/>
          </a:xfrm>
          <a:prstGeom prst="rect">
            <a:avLst/>
          </a:prstGeom>
          <a:solidFill>
            <a:srgbClr val="EBF4FB"/>
          </a:solidFill>
          <a:ln w="12700">
            <a:solidFill>
              <a:srgbClr val="2E6DA4"/>
            </a:solidFill>
            <a:prstDash val="solid"/>
          </a:ln>
        </p:spPr>
      </p:sp>
      <p:sp>
        <p:nvSpPr>
          <p:cNvPr id="16" name="Text 14"/>
          <p:cNvSpPr/>
          <p:nvPr/>
        </p:nvSpPr>
        <p:spPr>
          <a:xfrm>
            <a:off x="246888" y="630936"/>
            <a:ext cx="6419088" cy="182880"/>
          </a:xfrm>
          <a:prstGeom prst="rect">
            <a:avLst/>
          </a:prstGeom>
          <a:noFill/>
          <a:ln/>
        </p:spPr>
        <p:txBody>
          <a:bodyPr wrap="square" lIns="0" tIns="0" rIns="0" bIns="0" rtlCol="0" anchor="ctr"/>
          <a:lstStyle/>
          <a:p>
            <a:pPr indent="0" marL="0">
              <a:buNone/>
            </a:pPr>
            <a:r>
              <a:rPr lang="en-US" sz="800" dirty="0">
                <a:solidFill>
                  <a:srgbClr val="1A4A7A"/>
                </a:solidFill>
                <a:latin typeface="Calibri" pitchFamily="34" charset="0"/>
                <a:ea typeface="Calibri" pitchFamily="34" charset="-122"/>
                <a:cs typeface="Calibri" pitchFamily="34" charset="-120"/>
              </a:rPr>
              <a:t>✦ Learn 20 words   ✦ Grammar: Must / Might / May — degrees of certainty and probability   ✦ Cover &amp; test yourself</a:t>
            </a:r>
            <a:endParaRPr lang="en-US" sz="800" dirty="0"/>
          </a:p>
        </p:txBody>
      </p:sp>
      <p:sp>
        <p:nvSpPr>
          <p:cNvPr id="17" name="Shape 15"/>
          <p:cNvSpPr/>
          <p:nvPr/>
        </p:nvSpPr>
        <p:spPr>
          <a:xfrm>
            <a:off x="179222" y="874166"/>
            <a:ext cx="3310128" cy="8705088"/>
          </a:xfrm>
          <a:prstGeom prst="rect">
            <a:avLst/>
          </a:prstGeom>
          <a:solidFill>
            <a:srgbClr val="D0DCE8"/>
          </a:solidFill>
          <a:ln w="12700">
            <a:solidFill>
              <a:srgbClr val="D0DCE8"/>
            </a:solidFill>
            <a:prstDash val="solid"/>
          </a:ln>
        </p:spPr>
      </p:sp>
      <p:sp>
        <p:nvSpPr>
          <p:cNvPr id="18" name="Shape 16"/>
          <p:cNvSpPr/>
          <p:nvPr/>
        </p:nvSpPr>
        <p:spPr>
          <a:xfrm>
            <a:off x="164592" y="859536"/>
            <a:ext cx="3310128" cy="8705088"/>
          </a:xfrm>
          <a:prstGeom prst="rect">
            <a:avLst/>
          </a:prstGeom>
          <a:solidFill>
            <a:srgbClr val="FFFFFF"/>
          </a:solidFill>
          <a:ln w="12700">
            <a:solidFill>
              <a:srgbClr val="C8D8E8"/>
            </a:solidFill>
            <a:prstDash val="solid"/>
          </a:ln>
        </p:spPr>
      </p:sp>
      <p:sp>
        <p:nvSpPr>
          <p:cNvPr id="19" name="Shape 17"/>
          <p:cNvSpPr/>
          <p:nvPr/>
        </p:nvSpPr>
        <p:spPr>
          <a:xfrm>
            <a:off x="164592" y="859536"/>
            <a:ext cx="3310128" cy="256032"/>
          </a:xfrm>
          <a:prstGeom prst="rect">
            <a:avLst/>
          </a:prstGeom>
          <a:solidFill>
            <a:srgbClr val="1A5C8C"/>
          </a:solidFill>
          <a:ln w="12700">
            <a:solidFill>
              <a:srgbClr val="1A5C8C"/>
            </a:solidFill>
            <a:prstDash val="solid"/>
          </a:ln>
        </p:spPr>
      </p:sp>
      <p:sp>
        <p:nvSpPr>
          <p:cNvPr id="20" name="Shape 18"/>
          <p:cNvSpPr/>
          <p:nvPr/>
        </p:nvSpPr>
        <p:spPr>
          <a:xfrm>
            <a:off x="164592" y="1115568"/>
            <a:ext cx="3310128" cy="146304"/>
          </a:xfrm>
          <a:prstGeom prst="rect">
            <a:avLst/>
          </a:prstGeom>
          <a:solidFill>
            <a:srgbClr val="EBF4FB"/>
          </a:solidFill>
          <a:ln w="12700">
            <a:solidFill>
              <a:srgbClr val="EBF4FB"/>
            </a:solidFill>
            <a:prstDash val="solid"/>
          </a:ln>
        </p:spPr>
      </p:sp>
      <p:sp>
        <p:nvSpPr>
          <p:cNvPr id="21" name="Text 19"/>
          <p:cNvSpPr/>
          <p:nvPr/>
        </p:nvSpPr>
        <p:spPr>
          <a:xfrm>
            <a:off x="256032" y="859536"/>
            <a:ext cx="318211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Vocabulary — 20 New Words</a:t>
            </a:r>
            <a:endParaRPr lang="en-US" sz="1050" dirty="0"/>
          </a:p>
        </p:txBody>
      </p:sp>
      <p:sp>
        <p:nvSpPr>
          <p:cNvPr id="22" name="Text 20"/>
          <p:cNvSpPr/>
          <p:nvPr/>
        </p:nvSpPr>
        <p:spPr>
          <a:xfrm>
            <a:off x="256032" y="1124712"/>
            <a:ext cx="318211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Read aloud 3 times · Cover Mongolian &amp; test yourself!</a:t>
            </a:r>
            <a:endParaRPr lang="en-US" sz="7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219456" y="1289304"/>
          <a:ext cx="3200400" cy="914400"/>
        </p:xfrm>
        <a:graphic>
          <a:graphicData uri="http://schemas.openxmlformats.org/drawingml/2006/table">
            <a:tbl>
              <a:tblPr/>
              <a:tblGrid>
                <a:gridCol w="182880"/>
                <a:gridCol w="610819"/>
                <a:gridCol w="610819"/>
                <a:gridCol w="794065"/>
                <a:gridCol w="1038393"/>
              </a:tblGrid>
              <a:tr h="352044">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5C8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English</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5C8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Pronunciation</a:t>
                      </a:r>
                      <a:endParaRPr lang="en-US" sz="750" dirty="0">
                        <a:latin typeface="Calibri" charset="0"/>
                        <a:ea typeface="Calibri" charset="0"/>
                        <a:cs typeface="Calibri" charset="0"/>
                      </a:endParaRPr>
                    </a:p>
                    <a:p>
                      <a:pPr algn="l" indent="0" marL="0">
                        <a:buNone/>
                      </a:pPr>
                      <a:r>
                        <a:rPr lang="en-US" sz="750" b="1" dirty="0">
                          <a:solidFill>
                            <a:srgbClr val="FFFFFF"/>
                          </a:solidFill>
                          <a:latin typeface="Calibri" pitchFamily="34" charset="0"/>
                          <a:ea typeface="Calibri" pitchFamily="34" charset="-122"/>
                          <a:cs typeface="Calibri" pitchFamily="34" charset="-120"/>
                        </a:rPr>
                        <a:t>Дуудлага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5C8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Mongolian</a:t>
                      </a:r>
                      <a:endParaRPr lang="en-US" sz="750" dirty="0">
                        <a:latin typeface="Calibri" charset="0"/>
                        <a:ea typeface="Calibri" charset="0"/>
                        <a:cs typeface="Calibri" charset="0"/>
                      </a:endParaRPr>
                    </a:p>
                    <a:p>
                      <a:pPr algn="l" indent="0" marL="0">
                        <a:buNone/>
                      </a:pPr>
                      <a:r>
                        <a:rPr lang="en-US" sz="750" b="1" dirty="0">
                          <a:solidFill>
                            <a:srgbClr val="FFFFFF"/>
                          </a:solidFill>
                          <a:latin typeface="Calibri" pitchFamily="34" charset="0"/>
                          <a:ea typeface="Calibri" pitchFamily="34" charset="-122"/>
                          <a:cs typeface="Calibri" pitchFamily="34" charset="-120"/>
                        </a:rPr>
                        <a:t>Монгол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5C8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sentence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5C8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5C8C"/>
                          </a:solidFill>
                          <a:latin typeface="Calibri" pitchFamily="34" charset="0"/>
                          <a:ea typeface="Calibri" pitchFamily="34" charset="-122"/>
                          <a:cs typeface="Calibri" pitchFamily="34" charset="-120"/>
                        </a:rPr>
                        <a:t>must be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/mʌst biː/</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тийм байх ёстой (тодорхой)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She must be tired — she worked all night.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5C8C"/>
                          </a:solidFill>
                          <a:latin typeface="Calibri" pitchFamily="34" charset="0"/>
                          <a:ea typeface="Calibri" pitchFamily="34" charset="-122"/>
                          <a:cs typeface="Calibri" pitchFamily="34" charset="-120"/>
                        </a:rPr>
                        <a:t>might be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/maɪt biː/</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байж болох (боломжтой)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He might be late — traffic is bad.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5C8C"/>
                          </a:solidFill>
                          <a:latin typeface="Calibri" pitchFamily="34" charset="0"/>
                          <a:ea typeface="Calibri" pitchFamily="34" charset="-122"/>
                          <a:cs typeface="Calibri" pitchFamily="34" charset="-120"/>
                        </a:rPr>
                        <a:t>may be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/meɪ biː/</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байж болох (нэг хэмжээгээр)</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She may be at home right now.</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5C8C"/>
                          </a:solidFill>
                          <a:latin typeface="Calibri" pitchFamily="34" charset="0"/>
                          <a:ea typeface="Calibri" pitchFamily="34" charset="-122"/>
                          <a:cs typeface="Calibri" pitchFamily="34" charset="-120"/>
                        </a:rPr>
                        <a:t>can't be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/kænt biː/</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тийм байж боломгүй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He can't be serious — that's impossible!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5C8C"/>
                          </a:solidFill>
                          <a:latin typeface="Calibri" pitchFamily="34" charset="0"/>
                          <a:ea typeface="Calibri" pitchFamily="34" charset="-122"/>
                          <a:cs typeface="Calibri" pitchFamily="34" charset="-120"/>
                        </a:rPr>
                        <a:t>could be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/kʊd biː/</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байж болох (хувилбар)</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It could be a mistake.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5C8C"/>
                          </a:solidFill>
                          <a:latin typeface="Calibri" pitchFamily="34" charset="0"/>
                          <a:ea typeface="Calibri" pitchFamily="34" charset="-122"/>
                          <a:cs typeface="Calibri" pitchFamily="34" charset="-120"/>
                        </a:rPr>
                        <a:t>must have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/mʌst hæv/</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тийм байсан байх ёстой (өнгөрсөн)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She must have worked very hard.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5C8C"/>
                          </a:solidFill>
                          <a:latin typeface="Calibri" pitchFamily="34" charset="0"/>
                          <a:ea typeface="Calibri" pitchFamily="34" charset="-122"/>
                          <a:cs typeface="Calibri" pitchFamily="34" charset="-120"/>
                        </a:rPr>
                        <a:t>might have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/maɪt hæv/</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байсан байж болох (өнгөрсөн)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He might have missed the bus.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5C8C"/>
                          </a:solidFill>
                          <a:latin typeface="Calibri" pitchFamily="34" charset="0"/>
                          <a:ea typeface="Calibri" pitchFamily="34" charset="-122"/>
                          <a:cs typeface="Calibri" pitchFamily="34" charset="-120"/>
                        </a:rPr>
                        <a:t>can't have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/kænt hæv/</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тийм байсан байж боломгүй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She can't have forgotten — she was there!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5C8C"/>
                          </a:solidFill>
                          <a:latin typeface="Calibri" pitchFamily="34" charset="0"/>
                          <a:ea typeface="Calibri" pitchFamily="34" charset="-122"/>
                          <a:cs typeface="Calibri" pitchFamily="34" charset="-120"/>
                        </a:rPr>
                        <a:t>certain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/ˈsɜːrtən/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тодорхой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I'm certain she passed the exam.</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5C8C"/>
                          </a:solidFill>
                          <a:latin typeface="Calibri" pitchFamily="34" charset="0"/>
                          <a:ea typeface="Calibri" pitchFamily="34" charset="-122"/>
                          <a:cs typeface="Calibri" pitchFamily="34" charset="-120"/>
                        </a:rPr>
                        <a:t>probable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/ˈprɒbəbəl/</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магадлалтай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It's probable that she passed.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11</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5C8C"/>
                          </a:solidFill>
                          <a:latin typeface="Calibri" pitchFamily="34" charset="0"/>
                          <a:ea typeface="Calibri" pitchFamily="34" charset="-122"/>
                          <a:cs typeface="Calibri" pitchFamily="34" charset="-120"/>
                        </a:rPr>
                        <a:t>possible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/ˈpɒsɪbəl/</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боломжтой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It's possible she missed the bus.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5C8C"/>
                          </a:solidFill>
                          <a:latin typeface="Calibri" pitchFamily="34" charset="0"/>
                          <a:ea typeface="Calibri" pitchFamily="34" charset="-122"/>
                          <a:cs typeface="Calibri" pitchFamily="34" charset="-120"/>
                        </a:rPr>
                        <a:t>impossible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/ɪmˈpɒsɪbəl/</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боломжгүй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It's impossible that she forgot.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13</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5C8C"/>
                          </a:solidFill>
                          <a:latin typeface="Calibri" pitchFamily="34" charset="0"/>
                          <a:ea typeface="Calibri" pitchFamily="34" charset="-122"/>
                          <a:cs typeface="Calibri" pitchFamily="34" charset="-120"/>
                        </a:rPr>
                        <a:t>deduce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/dɪˈdjuːs/</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дүгнэх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We can deduce from the evidence.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14</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5C8C"/>
                          </a:solidFill>
                          <a:latin typeface="Calibri" pitchFamily="34" charset="0"/>
                          <a:ea typeface="Calibri" pitchFamily="34" charset="-122"/>
                          <a:cs typeface="Calibri" pitchFamily="34" charset="-120"/>
                        </a:rPr>
                        <a:t>evidence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/ˈɛvɪdəns/</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нотолгоо</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What is the evidence for this?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5C8C"/>
                          </a:solidFill>
                          <a:latin typeface="Calibri" pitchFamily="34" charset="0"/>
                          <a:ea typeface="Calibri" pitchFamily="34" charset="-122"/>
                          <a:cs typeface="Calibri" pitchFamily="34" charset="-120"/>
                        </a:rPr>
                        <a:t>assume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/əˈsjuːm/</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таамаглах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assume she is still there.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16</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5C8C"/>
                          </a:solidFill>
                          <a:latin typeface="Calibri" pitchFamily="34" charset="0"/>
                          <a:ea typeface="Calibri" pitchFamily="34" charset="-122"/>
                          <a:cs typeface="Calibri" pitchFamily="34" charset="-120"/>
                        </a:rPr>
                        <a:t>conclude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/kənˈkluːd/</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дүгнэлт гаргах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We can conclude she is tired.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17</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5C8C"/>
                          </a:solidFill>
                          <a:latin typeface="Calibri" pitchFamily="34" charset="0"/>
                          <a:ea typeface="Calibri" pitchFamily="34" charset="-122"/>
                          <a:cs typeface="Calibri" pitchFamily="34" charset="-120"/>
                        </a:rPr>
                        <a:t>speculate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/ˈspɛkjʊleɪt/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таамаглах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We can only speculate about it.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18</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5C8C"/>
                          </a:solidFill>
                          <a:latin typeface="Calibri" pitchFamily="34" charset="0"/>
                          <a:ea typeface="Calibri" pitchFamily="34" charset="-122"/>
                          <a:cs typeface="Calibri" pitchFamily="34" charset="-120"/>
                        </a:rPr>
                        <a:t>logical</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/ˈlɒdʒɪkəl/</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логик</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It's logical that she would be tired.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19</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5C8C"/>
                          </a:solidFill>
                          <a:latin typeface="Calibri" pitchFamily="34" charset="0"/>
                          <a:ea typeface="Calibri" pitchFamily="34" charset="-122"/>
                          <a:cs typeface="Calibri" pitchFamily="34" charset="-120"/>
                        </a:rPr>
                        <a:t>clue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/kluː/</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санаа / тэмдэг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The clue is in how she looked.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5C8C"/>
                          </a:solidFill>
                          <a:latin typeface="Calibri" pitchFamily="34" charset="0"/>
                          <a:ea typeface="Calibri" pitchFamily="34" charset="-122"/>
                          <a:cs typeface="Calibri" pitchFamily="34" charset="-120"/>
                        </a:rPr>
                        <a:t>mystery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/ˈmɪstəri/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нууц / оньсого</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It remains a mystery to me.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24" name="Shape 21"/>
          <p:cNvSpPr/>
          <p:nvPr/>
        </p:nvSpPr>
        <p:spPr>
          <a:xfrm>
            <a:off x="219456" y="9290304"/>
            <a:ext cx="3200400" cy="219456"/>
          </a:xfrm>
          <a:prstGeom prst="rect">
            <a:avLst/>
          </a:prstGeom>
          <a:solidFill>
            <a:srgbClr val="E0F4F4"/>
          </a:solidFill>
          <a:ln w="12700">
            <a:solidFill>
              <a:srgbClr val="0D7C7B"/>
            </a:solidFill>
            <a:prstDash val="solid"/>
          </a:ln>
        </p:spPr>
      </p:sp>
      <p:sp>
        <p:nvSpPr>
          <p:cNvPr id="25" name="Text 22"/>
          <p:cNvSpPr/>
          <p:nvPr/>
        </p:nvSpPr>
        <p:spPr>
          <a:xfrm>
            <a:off x="256032" y="9299448"/>
            <a:ext cx="3127248" cy="201168"/>
          </a:xfrm>
          <a:prstGeom prst="rect">
            <a:avLst/>
          </a:prstGeom>
          <a:noFill/>
          <a:ln/>
        </p:spPr>
        <p:txBody>
          <a:bodyPr wrap="square" lIns="0" tIns="0" rIns="0" bIns="0" rtlCol="0" anchor="ctr"/>
          <a:lstStyle/>
          <a:p>
            <a:pPr indent="0" marL="0">
              <a:lnSpc>
                <a:spcPct val="120000"/>
              </a:lnSpc>
              <a:buNone/>
            </a:pPr>
            <a:r>
              <a:rPr lang="en-US" sz="750" dirty="0">
                <a:solidFill>
                  <a:srgbClr val="0D7C7B"/>
                </a:solidFill>
                <a:latin typeface="Calibri" pitchFamily="34" charset="0"/>
                <a:ea typeface="Calibri" pitchFamily="34" charset="-122"/>
                <a:cs typeface="Calibri" pitchFamily="34" charset="-120"/>
              </a:rPr>
              <a:t>🔊  Deduce /dɪˈdjuːs/ — stress on 2nd syllable · Speculate /ˈspɛkjʊleɪt/ — 3 syllables</a:t>
            </a:r>
            <a:endParaRPr lang="en-US" sz="750" dirty="0"/>
          </a:p>
          <a:p>
            <a:pPr indent="0" marL="0">
              <a:lnSpc>
                <a:spcPct val="120000"/>
              </a:lnSpc>
              <a:buNone/>
            </a:pPr>
            <a:r>
              <a:rPr lang="en-US" sz="750" dirty="0">
                <a:solidFill>
                  <a:srgbClr val="0D7C7B"/>
                </a:solidFill>
                <a:latin typeface="Calibri" pitchFamily="34" charset="0"/>
                <a:ea typeface="Calibri" pitchFamily="34" charset="-122"/>
                <a:cs typeface="Calibri" pitchFamily="34" charset="-120"/>
              </a:rPr>
              <a:t>Deduce — 2-р үе: dih-DYOOS. Speculate — 3 үе: SPEK-yoo-layt. Conclude — 2-р үе: kun-KLOOD.</a:t>
            </a:r>
            <a:endParaRPr lang="en-US" sz="750" dirty="0"/>
          </a:p>
        </p:txBody>
      </p:sp>
      <p:sp>
        <p:nvSpPr>
          <p:cNvPr id="26" name="Shape 23"/>
          <p:cNvSpPr/>
          <p:nvPr/>
        </p:nvSpPr>
        <p:spPr>
          <a:xfrm>
            <a:off x="3580790" y="874166"/>
            <a:ext cx="3127248" cy="8705088"/>
          </a:xfrm>
          <a:prstGeom prst="rect">
            <a:avLst/>
          </a:prstGeom>
          <a:solidFill>
            <a:srgbClr val="D0DCE8"/>
          </a:solidFill>
          <a:ln w="12700">
            <a:solidFill>
              <a:srgbClr val="D0DCE8"/>
            </a:solidFill>
            <a:prstDash val="solid"/>
          </a:ln>
        </p:spPr>
      </p:sp>
      <p:sp>
        <p:nvSpPr>
          <p:cNvPr id="27" name="Shape 24"/>
          <p:cNvSpPr/>
          <p:nvPr/>
        </p:nvSpPr>
        <p:spPr>
          <a:xfrm>
            <a:off x="3566160" y="859536"/>
            <a:ext cx="3127248" cy="8705088"/>
          </a:xfrm>
          <a:prstGeom prst="rect">
            <a:avLst/>
          </a:prstGeom>
          <a:solidFill>
            <a:srgbClr val="FFFFFF"/>
          </a:solidFill>
          <a:ln w="12700">
            <a:solidFill>
              <a:srgbClr val="C8D8E8"/>
            </a:solidFill>
            <a:prstDash val="solid"/>
          </a:ln>
        </p:spPr>
      </p:sp>
      <p:sp>
        <p:nvSpPr>
          <p:cNvPr id="28" name="Shape 25"/>
          <p:cNvSpPr/>
          <p:nvPr/>
        </p:nvSpPr>
        <p:spPr>
          <a:xfrm>
            <a:off x="3566160" y="859536"/>
            <a:ext cx="3127248" cy="256032"/>
          </a:xfrm>
          <a:prstGeom prst="rect">
            <a:avLst/>
          </a:prstGeom>
          <a:solidFill>
            <a:srgbClr val="6B3FA0"/>
          </a:solidFill>
          <a:ln w="12700">
            <a:solidFill>
              <a:srgbClr val="6B3FA0"/>
            </a:solidFill>
            <a:prstDash val="solid"/>
          </a:ln>
        </p:spPr>
      </p:sp>
      <p:sp>
        <p:nvSpPr>
          <p:cNvPr id="29" name="Shape 26"/>
          <p:cNvSpPr/>
          <p:nvPr/>
        </p:nvSpPr>
        <p:spPr>
          <a:xfrm>
            <a:off x="3566160" y="1115568"/>
            <a:ext cx="3127248" cy="146304"/>
          </a:xfrm>
          <a:prstGeom prst="rect">
            <a:avLst/>
          </a:prstGeom>
          <a:solidFill>
            <a:srgbClr val="F0EAFA"/>
          </a:solidFill>
          <a:ln w="12700">
            <a:solidFill>
              <a:srgbClr val="F0EAFA"/>
            </a:solidFill>
            <a:prstDash val="solid"/>
          </a:ln>
        </p:spPr>
      </p:sp>
      <p:sp>
        <p:nvSpPr>
          <p:cNvPr id="30" name="Text 27"/>
          <p:cNvSpPr/>
          <p:nvPr/>
        </p:nvSpPr>
        <p:spPr>
          <a:xfrm>
            <a:off x="3657600" y="859536"/>
            <a:ext cx="299923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Grammar — Must / Might / May — degrees of certainty and probability</a:t>
            </a:r>
            <a:endParaRPr lang="en-US" sz="1050" dirty="0"/>
          </a:p>
        </p:txBody>
      </p:sp>
      <p:sp>
        <p:nvSpPr>
          <p:cNvPr id="31" name="Text 28"/>
          <p:cNvSpPr/>
          <p:nvPr/>
        </p:nvSpPr>
        <p:spPr>
          <a:xfrm>
            <a:off x="3657600" y="1124712"/>
            <a:ext cx="299923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Learn step by step  ·  Алхам алхмаар судлаарай</a:t>
            </a:r>
            <a:endParaRPr lang="en-US" sz="750" dirty="0"/>
          </a:p>
        </p:txBody>
      </p:sp>
      <p:sp>
        <p:nvSpPr>
          <p:cNvPr id="32" name="Text 29"/>
          <p:cNvSpPr/>
          <p:nvPr/>
        </p:nvSpPr>
        <p:spPr>
          <a:xfrm>
            <a:off x="3648456" y="1289304"/>
            <a:ext cx="2980944" cy="402336"/>
          </a:xfrm>
          <a:prstGeom prst="rect">
            <a:avLst/>
          </a:prstGeom>
          <a:noFill/>
          <a:ln/>
        </p:spPr>
        <p:txBody>
          <a:bodyPr wrap="square" lIns="0" tIns="0" rIns="0" bIns="0" rtlCol="0" anchor="t"/>
          <a:lstStyle/>
          <a:p>
            <a:pPr indent="0" marL="0">
              <a:lnSpc>
                <a:spcPct val="128000"/>
              </a:lnSpc>
              <a:buNone/>
            </a:pPr>
            <a:r>
              <a:rPr lang="en-US" sz="800" dirty="0">
                <a:solidFill>
                  <a:srgbClr val="1A2A3A"/>
                </a:solidFill>
                <a:latin typeface="Calibri" pitchFamily="34" charset="0"/>
                <a:ea typeface="Calibri" pitchFamily="34" charset="-122"/>
                <a:cs typeface="Calibri" pitchFamily="34" charset="-120"/>
              </a:rPr>
              <a:t>MODALS OF DEDUCTION express how CERTAIN we are about something. PRESENT deductions: MUST BE = I am almost certain (positive). CAN'T BE = I am almost certain (negative/impossible). MIGHT/MAY/COULD BE = I think it's possible (50% or less). PAST deductions: MUST HAVE + past participle = almost certain about past. CAN'T HAVE + past participle = impossible in the past. MIGHT HAVE + past participle = possible in the past. Scale: must be (95%) &gt; may/might be (50%) &gt; can't be (0%).</a:t>
            </a:r>
            <a:endParaRPr lang="en-US" sz="800" dirty="0"/>
          </a:p>
        </p:txBody>
      </p:sp>
      <p:sp>
        <p:nvSpPr>
          <p:cNvPr id="33" name="Text 30"/>
          <p:cNvSpPr/>
          <p:nvPr/>
        </p:nvSpPr>
        <p:spPr>
          <a:xfrm>
            <a:off x="3648456" y="1709928"/>
            <a:ext cx="2980944" cy="347472"/>
          </a:xfrm>
          <a:prstGeom prst="rect">
            <a:avLst/>
          </a:prstGeom>
          <a:noFill/>
          <a:ln/>
        </p:spPr>
        <p:txBody>
          <a:bodyPr wrap="square" lIns="0" tIns="0" rIns="0" bIns="0" rtlCol="0" anchor="t"/>
          <a:lstStyle/>
          <a:p>
            <a:pPr indent="0" marL="0">
              <a:lnSpc>
                <a:spcPct val="125000"/>
              </a:lnSpc>
              <a:buNone/>
            </a:pPr>
            <a:r>
              <a:rPr lang="en-US" sz="750" dirty="0">
                <a:solidFill>
                  <a:srgbClr val="3A5060"/>
                </a:solidFill>
                <a:latin typeface="Calibri" pitchFamily="34" charset="0"/>
                <a:ea typeface="Calibri" pitchFamily="34" charset="-122"/>
                <a:cs typeface="Calibri" pitchFamily="34" charset="-120"/>
              </a:rPr>
              <a:t>ТААМАГЛАЛЫН MODAL ҮЙЛҮГС нь ямар нэгэн зүйлийн тухай ХЭР ИТГЭЛТЭЙ байгааг илэрхийлдэг. ОДООГИЙН таамаглал: MUST BE = бараг тодорхой (эерэг). CAN'T BE = бараг тодорхой (сөрөг). MIGHT/MAY/COULD BE = боломжтой гэж бодно (50% эсвэл бага). ӨНГӨРСӨН ЦАГИЙН таамаглал: MUST HAVE + p.p. = өнгөрсөнд бараг тодорхой. CAN'T HAVE + p.p. = өнгөрсөнд боломжгүй. MIGHT HAVE + p.p. = өнгөрсөнд боломжтой байсан. Масштаб: must be (95%) &gt; may/might be (50%) &gt; can't be (0%).</a:t>
            </a:r>
            <a:endParaRPr lang="en-US" sz="75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3639312" y="2075688"/>
          <a:ext cx="2980944" cy="914400"/>
        </p:xfrm>
        <a:graphic>
          <a:graphicData uri="http://schemas.openxmlformats.org/drawingml/2006/table">
            <a:tbl>
              <a:tblPr/>
              <a:tblGrid>
                <a:gridCol w="417332"/>
                <a:gridCol w="417332"/>
                <a:gridCol w="536570"/>
                <a:gridCol w="536570"/>
                <a:gridCol w="536570"/>
                <a:gridCol w="536570"/>
              </a:tblGrid>
              <a:tr h="192024">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Form</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Rule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Question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Монгол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must be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95% certain (+)</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She must be tired. (evidence: pale)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Must she be tired? (unusual)</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бараг тодорхой эерэг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can't be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95% certain (-)</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He can't be serious. (impossible!)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Can it really be true?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бараг тодорхой сөрөг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might/may be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~50% possible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She might be at home.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She might not be home.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Might she be home?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боломжтой байж болох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could be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~50% alternative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It could be a mistake.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Could it be a mistake?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хувилбар болон боломж</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must have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95% past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She must have worked all night.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She can't have forgotten.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Must she have worked hard?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өнгөрсөн бараг тодорхой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bl>
          </a:graphicData>
        </a:graphic>
      </p:graphicFrame>
      <p:sp>
        <p:nvSpPr>
          <p:cNvPr id="35" name="Shape 31"/>
          <p:cNvSpPr/>
          <p:nvPr/>
        </p:nvSpPr>
        <p:spPr>
          <a:xfrm>
            <a:off x="3639312" y="3273552"/>
            <a:ext cx="2980944" cy="164592"/>
          </a:xfrm>
          <a:prstGeom prst="rect">
            <a:avLst/>
          </a:prstGeom>
          <a:solidFill>
            <a:srgbClr val="0D7C7B"/>
          </a:solidFill>
          <a:ln w="12700">
            <a:solidFill>
              <a:srgbClr val="0D7C7B"/>
            </a:solidFill>
            <a:prstDash val="solid"/>
          </a:ln>
        </p:spPr>
      </p:sp>
      <p:sp>
        <p:nvSpPr>
          <p:cNvPr id="36" name="Text 32"/>
          <p:cNvSpPr/>
          <p:nvPr/>
        </p:nvSpPr>
        <p:spPr>
          <a:xfrm>
            <a:off x="3657600" y="3273552"/>
            <a:ext cx="298094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Key Forms</a:t>
            </a:r>
            <a:endParaRPr lang="en-US" sz="800" dirty="0"/>
          </a:p>
        </p:txBody>
      </p:sp>
      <p:sp>
        <p:nvSpPr>
          <p:cNvPr id="37" name="Shape 33"/>
          <p:cNvSpPr/>
          <p:nvPr/>
        </p:nvSpPr>
        <p:spPr>
          <a:xfrm>
            <a:off x="3639312" y="3438144"/>
            <a:ext cx="2980944" cy="274320"/>
          </a:xfrm>
          <a:prstGeom prst="rect">
            <a:avLst/>
          </a:prstGeom>
          <a:solidFill>
            <a:srgbClr val="E0F4F4"/>
          </a:solidFill>
          <a:ln w="12700">
            <a:solidFill>
              <a:srgbClr val="0D7C7B"/>
            </a:solidFill>
            <a:prstDash val="solid"/>
          </a:ln>
        </p:spPr>
      </p:sp>
      <p:sp>
        <p:nvSpPr>
          <p:cNvPr id="38" name="Text 34"/>
          <p:cNvSpPr/>
          <p:nvPr/>
        </p:nvSpPr>
        <p:spPr>
          <a:xfrm>
            <a:off x="3657600" y="3465576"/>
            <a:ext cx="1639519" cy="237744"/>
          </a:xfrm>
          <a:prstGeom prst="rect">
            <a:avLst/>
          </a:prstGeom>
          <a:noFill/>
          <a:ln/>
        </p:spPr>
        <p:txBody>
          <a:bodyPr wrap="square" lIns="0" tIns="0" rIns="0" bIns="0" rtlCol="0" anchor="t"/>
          <a:lstStyle/>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must be (95% +) · can't be (95% −) · might/may/could be (~50%)</a:t>
            </a:r>
            <a:endParaRPr lang="en-US" sz="850" dirty="0"/>
          </a:p>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must have + p.p. · can't have + p.p. · might have + p.p.</a:t>
            </a:r>
            <a:endParaRPr lang="en-US" sz="850" dirty="0"/>
          </a:p>
        </p:txBody>
      </p:sp>
      <p:sp>
        <p:nvSpPr>
          <p:cNvPr id="39" name="Text 35"/>
          <p:cNvSpPr/>
          <p:nvPr/>
        </p:nvSpPr>
        <p:spPr>
          <a:xfrm>
            <a:off x="5297119" y="3465576"/>
            <a:ext cx="1311615" cy="237744"/>
          </a:xfrm>
          <a:prstGeom prst="rect">
            <a:avLst/>
          </a:prstGeom>
          <a:noFill/>
          <a:ln/>
        </p:spPr>
        <p:txBody>
          <a:bodyPr wrap="square" lIns="0" tIns="0" rIns="0" bIns="0" rtlCol="0" anchor="t"/>
          <a:lstStyle/>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MUST BE — бараг тодорхой: 'She must be tired.' (нотолгоо байгаа)</a:t>
            </a:r>
            <a:endParaRPr lang="en-US" sz="750" dirty="0"/>
          </a:p>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CAN'T BE — боломжгүй: 'He can't be serious.'</a:t>
            </a:r>
            <a:endParaRPr lang="en-US" sz="750" dirty="0"/>
          </a:p>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MIGHT BE — боломжтой: 'She might be home.'</a:t>
            </a:r>
            <a:endParaRPr lang="en-US" sz="750" dirty="0"/>
          </a:p>
        </p:txBody>
      </p:sp>
      <p:sp>
        <p:nvSpPr>
          <p:cNvPr id="40" name="Shape 36"/>
          <p:cNvSpPr/>
          <p:nvPr/>
        </p:nvSpPr>
        <p:spPr>
          <a:xfrm>
            <a:off x="3639312" y="3749040"/>
            <a:ext cx="2980944" cy="164592"/>
          </a:xfrm>
          <a:prstGeom prst="rect">
            <a:avLst/>
          </a:prstGeom>
          <a:solidFill>
            <a:srgbClr val="1A3A5C"/>
          </a:solidFill>
          <a:ln w="12700">
            <a:solidFill>
              <a:srgbClr val="1A3A5C"/>
            </a:solidFill>
            <a:prstDash val="solid"/>
          </a:ln>
        </p:spPr>
      </p:sp>
      <p:sp>
        <p:nvSpPr>
          <p:cNvPr id="41" name="Text 37"/>
          <p:cNvSpPr/>
          <p:nvPr/>
        </p:nvSpPr>
        <p:spPr>
          <a:xfrm>
            <a:off x="3657600" y="3749040"/>
            <a:ext cx="298094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Rules &amp; Usage</a:t>
            </a:r>
            <a:endParaRPr lang="en-US" sz="800" dirty="0"/>
          </a:p>
        </p:txBody>
      </p:sp>
      <p:sp>
        <p:nvSpPr>
          <p:cNvPr id="42" name="Shape 38"/>
          <p:cNvSpPr/>
          <p:nvPr/>
        </p:nvSpPr>
        <p:spPr>
          <a:xfrm>
            <a:off x="3639312" y="3913632"/>
            <a:ext cx="2980944" cy="310896"/>
          </a:xfrm>
          <a:prstGeom prst="rect">
            <a:avLst/>
          </a:prstGeom>
          <a:solidFill>
            <a:srgbClr val="F8FAFC"/>
          </a:solidFill>
          <a:ln w="12700">
            <a:solidFill>
              <a:srgbClr val="C8D8E8"/>
            </a:solidFill>
            <a:prstDash val="solid"/>
          </a:ln>
        </p:spPr>
      </p:sp>
      <p:sp>
        <p:nvSpPr>
          <p:cNvPr id="43" name="Text 39"/>
          <p:cNvSpPr/>
          <p:nvPr/>
        </p:nvSpPr>
        <p:spPr>
          <a:xfrm>
            <a:off x="3657600" y="3941064"/>
            <a:ext cx="2944368" cy="274320"/>
          </a:xfrm>
          <a:prstGeom prst="rect">
            <a:avLst/>
          </a:prstGeom>
          <a:noFill/>
          <a:ln/>
        </p:spPr>
        <p:txBody>
          <a:bodyPr wrap="square" lIns="0" tIns="0" rIns="0" bIns="0" rtlCol="0" anchor="t"/>
          <a:lstStyle/>
          <a:p>
            <a:pPr indent="0" marL="0">
              <a:lnSpc>
                <a:spcPct val="130000"/>
              </a:lnSpc>
              <a:buNone/>
            </a:pPr>
            <a:r>
              <a:rPr lang="en-US" sz="800" b="1" dirty="0">
                <a:solidFill>
                  <a:srgbClr val="B83030"/>
                </a:solidFill>
                <a:latin typeface="Calibri" pitchFamily="34" charset="0"/>
                <a:ea typeface="Calibri" pitchFamily="34" charset="-122"/>
                <a:cs typeface="Calibri" pitchFamily="34" charset="-120"/>
              </a:rPr>
              <a:t>Rule 1: </a:t>
            </a:r>
            <a:pPr indent="0" marL="0">
              <a:lnSpc>
                <a:spcPct val="130000"/>
              </a:lnSpc>
              <a:buNone/>
            </a:pPr>
            <a:r>
              <a:rPr lang="en-US" sz="800" dirty="0">
                <a:solidFill>
                  <a:srgbClr val="1A2A3A"/>
                </a:solidFill>
                <a:latin typeface="Calibri" pitchFamily="34" charset="0"/>
                <a:ea typeface="Calibri" pitchFamily="34" charset="-122"/>
                <a:cs typeface="Calibri" pitchFamily="34" charset="-120"/>
              </a:rPr>
              <a:t>He CAN'T BE serious — that's impossible! She CAN'T HAVE forgotten — she was there! They MIGHT NOT BE home.
</a:t>
            </a:r>
            <a:pPr indent="0" marL="0">
              <a:lnSpc>
                <a:spcPct val="130000"/>
              </a:lnSpc>
              <a:buNone/>
            </a:pPr>
            <a:r>
              <a:rPr lang="en-US" sz="800" b="1" dirty="0">
                <a:solidFill>
                  <a:srgbClr val="0D7C7B"/>
                </a:solidFill>
                <a:latin typeface="Calibri" pitchFamily="34" charset="0"/>
                <a:ea typeface="Calibri" pitchFamily="34" charset="-122"/>
                <a:cs typeface="Calibri" pitchFamily="34" charset="-120"/>
              </a:rPr>
              <a:t>Rule 2: </a:t>
            </a:r>
            <a:pPr indent="0" marL="0">
              <a:lnSpc>
                <a:spcPct val="130000"/>
              </a:lnSpc>
              <a:buNone/>
            </a:pPr>
            <a:r>
              <a:rPr lang="en-US" sz="800" dirty="0">
                <a:solidFill>
                  <a:srgbClr val="1A2A3A"/>
                </a:solidFill>
                <a:latin typeface="Calibri" pitchFamily="34" charset="0"/>
                <a:ea typeface="Calibri" pitchFamily="34" charset="-122"/>
                <a:cs typeface="Calibri" pitchFamily="34" charset="-120"/>
              </a:rPr>
              <a:t>What do you THINK? · MUST it be true? · COULD it be a mistake? · WHO MIGHT HAVE done this? · WHERE can they BE?</a:t>
            </a:r>
            <a:endParaRPr lang="en-US" sz="800" dirty="0"/>
          </a:p>
        </p:txBody>
      </p:sp>
      <p:sp>
        <p:nvSpPr>
          <p:cNvPr id="44" name="Shape 40"/>
          <p:cNvSpPr/>
          <p:nvPr/>
        </p:nvSpPr>
        <p:spPr>
          <a:xfrm>
            <a:off x="3639312" y="4261104"/>
            <a:ext cx="1463040" cy="164592"/>
          </a:xfrm>
          <a:prstGeom prst="rect">
            <a:avLst/>
          </a:prstGeom>
          <a:solidFill>
            <a:srgbClr val="C97A0A"/>
          </a:solidFill>
          <a:ln w="12700">
            <a:solidFill>
              <a:srgbClr val="C97A0A"/>
            </a:solidFill>
            <a:prstDash val="solid"/>
          </a:ln>
        </p:spPr>
      </p:sp>
      <p:sp>
        <p:nvSpPr>
          <p:cNvPr id="45" name="Text 41"/>
          <p:cNvSpPr/>
          <p:nvPr/>
        </p:nvSpPr>
        <p:spPr>
          <a:xfrm>
            <a:off x="3639312" y="4261104"/>
            <a:ext cx="1463040" cy="164592"/>
          </a:xfrm>
          <a:prstGeom prst="rect">
            <a:avLst/>
          </a:prstGeom>
          <a:noFill/>
          <a:ln/>
        </p:spPr>
        <p:txBody>
          <a:bodyPr wrap="square" lIns="0" tIns="6350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Grammar Tip</a:t>
            </a:r>
            <a:endParaRPr lang="en-US" sz="800" dirty="0"/>
          </a:p>
        </p:txBody>
      </p:sp>
      <p:sp>
        <p:nvSpPr>
          <p:cNvPr id="46" name="Shape 42"/>
          <p:cNvSpPr/>
          <p:nvPr/>
        </p:nvSpPr>
        <p:spPr>
          <a:xfrm>
            <a:off x="5138928" y="4261104"/>
            <a:ext cx="1463040" cy="164592"/>
          </a:xfrm>
          <a:prstGeom prst="rect">
            <a:avLst/>
          </a:prstGeom>
          <a:solidFill>
            <a:srgbClr val="B83030"/>
          </a:solidFill>
          <a:ln w="12700">
            <a:solidFill>
              <a:srgbClr val="B83030"/>
            </a:solidFill>
            <a:prstDash val="solid"/>
          </a:ln>
        </p:spPr>
      </p:sp>
      <p:sp>
        <p:nvSpPr>
          <p:cNvPr id="47" name="Text 43"/>
          <p:cNvSpPr/>
          <p:nvPr/>
        </p:nvSpPr>
        <p:spPr>
          <a:xfrm>
            <a:off x="5138928" y="4261104"/>
            <a:ext cx="1463040" cy="164592"/>
          </a:xfrm>
          <a:prstGeom prst="rect">
            <a:avLst/>
          </a:prstGeom>
          <a:noFill/>
          <a:ln/>
        </p:spPr>
        <p:txBody>
          <a:bodyPr wrap="square" lIns="0" tIns="6350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Common Mistakes</a:t>
            </a:r>
            <a:endParaRPr lang="en-US" sz="800" dirty="0"/>
          </a:p>
        </p:txBody>
      </p:sp>
      <p:sp>
        <p:nvSpPr>
          <p:cNvPr id="48" name="Shape 44"/>
          <p:cNvSpPr/>
          <p:nvPr/>
        </p:nvSpPr>
        <p:spPr>
          <a:xfrm>
            <a:off x="3639312" y="4425696"/>
            <a:ext cx="1463040" cy="2144817"/>
          </a:xfrm>
          <a:prstGeom prst="rect">
            <a:avLst/>
          </a:prstGeom>
          <a:solidFill>
            <a:srgbClr val="FEF3DC"/>
          </a:solidFill>
          <a:ln w="12700">
            <a:solidFill>
              <a:srgbClr val="C97A0A"/>
            </a:solidFill>
            <a:prstDash val="solid"/>
          </a:ln>
        </p:spPr>
      </p:sp>
      <p:sp>
        <p:nvSpPr>
          <p:cNvPr id="49" name="Text 45"/>
          <p:cNvSpPr/>
          <p:nvPr/>
        </p:nvSpPr>
        <p:spPr>
          <a:xfrm>
            <a:off x="3666744" y="4462272"/>
            <a:ext cx="1380744" cy="2089953"/>
          </a:xfrm>
          <a:prstGeom prst="rect">
            <a:avLst/>
          </a:prstGeom>
          <a:noFill/>
          <a:ln/>
        </p:spPr>
        <p:txBody>
          <a:bodyPr wrap="square" lIns="0" tIns="0" rIns="0" bIns="0" rtlCol="0" anchor="t"/>
          <a:lstStyle/>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must be = I'm almost certain (positive)</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can't be = I'm almost certain (negative)</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might/may/could be = maybe (50%)</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must have + p.p. = past certainty</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can't have + p.p. = past impossibility</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might have + p.p. = past possibility</a:t>
            </a:r>
            <a:endParaRPr lang="en-US" sz="780" dirty="0"/>
          </a:p>
        </p:txBody>
      </p:sp>
      <p:sp>
        <p:nvSpPr>
          <p:cNvPr id="50" name="Shape 46"/>
          <p:cNvSpPr/>
          <p:nvPr/>
        </p:nvSpPr>
        <p:spPr>
          <a:xfrm>
            <a:off x="5138928" y="4425696"/>
            <a:ext cx="1463040" cy="2144817"/>
          </a:xfrm>
          <a:prstGeom prst="rect">
            <a:avLst/>
          </a:prstGeom>
          <a:solidFill>
            <a:srgbClr val="FDECEA"/>
          </a:solidFill>
          <a:ln w="12700">
            <a:solidFill>
              <a:srgbClr val="B83030"/>
            </a:solidFill>
            <a:prstDash val="solid"/>
          </a:ln>
        </p:spPr>
      </p:sp>
      <p:sp>
        <p:nvSpPr>
          <p:cNvPr id="51" name="Text 47"/>
          <p:cNvSpPr/>
          <p:nvPr/>
        </p:nvSpPr>
        <p:spPr>
          <a:xfrm>
            <a:off x="5166360" y="4462272"/>
            <a:ext cx="1380744" cy="2089953"/>
          </a:xfrm>
          <a:prstGeom prst="rect">
            <a:avLst/>
          </a:prstGeom>
          <a:noFill/>
          <a:ln/>
        </p:spPr>
        <p:txBody>
          <a:bodyPr wrap="square" lIns="0" tIns="0" rIns="0" bIns="0" rtlCol="0" anchor="t"/>
          <a:lstStyle/>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She must to be tired.  ✅ She must BE tired. (modal + base verb, no 'to'!)</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He can't is serious.  ✅ He CAN'T BE serious.</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She must have forgot.  ✅ She must have FORGOTTEN. (past participle!)</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It might to be a mistake.  ✅ It might BE a mistake.</a:t>
            </a:r>
            <a:endParaRPr lang="en-US" sz="780" dirty="0"/>
          </a:p>
        </p:txBody>
      </p:sp>
      <p:sp>
        <p:nvSpPr>
          <p:cNvPr id="52" name="Shape 48"/>
          <p:cNvSpPr/>
          <p:nvPr/>
        </p:nvSpPr>
        <p:spPr>
          <a:xfrm>
            <a:off x="3639312" y="6607089"/>
            <a:ext cx="2980944" cy="164592"/>
          </a:xfrm>
          <a:prstGeom prst="rect">
            <a:avLst/>
          </a:prstGeom>
          <a:solidFill>
            <a:srgbClr val="0D7C7B"/>
          </a:solidFill>
          <a:ln w="12700">
            <a:solidFill>
              <a:srgbClr val="0D7C7B"/>
            </a:solidFill>
            <a:prstDash val="solid"/>
          </a:ln>
        </p:spPr>
      </p:sp>
      <p:sp>
        <p:nvSpPr>
          <p:cNvPr id="53" name="Text 49"/>
          <p:cNvSpPr/>
          <p:nvPr/>
        </p:nvSpPr>
        <p:spPr>
          <a:xfrm>
            <a:off x="3657600" y="6607089"/>
            <a:ext cx="2980944" cy="164592"/>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  Quick Practice</a:t>
            </a:r>
            <a:endParaRPr lang="en-US" sz="850" dirty="0"/>
          </a:p>
        </p:txBody>
      </p:sp>
      <p:sp>
        <p:nvSpPr>
          <p:cNvPr id="54" name="Shape 50"/>
          <p:cNvSpPr/>
          <p:nvPr/>
        </p:nvSpPr>
        <p:spPr>
          <a:xfrm>
            <a:off x="3639312" y="6771681"/>
            <a:ext cx="2980944" cy="2902671"/>
          </a:xfrm>
          <a:prstGeom prst="rect">
            <a:avLst/>
          </a:prstGeom>
          <a:solidFill>
            <a:srgbClr val="E0F4F4"/>
          </a:solidFill>
          <a:ln w="12700">
            <a:solidFill>
              <a:srgbClr val="0D7C7B"/>
            </a:solidFill>
            <a:prstDash val="solid"/>
          </a:ln>
        </p:spPr>
      </p:sp>
      <p:graphicFrame>
        <p:nvGraphicFramePr>
          <p:cNvPr id="4" name="Table 2"/>
          <p:cNvGraphicFramePr>
            <a:graphicFrameLocks noGrp="1"/>
          </p:cNvGraphicFramePr>
          <p:nvPr>
            <p:extLst>
              <p:ext uri="{D42A27DB-BD31-4B8C-83A1-F6EECF244321}">
                <p14:modId xmlns:p14="http://schemas.microsoft.com/office/powerpoint/2010/main" val="1579011935"/>
              </p:ext>
            </p:extLst>
          </p:nvPr>
        </p:nvGraphicFramePr>
        <p:xfrm>
          <a:off x="3657600" y="6799113"/>
          <a:ext cx="2944368" cy="914400"/>
        </p:xfrm>
        <a:graphic>
          <a:graphicData uri="http://schemas.openxmlformats.org/drawingml/2006/table">
            <a:tbl>
              <a:tblPr/>
              <a:tblGrid>
                <a:gridCol w="1472184"/>
                <a:gridCol w="1472184"/>
              </a:tblGrid>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1. She _____ be tired — she worked all night. (must)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5. He _____ have missed the bus — he's late. (might)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2. He _____ be serious — that's impossible! (can't)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6. She _____ have forgotten — she was there! (can't)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3. She _____ be at home right now. (might)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7. It _____ be a mistake — let's check. (could)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4. This _____ be the right answer — it fits. (must)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8. They _____ have left already — the lights are off. (must)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r>
            </a:tbl>
          </a:graphicData>
        </a:graphic>
      </p:graphicFrame>
      <p:sp>
        <p:nvSpPr>
          <p:cNvPr id="56" name="Text 51"/>
          <p:cNvSpPr/>
          <p:nvPr/>
        </p:nvSpPr>
        <p:spPr>
          <a:xfrm>
            <a:off x="3666744" y="9341130"/>
            <a:ext cx="2926080" cy="128016"/>
          </a:xfrm>
          <a:prstGeom prst="rect">
            <a:avLst/>
          </a:prstGeom>
          <a:noFill/>
          <a:ln/>
        </p:spPr>
        <p:txBody>
          <a:bodyPr wrap="square" lIns="0" tIns="0" rIns="0" bIns="0" rtlCol="0" anchor="t"/>
          <a:lstStyle/>
          <a:p>
            <a:pPr indent="0" marL="0">
              <a:buNone/>
            </a:pPr>
            <a:r>
              <a:rPr lang="en-US" sz="800" b="1" dirty="0">
                <a:solidFill>
                  <a:srgbClr val="0D7C7B"/>
                </a:solidFill>
                <a:latin typeface="Calibri" pitchFamily="34" charset="0"/>
                <a:ea typeface="Calibri" pitchFamily="34" charset="-122"/>
                <a:cs typeface="Calibri" pitchFamily="34" charset="-120"/>
              </a:rPr>
              <a:t>🔑  Answers: 1-must · 2-can't · 3-might · 4-must · 5-might · 6-can't · 7-could · 8-must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B1 · Book 3 · Дэвшилтэт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25-30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68 · ӨДӨР 68</a:t>
            </a:r>
            <a:endParaRPr lang="en-US" sz="850" dirty="0"/>
          </a:p>
        </p:txBody>
      </p:sp>
      <p:sp>
        <p:nvSpPr>
          <p:cNvPr id="9" name="Shape 7"/>
          <p:cNvSpPr/>
          <p:nvPr/>
        </p:nvSpPr>
        <p:spPr>
          <a:xfrm>
            <a:off x="1335024" y="347472"/>
            <a:ext cx="4498848" cy="237744"/>
          </a:xfrm>
          <a:prstGeom prst="rect">
            <a:avLst/>
          </a:prstGeom>
          <a:solidFill>
            <a:srgbClr val="1E7A4A"/>
          </a:solidFill>
          <a:ln w="12700">
            <a:solidFill>
              <a:srgbClr val="1E7A4A"/>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Reading &amp; Speaking  ·  Унших ба Ярих</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2</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B1 Level  ·  Book 3</a:t>
            </a:r>
            <a:endParaRPr lang="en-US" sz="650" dirty="0"/>
          </a:p>
        </p:txBody>
      </p:sp>
      <p:sp>
        <p:nvSpPr>
          <p:cNvPr id="15" name="Shape 13"/>
          <p:cNvSpPr/>
          <p:nvPr/>
        </p:nvSpPr>
        <p:spPr>
          <a:xfrm>
            <a:off x="179222" y="627278"/>
            <a:ext cx="6528816" cy="1865376"/>
          </a:xfrm>
          <a:prstGeom prst="rect">
            <a:avLst/>
          </a:prstGeom>
          <a:solidFill>
            <a:srgbClr val="D0DCE8"/>
          </a:solidFill>
          <a:ln w="12700">
            <a:solidFill>
              <a:srgbClr val="D0DCE8"/>
            </a:solidFill>
            <a:prstDash val="solid"/>
          </a:ln>
        </p:spPr>
      </p:sp>
      <p:sp>
        <p:nvSpPr>
          <p:cNvPr id="16" name="Shape 14"/>
          <p:cNvSpPr/>
          <p:nvPr/>
        </p:nvSpPr>
        <p:spPr>
          <a:xfrm>
            <a:off x="164592" y="612648"/>
            <a:ext cx="6528816" cy="1865376"/>
          </a:xfrm>
          <a:prstGeom prst="rect">
            <a:avLst/>
          </a:prstGeom>
          <a:solidFill>
            <a:srgbClr val="FFFFFF"/>
          </a:solidFill>
          <a:ln w="12700">
            <a:solidFill>
              <a:srgbClr val="C8D8E8"/>
            </a:solidFill>
            <a:prstDash val="solid"/>
          </a:ln>
        </p:spPr>
      </p:sp>
      <p:sp>
        <p:nvSpPr>
          <p:cNvPr id="17" name="Shape 15"/>
          <p:cNvSpPr/>
          <p:nvPr/>
        </p:nvSpPr>
        <p:spPr>
          <a:xfrm>
            <a:off x="164592" y="612648"/>
            <a:ext cx="6528816" cy="256032"/>
          </a:xfrm>
          <a:prstGeom prst="rect">
            <a:avLst/>
          </a:prstGeom>
          <a:solidFill>
            <a:srgbClr val="1E7A4A"/>
          </a:solidFill>
          <a:ln w="12700">
            <a:solidFill>
              <a:srgbClr val="1E7A4A"/>
            </a:solidFill>
            <a:prstDash val="solid"/>
          </a:ln>
        </p:spPr>
      </p:sp>
      <p:sp>
        <p:nvSpPr>
          <p:cNvPr id="18" name="Shape 16"/>
          <p:cNvSpPr/>
          <p:nvPr/>
        </p:nvSpPr>
        <p:spPr>
          <a:xfrm>
            <a:off x="164592" y="868680"/>
            <a:ext cx="6528816" cy="146304"/>
          </a:xfrm>
          <a:prstGeom prst="rect">
            <a:avLst/>
          </a:prstGeom>
          <a:solidFill>
            <a:srgbClr val="E8F5EE"/>
          </a:solidFill>
          <a:ln w="12700">
            <a:solidFill>
              <a:srgbClr val="E8F5EE"/>
            </a:solidFill>
            <a:prstDash val="solid"/>
          </a:ln>
        </p:spPr>
      </p:sp>
      <p:sp>
        <p:nvSpPr>
          <p:cNvPr id="19" name="Text 17"/>
          <p:cNvSpPr/>
          <p:nvPr/>
        </p:nvSpPr>
        <p:spPr>
          <a:xfrm>
            <a:off x="256032" y="61264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Reading Passage / Унших дасгал</a:t>
            </a:r>
            <a:endParaRPr lang="en-US" sz="1050" dirty="0"/>
          </a:p>
        </p:txBody>
      </p:sp>
      <p:sp>
        <p:nvSpPr>
          <p:cNvPr id="20" name="Text 18"/>
          <p:cNvSpPr/>
          <p:nvPr/>
        </p:nvSpPr>
        <p:spPr>
          <a:xfrm>
            <a:off x="256032" y="87782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Bold = today's vocab · Read aloud at least twice!</a:t>
            </a:r>
            <a:endParaRPr lang="en-US" sz="750" dirty="0"/>
          </a:p>
        </p:txBody>
      </p:sp>
      <p:sp>
        <p:nvSpPr>
          <p:cNvPr id="21" name="Shape 19"/>
          <p:cNvSpPr/>
          <p:nvPr/>
        </p:nvSpPr>
        <p:spPr>
          <a:xfrm>
            <a:off x="237744" y="1033272"/>
            <a:ext cx="6382512" cy="1380744"/>
          </a:xfrm>
          <a:prstGeom prst="rect">
            <a:avLst/>
          </a:prstGeom>
          <a:solidFill>
            <a:srgbClr val="EBF5F0"/>
          </a:solidFill>
          <a:ln w="12700">
            <a:solidFill>
              <a:srgbClr val="1E7A4A"/>
            </a:solidFill>
            <a:prstDash val="solid"/>
          </a:ln>
        </p:spPr>
      </p:sp>
      <p:sp>
        <p:nvSpPr>
          <p:cNvPr id="22" name="Text 20"/>
          <p:cNvSpPr/>
          <p:nvPr/>
        </p:nvSpPr>
        <p:spPr>
          <a:xfrm>
            <a:off x="310896" y="1069848"/>
            <a:ext cx="6236208" cy="1298448"/>
          </a:xfrm>
          <a:prstGeom prst="rect">
            <a:avLst/>
          </a:prstGeom>
          <a:noFill/>
          <a:ln/>
        </p:spPr>
        <p:txBody>
          <a:bodyPr wrap="square" lIns="0" tIns="0" rIns="0" bIns="0" rtlCol="0" anchor="t"/>
          <a:lstStyle/>
          <a:p>
            <a:pPr indent="0" marL="0">
              <a:lnSpc>
                <a:spcPct val="155000"/>
              </a:lnSpc>
              <a:buNone/>
            </a:pPr>
            <a:r>
              <a:rPr lang="en-US" sz="950" b="1" dirty="0">
                <a:solidFill>
                  <a:srgbClr val="1A5C8C"/>
                </a:solidFill>
                <a:latin typeface="Georgia" pitchFamily="34" charset="0"/>
                <a:ea typeface="Georgia" pitchFamily="34" charset="-122"/>
                <a:cs typeface="Georgia" pitchFamily="34" charset="-120"/>
              </a:rPr>
              <a:t>Bat notices something strange at school. </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Sarnai hasn't arrived yet and it's 9:30 AM. Bat thinks: "She </a:t>
            </a:r>
            <a:pPr indent="0" marL="0">
              <a:lnSpc>
                <a:spcPct val="155000"/>
              </a:lnSpc>
              <a:buNone/>
            </a:pPr>
            <a:r>
              <a:rPr lang="en-US" sz="950" b="1" dirty="0">
                <a:solidFill>
                  <a:srgbClr val="B83030"/>
                </a:solidFill>
                <a:latin typeface="Georgia" pitchFamily="34" charset="0"/>
                <a:ea typeface="Georgia" pitchFamily="34" charset="-122"/>
                <a:cs typeface="Georgia" pitchFamily="34" charset="-120"/>
              </a:rPr>
              <a:t>must be</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sick — she never misses class." His classmate says: "She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might be</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stuck in traffic." Bat replies: "She </a:t>
            </a:r>
            <a:pPr indent="0" marL="0">
              <a:lnSpc>
                <a:spcPct val="155000"/>
              </a:lnSpc>
              <a:buNone/>
            </a:pPr>
            <a:r>
              <a:rPr lang="en-US" sz="950" b="1" dirty="0">
                <a:solidFill>
                  <a:srgbClr val="8B4A9C"/>
                </a:solidFill>
                <a:latin typeface="Georgia" pitchFamily="34" charset="0"/>
                <a:ea typeface="Georgia" pitchFamily="34" charset="-122"/>
                <a:cs typeface="Georgia" pitchFamily="34" charset="-120"/>
              </a:rPr>
              <a:t>can't be</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stuck in traffic — she walks to school! She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could be</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at the doctor." Their teacher arrives: "I received a message — Sarnai called to say she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might be</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a little late." At 10 AM, Sarnai arrives, looking fine. Bat says: "You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must have</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overslept!" Sarnai laughs: "You </a:t>
            </a:r>
            <a:pPr indent="0" marL="0">
              <a:lnSpc>
                <a:spcPct val="155000"/>
              </a:lnSpc>
              <a:buNone/>
            </a:pPr>
            <a:r>
              <a:rPr lang="en-US" sz="950" b="1" dirty="0">
                <a:solidFill>
                  <a:srgbClr val="8B4A9C"/>
                </a:solidFill>
                <a:latin typeface="Georgia" pitchFamily="34" charset="0"/>
                <a:ea typeface="Georgia" pitchFamily="34" charset="-122"/>
                <a:cs typeface="Georgia" pitchFamily="34" charset="-120"/>
              </a:rPr>
              <a:t>can't have</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forgotten — I told you yesterday I had a dentist appointment at 9!"</a:t>
            </a:r>
            <a:endParaRPr lang="en-US" sz="950" dirty="0"/>
          </a:p>
        </p:txBody>
      </p:sp>
      <p:sp>
        <p:nvSpPr>
          <p:cNvPr id="23" name="Shape 21"/>
          <p:cNvSpPr/>
          <p:nvPr/>
        </p:nvSpPr>
        <p:spPr>
          <a:xfrm>
            <a:off x="179222" y="2565806"/>
            <a:ext cx="3218688" cy="1828800"/>
          </a:xfrm>
          <a:prstGeom prst="rect">
            <a:avLst/>
          </a:prstGeom>
          <a:solidFill>
            <a:srgbClr val="D0DCE8"/>
          </a:solidFill>
          <a:ln w="12700">
            <a:solidFill>
              <a:srgbClr val="D0DCE8"/>
            </a:solidFill>
            <a:prstDash val="solid"/>
          </a:ln>
        </p:spPr>
      </p:sp>
      <p:sp>
        <p:nvSpPr>
          <p:cNvPr id="24" name="Shape 22"/>
          <p:cNvSpPr/>
          <p:nvPr/>
        </p:nvSpPr>
        <p:spPr>
          <a:xfrm>
            <a:off x="164592" y="2551176"/>
            <a:ext cx="3218688" cy="1828800"/>
          </a:xfrm>
          <a:prstGeom prst="rect">
            <a:avLst/>
          </a:prstGeom>
          <a:solidFill>
            <a:srgbClr val="FFFFFF"/>
          </a:solidFill>
          <a:ln w="12700">
            <a:solidFill>
              <a:srgbClr val="C8D8E8"/>
            </a:solidFill>
            <a:prstDash val="solid"/>
          </a:ln>
        </p:spPr>
      </p:sp>
      <p:sp>
        <p:nvSpPr>
          <p:cNvPr id="25" name="Shape 23"/>
          <p:cNvSpPr/>
          <p:nvPr/>
        </p:nvSpPr>
        <p:spPr>
          <a:xfrm>
            <a:off x="164592" y="2551176"/>
            <a:ext cx="3218688" cy="256032"/>
          </a:xfrm>
          <a:prstGeom prst="rect">
            <a:avLst/>
          </a:prstGeom>
          <a:solidFill>
            <a:srgbClr val="C97A0A"/>
          </a:solidFill>
          <a:ln w="12700">
            <a:solidFill>
              <a:srgbClr val="C97A0A"/>
            </a:solidFill>
            <a:prstDash val="solid"/>
          </a:ln>
        </p:spPr>
      </p:sp>
      <p:sp>
        <p:nvSpPr>
          <p:cNvPr id="26" name="Shape 24"/>
          <p:cNvSpPr/>
          <p:nvPr/>
        </p:nvSpPr>
        <p:spPr>
          <a:xfrm>
            <a:off x="164592" y="2807208"/>
            <a:ext cx="3218688" cy="146304"/>
          </a:xfrm>
          <a:prstGeom prst="rect">
            <a:avLst/>
          </a:prstGeom>
          <a:solidFill>
            <a:srgbClr val="FEF3DC"/>
          </a:solidFill>
          <a:ln w="12700">
            <a:solidFill>
              <a:srgbClr val="FEF3DC"/>
            </a:solidFill>
            <a:prstDash val="solid"/>
          </a:ln>
        </p:spPr>
      </p:sp>
      <p:sp>
        <p:nvSpPr>
          <p:cNvPr id="27" name="Text 25"/>
          <p:cNvSpPr/>
          <p:nvPr/>
        </p:nvSpPr>
        <p:spPr>
          <a:xfrm>
            <a:off x="256032" y="255117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Key Phrases &amp; Translation / Гол хэллэг</a:t>
            </a:r>
            <a:endParaRPr lang="en-US" sz="1050" dirty="0"/>
          </a:p>
        </p:txBody>
      </p:sp>
      <p:sp>
        <p:nvSpPr>
          <p:cNvPr id="28" name="Text 26"/>
          <p:cNvSpPr/>
          <p:nvPr/>
        </p:nvSpPr>
        <p:spPr>
          <a:xfrm>
            <a:off x="256032" y="281635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Цээжил! · Memorize these phrases</a:t>
            </a:r>
            <a:endParaRPr lang="en-US" sz="7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19456" y="2971800"/>
          <a:ext cx="3108960" cy="914400"/>
        </p:xfrm>
        <a:graphic>
          <a:graphicData uri="http://schemas.openxmlformats.org/drawingml/2006/table">
            <a:tbl>
              <a:tblPr/>
              <a:tblGrid>
                <a:gridCol w="1057046"/>
                <a:gridCol w="1057046"/>
                <a:gridCol w="994867"/>
              </a:tblGrid>
              <a:tr h="196596">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English Phrase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Mongolian / Монгол</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Grammar Note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She must be tired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Тэр ядарсан байх ёстой</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must be = almost certain (positive)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He can't be serious!</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Тэр жинхэнэ биш байх ёстой!</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can't be = almost certain (impossible)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She might be at home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Тэр гэртээ байж болно</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might be = possible (about 50%)</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It could be a mistake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Энэ алдаа байж болно</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could be = alternative possibility</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She must have worked hard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Тэр хичээнгүйлэн ажилласан байх ёстой</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must have + p.p. = past certainty</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He might have missed the bus</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Тэр автобусаа алдсан байж болно</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might have + p.p. = past possibility</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0" name="Shape 27"/>
          <p:cNvSpPr/>
          <p:nvPr/>
        </p:nvSpPr>
        <p:spPr>
          <a:xfrm>
            <a:off x="3489350" y="2565806"/>
            <a:ext cx="3218688" cy="1828800"/>
          </a:xfrm>
          <a:prstGeom prst="rect">
            <a:avLst/>
          </a:prstGeom>
          <a:solidFill>
            <a:srgbClr val="D0DCE8"/>
          </a:solidFill>
          <a:ln w="12700">
            <a:solidFill>
              <a:srgbClr val="D0DCE8"/>
            </a:solidFill>
            <a:prstDash val="solid"/>
          </a:ln>
        </p:spPr>
      </p:sp>
      <p:sp>
        <p:nvSpPr>
          <p:cNvPr id="31" name="Shape 28"/>
          <p:cNvSpPr/>
          <p:nvPr/>
        </p:nvSpPr>
        <p:spPr>
          <a:xfrm>
            <a:off x="3474720" y="2551176"/>
            <a:ext cx="3218688" cy="1828800"/>
          </a:xfrm>
          <a:prstGeom prst="rect">
            <a:avLst/>
          </a:prstGeom>
          <a:solidFill>
            <a:srgbClr val="FFFFFF"/>
          </a:solidFill>
          <a:ln w="12700">
            <a:solidFill>
              <a:srgbClr val="C8D8E8"/>
            </a:solidFill>
            <a:prstDash val="solid"/>
          </a:ln>
        </p:spPr>
      </p:sp>
      <p:sp>
        <p:nvSpPr>
          <p:cNvPr id="32" name="Shape 29"/>
          <p:cNvSpPr/>
          <p:nvPr/>
        </p:nvSpPr>
        <p:spPr>
          <a:xfrm>
            <a:off x="3474720" y="2551176"/>
            <a:ext cx="3218688" cy="256032"/>
          </a:xfrm>
          <a:prstGeom prst="rect">
            <a:avLst/>
          </a:prstGeom>
          <a:solidFill>
            <a:srgbClr val="0D7C7B"/>
          </a:solidFill>
          <a:ln w="12700">
            <a:solidFill>
              <a:srgbClr val="0D7C7B"/>
            </a:solidFill>
            <a:prstDash val="solid"/>
          </a:ln>
        </p:spPr>
      </p:sp>
      <p:sp>
        <p:nvSpPr>
          <p:cNvPr id="33" name="Shape 30"/>
          <p:cNvSpPr/>
          <p:nvPr/>
        </p:nvSpPr>
        <p:spPr>
          <a:xfrm>
            <a:off x="3474720" y="2807208"/>
            <a:ext cx="3218688" cy="146304"/>
          </a:xfrm>
          <a:prstGeom prst="rect">
            <a:avLst/>
          </a:prstGeom>
          <a:solidFill>
            <a:srgbClr val="E0F4F4"/>
          </a:solidFill>
          <a:ln w="12700">
            <a:solidFill>
              <a:srgbClr val="E0F4F4"/>
            </a:solidFill>
            <a:prstDash val="solid"/>
          </a:ln>
        </p:spPr>
      </p:sp>
      <p:sp>
        <p:nvSpPr>
          <p:cNvPr id="34" name="Text 31"/>
          <p:cNvSpPr/>
          <p:nvPr/>
        </p:nvSpPr>
        <p:spPr>
          <a:xfrm>
            <a:off x="3566160" y="255117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Speaking Practice / Ярих дасгал</a:t>
            </a:r>
            <a:endParaRPr lang="en-US" sz="1050" dirty="0"/>
          </a:p>
        </p:txBody>
      </p:sp>
      <p:sp>
        <p:nvSpPr>
          <p:cNvPr id="35" name="Text 32"/>
          <p:cNvSpPr/>
          <p:nvPr/>
        </p:nvSpPr>
        <p:spPr>
          <a:xfrm>
            <a:off x="3566160" y="281635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Answer OUT LOUD — don't write, just speak!</a:t>
            </a:r>
            <a:endParaRPr lang="en-US" sz="750" dirty="0"/>
          </a:p>
        </p:txBody>
      </p:sp>
      <p:sp>
        <p:nvSpPr>
          <p:cNvPr id="36" name="Text 33"/>
          <p:cNvSpPr/>
          <p:nvPr/>
        </p:nvSpPr>
        <p:spPr>
          <a:xfrm>
            <a:off x="3557016" y="2971800"/>
            <a:ext cx="3072384" cy="274320"/>
          </a:xfrm>
          <a:prstGeom prst="rect">
            <a:avLst/>
          </a:prstGeom>
          <a:noFill/>
          <a:ln/>
        </p:spPr>
        <p:txBody>
          <a:bodyPr wrap="square" lIns="0" tIns="0" rIns="0" bIns="0" rtlCol="0" anchor="t"/>
          <a:lstStyle/>
          <a:p>
            <a:pPr indent="0" marL="0">
              <a:lnSpc>
                <a:spcPct val="120000"/>
              </a:lnSpc>
              <a:buNone/>
            </a:pPr>
            <a:r>
              <a:rPr lang="en-US" sz="800" b="1" dirty="0">
                <a:solidFill>
                  <a:srgbClr val="0D7C7B"/>
                </a:solidFill>
                <a:latin typeface="Calibri" pitchFamily="34" charset="0"/>
                <a:ea typeface="Calibri" pitchFamily="34" charset="-122"/>
                <a:cs typeface="Calibri" pitchFamily="34" charset="-120"/>
              </a:rPr>
              <a:t>Answer OUT LOUD in English — do not write, just speak!
</a:t>
            </a:r>
            <a:pPr indent="0" marL="0">
              <a:lnSpc>
                <a:spcPct val="120000"/>
              </a:lnSpc>
              <a:buNone/>
            </a:pPr>
            <a:r>
              <a:rPr lang="en-US" sz="750" i="1" dirty="0">
                <a:solidFill>
                  <a:srgbClr val="3A5060"/>
                </a:solidFill>
                <a:latin typeface="Calibri" pitchFamily="34" charset="0"/>
                <a:ea typeface="Calibri" pitchFamily="34" charset="-122"/>
                <a:cs typeface="Calibri" pitchFamily="34" charset="-120"/>
              </a:rPr>
              <a:t>Англиар ЧАНГААР хариулаарай — бичихгүй, зөвхөн ярь!</a:t>
            </a:r>
            <a:endParaRPr lang="en-US" sz="80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3529584" y="3264408"/>
          <a:ext cx="3108960" cy="914400"/>
        </p:xfrm>
        <a:graphic>
          <a:graphicData uri="http://schemas.openxmlformats.org/drawingml/2006/table">
            <a:tbl>
              <a:tblPr/>
              <a:tblGrid>
                <a:gridCol w="3108960"/>
              </a:tblGrid>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1.  Your friend hasn't replied to your message for 3 hours. What must/might/can't be happening?</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2.  A student gets 100% on every test. What must be true about them?</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3.  Someone walks in soaking wet. What must have happened to them?</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4.  Your teacher looks very happy today. What might have happened?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5.  There's a strange smell in the kitchen. What could/might it be?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6.  A friend says they ran a marathon last week. What must it have been like?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8" name="Shape 34"/>
          <p:cNvSpPr/>
          <p:nvPr/>
        </p:nvSpPr>
        <p:spPr>
          <a:xfrm>
            <a:off x="179222" y="4467758"/>
            <a:ext cx="6528816" cy="5111496"/>
          </a:xfrm>
          <a:prstGeom prst="rect">
            <a:avLst/>
          </a:prstGeom>
          <a:solidFill>
            <a:srgbClr val="D0DCE8"/>
          </a:solidFill>
          <a:ln w="12700">
            <a:solidFill>
              <a:srgbClr val="D0DCE8"/>
            </a:solidFill>
            <a:prstDash val="solid"/>
          </a:ln>
        </p:spPr>
      </p:sp>
      <p:sp>
        <p:nvSpPr>
          <p:cNvPr id="39" name="Shape 35"/>
          <p:cNvSpPr/>
          <p:nvPr/>
        </p:nvSpPr>
        <p:spPr>
          <a:xfrm>
            <a:off x="164592" y="4453128"/>
            <a:ext cx="6528816" cy="5111496"/>
          </a:xfrm>
          <a:prstGeom prst="rect">
            <a:avLst/>
          </a:prstGeom>
          <a:solidFill>
            <a:srgbClr val="FFFFFF"/>
          </a:solidFill>
          <a:ln w="12700">
            <a:solidFill>
              <a:srgbClr val="C8D8E8"/>
            </a:solidFill>
            <a:prstDash val="solid"/>
          </a:ln>
        </p:spPr>
      </p:sp>
      <p:sp>
        <p:nvSpPr>
          <p:cNvPr id="40" name="Shape 36"/>
          <p:cNvSpPr/>
          <p:nvPr/>
        </p:nvSpPr>
        <p:spPr>
          <a:xfrm>
            <a:off x="164592" y="4453128"/>
            <a:ext cx="6528816" cy="256032"/>
          </a:xfrm>
          <a:prstGeom prst="rect">
            <a:avLst/>
          </a:prstGeom>
          <a:solidFill>
            <a:srgbClr val="6B3FA0"/>
          </a:solidFill>
          <a:ln w="12700">
            <a:solidFill>
              <a:srgbClr val="6B3FA0"/>
            </a:solidFill>
            <a:prstDash val="solid"/>
          </a:ln>
        </p:spPr>
      </p:sp>
      <p:sp>
        <p:nvSpPr>
          <p:cNvPr id="41" name="Shape 37"/>
          <p:cNvSpPr/>
          <p:nvPr/>
        </p:nvSpPr>
        <p:spPr>
          <a:xfrm>
            <a:off x="164592" y="4709160"/>
            <a:ext cx="6528816" cy="146304"/>
          </a:xfrm>
          <a:prstGeom prst="rect">
            <a:avLst/>
          </a:prstGeom>
          <a:solidFill>
            <a:srgbClr val="F0EAFA"/>
          </a:solidFill>
          <a:ln w="12700">
            <a:solidFill>
              <a:srgbClr val="F0EAFA"/>
            </a:solidFill>
            <a:prstDash val="solid"/>
          </a:ln>
        </p:spPr>
      </p:sp>
      <p:sp>
        <p:nvSpPr>
          <p:cNvPr id="42" name="Text 38"/>
          <p:cNvSpPr/>
          <p:nvPr/>
        </p:nvSpPr>
        <p:spPr>
          <a:xfrm>
            <a:off x="256032" y="445312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Role Play / Дүрд тоглох</a:t>
            </a:r>
            <a:endParaRPr lang="en-US" sz="1050" dirty="0"/>
          </a:p>
        </p:txBody>
      </p:sp>
      <p:sp>
        <p:nvSpPr>
          <p:cNvPr id="43" name="Text 39"/>
          <p:cNvSpPr/>
          <p:nvPr/>
        </p:nvSpPr>
        <p:spPr>
          <a:xfrm>
            <a:off x="256032" y="471830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Найзтайгаа дадлагал · Repeat until it sounds natural!</a:t>
            </a:r>
            <a:endParaRPr lang="en-US" sz="750" dirty="0"/>
          </a:p>
        </p:txBody>
      </p:sp>
      <p:graphicFrame>
        <p:nvGraphicFramePr>
          <p:cNvPr id="7" name="Table 2"/>
          <p:cNvGraphicFramePr>
            <a:graphicFrameLocks noGrp="1"/>
          </p:cNvGraphicFramePr>
          <p:nvPr>
            <p:extLst>
              <p:ext uri="{D42A27DB-BD31-4B8C-83A1-F6EECF244321}">
                <p14:modId xmlns:p14="http://schemas.microsoft.com/office/powerpoint/2010/main" val="1579011935"/>
              </p:ext>
            </p:extLst>
          </p:nvPr>
        </p:nvGraphicFramePr>
        <p:xfrm>
          <a:off x="237744" y="4873752"/>
          <a:ext cx="6382512" cy="914400"/>
        </p:xfrm>
        <a:graphic>
          <a:graphicData uri="http://schemas.openxmlformats.org/drawingml/2006/table">
            <a:tbl>
              <a:tblPr/>
              <a:tblGrid>
                <a:gridCol w="3191256"/>
                <a:gridCol w="3191256"/>
              </a:tblGrid>
              <a:tr h="748284">
                <a:tc>
                  <a:txBody>
                    <a:bodyPr/>
                    <a:lstStyle/>
                    <a:p>
                      <a:pPr algn="l" indent="0" marL="0">
                        <a:buNone/>
                      </a:pPr>
                      <a:r>
                        <a:rPr lang="en-US" sz="900" b="1" dirty="0">
                          <a:solidFill>
                            <a:srgbClr val="2E6DA4"/>
                          </a:solidFill>
                          <a:latin typeface="Calibri" pitchFamily="34" charset="0"/>
                          <a:ea typeface="Calibri" pitchFamily="34" charset="-122"/>
                          <a:cs typeface="Calibri" pitchFamily="34" charset="-120"/>
                        </a:rPr>
                        <a:t>A:  Sarnai isn't here yet. What do you think happened?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1E7A4A"/>
                          </a:solidFill>
                          <a:latin typeface="Calibri" pitchFamily="34" charset="0"/>
                          <a:ea typeface="Calibri" pitchFamily="34" charset="-122"/>
                          <a:cs typeface="Calibri" pitchFamily="34" charset="-120"/>
                        </a:rPr>
                        <a:t>B:  She must be sick — she never misses class!</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Could she be stuck in traffic?</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She can't be — she always walks to school!</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What else could it be?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She might have overslept or she could be at the doctor.</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She looks fine when she arrives. What must have happened?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She must have had an appointment of some kind.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She says she told us yesterday. Can't you remember?</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I can't have been listening! I must have been distracted.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It was a dentist appointment!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Of course! That must be why she looks relieved now.</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45" name="Shape 40"/>
          <p:cNvSpPr/>
          <p:nvPr/>
        </p:nvSpPr>
        <p:spPr>
          <a:xfrm>
            <a:off x="237744" y="9381744"/>
            <a:ext cx="6382512" cy="146304"/>
          </a:xfrm>
          <a:prstGeom prst="rect">
            <a:avLst/>
          </a:prstGeom>
          <a:solidFill>
            <a:srgbClr val="FEF3DC"/>
          </a:solidFill>
          <a:ln w="12700">
            <a:solidFill>
              <a:srgbClr val="C97A0A"/>
            </a:solidFill>
            <a:prstDash val="solid"/>
          </a:ln>
        </p:spPr>
      </p:sp>
      <p:sp>
        <p:nvSpPr>
          <p:cNvPr id="46" name="Text 41"/>
          <p:cNvSpPr/>
          <p:nvPr/>
        </p:nvSpPr>
        <p:spPr>
          <a:xfrm>
            <a:off x="292608" y="9390888"/>
            <a:ext cx="6272784" cy="137160"/>
          </a:xfrm>
          <a:prstGeom prst="rect">
            <a:avLst/>
          </a:prstGeom>
          <a:noFill/>
          <a:ln/>
        </p:spPr>
        <p:txBody>
          <a:bodyPr wrap="square" lIns="0" tIns="0" rIns="0" bIns="0" rtlCol="0" anchor="ctr"/>
          <a:lstStyle/>
          <a:p>
            <a:pPr indent="0" marL="0">
              <a:buNone/>
            </a:pPr>
            <a:r>
              <a:rPr lang="en-US" sz="750" i="1" dirty="0">
                <a:solidFill>
                  <a:srgbClr val="C97A0A"/>
                </a:solidFill>
                <a:latin typeface="Calibri" pitchFamily="34" charset="0"/>
                <a:ea typeface="Calibri" pitchFamily="34" charset="-122"/>
                <a:cs typeface="Calibri" pitchFamily="34" charset="-120"/>
              </a:rPr>
              <a:t>🌟  B1 Tip: Modals of certainty make you sound much more nuanced! Instead of 'I think she is tired,' say 'She MUST BE tired' or 'She MIGHT BE tired.' The difference in certainty is huge!</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B1 · Book 3 · Дэвшилтэт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15-20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68 · ӨДӨР 68</a:t>
            </a:r>
            <a:endParaRPr lang="en-US" sz="850" dirty="0"/>
          </a:p>
        </p:txBody>
      </p:sp>
      <p:sp>
        <p:nvSpPr>
          <p:cNvPr id="9" name="Shape 7"/>
          <p:cNvSpPr/>
          <p:nvPr/>
        </p:nvSpPr>
        <p:spPr>
          <a:xfrm>
            <a:off x="1335024" y="347472"/>
            <a:ext cx="4498848" cy="237744"/>
          </a:xfrm>
          <a:prstGeom prst="rect">
            <a:avLst/>
          </a:prstGeom>
          <a:solidFill>
            <a:srgbClr val="6B3FA0"/>
          </a:solidFill>
          <a:ln w="12700">
            <a:solidFill>
              <a:srgbClr val="6B3FA0"/>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Listening · Practice · Homework</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3</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B1 Level  ·  Book 3</a:t>
            </a:r>
            <a:endParaRPr lang="en-US" sz="650" dirty="0"/>
          </a:p>
        </p:txBody>
      </p:sp>
      <p:sp>
        <p:nvSpPr>
          <p:cNvPr id="15" name="Shape 13"/>
          <p:cNvSpPr/>
          <p:nvPr/>
        </p:nvSpPr>
        <p:spPr>
          <a:xfrm>
            <a:off x="179222" y="627278"/>
            <a:ext cx="6528816" cy="1956816"/>
          </a:xfrm>
          <a:prstGeom prst="rect">
            <a:avLst/>
          </a:prstGeom>
          <a:solidFill>
            <a:srgbClr val="D0DCE8"/>
          </a:solidFill>
          <a:ln w="12700">
            <a:solidFill>
              <a:srgbClr val="D0DCE8"/>
            </a:solidFill>
            <a:prstDash val="solid"/>
          </a:ln>
        </p:spPr>
      </p:sp>
      <p:sp>
        <p:nvSpPr>
          <p:cNvPr id="16" name="Shape 14"/>
          <p:cNvSpPr/>
          <p:nvPr/>
        </p:nvSpPr>
        <p:spPr>
          <a:xfrm>
            <a:off x="164592" y="612648"/>
            <a:ext cx="6528816" cy="1956816"/>
          </a:xfrm>
          <a:prstGeom prst="rect">
            <a:avLst/>
          </a:prstGeom>
          <a:solidFill>
            <a:srgbClr val="FFFFFF"/>
          </a:solidFill>
          <a:ln w="12700">
            <a:solidFill>
              <a:srgbClr val="C8D8E8"/>
            </a:solidFill>
            <a:prstDash val="solid"/>
          </a:ln>
        </p:spPr>
      </p:sp>
      <p:sp>
        <p:nvSpPr>
          <p:cNvPr id="17" name="Shape 15"/>
          <p:cNvSpPr/>
          <p:nvPr/>
        </p:nvSpPr>
        <p:spPr>
          <a:xfrm>
            <a:off x="164592" y="612648"/>
            <a:ext cx="6528816" cy="256032"/>
          </a:xfrm>
          <a:prstGeom prst="rect">
            <a:avLst/>
          </a:prstGeom>
          <a:solidFill>
            <a:srgbClr val="6B3FA0"/>
          </a:solidFill>
          <a:ln w="12700">
            <a:solidFill>
              <a:srgbClr val="6B3FA0"/>
            </a:solidFill>
            <a:prstDash val="solid"/>
          </a:ln>
        </p:spPr>
      </p:sp>
      <p:sp>
        <p:nvSpPr>
          <p:cNvPr id="18" name="Shape 16"/>
          <p:cNvSpPr/>
          <p:nvPr/>
        </p:nvSpPr>
        <p:spPr>
          <a:xfrm>
            <a:off x="164592" y="868680"/>
            <a:ext cx="6528816" cy="146304"/>
          </a:xfrm>
          <a:prstGeom prst="rect">
            <a:avLst/>
          </a:prstGeom>
          <a:solidFill>
            <a:srgbClr val="F0EAFA"/>
          </a:solidFill>
          <a:ln w="12700">
            <a:solidFill>
              <a:srgbClr val="F0EAFA"/>
            </a:solidFill>
            <a:prstDash val="solid"/>
          </a:ln>
        </p:spPr>
      </p:sp>
      <p:sp>
        <p:nvSpPr>
          <p:cNvPr id="19" name="Text 17"/>
          <p:cNvSpPr/>
          <p:nvPr/>
        </p:nvSpPr>
        <p:spPr>
          <a:xfrm>
            <a:off x="256032" y="61264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Listening Script / Сонсох текст</a:t>
            </a:r>
            <a:endParaRPr lang="en-US" sz="1050" dirty="0"/>
          </a:p>
        </p:txBody>
      </p:sp>
      <p:sp>
        <p:nvSpPr>
          <p:cNvPr id="20" name="Text 18"/>
          <p:cNvSpPr/>
          <p:nvPr/>
        </p:nvSpPr>
        <p:spPr>
          <a:xfrm>
            <a:off x="256032" y="87782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Answer 10 questions WITHOUT looking at the text!</a:t>
            </a:r>
            <a:endParaRPr lang="en-US" sz="750" dirty="0"/>
          </a:p>
        </p:txBody>
      </p:sp>
      <p:sp>
        <p:nvSpPr>
          <p:cNvPr id="21" name="Shape 19"/>
          <p:cNvSpPr/>
          <p:nvPr/>
        </p:nvSpPr>
        <p:spPr>
          <a:xfrm>
            <a:off x="237744" y="1033272"/>
            <a:ext cx="6382512" cy="1481328"/>
          </a:xfrm>
          <a:prstGeom prst="rect">
            <a:avLst/>
          </a:prstGeom>
          <a:solidFill>
            <a:srgbClr val="F4F8FC"/>
          </a:solidFill>
          <a:ln w="12700">
            <a:solidFill>
              <a:srgbClr val="2E6DA4"/>
            </a:solidFill>
            <a:prstDash val="solid"/>
          </a:ln>
        </p:spPr>
      </p:sp>
      <p:sp>
        <p:nvSpPr>
          <p:cNvPr id="22" name="Text 20"/>
          <p:cNvSpPr/>
          <p:nvPr/>
        </p:nvSpPr>
        <p:spPr>
          <a:xfrm>
            <a:off x="292608" y="1069848"/>
            <a:ext cx="6272784" cy="1408176"/>
          </a:xfrm>
          <a:prstGeom prst="rect">
            <a:avLst/>
          </a:prstGeom>
          <a:noFill/>
          <a:ln/>
        </p:spPr>
        <p:txBody>
          <a:bodyPr wrap="square" lIns="0" tIns="0" rIns="0" bIns="0" rtlCol="0" anchor="t"/>
          <a:lstStyle/>
          <a:p>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Today: modals of deduction. I'll describe a scene — you use must be, might be, or can't be. Ready? 'A person is eating five plates of food.'  </a:t>
            </a:r>
            <a:pPr indent="0" marL="0">
              <a:lnSpc>
                <a:spcPct val="150000"/>
              </a:lnSpc>
              <a:buNone/>
            </a:pPr>
            <a:r>
              <a:rPr lang="en-US" sz="850" b="1" dirty="0">
                <a:solidFill>
                  <a:srgbClr val="2E6DA4"/>
                </a:solidFill>
                <a:latin typeface="Calibri" pitchFamily="34" charset="0"/>
                <a:ea typeface="Calibri" pitchFamily="34" charset="-122"/>
                <a:cs typeface="Calibri" pitchFamily="34" charset="-120"/>
              </a:rPr>
              <a:t>Bat: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They must be very hungry! Or they might have not eaten all day.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'A student fails every test but never studies.'  </a:t>
            </a:r>
            <a:pPr indent="0" marL="0">
              <a:lnSpc>
                <a:spcPct val="150000"/>
              </a:lnSpc>
              <a:buNone/>
            </a:pPr>
            <a:r>
              <a:rPr lang="en-US" sz="850" b="1" dirty="0">
                <a:solidFill>
                  <a:srgbClr val="C97A0A"/>
                </a:solidFill>
                <a:latin typeface="Calibri" pitchFamily="34" charset="0"/>
                <a:ea typeface="Calibri" pitchFamily="34" charset="-122"/>
                <a:cs typeface="Calibri" pitchFamily="34" charset="-120"/>
              </a:rPr>
              <a:t>Sarnai: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They can't be surprised by their results! They must be aware they need to change their approach.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'Your phone has stopped working and you dropped it in water yesterday.'  </a:t>
            </a:r>
            <a:pPr indent="0" marL="0">
              <a:lnSpc>
                <a:spcPct val="150000"/>
              </a:lnSpc>
              <a:buNone/>
            </a:pPr>
            <a:r>
              <a:rPr lang="en-US" sz="850" b="1" dirty="0">
                <a:solidFill>
                  <a:srgbClr val="2E6DA4"/>
                </a:solidFill>
                <a:latin typeface="Calibri" pitchFamily="34" charset="0"/>
                <a:ea typeface="Calibri" pitchFamily="34" charset="-122"/>
                <a:cs typeface="Calibri" pitchFamily="34" charset="-120"/>
              </a:rPr>
              <a:t>Bat: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The water must have damaged it. It can't have survived being in water. You might have to buy a new one!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Excellent! You used present and past modal deductions perfectly. This is real B1 thinking — analysing situations and expressing degrees of certainty!</a:t>
            </a:r>
            <a:endParaRPr lang="en-US" sz="850" dirty="0"/>
          </a:p>
        </p:txBody>
      </p:sp>
      <p:sp>
        <p:nvSpPr>
          <p:cNvPr id="23" name="Shape 21"/>
          <p:cNvSpPr/>
          <p:nvPr/>
        </p:nvSpPr>
        <p:spPr>
          <a:xfrm>
            <a:off x="179222" y="2657246"/>
            <a:ext cx="3218688" cy="3200400"/>
          </a:xfrm>
          <a:prstGeom prst="rect">
            <a:avLst/>
          </a:prstGeom>
          <a:solidFill>
            <a:srgbClr val="D0DCE8"/>
          </a:solidFill>
          <a:ln w="12700">
            <a:solidFill>
              <a:srgbClr val="D0DCE8"/>
            </a:solidFill>
            <a:prstDash val="solid"/>
          </a:ln>
        </p:spPr>
      </p:sp>
      <p:sp>
        <p:nvSpPr>
          <p:cNvPr id="24" name="Shape 22"/>
          <p:cNvSpPr/>
          <p:nvPr/>
        </p:nvSpPr>
        <p:spPr>
          <a:xfrm>
            <a:off x="164592" y="2642616"/>
            <a:ext cx="3218688" cy="3200400"/>
          </a:xfrm>
          <a:prstGeom prst="rect">
            <a:avLst/>
          </a:prstGeom>
          <a:solidFill>
            <a:srgbClr val="FFFFFF"/>
          </a:solidFill>
          <a:ln w="12700">
            <a:solidFill>
              <a:srgbClr val="C8D8E8"/>
            </a:solidFill>
            <a:prstDash val="solid"/>
          </a:ln>
        </p:spPr>
      </p:sp>
      <p:sp>
        <p:nvSpPr>
          <p:cNvPr id="25" name="Shape 23"/>
          <p:cNvSpPr/>
          <p:nvPr/>
        </p:nvSpPr>
        <p:spPr>
          <a:xfrm>
            <a:off x="164592" y="2642616"/>
            <a:ext cx="3218688" cy="256032"/>
          </a:xfrm>
          <a:prstGeom prst="rect">
            <a:avLst/>
          </a:prstGeom>
          <a:solidFill>
            <a:srgbClr val="2E6DA4"/>
          </a:solidFill>
          <a:ln w="12700">
            <a:solidFill>
              <a:srgbClr val="2E6DA4"/>
            </a:solidFill>
            <a:prstDash val="solid"/>
          </a:ln>
        </p:spPr>
      </p:sp>
      <p:sp>
        <p:nvSpPr>
          <p:cNvPr id="26" name="Shape 24"/>
          <p:cNvSpPr/>
          <p:nvPr/>
        </p:nvSpPr>
        <p:spPr>
          <a:xfrm>
            <a:off x="164592" y="2898648"/>
            <a:ext cx="3218688" cy="146304"/>
          </a:xfrm>
          <a:prstGeom prst="rect">
            <a:avLst/>
          </a:prstGeom>
          <a:solidFill>
            <a:srgbClr val="EBF4FB"/>
          </a:solidFill>
          <a:ln w="12700">
            <a:solidFill>
              <a:srgbClr val="EBF4FB"/>
            </a:solidFill>
            <a:prstDash val="solid"/>
          </a:ln>
        </p:spPr>
      </p:sp>
      <p:sp>
        <p:nvSpPr>
          <p:cNvPr id="27" name="Text 25"/>
          <p:cNvSpPr/>
          <p:nvPr/>
        </p:nvSpPr>
        <p:spPr>
          <a:xfrm>
            <a:off x="256032" y="264261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Comprehension Questions (10)</a:t>
            </a:r>
            <a:endParaRPr lang="en-US" sz="1050" dirty="0"/>
          </a:p>
        </p:txBody>
      </p:sp>
      <p:sp>
        <p:nvSpPr>
          <p:cNvPr id="28" name="Text 26"/>
          <p:cNvSpPr/>
          <p:nvPr/>
        </p:nvSpPr>
        <p:spPr>
          <a:xfrm>
            <a:off x="256032" y="290779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Choose the best answer.</a:t>
            </a:r>
            <a:endParaRPr lang="en-US" sz="7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28600" y="3063240"/>
          <a:ext cx="3090672" cy="914400"/>
        </p:xfrm>
        <a:graphic>
          <a:graphicData uri="http://schemas.openxmlformats.org/drawingml/2006/table">
            <a:tbl>
              <a:tblPr/>
              <a:tblGrid>
                <a:gridCol w="247254"/>
                <a:gridCol w="1236269"/>
                <a:gridCol w="1607149"/>
              </a:tblGrid>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does Bat say about the person eating five plates?</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they must be sick</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they must be very hungry</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they can't be hungry</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might also be true about them?</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they might be a chef</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they can't have eaten all day</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they might not have eaten all day</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About the student who fails but doesn't study — what can't be true?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they are passing</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they are surprised by results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they need to change</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must the student be aware of?</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their grades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the teacher's opinion</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they need to change their approach</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must have damaged the phone?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the cold</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the fall</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the water</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can't the phone have done?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rung</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survived being in water</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turned off</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might the owner have to do?</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fix it themselves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return it</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buy a new one</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The teacher says this is 'real B1 thinking' — what does it involve?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memorizing grammar rules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analysing situations and expressing certainty</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using many vocabulary words</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'Must be' expresses approximately what level of certainty?</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50%</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0%</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95%</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'Might be' expresses approximately what level of certainty?</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95%</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50%</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0%</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0" name="Shape 27"/>
          <p:cNvSpPr/>
          <p:nvPr/>
        </p:nvSpPr>
        <p:spPr>
          <a:xfrm>
            <a:off x="3489350" y="2657246"/>
            <a:ext cx="3218688" cy="3200400"/>
          </a:xfrm>
          <a:prstGeom prst="rect">
            <a:avLst/>
          </a:prstGeom>
          <a:solidFill>
            <a:srgbClr val="D0DCE8"/>
          </a:solidFill>
          <a:ln w="12700">
            <a:solidFill>
              <a:srgbClr val="D0DCE8"/>
            </a:solidFill>
            <a:prstDash val="solid"/>
          </a:ln>
        </p:spPr>
      </p:sp>
      <p:sp>
        <p:nvSpPr>
          <p:cNvPr id="31" name="Shape 28"/>
          <p:cNvSpPr/>
          <p:nvPr/>
        </p:nvSpPr>
        <p:spPr>
          <a:xfrm>
            <a:off x="3474720" y="2642616"/>
            <a:ext cx="3218688" cy="3200400"/>
          </a:xfrm>
          <a:prstGeom prst="rect">
            <a:avLst/>
          </a:prstGeom>
          <a:solidFill>
            <a:srgbClr val="FFFFFF"/>
          </a:solidFill>
          <a:ln w="12700">
            <a:solidFill>
              <a:srgbClr val="C8D8E8"/>
            </a:solidFill>
            <a:prstDash val="solid"/>
          </a:ln>
        </p:spPr>
      </p:sp>
      <p:sp>
        <p:nvSpPr>
          <p:cNvPr id="32" name="Shape 29"/>
          <p:cNvSpPr/>
          <p:nvPr/>
        </p:nvSpPr>
        <p:spPr>
          <a:xfrm>
            <a:off x="3474720" y="2642616"/>
            <a:ext cx="3218688" cy="256032"/>
          </a:xfrm>
          <a:prstGeom prst="rect">
            <a:avLst/>
          </a:prstGeom>
          <a:solidFill>
            <a:srgbClr val="0D7C7B"/>
          </a:solidFill>
          <a:ln w="12700">
            <a:solidFill>
              <a:srgbClr val="0D7C7B"/>
            </a:solidFill>
            <a:prstDash val="solid"/>
          </a:ln>
        </p:spPr>
      </p:sp>
      <p:sp>
        <p:nvSpPr>
          <p:cNvPr id="33" name="Shape 30"/>
          <p:cNvSpPr/>
          <p:nvPr/>
        </p:nvSpPr>
        <p:spPr>
          <a:xfrm>
            <a:off x="3474720" y="2898648"/>
            <a:ext cx="3218688" cy="146304"/>
          </a:xfrm>
          <a:prstGeom prst="rect">
            <a:avLst/>
          </a:prstGeom>
          <a:solidFill>
            <a:srgbClr val="E0F4F4"/>
          </a:solidFill>
          <a:ln w="12700">
            <a:solidFill>
              <a:srgbClr val="E0F4F4"/>
            </a:solidFill>
            <a:prstDash val="solid"/>
          </a:ln>
        </p:spPr>
      </p:sp>
      <p:sp>
        <p:nvSpPr>
          <p:cNvPr id="34" name="Text 31"/>
          <p:cNvSpPr/>
          <p:nvPr/>
        </p:nvSpPr>
        <p:spPr>
          <a:xfrm>
            <a:off x="3566160" y="264261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Grammar Practice &amp; Matching</a:t>
            </a:r>
            <a:endParaRPr lang="en-US" sz="1050" dirty="0"/>
          </a:p>
        </p:txBody>
      </p:sp>
      <p:sp>
        <p:nvSpPr>
          <p:cNvPr id="35" name="Shape 32"/>
          <p:cNvSpPr/>
          <p:nvPr/>
        </p:nvSpPr>
        <p:spPr>
          <a:xfrm>
            <a:off x="3529584" y="3063240"/>
            <a:ext cx="3108960" cy="164592"/>
          </a:xfrm>
          <a:prstGeom prst="rect">
            <a:avLst/>
          </a:prstGeom>
          <a:solidFill>
            <a:srgbClr val="0D7C7B"/>
          </a:solidFill>
          <a:ln w="12700">
            <a:solidFill>
              <a:srgbClr val="0D7C7B"/>
            </a:solidFill>
            <a:prstDash val="solid"/>
          </a:ln>
        </p:spPr>
      </p:sp>
      <p:sp>
        <p:nvSpPr>
          <p:cNvPr id="36" name="Text 33"/>
          <p:cNvSpPr/>
          <p:nvPr/>
        </p:nvSpPr>
        <p:spPr>
          <a:xfrm>
            <a:off x="3557016" y="3063240"/>
            <a:ext cx="307238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Fill in the blank — must be / can't be / might be / could be / must have / might have</a:t>
            </a:r>
            <a:endParaRPr lang="en-US" sz="8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3529584" y="3227832"/>
          <a:ext cx="3108960" cy="914400"/>
        </p:xfrm>
        <a:graphic>
          <a:graphicData uri="http://schemas.openxmlformats.org/drawingml/2006/table">
            <a:tbl>
              <a:tblPr/>
              <a:tblGrid>
                <a:gridCol w="3108960"/>
              </a:tblGrid>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1. She _____ be tired — she worked all night. (must)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2. He _____ be serious — that's impossible! (can't)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3. She _____ be at home right now. (might)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4. It _____ be a mistake — let's check. (could)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5. He _____ have missed the bus — he's late. (might)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6. They _____ have left already — lights off. (must)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8" name="Shape 34"/>
          <p:cNvSpPr/>
          <p:nvPr/>
        </p:nvSpPr>
        <p:spPr>
          <a:xfrm>
            <a:off x="3529584" y="4478731"/>
            <a:ext cx="3108960" cy="164592"/>
          </a:xfrm>
          <a:prstGeom prst="rect">
            <a:avLst/>
          </a:prstGeom>
          <a:solidFill>
            <a:srgbClr val="6B3FA0"/>
          </a:solidFill>
          <a:ln w="12700">
            <a:solidFill>
              <a:srgbClr val="6B3FA0"/>
            </a:solidFill>
            <a:prstDash val="solid"/>
          </a:ln>
        </p:spPr>
      </p:sp>
      <p:sp>
        <p:nvSpPr>
          <p:cNvPr id="39" name="Text 35"/>
          <p:cNvSpPr/>
          <p:nvPr/>
        </p:nvSpPr>
        <p:spPr>
          <a:xfrm>
            <a:off x="3557016" y="4478731"/>
            <a:ext cx="307238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Matching — English → Mongolian</a:t>
            </a:r>
            <a:endParaRPr lang="en-US" sz="800" dirty="0"/>
          </a:p>
        </p:txBody>
      </p:sp>
      <p:graphicFrame>
        <p:nvGraphicFramePr>
          <p:cNvPr id="10" name="Table 2"/>
          <p:cNvGraphicFramePr>
            <a:graphicFrameLocks noGrp="1"/>
          </p:cNvGraphicFramePr>
          <p:nvPr>
            <p:extLst>
              <p:ext uri="{D42A27DB-BD31-4B8C-83A1-F6EECF244321}">
                <p14:modId xmlns:p14="http://schemas.microsoft.com/office/powerpoint/2010/main" val="1579011935"/>
              </p:ext>
            </p:extLst>
          </p:nvPr>
        </p:nvGraphicFramePr>
        <p:xfrm>
          <a:off x="3529584" y="4643323"/>
          <a:ext cx="3108960" cy="914400"/>
        </p:xfrm>
        <a:graphic>
          <a:graphicData uri="http://schemas.openxmlformats.org/drawingml/2006/table">
            <a:tbl>
              <a:tblPr/>
              <a:tblGrid>
                <a:gridCol w="1616659"/>
                <a:gridCol w="1492301"/>
              </a:tblGrid>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1. must be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A. өнгөрсөнд боломжтой</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2. can't be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B. боломжтой байж болох</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3. might be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C. бараг тодорхой эерэг</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4. must have + p.p.</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D. бараг тодорхой сөрөг</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5. might have + p.p.</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E. өнгөрсөнд бараг тодорхой</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bl>
          </a:graphicData>
        </a:graphic>
      </p:graphicFrame>
      <p:sp>
        <p:nvSpPr>
          <p:cNvPr id="41" name="Shape 36"/>
          <p:cNvSpPr/>
          <p:nvPr/>
        </p:nvSpPr>
        <p:spPr>
          <a:xfrm>
            <a:off x="179222" y="5930798"/>
            <a:ext cx="2115312" cy="3648456"/>
          </a:xfrm>
          <a:prstGeom prst="rect">
            <a:avLst/>
          </a:prstGeom>
          <a:solidFill>
            <a:srgbClr val="D0DCE8"/>
          </a:solidFill>
          <a:ln w="12700">
            <a:solidFill>
              <a:srgbClr val="D0DCE8"/>
            </a:solidFill>
            <a:prstDash val="solid"/>
          </a:ln>
        </p:spPr>
      </p:sp>
      <p:sp>
        <p:nvSpPr>
          <p:cNvPr id="42" name="Shape 37"/>
          <p:cNvSpPr/>
          <p:nvPr/>
        </p:nvSpPr>
        <p:spPr>
          <a:xfrm>
            <a:off x="164592" y="5916168"/>
            <a:ext cx="2115312" cy="3648456"/>
          </a:xfrm>
          <a:prstGeom prst="rect">
            <a:avLst/>
          </a:prstGeom>
          <a:solidFill>
            <a:srgbClr val="FFFFFF"/>
          </a:solidFill>
          <a:ln w="12700">
            <a:solidFill>
              <a:srgbClr val="C8D8E8"/>
            </a:solidFill>
            <a:prstDash val="solid"/>
          </a:ln>
        </p:spPr>
      </p:sp>
      <p:sp>
        <p:nvSpPr>
          <p:cNvPr id="43" name="Shape 38"/>
          <p:cNvSpPr/>
          <p:nvPr/>
        </p:nvSpPr>
        <p:spPr>
          <a:xfrm>
            <a:off x="164592" y="5916168"/>
            <a:ext cx="2115312" cy="256032"/>
          </a:xfrm>
          <a:prstGeom prst="rect">
            <a:avLst/>
          </a:prstGeom>
          <a:solidFill>
            <a:srgbClr val="C97A0A"/>
          </a:solidFill>
          <a:ln w="12700">
            <a:solidFill>
              <a:srgbClr val="C97A0A"/>
            </a:solidFill>
            <a:prstDash val="solid"/>
          </a:ln>
        </p:spPr>
      </p:sp>
      <p:sp>
        <p:nvSpPr>
          <p:cNvPr id="44" name="Shape 39"/>
          <p:cNvSpPr/>
          <p:nvPr/>
        </p:nvSpPr>
        <p:spPr>
          <a:xfrm>
            <a:off x="164592" y="6172200"/>
            <a:ext cx="2115312" cy="146304"/>
          </a:xfrm>
          <a:prstGeom prst="rect">
            <a:avLst/>
          </a:prstGeom>
          <a:solidFill>
            <a:srgbClr val="FEF3DC"/>
          </a:solidFill>
          <a:ln w="12700">
            <a:solidFill>
              <a:srgbClr val="FEF3DC"/>
            </a:solidFill>
            <a:prstDash val="solid"/>
          </a:ln>
        </p:spPr>
      </p:sp>
      <p:sp>
        <p:nvSpPr>
          <p:cNvPr id="45" name="Text 40"/>
          <p:cNvSpPr/>
          <p:nvPr/>
        </p:nvSpPr>
        <p:spPr>
          <a:xfrm>
            <a:off x="256032"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Homework / Гэрийн даалгавар</a:t>
            </a:r>
            <a:endParaRPr lang="en-US" sz="1050" dirty="0"/>
          </a:p>
        </p:txBody>
      </p:sp>
      <p:sp>
        <p:nvSpPr>
          <p:cNvPr id="46" name="Text 41"/>
          <p:cNvSpPr/>
          <p:nvPr/>
        </p:nvSpPr>
        <p:spPr>
          <a:xfrm>
            <a:off x="256032"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Маргааш болохоос өмнө дуусга</a:t>
            </a:r>
            <a:endParaRPr lang="en-US" sz="750" dirty="0"/>
          </a:p>
        </p:txBody>
      </p:sp>
      <p:sp>
        <p:nvSpPr>
          <p:cNvPr id="47" name="Text 42"/>
          <p:cNvSpPr/>
          <p:nvPr/>
        </p:nvSpPr>
        <p:spPr>
          <a:xfrm>
            <a:off x="256032" y="6345936"/>
            <a:ext cx="1969008" cy="3154680"/>
          </a:xfrm>
          <a:prstGeom prst="rect">
            <a:avLst/>
          </a:prstGeom>
          <a:noFill/>
          <a:ln/>
        </p:spPr>
        <p:txBody>
          <a:bodyPr wrap="square" lIns="0" tIns="0" rIns="0" bIns="0" rtlCol="0" anchor="t"/>
          <a:lstStyle/>
          <a:p>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Writing: Describe 3 situations and use must be, might be, and can't be to analyse each one.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Vocabulary: Watch a short video and pause it — speculate about what happened using modal deductions.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Speaking: Look at a photo of strangers — describe what must/might/can't be true about them.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Review: must be (95%+) · might/may/could be (~50%) · can't be (0%) · Add 'have + p.p.' for past!
</a:t>
            </a:r>
            <a:endParaRPr lang="en-US" sz="950" dirty="0"/>
          </a:p>
        </p:txBody>
      </p:sp>
      <p:sp>
        <p:nvSpPr>
          <p:cNvPr id="48" name="Shape 43"/>
          <p:cNvSpPr/>
          <p:nvPr/>
        </p:nvSpPr>
        <p:spPr>
          <a:xfrm>
            <a:off x="2385974" y="5930798"/>
            <a:ext cx="2115312" cy="3648456"/>
          </a:xfrm>
          <a:prstGeom prst="rect">
            <a:avLst/>
          </a:prstGeom>
          <a:solidFill>
            <a:srgbClr val="D0DCE8"/>
          </a:solidFill>
          <a:ln w="12700">
            <a:solidFill>
              <a:srgbClr val="D0DCE8"/>
            </a:solidFill>
            <a:prstDash val="solid"/>
          </a:ln>
        </p:spPr>
      </p:sp>
      <p:sp>
        <p:nvSpPr>
          <p:cNvPr id="49" name="Shape 44"/>
          <p:cNvSpPr/>
          <p:nvPr/>
        </p:nvSpPr>
        <p:spPr>
          <a:xfrm>
            <a:off x="2371344" y="5916168"/>
            <a:ext cx="2115312" cy="3648456"/>
          </a:xfrm>
          <a:prstGeom prst="rect">
            <a:avLst/>
          </a:prstGeom>
          <a:solidFill>
            <a:srgbClr val="FFFFFF"/>
          </a:solidFill>
          <a:ln w="12700">
            <a:solidFill>
              <a:srgbClr val="C8D8E8"/>
            </a:solidFill>
            <a:prstDash val="solid"/>
          </a:ln>
        </p:spPr>
      </p:sp>
      <p:sp>
        <p:nvSpPr>
          <p:cNvPr id="50" name="Shape 45"/>
          <p:cNvSpPr/>
          <p:nvPr/>
        </p:nvSpPr>
        <p:spPr>
          <a:xfrm>
            <a:off x="2371344" y="5916168"/>
            <a:ext cx="2115312" cy="256032"/>
          </a:xfrm>
          <a:prstGeom prst="rect">
            <a:avLst/>
          </a:prstGeom>
          <a:solidFill>
            <a:srgbClr val="1E7A4A"/>
          </a:solidFill>
          <a:ln w="12700">
            <a:solidFill>
              <a:srgbClr val="1E7A4A"/>
            </a:solidFill>
            <a:prstDash val="solid"/>
          </a:ln>
        </p:spPr>
      </p:sp>
      <p:sp>
        <p:nvSpPr>
          <p:cNvPr id="51" name="Shape 46"/>
          <p:cNvSpPr/>
          <p:nvPr/>
        </p:nvSpPr>
        <p:spPr>
          <a:xfrm>
            <a:off x="2371344" y="6172200"/>
            <a:ext cx="2115312" cy="146304"/>
          </a:xfrm>
          <a:prstGeom prst="rect">
            <a:avLst/>
          </a:prstGeom>
          <a:solidFill>
            <a:srgbClr val="E8F5EE"/>
          </a:solidFill>
          <a:ln w="12700">
            <a:solidFill>
              <a:srgbClr val="E8F5EE"/>
            </a:solidFill>
            <a:prstDash val="solid"/>
          </a:ln>
        </p:spPr>
      </p:sp>
      <p:sp>
        <p:nvSpPr>
          <p:cNvPr id="52" name="Text 47"/>
          <p:cNvSpPr/>
          <p:nvPr/>
        </p:nvSpPr>
        <p:spPr>
          <a:xfrm>
            <a:off x="2462784"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Answer Key / Хариулт</a:t>
            </a:r>
            <a:endParaRPr lang="en-US" sz="1050" dirty="0"/>
          </a:p>
        </p:txBody>
      </p:sp>
      <p:sp>
        <p:nvSpPr>
          <p:cNvPr id="53" name="Text 48"/>
          <p:cNvSpPr/>
          <p:nvPr/>
        </p:nvSpPr>
        <p:spPr>
          <a:xfrm>
            <a:off x="2462784"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Check honestly!</a:t>
            </a:r>
            <a:endParaRPr lang="en-US" sz="750" dirty="0"/>
          </a:p>
        </p:txBody>
      </p:sp>
      <p:sp>
        <p:nvSpPr>
          <p:cNvPr id="54" name="Text 49"/>
          <p:cNvSpPr/>
          <p:nvPr/>
        </p:nvSpPr>
        <p:spPr>
          <a:xfrm>
            <a:off x="2462784" y="6345936"/>
            <a:ext cx="1969008" cy="3154680"/>
          </a:xfrm>
          <a:prstGeom prst="rect">
            <a:avLst/>
          </a:prstGeom>
          <a:noFill/>
          <a:ln/>
        </p:spPr>
        <p:txBody>
          <a:bodyPr wrap="square" lIns="0" tIns="0" rIns="0" bIns="0" rtlCol="0" anchor="t"/>
          <a:lstStyle/>
          <a:p>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Fill in blanks: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1-must · 2-can't · 3-might · 4-could · 5-might · 6-must
</a:t>
            </a:r>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Matching: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1-C · 2-D · 3-B · 4-E · 5-A
</a:t>
            </a:r>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Listening (1–10):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1-b · 2-c · 3-b · 4-c · 5-c
6-b · 7-c · 8-b · 9-c · 10-b
</a:t>
            </a:r>
            <a:pPr indent="0" marL="0">
              <a:lnSpc>
                <a:spcPct val="195000"/>
              </a:lnSpc>
              <a:buNone/>
            </a:pPr>
            <a:r>
              <a:rPr lang="en-US" sz="900" b="1" dirty="0">
                <a:solidFill>
                  <a:srgbClr val="C97A0A"/>
                </a:solidFill>
                <a:latin typeface="Calibri" pitchFamily="34" charset="0"/>
                <a:ea typeface="Calibri" pitchFamily="34" charset="-122"/>
                <a:cs typeface="Calibri" pitchFamily="34" charset="-120"/>
              </a:rPr>
              <a:t>💡  </a:t>
            </a:r>
            <a:pPr indent="0" marL="0">
              <a:lnSpc>
                <a:spcPct val="195000"/>
              </a:lnSpc>
              <a:buNone/>
            </a:pPr>
            <a:r>
              <a:rPr lang="en-US" sz="850" i="1" dirty="0">
                <a:solidFill>
                  <a:srgbClr val="3A5060"/>
                </a:solidFill>
                <a:latin typeface="Calibri" pitchFamily="34" charset="0"/>
                <a:ea typeface="Calibri" pitchFamily="34" charset="-122"/>
                <a:cs typeface="Calibri" pitchFamily="34" charset="-120"/>
              </a:rPr>
              <a:t>Mistakes help you learn!</a:t>
            </a:r>
            <a:endParaRPr lang="en-US" sz="900" dirty="0"/>
          </a:p>
        </p:txBody>
      </p:sp>
      <p:sp>
        <p:nvSpPr>
          <p:cNvPr id="55" name="Shape 50"/>
          <p:cNvSpPr/>
          <p:nvPr/>
        </p:nvSpPr>
        <p:spPr>
          <a:xfrm>
            <a:off x="4592726" y="5930798"/>
            <a:ext cx="2115312" cy="3648456"/>
          </a:xfrm>
          <a:prstGeom prst="rect">
            <a:avLst/>
          </a:prstGeom>
          <a:solidFill>
            <a:srgbClr val="D0DCE8"/>
          </a:solidFill>
          <a:ln w="12700">
            <a:solidFill>
              <a:srgbClr val="D0DCE8"/>
            </a:solidFill>
            <a:prstDash val="solid"/>
          </a:ln>
        </p:spPr>
      </p:sp>
      <p:sp>
        <p:nvSpPr>
          <p:cNvPr id="56" name="Shape 51"/>
          <p:cNvSpPr/>
          <p:nvPr/>
        </p:nvSpPr>
        <p:spPr>
          <a:xfrm>
            <a:off x="4578096" y="5916168"/>
            <a:ext cx="2115312" cy="3648456"/>
          </a:xfrm>
          <a:prstGeom prst="rect">
            <a:avLst/>
          </a:prstGeom>
          <a:solidFill>
            <a:srgbClr val="FFFFFF"/>
          </a:solidFill>
          <a:ln w="12700">
            <a:solidFill>
              <a:srgbClr val="C8D8E8"/>
            </a:solidFill>
            <a:prstDash val="solid"/>
          </a:ln>
        </p:spPr>
      </p:sp>
      <p:sp>
        <p:nvSpPr>
          <p:cNvPr id="57" name="Shape 52"/>
          <p:cNvSpPr/>
          <p:nvPr/>
        </p:nvSpPr>
        <p:spPr>
          <a:xfrm>
            <a:off x="4578096" y="5916168"/>
            <a:ext cx="2115312" cy="256032"/>
          </a:xfrm>
          <a:prstGeom prst="rect">
            <a:avLst/>
          </a:prstGeom>
          <a:solidFill>
            <a:srgbClr val="2E6DA4"/>
          </a:solidFill>
          <a:ln w="12700">
            <a:solidFill>
              <a:srgbClr val="2E6DA4"/>
            </a:solidFill>
            <a:prstDash val="solid"/>
          </a:ln>
        </p:spPr>
      </p:sp>
      <p:sp>
        <p:nvSpPr>
          <p:cNvPr id="58" name="Shape 53"/>
          <p:cNvSpPr/>
          <p:nvPr/>
        </p:nvSpPr>
        <p:spPr>
          <a:xfrm>
            <a:off x="4578096" y="6172200"/>
            <a:ext cx="2115312" cy="146304"/>
          </a:xfrm>
          <a:prstGeom prst="rect">
            <a:avLst/>
          </a:prstGeom>
          <a:solidFill>
            <a:srgbClr val="EBF4FB"/>
          </a:solidFill>
          <a:ln w="12700">
            <a:solidFill>
              <a:srgbClr val="EBF4FB"/>
            </a:solidFill>
            <a:prstDash val="solid"/>
          </a:ln>
        </p:spPr>
      </p:sp>
      <p:sp>
        <p:nvSpPr>
          <p:cNvPr id="59" name="Text 54"/>
          <p:cNvSpPr/>
          <p:nvPr/>
        </p:nvSpPr>
        <p:spPr>
          <a:xfrm>
            <a:off x="4669536"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Day 68 Complete!</a:t>
            </a:r>
            <a:endParaRPr lang="en-US" sz="1050" dirty="0"/>
          </a:p>
        </p:txBody>
      </p:sp>
      <p:sp>
        <p:nvSpPr>
          <p:cNvPr id="60" name="Text 55"/>
          <p:cNvSpPr/>
          <p:nvPr/>
        </p:nvSpPr>
        <p:spPr>
          <a:xfrm>
            <a:off x="4669536"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Today you completed:</a:t>
            </a:r>
            <a:endParaRPr lang="en-US" sz="750" dirty="0"/>
          </a:p>
        </p:txBody>
      </p:sp>
      <p:sp>
        <p:nvSpPr>
          <p:cNvPr id="61" name="Text 56"/>
          <p:cNvSpPr/>
          <p:nvPr/>
        </p:nvSpPr>
        <p:spPr>
          <a:xfrm>
            <a:off x="4669536" y="6345936"/>
            <a:ext cx="1969008" cy="2953512"/>
          </a:xfrm>
          <a:prstGeom prst="rect">
            <a:avLst/>
          </a:prstGeom>
          <a:noFill/>
          <a:ln/>
        </p:spPr>
        <p:txBody>
          <a:bodyPr wrap="square" lIns="0" tIns="0" rIns="0" bIns="0" rtlCol="0" anchor="t"/>
          <a:lstStyle/>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20 таамаглалын үг · 20 deduction words</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Must / Might / May — degrees of certainty</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Батын сэжиглэлийн тухай уншсан</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Дасгал · Grammar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Ярих дасгал · Speaking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Сонсох · Listening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Таамаглалын modal үйлүгс сурсан</a:t>
            </a:r>
            <a:endParaRPr lang="en-US" sz="800" dirty="0"/>
          </a:p>
        </p:txBody>
      </p:sp>
      <p:sp>
        <p:nvSpPr>
          <p:cNvPr id="62" name="Shape 57"/>
          <p:cNvSpPr/>
          <p:nvPr/>
        </p:nvSpPr>
        <p:spPr>
          <a:xfrm>
            <a:off x="4651248" y="9253728"/>
            <a:ext cx="1969008" cy="256032"/>
          </a:xfrm>
          <a:prstGeom prst="rect">
            <a:avLst/>
          </a:prstGeom>
          <a:solidFill>
            <a:srgbClr val="EBF4FB"/>
          </a:solidFill>
          <a:ln w="12700">
            <a:solidFill>
              <a:srgbClr val="2E6DA4"/>
            </a:solidFill>
            <a:prstDash val="solid"/>
          </a:ln>
        </p:spPr>
      </p:sp>
      <p:sp>
        <p:nvSpPr>
          <p:cNvPr id="63" name="Text 58"/>
          <p:cNvSpPr/>
          <p:nvPr/>
        </p:nvSpPr>
        <p:spPr>
          <a:xfrm>
            <a:off x="4687824" y="9262872"/>
            <a:ext cx="1914144" cy="237744"/>
          </a:xfrm>
          <a:prstGeom prst="rect">
            <a:avLst/>
          </a:prstGeom>
          <a:noFill/>
          <a:ln/>
        </p:spPr>
        <p:txBody>
          <a:bodyPr wrap="square" lIns="0" tIns="0" rIns="0" bIns="0" rtlCol="0" anchor="ctr"/>
          <a:lstStyle/>
          <a:p>
            <a:pPr indent="0" marL="0">
              <a:buNone/>
            </a:pPr>
            <a:r>
              <a:rPr lang="en-US" sz="850" b="1" dirty="0">
                <a:solidFill>
                  <a:srgbClr val="2E6DA4"/>
                </a:solidFill>
                <a:latin typeface="Calibri" pitchFamily="34" charset="0"/>
                <a:ea typeface="Calibri" pitchFamily="34" charset="-122"/>
                <a:cs typeface="Calibri" pitchFamily="34" charset="-120"/>
              </a:rPr>
              <a:t>🚀  Day 69: Predictions &amp; Possibilities — Might / Could / Should</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2026-04-09T03:01:24Z</dcterms:created>
  <dcterms:modified xsi:type="dcterms:W3CDTF">2026-04-09T03:01:24Z</dcterms:modified>
</cp:coreProperties>
</file>