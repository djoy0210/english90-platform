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692640"/>
  <p:notesSz cx="969264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 · ӨДӨР 56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Review  ·  8-р долоо хоногийн давталт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Page 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" y="630936"/>
            <a:ext cx="6528816" cy="182880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" y="630936"/>
            <a:ext cx="6419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Learn 20 words   ✦ Grammar: Modals + Passive + Future — Week 8 complete review   ✦ Cover &amp; test yourself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9222" y="874166"/>
            <a:ext cx="331012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59536"/>
            <a:ext cx="331012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4592" y="859536"/>
            <a:ext cx="3310128" cy="256032"/>
          </a:xfrm>
          <a:prstGeom prst="rect">
            <a:avLst/>
          </a:prstGeom>
          <a:solidFill>
            <a:srgbClr val="1A3A6A"/>
          </a:solidFill>
          <a:ln w="12700">
            <a:solidFill>
              <a:srgbClr val="1A3A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4592" y="1115568"/>
            <a:ext cx="331012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8595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Vocabulary — 20 New Words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6032" y="1124712"/>
            <a:ext cx="3182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 3 times · Cover Mongolian &amp; test yourself!</a:t>
            </a:r>
            <a:endParaRPr lang="en-US" sz="7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1289304"/>
          <a:ext cx="3200400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610819"/>
                <a:gridCol w="610819"/>
                <a:gridCol w="794065"/>
                <a:gridCol w="1038393"/>
              </a:tblGrid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Pronunciation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Дуудлага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sentence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A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verb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/ˈmoʊdəl vɜːrb/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туслах үйл үг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 verbs: must, should, need to.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obligation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/ˌɒblɪˈɡeɪʃən/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үүрэг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expresses strong obligation.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/nɪˈsɛsɪti/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шаардлагатай байдал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to expresses necessity.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/ˌproʊɪˈbɪʃən/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хориглол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Mustn't expresses prohibition.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/ˈpæsɪv/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идэвхгүй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by robots. (passive)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/ˈæktɪv/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идэвхтэй хэлбэр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Robots make phones. (active)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/ˈeɪdʒənt/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хийгч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 comes after 'by'.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spontaneous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/spɒnˈteɪniəs/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тэр дор гарсан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'I'll help!' is a spontaneous decision.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/prɪˈdɪkʃən/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is used for predictions.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/ˈɛvɪdəns/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 = based on evidence.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/trænsˈfɔːrm/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өөрчлөх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will transform work.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/ˈɒpʃənəl/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сонголттой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have to = optional.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/ɪˈsɛnʃəl/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зайлшгүй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is essential for careers.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/ˈsʌməraɪz/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нэгтгэх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me summarise Week 8.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/ˈkɒntrɑːst/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эсэргүүцэл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must and should.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/rɪˈvaɪz/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давтан судлах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revise everything today.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/ˈkɒnfɪdənt/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итгэлтэй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feel confident about A2 now.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/ˈɡræmər/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дүрэм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grammar has improved a lot.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fluency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/ˈfluːənsi/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чөлөөт яриа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fluency is growing every day.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A3A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/əˈtʃiːvmənt/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амжилт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i="1" dirty="0">
                          <a:solidFill>
                            <a:srgbClr val="7A90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8 is a great achievement!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219456" y="9290304"/>
            <a:ext cx="3200400" cy="219456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56032" y="929944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Obligation /ˌɒblɪˈɡeɪʃən/ — 4 syllables · Spontaneous /spɒnˈteɪniəs/ — 4 syllables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— 4 үе: ob-lih-GAY-shun. Necessity — 4 үе: neh-SES-ih-tee. Prohibition — 4 үе: pro-ih-BIH-shun.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3580790" y="874166"/>
            <a:ext cx="3127248" cy="8705088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6160" y="859536"/>
            <a:ext cx="3127248" cy="870508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6160" y="859536"/>
            <a:ext cx="3127248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566160" y="1115568"/>
            <a:ext cx="3127248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657600" y="859536"/>
            <a:ext cx="2999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Grammar — Modals + Passive + Future — Week 8 complete review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57600" y="1124712"/>
            <a:ext cx="2999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step by step  ·  Алхам алхмаар судлаарай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3648456" y="1289304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FULL REVIEW: 1) Need to / Don't need to = necessity vs not necessary. 2) Will = prediction, spontaneous decision, promise, offer. 3) Going to = already planned, based on visible evidence. 4) Present Passive = is/are + past participle. 5) Past Passive = was/were + past participle. KEY CONTRASTS: mustn't (PROHIBITED) ≠ don't need to (OPTIONAL). Will (spontaneous/opinion) ≠ going to (planned/evidence). Active (who does it?) vs Passive (what happens?).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3648456" y="17099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8-Р ДОЛОО ХОНОГИЙН БҮРЭН ДАВТАЛТ: 1) Need to / Don't need to = шаардлага vs шаардлагагүй. 2) Will = таамаглал, тэр мөчийн шийдвэр, амлалт, санал. 3) Going to = урьдаас шийдсэн / нотолгоо дээр суурилсан. 4) Present Passive = is/are + past participle. 5) Past Passive = was/were + past participle. ГОЛ ЯЛГАА: mustn't ≠ don't need to. Will ≠ going to. Active vs Passive.</a:t>
            </a:r>
            <a:endParaRPr lang="en-US" sz="75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39312" y="2075688"/>
          <a:ext cx="2980944" cy="914400"/>
        </p:xfrm>
        <a:graphic>
          <a:graphicData uri="http://schemas.openxmlformats.org/drawingml/2006/table">
            <a:tbl>
              <a:tblPr/>
              <a:tblGrid>
                <a:gridCol w="417332"/>
                <a:gridCol w="417332"/>
                <a:gridCol w="536570"/>
                <a:gridCol w="536570"/>
                <a:gridCol w="536570"/>
                <a:gridCol w="536570"/>
              </a:tblGrid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+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−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Монгол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necessity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to finish.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don't need to stay late.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I need to finish?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шаардлагатай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predict/promise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will be important.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won't disappear.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it be important?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таамаглал / амлалт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planned/evidence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going to study.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It's going to rain. (clouds)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you going to study?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төлөвлөсөн / нотолгоо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is/are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passive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They're not made by hand.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are they made?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одоо цагийн идэвхгүй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was/were + p.p.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passive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invented in 1876.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B8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wasn't invented here.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it invented?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өнгөрсөн цагийн идэвхгүй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35" name="Shape 31"/>
          <p:cNvSpPr/>
          <p:nvPr/>
        </p:nvSpPr>
        <p:spPr>
          <a:xfrm>
            <a:off x="3639312" y="3273552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3657600" y="32735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  Key Forms</a:t>
            </a:r>
            <a:endParaRPr lang="en-US" sz="800" dirty="0"/>
          </a:p>
        </p:txBody>
      </p:sp>
      <p:sp>
        <p:nvSpPr>
          <p:cNvPr id="37" name="Shape 33"/>
          <p:cNvSpPr/>
          <p:nvPr/>
        </p:nvSpPr>
        <p:spPr>
          <a:xfrm>
            <a:off x="3639312" y="3438144"/>
            <a:ext cx="2980944" cy="274320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657600" y="3465576"/>
            <a:ext cx="1639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key forms: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need to / needs to / don't need to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/ won't / 'll · going to / isn't going to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made / was made / are built / were built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5297119" y="3465576"/>
            <a:ext cx="13116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8-р долоо хоногийн гол хэлбэрүүд: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= хориглогдсон ≠ Don't need to = сонголттой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= тэр мөчийн шийдвэр ≠ Going to = урьдаас шийдсэн</a:t>
            </a:r>
            <a:endParaRPr lang="en-US" sz="750" dirty="0"/>
          </a:p>
        </p:txBody>
      </p:sp>
      <p:sp>
        <p:nvSpPr>
          <p:cNvPr id="40" name="Shape 36"/>
          <p:cNvSpPr/>
          <p:nvPr/>
        </p:nvSpPr>
        <p:spPr>
          <a:xfrm>
            <a:off x="3639312" y="3749040"/>
            <a:ext cx="2980944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3657600" y="3749040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  Rules &amp; Usage</a:t>
            </a:r>
            <a:endParaRPr lang="en-US" sz="800" dirty="0"/>
          </a:p>
        </p:txBody>
      </p:sp>
      <p:sp>
        <p:nvSpPr>
          <p:cNvPr id="42" name="Shape 38"/>
          <p:cNvSpPr/>
          <p:nvPr/>
        </p:nvSpPr>
        <p:spPr>
          <a:xfrm>
            <a:off x="3639312" y="3913632"/>
            <a:ext cx="2980944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3657600" y="394106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B8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NEED TO stay. · I WON'T give up. · I'M NOT GOING TO change plans. · It WASN'T MADE here.
</a:t>
            </a:r>
            <a:pPr indent="0" marL="0">
              <a:lnSpc>
                <a:spcPct val="13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2: </a:t>
            </a:r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need to? · WILL it be? · ARE you going to? · WHERE is it made? · WHEN was it invented?</a:t>
            </a:r>
            <a:endParaRPr lang="en-US" sz="800" dirty="0"/>
          </a:p>
        </p:txBody>
      </p:sp>
      <p:sp>
        <p:nvSpPr>
          <p:cNvPr id="44" name="Shape 40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3639312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Grammar Tip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solidFill>
            <a:srgbClr val="B83030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138928" y="4261104"/>
            <a:ext cx="1463040" cy="164592"/>
          </a:xfrm>
          <a:prstGeom prst="rect">
            <a:avLst/>
          </a:prstGeom>
          <a:noFill/>
          <a:ln/>
        </p:spPr>
        <p:txBody>
          <a:bodyPr wrap="square" lIns="0" tIns="6350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Common Mistakes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3639312" y="4425696"/>
            <a:ext cx="1463040" cy="2144817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3666744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mustn't = PROHIBITED · don't need to = OPTIONAL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will = spontaneous/opinion/promise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going to = already decided/evidence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is/are + p.p. = present passive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was/were + p.p. = past passive</a:t>
            </a:r>
            <a:endParaRPr lang="en-US" sz="780" dirty="0"/>
          </a:p>
        </p:txBody>
      </p:sp>
      <p:sp>
        <p:nvSpPr>
          <p:cNvPr id="50" name="Shape 46"/>
          <p:cNvSpPr/>
          <p:nvPr/>
        </p:nvSpPr>
        <p:spPr>
          <a:xfrm>
            <a:off x="5138928" y="4425696"/>
            <a:ext cx="1463040" cy="2144817"/>
          </a:xfrm>
          <a:prstGeom prst="rect">
            <a:avLst/>
          </a:prstGeom>
          <a:solidFill>
            <a:srgbClr val="FDECEA"/>
          </a:solidFill>
          <a:ln w="12700">
            <a:solidFill>
              <a:srgbClr val="B8303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166360" y="4462272"/>
            <a:ext cx="1380744" cy="208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You don't need to smoke here. (wrong — it's prohibited!)  ✅ You MUSTN'T smoke here.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I'll go to Korea next year. (if already planned)  ✅ I'M GOING TO go to Korea.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The phone is make in China.  ✅ The phone IS MADE in China.</a:t>
            </a:r>
            <a:endParaRPr lang="en-US" sz="78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78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It was invent in 1876.  ✅ It was INVENTED in 1876.</a:t>
            </a:r>
            <a:endParaRPr lang="en-US" sz="780" dirty="0"/>
          </a:p>
        </p:txBody>
      </p:sp>
      <p:sp>
        <p:nvSpPr>
          <p:cNvPr id="52" name="Shape 48"/>
          <p:cNvSpPr/>
          <p:nvPr/>
        </p:nvSpPr>
        <p:spPr>
          <a:xfrm>
            <a:off x="3639312" y="6607089"/>
            <a:ext cx="2980944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3657600" y="6607089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Quick Practice</a:t>
            </a:r>
            <a:endParaRPr lang="en-US" sz="850" dirty="0"/>
          </a:p>
        </p:txBody>
      </p:sp>
      <p:sp>
        <p:nvSpPr>
          <p:cNvPr id="54" name="Shape 50"/>
          <p:cNvSpPr/>
          <p:nvPr/>
        </p:nvSpPr>
        <p:spPr>
          <a:xfrm>
            <a:off x="3639312" y="6771681"/>
            <a:ext cx="2980944" cy="2902671"/>
          </a:xfrm>
          <a:prstGeom prst="rect">
            <a:avLst/>
          </a:prstGeom>
          <a:solidFill>
            <a:srgbClr val="E0F4F4"/>
          </a:solidFill>
          <a:ln w="12700">
            <a:solidFill>
              <a:srgbClr val="0D7C7B"/>
            </a:solidFill>
            <a:prstDash val="solid"/>
          </a:ln>
        </p:spPr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6799113"/>
          <a:ext cx="2944368" cy="914400"/>
        </p:xfrm>
        <a:graphic>
          <a:graphicData uri="http://schemas.openxmlformats.org/drawingml/2006/table">
            <a:tbl>
              <a:tblPr/>
              <a:tblGrid>
                <a:gridCol w="1472184"/>
                <a:gridCol w="1472184"/>
              </a:tblGrid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submit this by Friday. (need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Look at those clouds — it _____ rain! (is going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_____ work weekends. (doesn't need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The phone _____ in China. (is made — passive)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definitely get a good job. (will)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Ulaanbaatar _____ in 1639. (was founded)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C"/>
                    </a:solidFill>
                  </a:tcPr>
                </a:tc>
              </a:tr>
              <a:tr h="624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 _____ study medicine next year. (am going to)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You _____ smoke here. (mustn't — prohibited)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AF5"/>
                    </a:solidFill>
                  </a:tcPr>
                </a:tc>
              </a:tr>
            </a:tbl>
          </a:graphicData>
        </a:graphic>
      </p:graphicFrame>
      <p:sp>
        <p:nvSpPr>
          <p:cNvPr id="56" name="Text 51"/>
          <p:cNvSpPr/>
          <p:nvPr/>
        </p:nvSpPr>
        <p:spPr>
          <a:xfrm>
            <a:off x="3666744" y="9341130"/>
            <a:ext cx="2926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Answers: 1-need to · 2-doesn't need to · 3-will · 4-am going to · 5-is going to · 6-is made · 7-was founded · 8-mustn't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20-25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 · ӨДӨР 56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Speaking  ·  Унших ба Ярих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Page 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8653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 Reading Passage / Унших дасгал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= today's vocab · Read aloud at least twice!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380744"/>
          </a:xfrm>
          <a:prstGeom prst="rect">
            <a:avLst/>
          </a:prstGeom>
          <a:solidFill>
            <a:srgbClr val="EBF5F0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069848"/>
            <a:ext cx="62362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A3A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8 review time! 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Bat learned important things. He now knows that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work hard — but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1E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doesn't need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 perfect every day. He learned that English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will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definitely help his career, and that he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2E6D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going to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apply to university next year (already decided!). He discovered that phones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are made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by robots in Korea, and that Ulaanbaatar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8B4A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founded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 1639. Most importantly, Bat says: "I </a:t>
            </a:r>
            <a:pPr indent="0" marL="0">
              <a:lnSpc>
                <a:spcPct val="155000"/>
              </a:lnSpc>
              <a:buNone/>
            </a:pPr>
            <a:r>
              <a:rPr lang="en-US" sz="950" b="1" dirty="0">
                <a:solidFill>
                  <a:srgbClr val="B8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won't</a:t>
            </a:r>
            <a:pPr indent="0" marL="0">
              <a:lnSpc>
                <a:spcPct val="155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stop until I am fluent. That is my promise!"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79222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551176"/>
            <a:ext cx="3218688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07208"/>
            <a:ext cx="3218688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Key Phrases &amp; Translation / Гол хэллэг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Цээжил! · Memorize these phrases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" y="2971800"/>
          <a:ext cx="3108960" cy="914400"/>
        </p:xfrm>
        <a:graphic>
          <a:graphicData uri="http://schemas.openxmlformats.org/drawingml/2006/table">
            <a:tbl>
              <a:tblPr/>
              <a:tblGrid>
                <a:gridCol w="1057046"/>
                <a:gridCol w="1057046"/>
                <a:gridCol w="994867"/>
              </a:tblGrid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Phrase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Mongolian / Монгол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Grammar Note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A0A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to submit by Friday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Баасан гараг хүртэл оруулах хэрэгтэй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 to = necessity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don't need to wear a tie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 зангиа зүүх шаардлагагүй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don't need to = 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will open many doors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Англи хэл олон хаалга нээнэ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will = prediction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I'm going to apply next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 ирэх жил өргөдөл гаргана (шийдсэн)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going to = already decided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Phones are made by robots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Утасны заводод роботоор хийгддэг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was invented by Bell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зохион бүтээсэн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past passive + by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565806"/>
            <a:ext cx="3218688" cy="18288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551176"/>
            <a:ext cx="321868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55117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0720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55117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🗣️  Speaking Practice / Ярих дасгал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566160" y="281635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— don't write, just speak!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557016" y="297180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D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OUT LOUD in English — do not write, just speak!
</a:t>
            </a:r>
            <a:pPr indent="0" marL="0">
              <a:lnSpc>
                <a:spcPct val="120000"/>
              </a:lnSpc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Англиар ЧАНГААР хариулаарай — бичихгүй, зөвхөн ярь!</a:t>
            </a:r>
            <a:endParaRPr lang="en-US" sz="8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64408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 What do you need to do before you can get a good job?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 Name something you don't need to do today.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 What will the world look like in 50 years? (prediction)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 What are you going to do this weekend? (already planned)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 Name one thing that is made in Mongolia.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 Name one thing that was invented in the 20th century.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179222" y="4467758"/>
            <a:ext cx="6528816" cy="511149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64592" y="4453128"/>
            <a:ext cx="6528816" cy="5111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64592" y="445312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64592" y="470916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256032" y="445312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 Role Play / Дүрд тоглох</a:t>
            </a:r>
            <a:endParaRPr lang="en-US" sz="1050" dirty="0"/>
          </a:p>
        </p:txBody>
      </p:sp>
      <p:sp>
        <p:nvSpPr>
          <p:cNvPr id="43" name="Text 39"/>
          <p:cNvSpPr/>
          <p:nvPr/>
        </p:nvSpPr>
        <p:spPr>
          <a:xfrm>
            <a:off x="256032" y="471830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Найзтайгаа дадлагал · Repeat until it sounds natural!</a:t>
            </a:r>
            <a:endParaRPr lang="en-US" sz="750" dirty="0"/>
          </a:p>
        </p:txBody>
      </p:sp>
      <p:graphicFrame>
        <p:nvGraphicFramePr>
          <p:cNvPr id="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37744" y="4873752"/>
          <a:ext cx="6382512" cy="914400"/>
        </p:xfrm>
        <a:graphic>
          <a:graphicData uri="http://schemas.openxmlformats.org/drawingml/2006/table">
            <a:tbl>
              <a:tblPr/>
              <a:tblGrid>
                <a:gridCol w="3191256"/>
                <a:gridCol w="3191256"/>
              </a:tblGrid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need to study tonight?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Yes, I need to review Week 8 grammar.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Do you need to finish everything?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No, I don't need to finish all of it tonight.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What will you do after you pass A2?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I'll start Book 3 immediately!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Are you going to celebrate?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Yes! I'm going to have dinner with my family.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Where is your English textbook made?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It's made in Mongolia — printed locally!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7482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A:  When was your school founded?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 It was founded in 1985. It's quite old!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Shape 40"/>
          <p:cNvSpPr/>
          <p:nvPr/>
        </p:nvSpPr>
        <p:spPr>
          <a:xfrm>
            <a:off x="237744" y="9381744"/>
            <a:ext cx="63825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92608" y="9390888"/>
            <a:ext cx="62727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A2 Tip: Mix grammar structures! 'The report needs to be submitted. It will be reviewed by the manager. If it's approved, we'll celebrate!'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347472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" y="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C9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 English in 90 Days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0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Book 2 · Дунд шат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77840" y="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минут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solidFill>
            <a:srgbClr val="F2C93A"/>
          </a:solidFill>
          <a:ln w="12700">
            <a:solidFill>
              <a:srgbClr val="F2C9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474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56 · ӨДӨР 56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335024" y="347472"/>
            <a:ext cx="4498848" cy="23774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347472"/>
            <a:ext cx="4425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· Practice · Homework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833872" y="347472"/>
            <a:ext cx="1024128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47472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2C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Page 3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solidFill>
            <a:srgbClr val="E4EEF6"/>
          </a:solidFill>
          <a:ln w="12700">
            <a:solidFill>
              <a:srgbClr val="E4EE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9601200"/>
            <a:ext cx="6858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7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English in 90 Days  ·  A2 Level  ·  Book 2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79222" y="627278"/>
            <a:ext cx="6528816" cy="195681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" y="612648"/>
            <a:ext cx="6528816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4592" y="612648"/>
            <a:ext cx="6528816" cy="25603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4592" y="868680"/>
            <a:ext cx="6528816" cy="146304"/>
          </a:xfrm>
          <a:prstGeom prst="rect">
            <a:avLst/>
          </a:prstGeom>
          <a:solidFill>
            <a:srgbClr val="F0EAFA"/>
          </a:solidFill>
          <a:ln w="12700">
            <a:solidFill>
              <a:srgbClr val="F0EA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61264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🎧  Listening Script / Сонсох текст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6032" y="877824"/>
            <a:ext cx="6400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 questions WITHOUT looking at the text!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37744" y="1033272"/>
            <a:ext cx="6382512" cy="1481328"/>
          </a:xfrm>
          <a:prstGeom prst="rect">
            <a:avLst/>
          </a:prstGeom>
          <a:solidFill>
            <a:srgbClr val="F4F8FC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1069848"/>
            <a:ext cx="627278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 review! Quick fire questions. Bat — what's the difference between 'mustn't' and 'don't need to'?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 means prohibited — you cannot do it. Don't need to means it's not necessary, but you can if you want.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Perfect! Sarnai — what's the difference between 'will' and 'going to'?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Sarnai: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is for spontaneous decisions and predictions without evidence. Going to is for things already planned or based on what you can see.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Excellent! Bat — give me a sentence in passive voice.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spoken in over 100 countries! And the Mongol Empire was founded by Genghis Khan in 1206.  </a:t>
            </a:r>
            <a:pPr indent="0" marL="0">
              <a:lnSpc>
                <a:spcPct val="150000"/>
              </a:lnSpc>
              <a:buNone/>
            </a:pPr>
            <a:r>
              <a:rPr lang="en-US" sz="85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</a:t>
            </a:r>
            <a:pPr indent="0" marL="0">
              <a:lnSpc>
                <a:spcPct val="150000"/>
              </a:lnSpc>
              <a:buNone/>
            </a:pPr>
            <a:r>
              <a:rPr lang="en-US" sz="8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present AND past passive — fantastic! You have both mastered Week 8. Well done!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79222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4592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" y="2642616"/>
            <a:ext cx="3218688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4592" y="2898648"/>
            <a:ext cx="3218688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Comprehension Questions (10)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56032" y="2907792"/>
            <a:ext cx="3090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best answer.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63240"/>
          <a:ext cx="3090672" cy="914400"/>
        </p:xfrm>
        <a:graphic>
          <a:graphicData uri="http://schemas.openxmlformats.org/drawingml/2006/table">
            <a:tbl>
              <a:tblPr/>
              <a:tblGrid>
                <a:gridCol w="247254"/>
                <a:gridCol w="1236269"/>
                <a:gridCol w="1607149"/>
              </a:tblGrid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the difference between mustn't and don't need to?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they are the same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mustn't=prohibited · don't need to=optional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mustn't is more polite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Bat answer correctly?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no, he confuses them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yes, perfectly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partly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'going to' used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spontaneous decisions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plans already decided or visible evidence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promises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'will' used for?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only plans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only promises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spontaneous decisions, predictions, promises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countries is English spoken in?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200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over 100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was the Mongol Empire founded?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1162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1206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1639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founded the Mongol Empire?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Kublai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Ögedei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Genghis Khan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'English is spoken' — which passive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past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future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'Was founded' — which passive is this?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present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future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past passive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788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does the teacher say at the end?</a:t>
                      </a:r>
                      <a:endParaRPr lang="en-US" sz="7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a) study more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b) you have mastered Week 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i="1" dirty="0">
                          <a:solidFill>
                            <a:srgbClr val="3A5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c) do the homework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t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3489350" y="2657246"/>
            <a:ext cx="3218688" cy="320040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74720" y="2642616"/>
            <a:ext cx="3218688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74720" y="2642616"/>
            <a:ext cx="3218688" cy="25603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74720" y="2898648"/>
            <a:ext cx="3218688" cy="146304"/>
          </a:xfrm>
          <a:prstGeom prst="rect">
            <a:avLst/>
          </a:prstGeom>
          <a:solidFill>
            <a:srgbClr val="E0F4F4"/>
          </a:solidFill>
          <a:ln w="12700">
            <a:solidFill>
              <a:srgbClr val="E0F4F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160" y="26426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✏️  Grammar Practice &amp; Matching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3529584" y="3063240"/>
            <a:ext cx="3108960" cy="164592"/>
          </a:xfrm>
          <a:prstGeom prst="rect">
            <a:avLst/>
          </a:prstGeom>
          <a:solidFill>
            <a:srgbClr val="0D7C7B"/>
          </a:solidFill>
          <a:ln w="12700">
            <a:solidFill>
              <a:srgbClr val="0D7C7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557016" y="3063240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blank — Week 8 mixed — need to / will / going to / passive</a:t>
            </a:r>
            <a:endParaRPr lang="en-US" sz="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3227832"/>
          <a:ext cx="3108960" cy="914400"/>
        </p:xfrm>
        <a:graphic>
          <a:graphicData uri="http://schemas.openxmlformats.org/drawingml/2006/table">
            <a:tbl>
              <a:tblPr/>
              <a:tblGrid>
                <a:gridCol w="3108960"/>
              </a:tblGrid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I _____ submit this by Friday. (need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She _____ work weekends. (doesn't need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I _____ definitely get a good job. (will)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It _____ rain — dark clouds! (is going to)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The phone _____ in China. (is made)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1993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It _____ in 1876. (was invented)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Shape 34"/>
          <p:cNvSpPr/>
          <p:nvPr/>
        </p:nvSpPr>
        <p:spPr>
          <a:xfrm>
            <a:off x="3529584" y="4478731"/>
            <a:ext cx="3108960" cy="1645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3557016" y="4478731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— English → Mongolian</a:t>
            </a:r>
            <a:endParaRPr lang="en-US" sz="8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9584" y="4643323"/>
          <a:ext cx="3108960" cy="914400"/>
        </p:xfrm>
        <a:graphic>
          <a:graphicData uri="http://schemas.openxmlformats.org/drawingml/2006/table">
            <a:tbl>
              <a:tblPr/>
              <a:tblGrid>
                <a:gridCol w="1616659"/>
                <a:gridCol w="1492301"/>
              </a:tblGrid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need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идэвхгүй хэлбэр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mustn't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шаардлагагүй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passive voice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таамаглал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will (prediction)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D. хориглогдсон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59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6DA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don't need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0D7C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E. шаардлагатай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8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</a:tr>
            </a:tbl>
          </a:graphicData>
        </a:graphic>
      </p:graphicFrame>
      <p:sp>
        <p:nvSpPr>
          <p:cNvPr id="41" name="Shape 36"/>
          <p:cNvSpPr/>
          <p:nvPr/>
        </p:nvSpPr>
        <p:spPr>
          <a:xfrm>
            <a:off x="179222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164592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43" name="Shape 38"/>
          <p:cNvSpPr/>
          <p:nvPr/>
        </p:nvSpPr>
        <p:spPr>
          <a:xfrm>
            <a:off x="164592" y="5916168"/>
            <a:ext cx="2115312" cy="256032"/>
          </a:xfrm>
          <a:prstGeom prst="rect">
            <a:avLst/>
          </a:prstGeom>
          <a:solidFill>
            <a:srgbClr val="C97A0A"/>
          </a:solidFill>
          <a:ln w="12700">
            <a:solidFill>
              <a:srgbClr val="C97A0A"/>
            </a:solidFill>
            <a:prstDash val="solid"/>
          </a:ln>
        </p:spPr>
      </p:sp>
      <p:sp>
        <p:nvSpPr>
          <p:cNvPr id="44" name="Shape 39"/>
          <p:cNvSpPr/>
          <p:nvPr/>
        </p:nvSpPr>
        <p:spPr>
          <a:xfrm>
            <a:off x="164592" y="6172200"/>
            <a:ext cx="2115312" cy="146304"/>
          </a:xfrm>
          <a:prstGeom prst="rect">
            <a:avLst/>
          </a:prstGeom>
          <a:solidFill>
            <a:srgbClr val="FEF3DC"/>
          </a:solidFill>
          <a:ln w="12700">
            <a:solidFill>
              <a:srgbClr val="FEF3DC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256032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📝  Homework / Гэрийн даалгавар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256032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Маргааш болохоос өмнө дуусга</a:t>
            </a:r>
            <a:endParaRPr lang="en-US" sz="750" dirty="0"/>
          </a:p>
        </p:txBody>
      </p:sp>
      <p:sp>
        <p:nvSpPr>
          <p:cNvPr id="47" name="Text 42"/>
          <p:cNvSpPr/>
          <p:nvPr/>
        </p:nvSpPr>
        <p:spPr>
          <a:xfrm>
            <a:off x="256032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Writing: Write a paragraph using need to, will, going to, present passive, and past passive all together.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Review ALL 160 words from Week 8 (Days 50-56) — test yourself!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Speaking: Tell a partner everything you learned in Week 8 — explain each grammar point in Mongolian then use it in English.
</a:t>
            </a:r>
            <a:pPr indent="0" marL="0">
              <a:lnSpc>
                <a:spcPct val="210000"/>
              </a:lnSpc>
              <a:buNone/>
            </a:pPr>
            <a:r>
              <a:rPr lang="en-US" sz="95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</a:t>
            </a:r>
            <a:pPr indent="0" marL="0">
              <a:lnSpc>
                <a:spcPct val="210000"/>
              </a:lnSpc>
              <a:buNone/>
            </a:pPr>
            <a:r>
              <a:rPr lang="en-US" sz="9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🎉 Week 8 complete! Days 57-60 next — Reported Speech, Agreeing, Relative Clauses, A2 Graduation!
</a:t>
            </a:r>
            <a:endParaRPr lang="en-US" sz="950" dirty="0"/>
          </a:p>
        </p:txBody>
      </p:sp>
      <p:sp>
        <p:nvSpPr>
          <p:cNvPr id="48" name="Shape 43"/>
          <p:cNvSpPr/>
          <p:nvPr/>
        </p:nvSpPr>
        <p:spPr>
          <a:xfrm>
            <a:off x="2385974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2371344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2371344" y="5916168"/>
            <a:ext cx="2115312" cy="256032"/>
          </a:xfrm>
          <a:prstGeom prst="rect">
            <a:avLst/>
          </a:prstGeom>
          <a:solidFill>
            <a:srgbClr val="1E7A4A"/>
          </a:solidFill>
          <a:ln w="12700">
            <a:solidFill>
              <a:srgbClr val="1E7A4A"/>
            </a:solidFill>
            <a:prstDash val="solid"/>
          </a:ln>
        </p:spPr>
      </p:sp>
      <p:sp>
        <p:nvSpPr>
          <p:cNvPr id="51" name="Shape 46"/>
          <p:cNvSpPr/>
          <p:nvPr/>
        </p:nvSpPr>
        <p:spPr>
          <a:xfrm>
            <a:off x="2371344" y="6172200"/>
            <a:ext cx="2115312" cy="146304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2462784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🔑  Answer Key / Хариулт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2462784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honestly!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2462784" y="6345936"/>
            <a:ext cx="196900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blanks: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1-need to · 2-doesn't need to · 3-will · 4-is going to · 5-is made · 6-was invented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1-E · 2-D · 3-A · 4-C · 5-B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(1–10):
</a:t>
            </a:r>
            <a:pPr indent="0" marL="0">
              <a:lnSpc>
                <a:spcPct val="195000"/>
              </a:lnSpc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 · 2-b · 3-b · 4-c · 5-c
6-b · 7-c · 8-b · 9-c · 10-b
</a:t>
            </a:r>
            <a:pPr indent="0" marL="0">
              <a:lnSpc>
                <a:spcPct val="195000"/>
              </a:lnSpc>
              <a:buNone/>
            </a:pPr>
            <a:r>
              <a:rPr lang="en-US" sz="900" b="1" dirty="0">
                <a:solidFill>
                  <a:srgbClr val="C97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lnSpc>
                <a:spcPct val="195000"/>
              </a:lnSpc>
              <a:buNone/>
            </a:pPr>
            <a:r>
              <a:rPr lang="en-US" sz="8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 help you learn!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4592726" y="5930798"/>
            <a:ext cx="2115312" cy="364845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4578096" y="5916168"/>
            <a:ext cx="2115312" cy="3648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57" name="Shape 52"/>
          <p:cNvSpPr/>
          <p:nvPr/>
        </p:nvSpPr>
        <p:spPr>
          <a:xfrm>
            <a:off x="4578096" y="5916168"/>
            <a:ext cx="2115312" cy="2560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4578096" y="6172200"/>
            <a:ext cx="2115312" cy="146304"/>
          </a:xfrm>
          <a:prstGeom prst="rect">
            <a:avLst/>
          </a:prstGeom>
          <a:solidFill>
            <a:srgbClr val="EBF4FB"/>
          </a:solidFill>
          <a:ln w="12700">
            <a:solidFill>
              <a:srgbClr val="EBF4FB"/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669536" y="5916168"/>
            <a:ext cx="1987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🌟  Day 56 Complete!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4669536" y="6181344"/>
            <a:ext cx="1987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5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completed:</a:t>
            </a:r>
            <a:endParaRPr lang="en-US" sz="750" dirty="0"/>
          </a:p>
        </p:txBody>
      </p:sp>
      <p:sp>
        <p:nvSpPr>
          <p:cNvPr id="61" name="Text 56"/>
          <p:cNvSpPr/>
          <p:nvPr/>
        </p:nvSpPr>
        <p:spPr>
          <a:xfrm>
            <a:off x="4669536" y="6345936"/>
            <a:ext cx="1969008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20 давталтын үг · 20 review words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8-р долоо хоногийн бүх дүрэм · All Week 8 grammar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Давталтын текст уншсан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Дасгал · Mixed grammar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Ярих дасгал · Week 8 speaking review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Сонсох · Listening practice</a:t>
            </a:r>
            <a:endParaRPr lang="en-US" sz="800" dirty="0"/>
          </a:p>
          <a:p>
            <a:pPr indent="0" marL="0">
              <a:lnSpc>
                <a:spcPct val="210000"/>
              </a:lnSpc>
              <a:buNone/>
            </a:pPr>
            <a:r>
              <a:rPr lang="en-US" sz="8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🎉 ДОЛОО ХОНОГ 8 ДУУСГАСАН! Week 8 Complete!</a:t>
            </a:r>
            <a:endParaRPr lang="en-US" sz="800" dirty="0"/>
          </a:p>
        </p:txBody>
      </p:sp>
      <p:sp>
        <p:nvSpPr>
          <p:cNvPr id="62" name="Shape 57"/>
          <p:cNvSpPr/>
          <p:nvPr/>
        </p:nvSpPr>
        <p:spPr>
          <a:xfrm>
            <a:off x="4651248" y="9253728"/>
            <a:ext cx="1969008" cy="256032"/>
          </a:xfrm>
          <a:prstGeom prst="rect">
            <a:avLst/>
          </a:prstGeom>
          <a:solidFill>
            <a:srgbClr val="EBF4FB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4687824" y="9262872"/>
            <a:ext cx="1914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Day 57: News &amp; Current Events — Reported Speech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2026-04-06T09:41:37Z</dcterms:created>
  <dcterms:modified xsi:type="dcterms:W3CDTF">2026-04-06T09:41:37Z</dcterms:modified>
</cp:coreProperties>
</file>