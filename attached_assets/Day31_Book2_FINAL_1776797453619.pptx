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Lst>
  <p:notesMasterIdLst>
    <p:notesMasterId r:id="rId5"/>
  </p:notesMasterIdLst>
  <p:sldSz cx="6858000" cy="9692640"/>
  <p:notesSz cx="9692640" cy="685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notesMaster" Target="notesMasters/notesMaster1.xml"/><Relationship Id="rId6" Type="http://schemas.openxmlformats.org/officeDocument/2006/relationships/presProps" Target="presProps.xml"/><Relationship Id="rId7" Type="http://schemas.openxmlformats.org/officeDocument/2006/relationships/viewProps" Target="viewProps.xml"/><Relationship Id="rId8" Type="http://schemas.openxmlformats.org/officeDocument/2006/relationships/theme" Target="theme/theme1.xml"/><Relationship Id="rId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2F6FA"/>
        </a:solidFill>
      </p:bgPr>
    </p:bg>
    <p:spTree>
      <p:nvGrpSpPr>
        <p:cNvPr id="1" name=""/>
        <p:cNvGrpSpPr/>
        <p:nvPr/>
      </p:nvGrpSpPr>
      <p:grpSpPr>
        <a:xfrm>
          <a:off x="0" y="0"/>
          <a:ext cx="0" cy="0"/>
          <a:chOff x="0" y="0"/>
          <a:chExt cx="0" cy="0"/>
        </a:xfrm>
      </p:grpSpPr>
      <p:sp>
        <p:nvSpPr>
          <p:cNvPr id="2" name="Shape 0"/>
          <p:cNvSpPr/>
          <p:nvPr/>
        </p:nvSpPr>
        <p:spPr>
          <a:xfrm>
            <a:off x="0" y="0"/>
            <a:ext cx="6858000" cy="347472"/>
          </a:xfrm>
          <a:prstGeom prst="rect">
            <a:avLst/>
          </a:prstGeom>
          <a:solidFill>
            <a:srgbClr val="1A3A5C"/>
          </a:solidFill>
          <a:ln w="12700">
            <a:solidFill>
              <a:srgbClr val="1A3A5C"/>
            </a:solidFill>
            <a:prstDash val="solid"/>
          </a:ln>
        </p:spPr>
      </p:sp>
      <p:sp>
        <p:nvSpPr>
          <p:cNvPr id="3" name="Shape 1"/>
          <p:cNvSpPr/>
          <p:nvPr/>
        </p:nvSpPr>
        <p:spPr>
          <a:xfrm>
            <a:off x="0" y="0"/>
            <a:ext cx="50292" cy="347472"/>
          </a:xfrm>
          <a:prstGeom prst="rect">
            <a:avLst/>
          </a:prstGeom>
          <a:solidFill>
            <a:srgbClr val="F2C93A"/>
          </a:solidFill>
          <a:ln w="12700">
            <a:solidFill>
              <a:srgbClr val="F2C93A"/>
            </a:solidFill>
            <a:prstDash val="solid"/>
          </a:ln>
        </p:spPr>
      </p:sp>
      <p:sp>
        <p:nvSpPr>
          <p:cNvPr id="4" name="Text 2"/>
          <p:cNvSpPr/>
          <p:nvPr/>
        </p:nvSpPr>
        <p:spPr>
          <a:xfrm>
            <a:off x="100584" y="0"/>
            <a:ext cx="3657600" cy="347472"/>
          </a:xfrm>
          <a:prstGeom prst="rect">
            <a:avLst/>
          </a:prstGeom>
          <a:noFill/>
          <a:ln/>
        </p:spPr>
        <p:txBody>
          <a:bodyPr wrap="square" lIns="0" tIns="0" rIns="0" bIns="0" rtlCol="0" anchor="ctr"/>
          <a:lstStyle/>
          <a:p>
            <a:pPr indent="0" marL="0">
              <a:buNone/>
            </a:pPr>
            <a:r>
              <a:rPr lang="en-US" sz="1350" b="1" dirty="0">
                <a:solidFill>
                  <a:srgbClr val="F2C93A"/>
                </a:solidFill>
                <a:latin typeface="Georgia" pitchFamily="34" charset="0"/>
                <a:ea typeface="Georgia" pitchFamily="34" charset="-122"/>
                <a:cs typeface="Georgia" pitchFamily="34" charset="-120"/>
              </a:rPr>
              <a:t>Speak English in 90 Days</a:t>
            </a:r>
            <a:endParaRPr lang="en-US" sz="1350" dirty="0"/>
          </a:p>
        </p:txBody>
      </p:sp>
      <p:sp>
        <p:nvSpPr>
          <p:cNvPr id="5" name="Text 3"/>
          <p:cNvSpPr/>
          <p:nvPr/>
        </p:nvSpPr>
        <p:spPr>
          <a:xfrm>
            <a:off x="3657600" y="0"/>
            <a:ext cx="1920240" cy="347472"/>
          </a:xfrm>
          <a:prstGeom prst="rect">
            <a:avLst/>
          </a:prstGeom>
          <a:noFill/>
          <a:ln/>
        </p:spPr>
        <p:txBody>
          <a:bodyPr wrap="square" lIns="0" tIns="0" rIns="0" bIns="0" rtlCol="0" anchor="ctr"/>
          <a:lstStyle/>
          <a:p>
            <a:pPr algn="ctr" indent="0" marL="0">
              <a:buNone/>
            </a:pPr>
            <a:r>
              <a:rPr lang="en-US" sz="800" dirty="0">
                <a:solidFill>
                  <a:srgbClr val="90AABF"/>
                </a:solidFill>
                <a:latin typeface="Calibri" pitchFamily="34" charset="0"/>
                <a:ea typeface="Calibri" pitchFamily="34" charset="-122"/>
                <a:cs typeface="Calibri" pitchFamily="34" charset="-120"/>
              </a:rPr>
              <a:t>A2 · Book 2 · Дунд шат</a:t>
            </a:r>
            <a:endParaRPr lang="en-US" sz="800" dirty="0"/>
          </a:p>
        </p:txBody>
      </p:sp>
      <p:sp>
        <p:nvSpPr>
          <p:cNvPr id="6" name="Text 4"/>
          <p:cNvSpPr/>
          <p:nvPr/>
        </p:nvSpPr>
        <p:spPr>
          <a:xfrm>
            <a:off x="5577840" y="0"/>
            <a:ext cx="1170432" cy="347472"/>
          </a:xfrm>
          <a:prstGeom prst="rect">
            <a:avLst/>
          </a:prstGeom>
          <a:noFill/>
          <a:ln/>
        </p:spPr>
        <p:txBody>
          <a:bodyPr wrap="square" lIns="0" tIns="0" rIns="0" bIns="0" rtlCol="0" anchor="ctr"/>
          <a:lstStyle/>
          <a:p>
            <a:pPr algn="r" indent="0" marL="0">
              <a:buNone/>
            </a:pPr>
            <a:r>
              <a:rPr lang="en-US" sz="850" dirty="0">
                <a:solidFill>
                  <a:srgbClr val="F2C93A"/>
                </a:solidFill>
                <a:latin typeface="Calibri" pitchFamily="34" charset="0"/>
                <a:ea typeface="Calibri" pitchFamily="34" charset="-122"/>
                <a:cs typeface="Calibri" pitchFamily="34" charset="-120"/>
              </a:rPr>
              <a:t>20-25 минут</a:t>
            </a:r>
            <a:endParaRPr lang="en-US" sz="850" dirty="0"/>
          </a:p>
        </p:txBody>
      </p:sp>
      <p:sp>
        <p:nvSpPr>
          <p:cNvPr id="7" name="Shape 5"/>
          <p:cNvSpPr/>
          <p:nvPr/>
        </p:nvSpPr>
        <p:spPr>
          <a:xfrm>
            <a:off x="0" y="347472"/>
            <a:ext cx="1335024" cy="237744"/>
          </a:xfrm>
          <a:prstGeom prst="rect">
            <a:avLst/>
          </a:prstGeom>
          <a:solidFill>
            <a:srgbClr val="F2C93A"/>
          </a:solidFill>
          <a:ln w="12700">
            <a:solidFill>
              <a:srgbClr val="F2C93A"/>
            </a:solidFill>
            <a:prstDash val="solid"/>
          </a:ln>
        </p:spPr>
      </p:sp>
      <p:sp>
        <p:nvSpPr>
          <p:cNvPr id="8" name="Text 6"/>
          <p:cNvSpPr/>
          <p:nvPr/>
        </p:nvSpPr>
        <p:spPr>
          <a:xfrm>
            <a:off x="0" y="347472"/>
            <a:ext cx="1335024" cy="237744"/>
          </a:xfrm>
          <a:prstGeom prst="rect">
            <a:avLst/>
          </a:prstGeom>
          <a:noFill/>
          <a:ln/>
        </p:spPr>
        <p:txBody>
          <a:bodyPr wrap="square" lIns="0" tIns="0" rIns="0" bIns="0" rtlCol="0" anchor="ctr"/>
          <a:lstStyle/>
          <a:p>
            <a:pPr algn="ctr" indent="0" marL="0">
              <a:buNone/>
            </a:pPr>
            <a:r>
              <a:rPr lang="en-US" sz="850" b="1" dirty="0">
                <a:solidFill>
                  <a:srgbClr val="1A3A5C"/>
                </a:solidFill>
                <a:latin typeface="Calibri" pitchFamily="34" charset="0"/>
                <a:ea typeface="Calibri" pitchFamily="34" charset="-122"/>
                <a:cs typeface="Calibri" pitchFamily="34" charset="-120"/>
              </a:rPr>
              <a:t>DAY 31 · ӨДӨР 31</a:t>
            </a:r>
            <a:endParaRPr lang="en-US" sz="850" dirty="0"/>
          </a:p>
        </p:txBody>
      </p:sp>
      <p:sp>
        <p:nvSpPr>
          <p:cNvPr id="9" name="Shape 7"/>
          <p:cNvSpPr/>
          <p:nvPr/>
        </p:nvSpPr>
        <p:spPr>
          <a:xfrm>
            <a:off x="1335024" y="347472"/>
            <a:ext cx="4498848" cy="237744"/>
          </a:xfrm>
          <a:prstGeom prst="rect">
            <a:avLst/>
          </a:prstGeom>
          <a:solidFill>
            <a:srgbClr val="5A3A1A"/>
          </a:solidFill>
          <a:ln w="12700">
            <a:solidFill>
              <a:srgbClr val="5A3A1A"/>
            </a:solidFill>
            <a:prstDash val="solid"/>
          </a:ln>
        </p:spPr>
      </p:sp>
      <p:sp>
        <p:nvSpPr>
          <p:cNvPr id="10" name="Text 8"/>
          <p:cNvSpPr/>
          <p:nvPr/>
        </p:nvSpPr>
        <p:spPr>
          <a:xfrm>
            <a:off x="1408176" y="347472"/>
            <a:ext cx="4425696" cy="237744"/>
          </a:xfrm>
          <a:prstGeom prst="rect">
            <a:avLst/>
          </a:prstGeom>
          <a:noFill/>
          <a:ln/>
        </p:spPr>
        <p:txBody>
          <a:bodyPr wrap="square" lIns="0" tIns="0" rIns="0" bIns="0" rtlCol="0" anchor="ctr"/>
          <a:lstStyle/>
          <a:p>
            <a:pPr indent="0" marL="0">
              <a:buNone/>
            </a:pPr>
            <a:r>
              <a:rPr lang="en-US" sz="850" b="1" dirty="0">
                <a:solidFill>
                  <a:srgbClr val="FFFFFF"/>
                </a:solidFill>
                <a:latin typeface="Calibri" pitchFamily="34" charset="0"/>
                <a:ea typeface="Calibri" pitchFamily="34" charset="-122"/>
                <a:cs typeface="Calibri" pitchFamily="34" charset="-120"/>
              </a:rPr>
              <a:t>My Life Story  ·  Миний амьдралын түүх</a:t>
            </a:r>
            <a:endParaRPr lang="en-US" sz="850" dirty="0"/>
          </a:p>
        </p:txBody>
      </p:sp>
      <p:sp>
        <p:nvSpPr>
          <p:cNvPr id="11" name="Shape 9"/>
          <p:cNvSpPr/>
          <p:nvPr/>
        </p:nvSpPr>
        <p:spPr>
          <a:xfrm>
            <a:off x="5833872" y="347472"/>
            <a:ext cx="1024128" cy="237744"/>
          </a:xfrm>
          <a:prstGeom prst="rect">
            <a:avLst/>
          </a:prstGeom>
          <a:solidFill>
            <a:srgbClr val="1A3A5C"/>
          </a:solidFill>
          <a:ln w="12700">
            <a:solidFill>
              <a:srgbClr val="1A3A5C"/>
            </a:solidFill>
            <a:prstDash val="solid"/>
          </a:ln>
        </p:spPr>
      </p:sp>
      <p:sp>
        <p:nvSpPr>
          <p:cNvPr id="12" name="Text 10"/>
          <p:cNvSpPr/>
          <p:nvPr/>
        </p:nvSpPr>
        <p:spPr>
          <a:xfrm>
            <a:off x="5760720" y="347472"/>
            <a:ext cx="1042416" cy="237744"/>
          </a:xfrm>
          <a:prstGeom prst="rect">
            <a:avLst/>
          </a:prstGeom>
          <a:noFill/>
          <a:ln/>
        </p:spPr>
        <p:txBody>
          <a:bodyPr wrap="square" lIns="0" tIns="0" rIns="0" bIns="0" rtlCol="0" anchor="ctr"/>
          <a:lstStyle/>
          <a:p>
            <a:pPr algn="r" indent="0" marL="0">
              <a:buNone/>
            </a:pPr>
            <a:r>
              <a:rPr lang="en-US" sz="750" dirty="0">
                <a:solidFill>
                  <a:srgbClr val="F2C93A"/>
                </a:solidFill>
                <a:latin typeface="Calibri" pitchFamily="34" charset="0"/>
                <a:ea typeface="Calibri" pitchFamily="34" charset="-122"/>
                <a:cs typeface="Calibri" pitchFamily="34" charset="-120"/>
              </a:rPr>
              <a:t>📖 Page 1</a:t>
            </a:r>
            <a:endParaRPr lang="en-US" sz="750" dirty="0"/>
          </a:p>
        </p:txBody>
      </p:sp>
      <p:sp>
        <p:nvSpPr>
          <p:cNvPr id="13" name="Shape 11"/>
          <p:cNvSpPr/>
          <p:nvPr/>
        </p:nvSpPr>
        <p:spPr>
          <a:xfrm>
            <a:off x="0" y="9601200"/>
            <a:ext cx="6858000" cy="91440"/>
          </a:xfrm>
          <a:prstGeom prst="rect">
            <a:avLst/>
          </a:prstGeom>
          <a:solidFill>
            <a:srgbClr val="E4EEF6"/>
          </a:solidFill>
          <a:ln w="12700">
            <a:solidFill>
              <a:srgbClr val="E4EEF6"/>
            </a:solidFill>
            <a:prstDash val="solid"/>
          </a:ln>
        </p:spPr>
      </p:sp>
      <p:sp>
        <p:nvSpPr>
          <p:cNvPr id="14" name="Text 12"/>
          <p:cNvSpPr/>
          <p:nvPr/>
        </p:nvSpPr>
        <p:spPr>
          <a:xfrm>
            <a:off x="0" y="9601200"/>
            <a:ext cx="6858000" cy="91440"/>
          </a:xfrm>
          <a:prstGeom prst="rect">
            <a:avLst/>
          </a:prstGeom>
          <a:noFill/>
          <a:ln/>
        </p:spPr>
        <p:txBody>
          <a:bodyPr wrap="square" lIns="0" tIns="0" rIns="0" bIns="0" rtlCol="0" anchor="ctr"/>
          <a:lstStyle/>
          <a:p>
            <a:pPr algn="ctr" indent="0" marL="0">
              <a:buNone/>
            </a:pPr>
            <a:r>
              <a:rPr lang="en-US" sz="650" dirty="0">
                <a:solidFill>
                  <a:srgbClr val="7A90A0"/>
                </a:solidFill>
                <a:latin typeface="Calibri" pitchFamily="34" charset="0"/>
                <a:ea typeface="Calibri" pitchFamily="34" charset="-122"/>
                <a:cs typeface="Calibri" pitchFamily="34" charset="-120"/>
              </a:rPr>
              <a:t>Speak English in 90 Days  ·  A2 Level  ·  Book 2</a:t>
            </a:r>
            <a:endParaRPr lang="en-US" sz="650" dirty="0"/>
          </a:p>
        </p:txBody>
      </p:sp>
      <p:sp>
        <p:nvSpPr>
          <p:cNvPr id="15" name="Shape 13"/>
          <p:cNvSpPr/>
          <p:nvPr/>
        </p:nvSpPr>
        <p:spPr>
          <a:xfrm>
            <a:off x="164592" y="630936"/>
            <a:ext cx="6528816" cy="182880"/>
          </a:xfrm>
          <a:prstGeom prst="rect">
            <a:avLst/>
          </a:prstGeom>
          <a:solidFill>
            <a:srgbClr val="EBF4FB"/>
          </a:solidFill>
          <a:ln w="12700">
            <a:solidFill>
              <a:srgbClr val="2E6DA4"/>
            </a:solidFill>
            <a:prstDash val="solid"/>
          </a:ln>
        </p:spPr>
      </p:sp>
      <p:sp>
        <p:nvSpPr>
          <p:cNvPr id="16" name="Text 14"/>
          <p:cNvSpPr/>
          <p:nvPr/>
        </p:nvSpPr>
        <p:spPr>
          <a:xfrm>
            <a:off x="246888" y="630936"/>
            <a:ext cx="6419088" cy="182880"/>
          </a:xfrm>
          <a:prstGeom prst="rect">
            <a:avLst/>
          </a:prstGeom>
          <a:noFill/>
          <a:ln/>
        </p:spPr>
        <p:txBody>
          <a:bodyPr wrap="square" lIns="0" tIns="0" rIns="0" bIns="0" rtlCol="0" anchor="ctr"/>
          <a:lstStyle/>
          <a:p>
            <a:pPr indent="0" marL="0">
              <a:buNone/>
            </a:pPr>
            <a:r>
              <a:rPr lang="en-US" sz="800" dirty="0">
                <a:solidFill>
                  <a:srgbClr val="1A4A7A"/>
                </a:solidFill>
                <a:latin typeface="Calibri" pitchFamily="34" charset="0"/>
                <a:ea typeface="Calibri" pitchFamily="34" charset="-122"/>
                <a:cs typeface="Calibri" pitchFamily="34" charset="-120"/>
              </a:rPr>
              <a:t>✦ Learn 20 words   ✦ Grammar: Past Simple — storytelling with sequence words   ✦ Cover &amp; test yourself</a:t>
            </a:r>
            <a:endParaRPr lang="en-US" sz="800" dirty="0"/>
          </a:p>
        </p:txBody>
      </p:sp>
      <p:sp>
        <p:nvSpPr>
          <p:cNvPr id="17" name="Shape 15"/>
          <p:cNvSpPr/>
          <p:nvPr/>
        </p:nvSpPr>
        <p:spPr>
          <a:xfrm>
            <a:off x="179222" y="874166"/>
            <a:ext cx="3310128" cy="8705088"/>
          </a:xfrm>
          <a:prstGeom prst="rect">
            <a:avLst/>
          </a:prstGeom>
          <a:solidFill>
            <a:srgbClr val="D0DCE8"/>
          </a:solidFill>
          <a:ln w="12700">
            <a:solidFill>
              <a:srgbClr val="D0DCE8"/>
            </a:solidFill>
            <a:prstDash val="solid"/>
          </a:ln>
        </p:spPr>
      </p:sp>
      <p:sp>
        <p:nvSpPr>
          <p:cNvPr id="18" name="Shape 16"/>
          <p:cNvSpPr/>
          <p:nvPr/>
        </p:nvSpPr>
        <p:spPr>
          <a:xfrm>
            <a:off x="164592" y="859536"/>
            <a:ext cx="3310128" cy="8705088"/>
          </a:xfrm>
          <a:prstGeom prst="rect">
            <a:avLst/>
          </a:prstGeom>
          <a:solidFill>
            <a:srgbClr val="FFFFFF"/>
          </a:solidFill>
          <a:ln w="12700">
            <a:solidFill>
              <a:srgbClr val="C8D8E8"/>
            </a:solidFill>
            <a:prstDash val="solid"/>
          </a:ln>
        </p:spPr>
      </p:sp>
      <p:sp>
        <p:nvSpPr>
          <p:cNvPr id="19" name="Shape 17"/>
          <p:cNvSpPr/>
          <p:nvPr/>
        </p:nvSpPr>
        <p:spPr>
          <a:xfrm>
            <a:off x="164592" y="859536"/>
            <a:ext cx="3310128" cy="256032"/>
          </a:xfrm>
          <a:prstGeom prst="rect">
            <a:avLst/>
          </a:prstGeom>
          <a:solidFill>
            <a:srgbClr val="5A3A1A"/>
          </a:solidFill>
          <a:ln w="12700">
            <a:solidFill>
              <a:srgbClr val="5A3A1A"/>
            </a:solidFill>
            <a:prstDash val="solid"/>
          </a:ln>
        </p:spPr>
      </p:sp>
      <p:sp>
        <p:nvSpPr>
          <p:cNvPr id="20" name="Shape 18"/>
          <p:cNvSpPr/>
          <p:nvPr/>
        </p:nvSpPr>
        <p:spPr>
          <a:xfrm>
            <a:off x="164592" y="1115568"/>
            <a:ext cx="3310128" cy="146304"/>
          </a:xfrm>
          <a:prstGeom prst="rect">
            <a:avLst/>
          </a:prstGeom>
          <a:solidFill>
            <a:srgbClr val="EBF4FB"/>
          </a:solidFill>
          <a:ln w="12700">
            <a:solidFill>
              <a:srgbClr val="EBF4FB"/>
            </a:solidFill>
            <a:prstDash val="solid"/>
          </a:ln>
        </p:spPr>
      </p:sp>
      <p:sp>
        <p:nvSpPr>
          <p:cNvPr id="21" name="Text 19"/>
          <p:cNvSpPr/>
          <p:nvPr/>
        </p:nvSpPr>
        <p:spPr>
          <a:xfrm>
            <a:off x="256032" y="859536"/>
            <a:ext cx="3182112" cy="256032"/>
          </a:xfrm>
          <a:prstGeom prst="rect">
            <a:avLst/>
          </a:prstGeom>
          <a:noFill/>
          <a:ln/>
        </p:spPr>
        <p:txBody>
          <a:bodyPr wrap="square" lIns="0" tIns="0" rIns="0" bIns="0" rtlCol="0" anchor="ctr"/>
          <a:lstStyle/>
          <a:p>
            <a:pPr indent="0" marL="0">
              <a:buNone/>
            </a:pPr>
            <a:r>
              <a:rPr lang="en-US" sz="1050" b="1" dirty="0">
                <a:solidFill>
                  <a:srgbClr val="FFFFFF"/>
                </a:solidFill>
                <a:latin typeface="Georgia" pitchFamily="34" charset="0"/>
                <a:ea typeface="Georgia" pitchFamily="34" charset="-122"/>
                <a:cs typeface="Georgia" pitchFamily="34" charset="-120"/>
              </a:rPr>
              <a:t>📝  Vocabulary — 20 New Words</a:t>
            </a:r>
            <a:endParaRPr lang="en-US" sz="1050" dirty="0"/>
          </a:p>
        </p:txBody>
      </p:sp>
      <p:sp>
        <p:nvSpPr>
          <p:cNvPr id="22" name="Text 20"/>
          <p:cNvSpPr/>
          <p:nvPr/>
        </p:nvSpPr>
        <p:spPr>
          <a:xfrm>
            <a:off x="256032" y="1124712"/>
            <a:ext cx="3182112" cy="137160"/>
          </a:xfrm>
          <a:prstGeom prst="rect">
            <a:avLst/>
          </a:prstGeom>
          <a:noFill/>
          <a:ln/>
        </p:spPr>
        <p:txBody>
          <a:bodyPr wrap="square" lIns="0" tIns="0" rIns="0" bIns="0" rtlCol="0" anchor="ctr"/>
          <a:lstStyle/>
          <a:p>
            <a:pPr indent="0" marL="0">
              <a:buNone/>
            </a:pPr>
            <a:r>
              <a:rPr lang="en-US" sz="750" i="1" dirty="0">
                <a:solidFill>
                  <a:srgbClr val="3A5060"/>
                </a:solidFill>
                <a:latin typeface="Calibri" pitchFamily="34" charset="0"/>
                <a:ea typeface="Calibri" pitchFamily="34" charset="-122"/>
                <a:cs typeface="Calibri" pitchFamily="34" charset="-120"/>
              </a:rPr>
              <a:t>Read aloud 3 times · Cover Mongolian &amp; test yourself!</a:t>
            </a:r>
            <a:endParaRPr lang="en-US" sz="750" dirty="0"/>
          </a:p>
        </p:txBody>
      </p:sp>
      <p:graphicFrame>
        <p:nvGraphicFramePr>
          <p:cNvPr id="2" name="Table 0"/>
          <p:cNvGraphicFramePr>
            <a:graphicFrameLocks noGrp="1"/>
          </p:cNvGraphicFramePr>
          <p:nvPr>
            <p:extLst>
              <p:ext uri="{D42A27DB-BD31-4B8C-83A1-F6EECF244321}">
                <p14:modId xmlns:p14="http://schemas.microsoft.com/office/powerpoint/2010/main" val="1579011935"/>
              </p:ext>
            </p:extLst>
          </p:nvPr>
        </p:nvGraphicFramePr>
        <p:xfrm>
          <a:off x="219456" y="1289304"/>
          <a:ext cx="3200400" cy="914400"/>
        </p:xfrm>
        <a:graphic>
          <a:graphicData uri="http://schemas.openxmlformats.org/drawingml/2006/table">
            <a:tbl>
              <a:tblPr/>
              <a:tblGrid>
                <a:gridCol w="182880"/>
                <a:gridCol w="610819"/>
                <a:gridCol w="610819"/>
                <a:gridCol w="794065"/>
                <a:gridCol w="1038393"/>
              </a:tblGrid>
              <a:tr h="352044">
                <a:tc>
                  <a:txBody>
                    <a:bodyPr/>
                    <a:lstStyle/>
                    <a:p>
                      <a:pPr algn="ctr" indent="0" marL="0">
                        <a:buNone/>
                      </a:pPr>
                      <a:r>
                        <a:rPr lang="en-US" sz="750" b="1" dirty="0">
                          <a:solidFill>
                            <a:srgbClr val="FFFFFF"/>
                          </a:solidFill>
                          <a:latin typeface="Calibri" pitchFamily="34" charset="0"/>
                          <a:ea typeface="Calibri" pitchFamily="34" charset="-122"/>
                          <a:cs typeface="Calibri" pitchFamily="34" charset="-120"/>
                        </a:rPr>
                        <a:t>#</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5A3A1A"/>
                    </a:solidFill>
                  </a:tcPr>
                </a:tc>
                <a:tc>
                  <a:txBody>
                    <a:bodyPr/>
                    <a:lstStyle/>
                    <a:p>
                      <a:pPr algn="l" indent="0" marL="0">
                        <a:buNone/>
                      </a:pPr>
                      <a:r>
                        <a:rPr lang="en-US" sz="750" b="1" dirty="0">
                          <a:solidFill>
                            <a:srgbClr val="FFFFFF"/>
                          </a:solidFill>
                          <a:latin typeface="Calibri" pitchFamily="34" charset="0"/>
                          <a:ea typeface="Calibri" pitchFamily="34" charset="-122"/>
                          <a:cs typeface="Calibri" pitchFamily="34" charset="-120"/>
                        </a:rPr>
                        <a:t>English</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5A3A1A"/>
                    </a:solidFill>
                  </a:tcPr>
                </a:tc>
                <a:tc>
                  <a:txBody>
                    <a:bodyPr/>
                    <a:lstStyle/>
                    <a:p>
                      <a:pPr algn="l" indent="0" marL="0">
                        <a:buNone/>
                      </a:pPr>
                      <a:r>
                        <a:rPr lang="en-US" sz="750" b="1" dirty="0">
                          <a:solidFill>
                            <a:srgbClr val="FFFFFF"/>
                          </a:solidFill>
                          <a:latin typeface="Calibri" pitchFamily="34" charset="0"/>
                          <a:ea typeface="Calibri" pitchFamily="34" charset="-122"/>
                          <a:cs typeface="Calibri" pitchFamily="34" charset="-120"/>
                        </a:rPr>
                        <a:t>Pronunciation</a:t>
                      </a:r>
                      <a:endParaRPr lang="en-US" sz="750" dirty="0">
                        <a:latin typeface="Calibri" charset="0"/>
                        <a:ea typeface="Calibri" charset="0"/>
                        <a:cs typeface="Calibri" charset="0"/>
                      </a:endParaRPr>
                    </a:p>
                    <a:p>
                      <a:pPr algn="l" indent="0" marL="0">
                        <a:buNone/>
                      </a:pPr>
                      <a:r>
                        <a:rPr lang="en-US" sz="750" b="1" dirty="0">
                          <a:solidFill>
                            <a:srgbClr val="FFFFFF"/>
                          </a:solidFill>
                          <a:latin typeface="Calibri" pitchFamily="34" charset="0"/>
                          <a:ea typeface="Calibri" pitchFamily="34" charset="-122"/>
                          <a:cs typeface="Calibri" pitchFamily="34" charset="-120"/>
                        </a:rPr>
                        <a:t>Дуудлага</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5A3A1A"/>
                    </a:solidFill>
                  </a:tcPr>
                </a:tc>
                <a:tc>
                  <a:txBody>
                    <a:bodyPr/>
                    <a:lstStyle/>
                    <a:p>
                      <a:pPr algn="l" indent="0" marL="0">
                        <a:buNone/>
                      </a:pPr>
                      <a:r>
                        <a:rPr lang="en-US" sz="750" b="1" dirty="0">
                          <a:solidFill>
                            <a:srgbClr val="FFFFFF"/>
                          </a:solidFill>
                          <a:latin typeface="Calibri" pitchFamily="34" charset="0"/>
                          <a:ea typeface="Calibri" pitchFamily="34" charset="-122"/>
                          <a:cs typeface="Calibri" pitchFamily="34" charset="-120"/>
                        </a:rPr>
                        <a:t>Mongolian</a:t>
                      </a:r>
                      <a:endParaRPr lang="en-US" sz="750" dirty="0">
                        <a:latin typeface="Calibri" charset="0"/>
                        <a:ea typeface="Calibri" charset="0"/>
                        <a:cs typeface="Calibri" charset="0"/>
                      </a:endParaRPr>
                    </a:p>
                    <a:p>
                      <a:pPr algn="l" indent="0" marL="0">
                        <a:buNone/>
                      </a:pPr>
                      <a:r>
                        <a:rPr lang="en-US" sz="750" b="1" dirty="0">
                          <a:solidFill>
                            <a:srgbClr val="FFFFFF"/>
                          </a:solidFill>
                          <a:latin typeface="Calibri" pitchFamily="34" charset="0"/>
                          <a:ea typeface="Calibri" pitchFamily="34" charset="-122"/>
                          <a:cs typeface="Calibri" pitchFamily="34" charset="-120"/>
                        </a:rPr>
                        <a:t>Монгол</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5A3A1A"/>
                    </a:solidFill>
                  </a:tcPr>
                </a:tc>
                <a:tc>
                  <a:txBody>
                    <a:bodyPr/>
                    <a:lstStyle/>
                    <a:p>
                      <a:pPr algn="l" indent="0" marL="0">
                        <a:buNone/>
                      </a:pPr>
                      <a:r>
                        <a:rPr lang="en-US" sz="750" b="1" dirty="0">
                          <a:solidFill>
                            <a:srgbClr val="FFFFFF"/>
                          </a:solidFill>
                          <a:latin typeface="Calibri" pitchFamily="34" charset="0"/>
                          <a:ea typeface="Calibri" pitchFamily="34" charset="-122"/>
                          <a:cs typeface="Calibri" pitchFamily="34" charset="-120"/>
                        </a:rPr>
                        <a:t>Example sentence</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5A3A1A"/>
                    </a:solidFill>
                  </a:tcPr>
                </a:tc>
              </a:tr>
              <a:tr h="352044">
                <a:tc>
                  <a:txBody>
                    <a:bodyPr/>
                    <a:lstStyle/>
                    <a:p>
                      <a:pPr algn="ctr" indent="0" marL="0">
                        <a:buNone/>
                      </a:pPr>
                      <a:r>
                        <a:rPr lang="en-US" sz="750" dirty="0">
                          <a:solidFill>
                            <a:srgbClr val="7A90A0"/>
                          </a:solidFill>
                          <a:latin typeface="Calibri" pitchFamily="34" charset="0"/>
                          <a:ea typeface="Calibri" pitchFamily="34" charset="-122"/>
                          <a:cs typeface="Calibri" pitchFamily="34" charset="-120"/>
                        </a:rPr>
                        <a:t>1</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800" b="1" dirty="0">
                          <a:solidFill>
                            <a:srgbClr val="5A3A1A"/>
                          </a:solidFill>
                          <a:latin typeface="Calibri" pitchFamily="34" charset="0"/>
                          <a:ea typeface="Calibri" pitchFamily="34" charset="-122"/>
                          <a:cs typeface="Calibri" pitchFamily="34" charset="-120"/>
                        </a:rPr>
                        <a:t>born</a:t>
                      </a:r>
                      <a:endParaRPr lang="en-US" sz="8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50" i="1" dirty="0">
                          <a:solidFill>
                            <a:srgbClr val="3A5060"/>
                          </a:solidFill>
                          <a:latin typeface="Calibri" pitchFamily="34" charset="0"/>
                          <a:ea typeface="Calibri" pitchFamily="34" charset="-122"/>
                          <a:cs typeface="Calibri" pitchFamily="34" charset="-120"/>
                        </a:rPr>
                        <a:t>/bɔːrn/</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50" dirty="0">
                          <a:solidFill>
                            <a:srgbClr val="1A2A3A"/>
                          </a:solidFill>
                          <a:latin typeface="Calibri" pitchFamily="34" charset="0"/>
                          <a:ea typeface="Calibri" pitchFamily="34" charset="-122"/>
                          <a:cs typeface="Calibri" pitchFamily="34" charset="-120"/>
                        </a:rPr>
                        <a:t>төрсөн</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00" i="1" dirty="0">
                          <a:solidFill>
                            <a:srgbClr val="7A90A0"/>
                          </a:solidFill>
                          <a:latin typeface="Calibri" pitchFamily="34" charset="0"/>
                          <a:ea typeface="Calibri" pitchFamily="34" charset="-122"/>
                          <a:cs typeface="Calibri" pitchFamily="34" charset="-120"/>
                        </a:rPr>
                        <a:t>I was born in 2008.</a:t>
                      </a:r>
                      <a:endParaRPr lang="en-US" sz="7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r>
              <a:tr h="352044">
                <a:tc>
                  <a:txBody>
                    <a:bodyPr/>
                    <a:lstStyle/>
                    <a:p>
                      <a:pPr algn="ctr" indent="0" marL="0">
                        <a:buNone/>
                      </a:pPr>
                      <a:r>
                        <a:rPr lang="en-US" sz="750" dirty="0">
                          <a:solidFill>
                            <a:srgbClr val="7A90A0"/>
                          </a:solidFill>
                          <a:latin typeface="Calibri" pitchFamily="34" charset="0"/>
                          <a:ea typeface="Calibri" pitchFamily="34" charset="-122"/>
                          <a:cs typeface="Calibri" pitchFamily="34" charset="-120"/>
                        </a:rPr>
                        <a:t>2</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800" b="1" dirty="0">
                          <a:solidFill>
                            <a:srgbClr val="5A3A1A"/>
                          </a:solidFill>
                          <a:latin typeface="Calibri" pitchFamily="34" charset="0"/>
                          <a:ea typeface="Calibri" pitchFamily="34" charset="-122"/>
                          <a:cs typeface="Calibri" pitchFamily="34" charset="-120"/>
                        </a:rPr>
                        <a:t>grow up</a:t>
                      </a:r>
                      <a:endParaRPr lang="en-US" sz="8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750" i="1" dirty="0">
                          <a:solidFill>
                            <a:srgbClr val="3A5060"/>
                          </a:solidFill>
                          <a:latin typeface="Calibri" pitchFamily="34" charset="0"/>
                          <a:ea typeface="Calibri" pitchFamily="34" charset="-122"/>
                          <a:cs typeface="Calibri" pitchFamily="34" charset="-120"/>
                        </a:rPr>
                        <a:t>/ɡroʊ ʌp/</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750" dirty="0">
                          <a:solidFill>
                            <a:srgbClr val="1A2A3A"/>
                          </a:solidFill>
                          <a:latin typeface="Calibri" pitchFamily="34" charset="0"/>
                          <a:ea typeface="Calibri" pitchFamily="34" charset="-122"/>
                          <a:cs typeface="Calibri" pitchFamily="34" charset="-120"/>
                        </a:rPr>
                        <a:t>өсч томрох</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700" i="1" dirty="0">
                          <a:solidFill>
                            <a:srgbClr val="7A90A0"/>
                          </a:solidFill>
                          <a:latin typeface="Calibri" pitchFamily="34" charset="0"/>
                          <a:ea typeface="Calibri" pitchFamily="34" charset="-122"/>
                          <a:cs typeface="Calibri" pitchFamily="34" charset="-120"/>
                        </a:rPr>
                        <a:t>I grew up in Ulaanbaatar.</a:t>
                      </a:r>
                      <a:endParaRPr lang="en-US" sz="7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r>
              <a:tr h="352044">
                <a:tc>
                  <a:txBody>
                    <a:bodyPr/>
                    <a:lstStyle/>
                    <a:p>
                      <a:pPr algn="ctr" indent="0" marL="0">
                        <a:buNone/>
                      </a:pPr>
                      <a:r>
                        <a:rPr lang="en-US" sz="750" dirty="0">
                          <a:solidFill>
                            <a:srgbClr val="7A90A0"/>
                          </a:solidFill>
                          <a:latin typeface="Calibri" pitchFamily="34" charset="0"/>
                          <a:ea typeface="Calibri" pitchFamily="34" charset="-122"/>
                          <a:cs typeface="Calibri" pitchFamily="34" charset="-120"/>
                        </a:rPr>
                        <a:t>3</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800" b="1" dirty="0">
                          <a:solidFill>
                            <a:srgbClr val="5A3A1A"/>
                          </a:solidFill>
                          <a:latin typeface="Calibri" pitchFamily="34" charset="0"/>
                          <a:ea typeface="Calibri" pitchFamily="34" charset="-122"/>
                          <a:cs typeface="Calibri" pitchFamily="34" charset="-120"/>
                        </a:rPr>
                        <a:t>childhood</a:t>
                      </a:r>
                      <a:endParaRPr lang="en-US" sz="8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50" i="1" dirty="0">
                          <a:solidFill>
                            <a:srgbClr val="3A5060"/>
                          </a:solidFill>
                          <a:latin typeface="Calibri" pitchFamily="34" charset="0"/>
                          <a:ea typeface="Calibri" pitchFamily="34" charset="-122"/>
                          <a:cs typeface="Calibri" pitchFamily="34" charset="-120"/>
                        </a:rPr>
                        <a:t>/ˈtʃaɪldhʊd/</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50" dirty="0">
                          <a:solidFill>
                            <a:srgbClr val="1A2A3A"/>
                          </a:solidFill>
                          <a:latin typeface="Calibri" pitchFamily="34" charset="0"/>
                          <a:ea typeface="Calibri" pitchFamily="34" charset="-122"/>
                          <a:cs typeface="Calibri" pitchFamily="34" charset="-120"/>
                        </a:rPr>
                        <a:t>хүүхэд нас</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00" i="1" dirty="0">
                          <a:solidFill>
                            <a:srgbClr val="7A90A0"/>
                          </a:solidFill>
                          <a:latin typeface="Calibri" pitchFamily="34" charset="0"/>
                          <a:ea typeface="Calibri" pitchFamily="34" charset="-122"/>
                          <a:cs typeface="Calibri" pitchFamily="34" charset="-120"/>
                        </a:rPr>
                        <a:t>My childhood was very happy.</a:t>
                      </a:r>
                      <a:endParaRPr lang="en-US" sz="7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r>
              <a:tr h="352044">
                <a:tc>
                  <a:txBody>
                    <a:bodyPr/>
                    <a:lstStyle/>
                    <a:p>
                      <a:pPr algn="ctr" indent="0" marL="0">
                        <a:buNone/>
                      </a:pPr>
                      <a:r>
                        <a:rPr lang="en-US" sz="750" dirty="0">
                          <a:solidFill>
                            <a:srgbClr val="7A90A0"/>
                          </a:solidFill>
                          <a:latin typeface="Calibri" pitchFamily="34" charset="0"/>
                          <a:ea typeface="Calibri" pitchFamily="34" charset="-122"/>
                          <a:cs typeface="Calibri" pitchFamily="34" charset="-120"/>
                        </a:rPr>
                        <a:t>4</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800" b="1" dirty="0">
                          <a:solidFill>
                            <a:srgbClr val="5A3A1A"/>
                          </a:solidFill>
                          <a:latin typeface="Calibri" pitchFamily="34" charset="0"/>
                          <a:ea typeface="Calibri" pitchFamily="34" charset="-122"/>
                          <a:cs typeface="Calibri" pitchFamily="34" charset="-120"/>
                        </a:rPr>
                        <a:t>primary school</a:t>
                      </a:r>
                      <a:endParaRPr lang="en-US" sz="8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750" i="1" dirty="0">
                          <a:solidFill>
                            <a:srgbClr val="3A5060"/>
                          </a:solidFill>
                          <a:latin typeface="Calibri" pitchFamily="34" charset="0"/>
                          <a:ea typeface="Calibri" pitchFamily="34" charset="-122"/>
                          <a:cs typeface="Calibri" pitchFamily="34" charset="-120"/>
                        </a:rPr>
                        <a:t>/ˈpraɪməri skuːl/</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750" dirty="0">
                          <a:solidFill>
                            <a:srgbClr val="1A2A3A"/>
                          </a:solidFill>
                          <a:latin typeface="Calibri" pitchFamily="34" charset="0"/>
                          <a:ea typeface="Calibri" pitchFamily="34" charset="-122"/>
                          <a:cs typeface="Calibri" pitchFamily="34" charset="-120"/>
                        </a:rPr>
                        <a:t>бага сургууль</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700" i="1" dirty="0">
                          <a:solidFill>
                            <a:srgbClr val="7A90A0"/>
                          </a:solidFill>
                          <a:latin typeface="Calibri" pitchFamily="34" charset="0"/>
                          <a:ea typeface="Calibri" pitchFamily="34" charset="-122"/>
                          <a:cs typeface="Calibri" pitchFamily="34" charset="-120"/>
                        </a:rPr>
                        <a:t>I started primary school at age 6.</a:t>
                      </a:r>
                      <a:endParaRPr lang="en-US" sz="7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r>
              <a:tr h="352044">
                <a:tc>
                  <a:txBody>
                    <a:bodyPr/>
                    <a:lstStyle/>
                    <a:p>
                      <a:pPr algn="ctr" indent="0" marL="0">
                        <a:buNone/>
                      </a:pPr>
                      <a:r>
                        <a:rPr lang="en-US" sz="750" dirty="0">
                          <a:solidFill>
                            <a:srgbClr val="7A90A0"/>
                          </a:solidFill>
                          <a:latin typeface="Calibri" pitchFamily="34" charset="0"/>
                          <a:ea typeface="Calibri" pitchFamily="34" charset="-122"/>
                          <a:cs typeface="Calibri" pitchFamily="34" charset="-120"/>
                        </a:rPr>
                        <a:t>5</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800" b="1" dirty="0">
                          <a:solidFill>
                            <a:srgbClr val="5A3A1A"/>
                          </a:solidFill>
                          <a:latin typeface="Calibri" pitchFamily="34" charset="0"/>
                          <a:ea typeface="Calibri" pitchFamily="34" charset="-122"/>
                          <a:cs typeface="Calibri" pitchFamily="34" charset="-120"/>
                        </a:rPr>
                        <a:t>secondary school</a:t>
                      </a:r>
                      <a:endParaRPr lang="en-US" sz="8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50" i="1" dirty="0">
                          <a:solidFill>
                            <a:srgbClr val="3A5060"/>
                          </a:solidFill>
                          <a:latin typeface="Calibri" pitchFamily="34" charset="0"/>
                          <a:ea typeface="Calibri" pitchFamily="34" charset="-122"/>
                          <a:cs typeface="Calibri" pitchFamily="34" charset="-120"/>
                        </a:rPr>
                        <a:t>/ˈsɛkəndəri skuːl/</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50" dirty="0">
                          <a:solidFill>
                            <a:srgbClr val="1A2A3A"/>
                          </a:solidFill>
                          <a:latin typeface="Calibri" pitchFamily="34" charset="0"/>
                          <a:ea typeface="Calibri" pitchFamily="34" charset="-122"/>
                          <a:cs typeface="Calibri" pitchFamily="34" charset="-120"/>
                        </a:rPr>
                        <a:t>дунд сургууль</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00" i="1" dirty="0">
                          <a:solidFill>
                            <a:srgbClr val="7A90A0"/>
                          </a:solidFill>
                          <a:latin typeface="Calibri" pitchFamily="34" charset="0"/>
                          <a:ea typeface="Calibri" pitchFamily="34" charset="-122"/>
                          <a:cs typeface="Calibri" pitchFamily="34" charset="-120"/>
                        </a:rPr>
                        <a:t>I am in secondary school now.</a:t>
                      </a:r>
                      <a:endParaRPr lang="en-US" sz="7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r>
              <a:tr h="352044">
                <a:tc>
                  <a:txBody>
                    <a:bodyPr/>
                    <a:lstStyle/>
                    <a:p>
                      <a:pPr algn="ctr" indent="0" marL="0">
                        <a:buNone/>
                      </a:pPr>
                      <a:r>
                        <a:rPr lang="en-US" sz="750" dirty="0">
                          <a:solidFill>
                            <a:srgbClr val="7A90A0"/>
                          </a:solidFill>
                          <a:latin typeface="Calibri" pitchFamily="34" charset="0"/>
                          <a:ea typeface="Calibri" pitchFamily="34" charset="-122"/>
                          <a:cs typeface="Calibri" pitchFamily="34" charset="-120"/>
                        </a:rPr>
                        <a:t>6</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800" b="1" dirty="0">
                          <a:solidFill>
                            <a:srgbClr val="5A3A1A"/>
                          </a:solidFill>
                          <a:latin typeface="Calibri" pitchFamily="34" charset="0"/>
                          <a:ea typeface="Calibri" pitchFamily="34" charset="-122"/>
                          <a:cs typeface="Calibri" pitchFamily="34" charset="-120"/>
                        </a:rPr>
                        <a:t>move</a:t>
                      </a:r>
                      <a:endParaRPr lang="en-US" sz="8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750" i="1" dirty="0">
                          <a:solidFill>
                            <a:srgbClr val="3A5060"/>
                          </a:solidFill>
                          <a:latin typeface="Calibri" pitchFamily="34" charset="0"/>
                          <a:ea typeface="Calibri" pitchFamily="34" charset="-122"/>
                          <a:cs typeface="Calibri" pitchFamily="34" charset="-120"/>
                        </a:rPr>
                        <a:t>/muːv/</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750" dirty="0">
                          <a:solidFill>
                            <a:srgbClr val="1A2A3A"/>
                          </a:solidFill>
                          <a:latin typeface="Calibri" pitchFamily="34" charset="0"/>
                          <a:ea typeface="Calibri" pitchFamily="34" charset="-122"/>
                          <a:cs typeface="Calibri" pitchFamily="34" charset="-120"/>
                        </a:rPr>
                        <a:t>нүүх</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700" i="1" dirty="0">
                          <a:solidFill>
                            <a:srgbClr val="7A90A0"/>
                          </a:solidFill>
                          <a:latin typeface="Calibri" pitchFamily="34" charset="0"/>
                          <a:ea typeface="Calibri" pitchFamily="34" charset="-122"/>
                          <a:cs typeface="Calibri" pitchFamily="34" charset="-120"/>
                        </a:rPr>
                        <a:t>We moved to a new house in 2015.</a:t>
                      </a:r>
                      <a:endParaRPr lang="en-US" sz="7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r>
              <a:tr h="352044">
                <a:tc>
                  <a:txBody>
                    <a:bodyPr/>
                    <a:lstStyle/>
                    <a:p>
                      <a:pPr algn="ctr" indent="0" marL="0">
                        <a:buNone/>
                      </a:pPr>
                      <a:r>
                        <a:rPr lang="en-US" sz="750" dirty="0">
                          <a:solidFill>
                            <a:srgbClr val="7A90A0"/>
                          </a:solidFill>
                          <a:latin typeface="Calibri" pitchFamily="34" charset="0"/>
                          <a:ea typeface="Calibri" pitchFamily="34" charset="-122"/>
                          <a:cs typeface="Calibri" pitchFamily="34" charset="-120"/>
                        </a:rPr>
                        <a:t>7</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800" b="1" dirty="0">
                          <a:solidFill>
                            <a:srgbClr val="5A3A1A"/>
                          </a:solidFill>
                          <a:latin typeface="Calibri" pitchFamily="34" charset="0"/>
                          <a:ea typeface="Calibri" pitchFamily="34" charset="-122"/>
                          <a:cs typeface="Calibri" pitchFamily="34" charset="-120"/>
                        </a:rPr>
                        <a:t>remember</a:t>
                      </a:r>
                      <a:endParaRPr lang="en-US" sz="8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50" i="1" dirty="0">
                          <a:solidFill>
                            <a:srgbClr val="3A5060"/>
                          </a:solidFill>
                          <a:latin typeface="Calibri" pitchFamily="34" charset="0"/>
                          <a:ea typeface="Calibri" pitchFamily="34" charset="-122"/>
                          <a:cs typeface="Calibri" pitchFamily="34" charset="-120"/>
                        </a:rPr>
                        <a:t>/rɪˈmɛmbər/</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50" dirty="0">
                          <a:solidFill>
                            <a:srgbClr val="1A2A3A"/>
                          </a:solidFill>
                          <a:latin typeface="Calibri" pitchFamily="34" charset="0"/>
                          <a:ea typeface="Calibri" pitchFamily="34" charset="-122"/>
                          <a:cs typeface="Calibri" pitchFamily="34" charset="-120"/>
                        </a:rPr>
                        <a:t>санах</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00" i="1" dirty="0">
                          <a:solidFill>
                            <a:srgbClr val="7A90A0"/>
                          </a:solidFill>
                          <a:latin typeface="Calibri" pitchFamily="34" charset="0"/>
                          <a:ea typeface="Calibri" pitchFamily="34" charset="-122"/>
                          <a:cs typeface="Calibri" pitchFamily="34" charset="-120"/>
                        </a:rPr>
                        <a:t>I remember my first day at school.</a:t>
                      </a:r>
                      <a:endParaRPr lang="en-US" sz="7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r>
              <a:tr h="352044">
                <a:tc>
                  <a:txBody>
                    <a:bodyPr/>
                    <a:lstStyle/>
                    <a:p>
                      <a:pPr algn="ctr" indent="0" marL="0">
                        <a:buNone/>
                      </a:pPr>
                      <a:r>
                        <a:rPr lang="en-US" sz="750" dirty="0">
                          <a:solidFill>
                            <a:srgbClr val="7A90A0"/>
                          </a:solidFill>
                          <a:latin typeface="Calibri" pitchFamily="34" charset="0"/>
                          <a:ea typeface="Calibri" pitchFamily="34" charset="-122"/>
                          <a:cs typeface="Calibri" pitchFamily="34" charset="-120"/>
                        </a:rPr>
                        <a:t>8</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800" b="1" dirty="0">
                          <a:solidFill>
                            <a:srgbClr val="5A3A1A"/>
                          </a:solidFill>
                          <a:latin typeface="Calibri" pitchFamily="34" charset="0"/>
                          <a:ea typeface="Calibri" pitchFamily="34" charset="-122"/>
                          <a:cs typeface="Calibri" pitchFamily="34" charset="-120"/>
                        </a:rPr>
                        <a:t>forget</a:t>
                      </a:r>
                      <a:endParaRPr lang="en-US" sz="8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750" i="1" dirty="0">
                          <a:solidFill>
                            <a:srgbClr val="3A5060"/>
                          </a:solidFill>
                          <a:latin typeface="Calibri" pitchFamily="34" charset="0"/>
                          <a:ea typeface="Calibri" pitchFamily="34" charset="-122"/>
                          <a:cs typeface="Calibri" pitchFamily="34" charset="-120"/>
                        </a:rPr>
                        <a:t>/fərˈɡɛt/</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750" dirty="0">
                          <a:solidFill>
                            <a:srgbClr val="1A2A3A"/>
                          </a:solidFill>
                          <a:latin typeface="Calibri" pitchFamily="34" charset="0"/>
                          <a:ea typeface="Calibri" pitchFamily="34" charset="-122"/>
                          <a:cs typeface="Calibri" pitchFamily="34" charset="-120"/>
                        </a:rPr>
                        <a:t>мартах</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700" i="1" dirty="0">
                          <a:solidFill>
                            <a:srgbClr val="7A90A0"/>
                          </a:solidFill>
                          <a:latin typeface="Calibri" pitchFamily="34" charset="0"/>
                          <a:ea typeface="Calibri" pitchFamily="34" charset="-122"/>
                          <a:cs typeface="Calibri" pitchFamily="34" charset="-120"/>
                        </a:rPr>
                        <a:t>I will never forget that day.</a:t>
                      </a:r>
                      <a:endParaRPr lang="en-US" sz="7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r>
              <a:tr h="352044">
                <a:tc>
                  <a:txBody>
                    <a:bodyPr/>
                    <a:lstStyle/>
                    <a:p>
                      <a:pPr algn="ctr" indent="0" marL="0">
                        <a:buNone/>
                      </a:pPr>
                      <a:r>
                        <a:rPr lang="en-US" sz="750" dirty="0">
                          <a:solidFill>
                            <a:srgbClr val="7A90A0"/>
                          </a:solidFill>
                          <a:latin typeface="Calibri" pitchFamily="34" charset="0"/>
                          <a:ea typeface="Calibri" pitchFamily="34" charset="-122"/>
                          <a:cs typeface="Calibri" pitchFamily="34" charset="-120"/>
                        </a:rPr>
                        <a:t>9</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800" b="1" dirty="0">
                          <a:solidFill>
                            <a:srgbClr val="5A3A1A"/>
                          </a:solidFill>
                          <a:latin typeface="Calibri" pitchFamily="34" charset="0"/>
                          <a:ea typeface="Calibri" pitchFamily="34" charset="-122"/>
                          <a:cs typeface="Calibri" pitchFamily="34" charset="-120"/>
                        </a:rPr>
                        <a:t>exciting</a:t>
                      </a:r>
                      <a:endParaRPr lang="en-US" sz="8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50" i="1" dirty="0">
                          <a:solidFill>
                            <a:srgbClr val="3A5060"/>
                          </a:solidFill>
                          <a:latin typeface="Calibri" pitchFamily="34" charset="0"/>
                          <a:ea typeface="Calibri" pitchFamily="34" charset="-122"/>
                          <a:cs typeface="Calibri" pitchFamily="34" charset="-120"/>
                        </a:rPr>
                        <a:t>/ɪkˈsaɪtɪŋ/</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50" dirty="0">
                          <a:solidFill>
                            <a:srgbClr val="1A2A3A"/>
                          </a:solidFill>
                          <a:latin typeface="Calibri" pitchFamily="34" charset="0"/>
                          <a:ea typeface="Calibri" pitchFamily="34" charset="-122"/>
                          <a:cs typeface="Calibri" pitchFamily="34" charset="-120"/>
                        </a:rPr>
                        <a:t>сэтгэл хөдлөгдөм</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00" i="1" dirty="0">
                          <a:solidFill>
                            <a:srgbClr val="7A90A0"/>
                          </a:solidFill>
                          <a:latin typeface="Calibri" pitchFamily="34" charset="0"/>
                          <a:ea typeface="Calibri" pitchFamily="34" charset="-122"/>
                          <a:cs typeface="Calibri" pitchFamily="34" charset="-120"/>
                        </a:rPr>
                        <a:t>It was an exciting year.</a:t>
                      </a:r>
                      <a:endParaRPr lang="en-US" sz="7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r>
              <a:tr h="352044">
                <a:tc>
                  <a:txBody>
                    <a:bodyPr/>
                    <a:lstStyle/>
                    <a:p>
                      <a:pPr algn="ctr" indent="0" marL="0">
                        <a:buNone/>
                      </a:pPr>
                      <a:r>
                        <a:rPr lang="en-US" sz="750" dirty="0">
                          <a:solidFill>
                            <a:srgbClr val="7A90A0"/>
                          </a:solidFill>
                          <a:latin typeface="Calibri" pitchFamily="34" charset="0"/>
                          <a:ea typeface="Calibri" pitchFamily="34" charset="-122"/>
                          <a:cs typeface="Calibri" pitchFamily="34" charset="-120"/>
                        </a:rPr>
                        <a:t>10</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800" b="1" dirty="0">
                          <a:solidFill>
                            <a:srgbClr val="5A3A1A"/>
                          </a:solidFill>
                          <a:latin typeface="Calibri" pitchFamily="34" charset="0"/>
                          <a:ea typeface="Calibri" pitchFamily="34" charset="-122"/>
                          <a:cs typeface="Calibri" pitchFamily="34" charset="-120"/>
                        </a:rPr>
                        <a:t>difficult</a:t>
                      </a:r>
                      <a:endParaRPr lang="en-US" sz="8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750" i="1" dirty="0">
                          <a:solidFill>
                            <a:srgbClr val="3A5060"/>
                          </a:solidFill>
                          <a:latin typeface="Calibri" pitchFamily="34" charset="0"/>
                          <a:ea typeface="Calibri" pitchFamily="34" charset="-122"/>
                          <a:cs typeface="Calibri" pitchFamily="34" charset="-120"/>
                        </a:rPr>
                        <a:t>/ˈdɪfɪkəlt/</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750" dirty="0">
                          <a:solidFill>
                            <a:srgbClr val="1A2A3A"/>
                          </a:solidFill>
                          <a:latin typeface="Calibri" pitchFamily="34" charset="0"/>
                          <a:ea typeface="Calibri" pitchFamily="34" charset="-122"/>
                          <a:cs typeface="Calibri" pitchFamily="34" charset="-120"/>
                        </a:rPr>
                        <a:t>хэцүү</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700" i="1" dirty="0">
                          <a:solidFill>
                            <a:srgbClr val="7A90A0"/>
                          </a:solidFill>
                          <a:latin typeface="Calibri" pitchFamily="34" charset="0"/>
                          <a:ea typeface="Calibri" pitchFamily="34" charset="-122"/>
                          <a:cs typeface="Calibri" pitchFamily="34" charset="-120"/>
                        </a:rPr>
                        <a:t>That year was very difficult.</a:t>
                      </a:r>
                      <a:endParaRPr lang="en-US" sz="7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r>
              <a:tr h="352044">
                <a:tc>
                  <a:txBody>
                    <a:bodyPr/>
                    <a:lstStyle/>
                    <a:p>
                      <a:pPr algn="ctr" indent="0" marL="0">
                        <a:buNone/>
                      </a:pPr>
                      <a:r>
                        <a:rPr lang="en-US" sz="750" dirty="0">
                          <a:solidFill>
                            <a:srgbClr val="7A90A0"/>
                          </a:solidFill>
                          <a:latin typeface="Calibri" pitchFamily="34" charset="0"/>
                          <a:ea typeface="Calibri" pitchFamily="34" charset="-122"/>
                          <a:cs typeface="Calibri" pitchFamily="34" charset="-120"/>
                        </a:rPr>
                        <a:t>11</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800" b="1" dirty="0">
                          <a:solidFill>
                            <a:srgbClr val="5A3A1A"/>
                          </a:solidFill>
                          <a:latin typeface="Calibri" pitchFamily="34" charset="0"/>
                          <a:ea typeface="Calibri" pitchFamily="34" charset="-122"/>
                          <a:cs typeface="Calibri" pitchFamily="34" charset="-120"/>
                        </a:rPr>
                        <a:t>suddenly</a:t>
                      </a:r>
                      <a:endParaRPr lang="en-US" sz="8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50" i="1" dirty="0">
                          <a:solidFill>
                            <a:srgbClr val="3A5060"/>
                          </a:solidFill>
                          <a:latin typeface="Calibri" pitchFamily="34" charset="0"/>
                          <a:ea typeface="Calibri" pitchFamily="34" charset="-122"/>
                          <a:cs typeface="Calibri" pitchFamily="34" charset="-120"/>
                        </a:rPr>
                        <a:t>/ˈsʌdənli/</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50" dirty="0">
                          <a:solidFill>
                            <a:srgbClr val="1A2A3A"/>
                          </a:solidFill>
                          <a:latin typeface="Calibri" pitchFamily="34" charset="0"/>
                          <a:ea typeface="Calibri" pitchFamily="34" charset="-122"/>
                          <a:cs typeface="Calibri" pitchFamily="34" charset="-120"/>
                        </a:rPr>
                        <a:t>гэнэт</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00" i="1" dirty="0">
                          <a:solidFill>
                            <a:srgbClr val="7A90A0"/>
                          </a:solidFill>
                          <a:latin typeface="Calibri" pitchFamily="34" charset="0"/>
                          <a:ea typeface="Calibri" pitchFamily="34" charset="-122"/>
                          <a:cs typeface="Calibri" pitchFamily="34" charset="-120"/>
                        </a:rPr>
                        <a:t>Suddenly, everything changed.</a:t>
                      </a:r>
                      <a:endParaRPr lang="en-US" sz="7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r>
              <a:tr h="352044">
                <a:tc>
                  <a:txBody>
                    <a:bodyPr/>
                    <a:lstStyle/>
                    <a:p>
                      <a:pPr algn="ctr" indent="0" marL="0">
                        <a:buNone/>
                      </a:pPr>
                      <a:r>
                        <a:rPr lang="en-US" sz="750" dirty="0">
                          <a:solidFill>
                            <a:srgbClr val="7A90A0"/>
                          </a:solidFill>
                          <a:latin typeface="Calibri" pitchFamily="34" charset="0"/>
                          <a:ea typeface="Calibri" pitchFamily="34" charset="-122"/>
                          <a:cs typeface="Calibri" pitchFamily="34" charset="-120"/>
                        </a:rPr>
                        <a:t>12</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800" b="1" dirty="0">
                          <a:solidFill>
                            <a:srgbClr val="5A3A1A"/>
                          </a:solidFill>
                          <a:latin typeface="Calibri" pitchFamily="34" charset="0"/>
                          <a:ea typeface="Calibri" pitchFamily="34" charset="-122"/>
                          <a:cs typeface="Calibri" pitchFamily="34" charset="-120"/>
                        </a:rPr>
                        <a:t>finally</a:t>
                      </a:r>
                      <a:endParaRPr lang="en-US" sz="8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750" i="1" dirty="0">
                          <a:solidFill>
                            <a:srgbClr val="3A5060"/>
                          </a:solidFill>
                          <a:latin typeface="Calibri" pitchFamily="34" charset="0"/>
                          <a:ea typeface="Calibri" pitchFamily="34" charset="-122"/>
                          <a:cs typeface="Calibri" pitchFamily="34" charset="-120"/>
                        </a:rPr>
                        <a:t>/ˈfaɪnəli/</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750" dirty="0">
                          <a:solidFill>
                            <a:srgbClr val="1A2A3A"/>
                          </a:solidFill>
                          <a:latin typeface="Calibri" pitchFamily="34" charset="0"/>
                          <a:ea typeface="Calibri" pitchFamily="34" charset="-122"/>
                          <a:cs typeface="Calibri" pitchFamily="34" charset="-120"/>
                        </a:rPr>
                        <a:t>эцэст нь</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700" i="1" dirty="0">
                          <a:solidFill>
                            <a:srgbClr val="7A90A0"/>
                          </a:solidFill>
                          <a:latin typeface="Calibri" pitchFamily="34" charset="0"/>
                          <a:ea typeface="Calibri" pitchFamily="34" charset="-122"/>
                          <a:cs typeface="Calibri" pitchFamily="34" charset="-120"/>
                        </a:rPr>
                        <a:t>Finally, I passed the exam!</a:t>
                      </a:r>
                      <a:endParaRPr lang="en-US" sz="7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r>
              <a:tr h="352044">
                <a:tc>
                  <a:txBody>
                    <a:bodyPr/>
                    <a:lstStyle/>
                    <a:p>
                      <a:pPr algn="ctr" indent="0" marL="0">
                        <a:buNone/>
                      </a:pPr>
                      <a:r>
                        <a:rPr lang="en-US" sz="750" dirty="0">
                          <a:solidFill>
                            <a:srgbClr val="7A90A0"/>
                          </a:solidFill>
                          <a:latin typeface="Calibri" pitchFamily="34" charset="0"/>
                          <a:ea typeface="Calibri" pitchFamily="34" charset="-122"/>
                          <a:cs typeface="Calibri" pitchFamily="34" charset="-120"/>
                        </a:rPr>
                        <a:t>13</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800" b="1" dirty="0">
                          <a:solidFill>
                            <a:srgbClr val="5A3A1A"/>
                          </a:solidFill>
                          <a:latin typeface="Calibri" pitchFamily="34" charset="0"/>
                          <a:ea typeface="Calibri" pitchFamily="34" charset="-122"/>
                          <a:cs typeface="Calibri" pitchFamily="34" charset="-120"/>
                        </a:rPr>
                        <a:t>at first</a:t>
                      </a:r>
                      <a:endParaRPr lang="en-US" sz="8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50" i="1" dirty="0">
                          <a:solidFill>
                            <a:srgbClr val="3A5060"/>
                          </a:solidFill>
                          <a:latin typeface="Calibri" pitchFamily="34" charset="0"/>
                          <a:ea typeface="Calibri" pitchFamily="34" charset="-122"/>
                          <a:cs typeface="Calibri" pitchFamily="34" charset="-120"/>
                        </a:rPr>
                        <a:t>/æt fɜːrst/</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50" dirty="0">
                          <a:solidFill>
                            <a:srgbClr val="1A2A3A"/>
                          </a:solidFill>
                          <a:latin typeface="Calibri" pitchFamily="34" charset="0"/>
                          <a:ea typeface="Calibri" pitchFamily="34" charset="-122"/>
                          <a:cs typeface="Calibri" pitchFamily="34" charset="-120"/>
                        </a:rPr>
                        <a:t>эхэндээ</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00" i="1" dirty="0">
                          <a:solidFill>
                            <a:srgbClr val="7A90A0"/>
                          </a:solidFill>
                          <a:latin typeface="Calibri" pitchFamily="34" charset="0"/>
                          <a:ea typeface="Calibri" pitchFamily="34" charset="-122"/>
                          <a:cs typeface="Calibri" pitchFamily="34" charset="-120"/>
                        </a:rPr>
                        <a:t>At first, English was hard.</a:t>
                      </a:r>
                      <a:endParaRPr lang="en-US" sz="7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r>
              <a:tr h="352044">
                <a:tc>
                  <a:txBody>
                    <a:bodyPr/>
                    <a:lstStyle/>
                    <a:p>
                      <a:pPr algn="ctr" indent="0" marL="0">
                        <a:buNone/>
                      </a:pPr>
                      <a:r>
                        <a:rPr lang="en-US" sz="750" dirty="0">
                          <a:solidFill>
                            <a:srgbClr val="7A90A0"/>
                          </a:solidFill>
                          <a:latin typeface="Calibri" pitchFamily="34" charset="0"/>
                          <a:ea typeface="Calibri" pitchFamily="34" charset="-122"/>
                          <a:cs typeface="Calibri" pitchFamily="34" charset="-120"/>
                        </a:rPr>
                        <a:t>14</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800" b="1" dirty="0">
                          <a:solidFill>
                            <a:srgbClr val="5A3A1A"/>
                          </a:solidFill>
                          <a:latin typeface="Calibri" pitchFamily="34" charset="0"/>
                          <a:ea typeface="Calibri" pitchFamily="34" charset="-122"/>
                          <a:cs typeface="Calibri" pitchFamily="34" charset="-120"/>
                        </a:rPr>
                        <a:t>then</a:t>
                      </a:r>
                      <a:endParaRPr lang="en-US" sz="8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750" i="1" dirty="0">
                          <a:solidFill>
                            <a:srgbClr val="3A5060"/>
                          </a:solidFill>
                          <a:latin typeface="Calibri" pitchFamily="34" charset="0"/>
                          <a:ea typeface="Calibri" pitchFamily="34" charset="-122"/>
                          <a:cs typeface="Calibri" pitchFamily="34" charset="-120"/>
                        </a:rPr>
                        <a:t>/ðɛn/</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750" dirty="0">
                          <a:solidFill>
                            <a:srgbClr val="1A2A3A"/>
                          </a:solidFill>
                          <a:latin typeface="Calibri" pitchFamily="34" charset="0"/>
                          <a:ea typeface="Calibri" pitchFamily="34" charset="-122"/>
                          <a:cs typeface="Calibri" pitchFamily="34" charset="-120"/>
                        </a:rPr>
                        <a:t>дараа нь</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700" i="1" dirty="0">
                          <a:solidFill>
                            <a:srgbClr val="7A90A0"/>
                          </a:solidFill>
                          <a:latin typeface="Calibri" pitchFamily="34" charset="0"/>
                          <a:ea typeface="Calibri" pitchFamily="34" charset="-122"/>
                          <a:cs typeface="Calibri" pitchFamily="34" charset="-120"/>
                        </a:rPr>
                        <a:t>Then it became much easier.</a:t>
                      </a:r>
                      <a:endParaRPr lang="en-US" sz="7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r>
              <a:tr h="352044">
                <a:tc>
                  <a:txBody>
                    <a:bodyPr/>
                    <a:lstStyle/>
                    <a:p>
                      <a:pPr algn="ctr" indent="0" marL="0">
                        <a:buNone/>
                      </a:pPr>
                      <a:r>
                        <a:rPr lang="en-US" sz="750" dirty="0">
                          <a:solidFill>
                            <a:srgbClr val="7A90A0"/>
                          </a:solidFill>
                          <a:latin typeface="Calibri" pitchFamily="34" charset="0"/>
                          <a:ea typeface="Calibri" pitchFamily="34" charset="-122"/>
                          <a:cs typeface="Calibri" pitchFamily="34" charset="-120"/>
                        </a:rPr>
                        <a:t>15</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800" b="1" dirty="0">
                          <a:solidFill>
                            <a:srgbClr val="5A3A1A"/>
                          </a:solidFill>
                          <a:latin typeface="Calibri" pitchFamily="34" charset="0"/>
                          <a:ea typeface="Calibri" pitchFamily="34" charset="-122"/>
                          <a:cs typeface="Calibri" pitchFamily="34" charset="-120"/>
                        </a:rPr>
                        <a:t>after that</a:t>
                      </a:r>
                      <a:endParaRPr lang="en-US" sz="8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50" i="1" dirty="0">
                          <a:solidFill>
                            <a:srgbClr val="3A5060"/>
                          </a:solidFill>
                          <a:latin typeface="Calibri" pitchFamily="34" charset="0"/>
                          <a:ea typeface="Calibri" pitchFamily="34" charset="-122"/>
                          <a:cs typeface="Calibri" pitchFamily="34" charset="-120"/>
                        </a:rPr>
                        <a:t>/ˈɑːftər ðæt/</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50" dirty="0">
                          <a:solidFill>
                            <a:srgbClr val="1A2A3A"/>
                          </a:solidFill>
                          <a:latin typeface="Calibri" pitchFamily="34" charset="0"/>
                          <a:ea typeface="Calibri" pitchFamily="34" charset="-122"/>
                          <a:cs typeface="Calibri" pitchFamily="34" charset="-120"/>
                        </a:rPr>
                        <a:t>үүний дараа</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00" i="1" dirty="0">
                          <a:solidFill>
                            <a:srgbClr val="7A90A0"/>
                          </a:solidFill>
                          <a:latin typeface="Calibri" pitchFamily="34" charset="0"/>
                          <a:ea typeface="Calibri" pitchFamily="34" charset="-122"/>
                          <a:cs typeface="Calibri" pitchFamily="34" charset="-120"/>
                        </a:rPr>
                        <a:t>After that, I loved it!</a:t>
                      </a:r>
                      <a:endParaRPr lang="en-US" sz="7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r>
              <a:tr h="352044">
                <a:tc>
                  <a:txBody>
                    <a:bodyPr/>
                    <a:lstStyle/>
                    <a:p>
                      <a:pPr algn="ctr" indent="0" marL="0">
                        <a:buNone/>
                      </a:pPr>
                      <a:r>
                        <a:rPr lang="en-US" sz="750" dirty="0">
                          <a:solidFill>
                            <a:srgbClr val="7A90A0"/>
                          </a:solidFill>
                          <a:latin typeface="Calibri" pitchFamily="34" charset="0"/>
                          <a:ea typeface="Calibri" pitchFamily="34" charset="-122"/>
                          <a:cs typeface="Calibri" pitchFamily="34" charset="-120"/>
                        </a:rPr>
                        <a:t>16</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800" b="1" dirty="0">
                          <a:solidFill>
                            <a:srgbClr val="5A3A1A"/>
                          </a:solidFill>
                          <a:latin typeface="Calibri" pitchFamily="34" charset="0"/>
                          <a:ea typeface="Calibri" pitchFamily="34" charset="-122"/>
                          <a:cs typeface="Calibri" pitchFamily="34" charset="-120"/>
                        </a:rPr>
                        <a:t>story</a:t>
                      </a:r>
                      <a:endParaRPr lang="en-US" sz="8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750" i="1" dirty="0">
                          <a:solidFill>
                            <a:srgbClr val="3A5060"/>
                          </a:solidFill>
                          <a:latin typeface="Calibri" pitchFamily="34" charset="0"/>
                          <a:ea typeface="Calibri" pitchFamily="34" charset="-122"/>
                          <a:cs typeface="Calibri" pitchFamily="34" charset="-120"/>
                        </a:rPr>
                        <a:t>/ˈstɔːri/</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750" dirty="0">
                          <a:solidFill>
                            <a:srgbClr val="1A2A3A"/>
                          </a:solidFill>
                          <a:latin typeface="Calibri" pitchFamily="34" charset="0"/>
                          <a:ea typeface="Calibri" pitchFamily="34" charset="-122"/>
                          <a:cs typeface="Calibri" pitchFamily="34" charset="-120"/>
                        </a:rPr>
                        <a:t>түүх</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700" i="1" dirty="0">
                          <a:solidFill>
                            <a:srgbClr val="7A90A0"/>
                          </a:solidFill>
                          <a:latin typeface="Calibri" pitchFamily="34" charset="0"/>
                          <a:ea typeface="Calibri" pitchFamily="34" charset="-122"/>
                          <a:cs typeface="Calibri" pitchFamily="34" charset="-120"/>
                        </a:rPr>
                        <a:t>Tell me your story.</a:t>
                      </a:r>
                      <a:endParaRPr lang="en-US" sz="7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r>
              <a:tr h="352044">
                <a:tc>
                  <a:txBody>
                    <a:bodyPr/>
                    <a:lstStyle/>
                    <a:p>
                      <a:pPr algn="ctr" indent="0" marL="0">
                        <a:buNone/>
                      </a:pPr>
                      <a:r>
                        <a:rPr lang="en-US" sz="750" dirty="0">
                          <a:solidFill>
                            <a:srgbClr val="7A90A0"/>
                          </a:solidFill>
                          <a:latin typeface="Calibri" pitchFamily="34" charset="0"/>
                          <a:ea typeface="Calibri" pitchFamily="34" charset="-122"/>
                          <a:cs typeface="Calibri" pitchFamily="34" charset="-120"/>
                        </a:rPr>
                        <a:t>17</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800" b="1" dirty="0">
                          <a:solidFill>
                            <a:srgbClr val="5A3A1A"/>
                          </a:solidFill>
                          <a:latin typeface="Calibri" pitchFamily="34" charset="0"/>
                          <a:ea typeface="Calibri" pitchFamily="34" charset="-122"/>
                          <a:cs typeface="Calibri" pitchFamily="34" charset="-120"/>
                        </a:rPr>
                        <a:t>experience</a:t>
                      </a:r>
                      <a:endParaRPr lang="en-US" sz="8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50" i="1" dirty="0">
                          <a:solidFill>
                            <a:srgbClr val="3A5060"/>
                          </a:solidFill>
                          <a:latin typeface="Calibri" pitchFamily="34" charset="0"/>
                          <a:ea typeface="Calibri" pitchFamily="34" charset="-122"/>
                          <a:cs typeface="Calibri" pitchFamily="34" charset="-120"/>
                        </a:rPr>
                        <a:t>/ɪkˈspɪəriəns/</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50" dirty="0">
                          <a:solidFill>
                            <a:srgbClr val="1A2A3A"/>
                          </a:solidFill>
                          <a:latin typeface="Calibri" pitchFamily="34" charset="0"/>
                          <a:ea typeface="Calibri" pitchFamily="34" charset="-122"/>
                          <a:cs typeface="Calibri" pitchFamily="34" charset="-120"/>
                        </a:rPr>
                        <a:t>туршлага</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00" i="1" dirty="0">
                          <a:solidFill>
                            <a:srgbClr val="7A90A0"/>
                          </a:solidFill>
                          <a:latin typeface="Calibri" pitchFamily="34" charset="0"/>
                          <a:ea typeface="Calibri" pitchFamily="34" charset="-122"/>
                          <a:cs typeface="Calibri" pitchFamily="34" charset="-120"/>
                        </a:rPr>
                        <a:t>That was a great experience.</a:t>
                      </a:r>
                      <a:endParaRPr lang="en-US" sz="7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r>
              <a:tr h="352044">
                <a:tc>
                  <a:txBody>
                    <a:bodyPr/>
                    <a:lstStyle/>
                    <a:p>
                      <a:pPr algn="ctr" indent="0" marL="0">
                        <a:buNone/>
                      </a:pPr>
                      <a:r>
                        <a:rPr lang="en-US" sz="750" dirty="0">
                          <a:solidFill>
                            <a:srgbClr val="7A90A0"/>
                          </a:solidFill>
                          <a:latin typeface="Calibri" pitchFamily="34" charset="0"/>
                          <a:ea typeface="Calibri" pitchFamily="34" charset="-122"/>
                          <a:cs typeface="Calibri" pitchFamily="34" charset="-120"/>
                        </a:rPr>
                        <a:t>18</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800" b="1" dirty="0">
                          <a:solidFill>
                            <a:srgbClr val="5A3A1A"/>
                          </a:solidFill>
                          <a:latin typeface="Calibri" pitchFamily="34" charset="0"/>
                          <a:ea typeface="Calibri" pitchFamily="34" charset="-122"/>
                          <a:cs typeface="Calibri" pitchFamily="34" charset="-120"/>
                        </a:rPr>
                        <a:t>important</a:t>
                      </a:r>
                      <a:endParaRPr lang="en-US" sz="8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750" i="1" dirty="0">
                          <a:solidFill>
                            <a:srgbClr val="3A5060"/>
                          </a:solidFill>
                          <a:latin typeface="Calibri" pitchFamily="34" charset="0"/>
                          <a:ea typeface="Calibri" pitchFamily="34" charset="-122"/>
                          <a:cs typeface="Calibri" pitchFamily="34" charset="-120"/>
                        </a:rPr>
                        <a:t>/ɪmˈpɔːrtənt/</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750" dirty="0">
                          <a:solidFill>
                            <a:srgbClr val="1A2A3A"/>
                          </a:solidFill>
                          <a:latin typeface="Calibri" pitchFamily="34" charset="0"/>
                          <a:ea typeface="Calibri" pitchFamily="34" charset="-122"/>
                          <a:cs typeface="Calibri" pitchFamily="34" charset="-120"/>
                        </a:rPr>
                        <a:t>чухал</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700" i="1" dirty="0">
                          <a:solidFill>
                            <a:srgbClr val="7A90A0"/>
                          </a:solidFill>
                          <a:latin typeface="Calibri" pitchFamily="34" charset="0"/>
                          <a:ea typeface="Calibri" pitchFamily="34" charset="-122"/>
                          <a:cs typeface="Calibri" pitchFamily="34" charset="-120"/>
                        </a:rPr>
                        <a:t>English became very important.</a:t>
                      </a:r>
                      <a:endParaRPr lang="en-US" sz="7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r>
              <a:tr h="352044">
                <a:tc>
                  <a:txBody>
                    <a:bodyPr/>
                    <a:lstStyle/>
                    <a:p>
                      <a:pPr algn="ctr" indent="0" marL="0">
                        <a:buNone/>
                      </a:pPr>
                      <a:r>
                        <a:rPr lang="en-US" sz="750" dirty="0">
                          <a:solidFill>
                            <a:srgbClr val="7A90A0"/>
                          </a:solidFill>
                          <a:latin typeface="Calibri" pitchFamily="34" charset="0"/>
                          <a:ea typeface="Calibri" pitchFamily="34" charset="-122"/>
                          <a:cs typeface="Calibri" pitchFamily="34" charset="-120"/>
                        </a:rPr>
                        <a:t>19</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800" b="1" dirty="0">
                          <a:solidFill>
                            <a:srgbClr val="5A3A1A"/>
                          </a:solidFill>
                          <a:latin typeface="Calibri" pitchFamily="34" charset="0"/>
                          <a:ea typeface="Calibri" pitchFamily="34" charset="-122"/>
                          <a:cs typeface="Calibri" pitchFamily="34" charset="-120"/>
                        </a:rPr>
                        <a:t>past</a:t>
                      </a:r>
                      <a:endParaRPr lang="en-US" sz="8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50" i="1" dirty="0">
                          <a:solidFill>
                            <a:srgbClr val="3A5060"/>
                          </a:solidFill>
                          <a:latin typeface="Calibri" pitchFamily="34" charset="0"/>
                          <a:ea typeface="Calibri" pitchFamily="34" charset="-122"/>
                          <a:cs typeface="Calibri" pitchFamily="34" charset="-120"/>
                        </a:rPr>
                        <a:t>/pɑːst/</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50" dirty="0">
                          <a:solidFill>
                            <a:srgbClr val="1A2A3A"/>
                          </a:solidFill>
                          <a:latin typeface="Calibri" pitchFamily="34" charset="0"/>
                          <a:ea typeface="Calibri" pitchFamily="34" charset="-122"/>
                          <a:cs typeface="Calibri" pitchFamily="34" charset="-120"/>
                        </a:rPr>
                        <a:t>өнгөрсөн</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00" i="1" dirty="0">
                          <a:solidFill>
                            <a:srgbClr val="7A90A0"/>
                          </a:solidFill>
                          <a:latin typeface="Calibri" pitchFamily="34" charset="0"/>
                          <a:ea typeface="Calibri" pitchFamily="34" charset="-122"/>
                          <a:cs typeface="Calibri" pitchFamily="34" charset="-120"/>
                        </a:rPr>
                        <a:t>My past was interesting.</a:t>
                      </a:r>
                      <a:endParaRPr lang="en-US" sz="7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r>
              <a:tr h="352044">
                <a:tc>
                  <a:txBody>
                    <a:bodyPr/>
                    <a:lstStyle/>
                    <a:p>
                      <a:pPr algn="ctr" indent="0" marL="0">
                        <a:buNone/>
                      </a:pPr>
                      <a:r>
                        <a:rPr lang="en-US" sz="750" dirty="0">
                          <a:solidFill>
                            <a:srgbClr val="7A90A0"/>
                          </a:solidFill>
                          <a:latin typeface="Calibri" pitchFamily="34" charset="0"/>
                          <a:ea typeface="Calibri" pitchFamily="34" charset="-122"/>
                          <a:cs typeface="Calibri" pitchFamily="34" charset="-120"/>
                        </a:rPr>
                        <a:t>20</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800" b="1" dirty="0">
                          <a:solidFill>
                            <a:srgbClr val="5A3A1A"/>
                          </a:solidFill>
                          <a:latin typeface="Calibri" pitchFamily="34" charset="0"/>
                          <a:ea typeface="Calibri" pitchFamily="34" charset="-122"/>
                          <a:cs typeface="Calibri" pitchFamily="34" charset="-120"/>
                        </a:rPr>
                        <a:t>life</a:t>
                      </a:r>
                      <a:endParaRPr lang="en-US" sz="8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750" i="1" dirty="0">
                          <a:solidFill>
                            <a:srgbClr val="3A5060"/>
                          </a:solidFill>
                          <a:latin typeface="Calibri" pitchFamily="34" charset="0"/>
                          <a:ea typeface="Calibri" pitchFamily="34" charset="-122"/>
                          <a:cs typeface="Calibri" pitchFamily="34" charset="-120"/>
                        </a:rPr>
                        <a:t>/laɪf/</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750" dirty="0">
                          <a:solidFill>
                            <a:srgbClr val="1A2A3A"/>
                          </a:solidFill>
                          <a:latin typeface="Calibri" pitchFamily="34" charset="0"/>
                          <a:ea typeface="Calibri" pitchFamily="34" charset="-122"/>
                          <a:cs typeface="Calibri" pitchFamily="34" charset="-120"/>
                        </a:rPr>
                        <a:t>амьдрал</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700" i="1" dirty="0">
                          <a:solidFill>
                            <a:srgbClr val="7A90A0"/>
                          </a:solidFill>
                          <a:latin typeface="Calibri" pitchFamily="34" charset="0"/>
                          <a:ea typeface="Calibri" pitchFamily="34" charset="-122"/>
                          <a:cs typeface="Calibri" pitchFamily="34" charset="-120"/>
                        </a:rPr>
                        <a:t>My life changed a lot!</a:t>
                      </a:r>
                      <a:endParaRPr lang="en-US" sz="7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r>
            </a:tbl>
          </a:graphicData>
        </a:graphic>
      </p:graphicFrame>
      <p:sp>
        <p:nvSpPr>
          <p:cNvPr id="24" name="Shape 21"/>
          <p:cNvSpPr/>
          <p:nvPr/>
        </p:nvSpPr>
        <p:spPr>
          <a:xfrm>
            <a:off x="219456" y="9290304"/>
            <a:ext cx="3200400" cy="219456"/>
          </a:xfrm>
          <a:prstGeom prst="rect">
            <a:avLst/>
          </a:prstGeom>
          <a:solidFill>
            <a:srgbClr val="E0F4F4"/>
          </a:solidFill>
          <a:ln w="12700">
            <a:solidFill>
              <a:srgbClr val="0D7C7B"/>
            </a:solidFill>
            <a:prstDash val="solid"/>
          </a:ln>
        </p:spPr>
      </p:sp>
      <p:sp>
        <p:nvSpPr>
          <p:cNvPr id="25" name="Text 22"/>
          <p:cNvSpPr/>
          <p:nvPr/>
        </p:nvSpPr>
        <p:spPr>
          <a:xfrm>
            <a:off x="256032" y="9299448"/>
            <a:ext cx="3127248" cy="201168"/>
          </a:xfrm>
          <a:prstGeom prst="rect">
            <a:avLst/>
          </a:prstGeom>
          <a:noFill/>
          <a:ln/>
        </p:spPr>
        <p:txBody>
          <a:bodyPr wrap="square" lIns="0" tIns="0" rIns="0" bIns="0" rtlCol="0" anchor="ctr"/>
          <a:lstStyle/>
          <a:p>
            <a:pPr indent="0" marL="0">
              <a:lnSpc>
                <a:spcPct val="120000"/>
              </a:lnSpc>
              <a:buNone/>
            </a:pPr>
            <a:r>
              <a:rPr lang="en-US" sz="750" dirty="0">
                <a:solidFill>
                  <a:srgbClr val="0D7C7B"/>
                </a:solidFill>
                <a:latin typeface="Calibri" pitchFamily="34" charset="0"/>
                <a:ea typeface="Calibri" pitchFamily="34" charset="-122"/>
                <a:cs typeface="Calibri" pitchFamily="34" charset="-120"/>
              </a:rPr>
              <a:t>🔊  Childhood /ˈtʃaɪldhʊd/ — 2 syllables: CHILD-hood · Suddenly /ˈsʌdənli/ — 3 syllables: SUD-den-lee</a:t>
            </a:r>
            <a:endParaRPr lang="en-US" sz="750" dirty="0"/>
          </a:p>
          <a:p>
            <a:pPr indent="0" marL="0">
              <a:lnSpc>
                <a:spcPct val="120000"/>
              </a:lnSpc>
              <a:buNone/>
            </a:pPr>
            <a:r>
              <a:rPr lang="en-US" sz="750" dirty="0">
                <a:solidFill>
                  <a:srgbClr val="0D7C7B"/>
                </a:solidFill>
                <a:latin typeface="Calibri" pitchFamily="34" charset="0"/>
                <a:ea typeface="Calibri" pitchFamily="34" charset="-122"/>
                <a:cs typeface="Calibri" pitchFamily="34" charset="-120"/>
              </a:rPr>
              <a:t>Experience — 4 үе: ik-SPEER-ee-uns. Difficult — 3 үе: DIF-fi-cult. Exciting — 3 үе: ik-SY-ting.</a:t>
            </a:r>
            <a:endParaRPr lang="en-US" sz="750" dirty="0"/>
          </a:p>
        </p:txBody>
      </p:sp>
      <p:sp>
        <p:nvSpPr>
          <p:cNvPr id="26" name="Shape 23"/>
          <p:cNvSpPr/>
          <p:nvPr/>
        </p:nvSpPr>
        <p:spPr>
          <a:xfrm>
            <a:off x="3580790" y="874166"/>
            <a:ext cx="3127248" cy="8705088"/>
          </a:xfrm>
          <a:prstGeom prst="rect">
            <a:avLst/>
          </a:prstGeom>
          <a:solidFill>
            <a:srgbClr val="D0DCE8"/>
          </a:solidFill>
          <a:ln w="12700">
            <a:solidFill>
              <a:srgbClr val="D0DCE8"/>
            </a:solidFill>
            <a:prstDash val="solid"/>
          </a:ln>
        </p:spPr>
      </p:sp>
      <p:sp>
        <p:nvSpPr>
          <p:cNvPr id="27" name="Shape 24"/>
          <p:cNvSpPr/>
          <p:nvPr/>
        </p:nvSpPr>
        <p:spPr>
          <a:xfrm>
            <a:off x="3566160" y="859536"/>
            <a:ext cx="3127248" cy="8705088"/>
          </a:xfrm>
          <a:prstGeom prst="rect">
            <a:avLst/>
          </a:prstGeom>
          <a:solidFill>
            <a:srgbClr val="FFFFFF"/>
          </a:solidFill>
          <a:ln w="12700">
            <a:solidFill>
              <a:srgbClr val="C8D8E8"/>
            </a:solidFill>
            <a:prstDash val="solid"/>
          </a:ln>
        </p:spPr>
      </p:sp>
      <p:sp>
        <p:nvSpPr>
          <p:cNvPr id="28" name="Shape 25"/>
          <p:cNvSpPr/>
          <p:nvPr/>
        </p:nvSpPr>
        <p:spPr>
          <a:xfrm>
            <a:off x="3566160" y="859536"/>
            <a:ext cx="3127248" cy="256032"/>
          </a:xfrm>
          <a:prstGeom prst="rect">
            <a:avLst/>
          </a:prstGeom>
          <a:solidFill>
            <a:srgbClr val="6B3FA0"/>
          </a:solidFill>
          <a:ln w="12700">
            <a:solidFill>
              <a:srgbClr val="6B3FA0"/>
            </a:solidFill>
            <a:prstDash val="solid"/>
          </a:ln>
        </p:spPr>
      </p:sp>
      <p:sp>
        <p:nvSpPr>
          <p:cNvPr id="29" name="Shape 26"/>
          <p:cNvSpPr/>
          <p:nvPr/>
        </p:nvSpPr>
        <p:spPr>
          <a:xfrm>
            <a:off x="3566160" y="1115568"/>
            <a:ext cx="3127248" cy="146304"/>
          </a:xfrm>
          <a:prstGeom prst="rect">
            <a:avLst/>
          </a:prstGeom>
          <a:solidFill>
            <a:srgbClr val="F0EAFA"/>
          </a:solidFill>
          <a:ln w="12700">
            <a:solidFill>
              <a:srgbClr val="F0EAFA"/>
            </a:solidFill>
            <a:prstDash val="solid"/>
          </a:ln>
        </p:spPr>
      </p:sp>
      <p:sp>
        <p:nvSpPr>
          <p:cNvPr id="30" name="Text 27"/>
          <p:cNvSpPr/>
          <p:nvPr/>
        </p:nvSpPr>
        <p:spPr>
          <a:xfrm>
            <a:off x="3657600" y="859536"/>
            <a:ext cx="2999232" cy="256032"/>
          </a:xfrm>
          <a:prstGeom prst="rect">
            <a:avLst/>
          </a:prstGeom>
          <a:noFill/>
          <a:ln/>
        </p:spPr>
        <p:txBody>
          <a:bodyPr wrap="square" lIns="0" tIns="0" rIns="0" bIns="0" rtlCol="0" anchor="ctr"/>
          <a:lstStyle/>
          <a:p>
            <a:pPr indent="0" marL="0">
              <a:buNone/>
            </a:pPr>
            <a:r>
              <a:rPr lang="en-US" sz="1050" b="1" dirty="0">
                <a:solidFill>
                  <a:srgbClr val="FFFFFF"/>
                </a:solidFill>
                <a:latin typeface="Georgia" pitchFamily="34" charset="0"/>
                <a:ea typeface="Georgia" pitchFamily="34" charset="-122"/>
                <a:cs typeface="Georgia" pitchFamily="34" charset="-120"/>
              </a:rPr>
              <a:t>📖  Grammar — Past Simple — storytelling with sequence words</a:t>
            </a:r>
            <a:endParaRPr lang="en-US" sz="1050" dirty="0"/>
          </a:p>
        </p:txBody>
      </p:sp>
      <p:sp>
        <p:nvSpPr>
          <p:cNvPr id="31" name="Text 28"/>
          <p:cNvSpPr/>
          <p:nvPr/>
        </p:nvSpPr>
        <p:spPr>
          <a:xfrm>
            <a:off x="3657600" y="1124712"/>
            <a:ext cx="2999232" cy="137160"/>
          </a:xfrm>
          <a:prstGeom prst="rect">
            <a:avLst/>
          </a:prstGeom>
          <a:noFill/>
          <a:ln/>
        </p:spPr>
        <p:txBody>
          <a:bodyPr wrap="square" lIns="0" tIns="0" rIns="0" bIns="0" rtlCol="0" anchor="ctr"/>
          <a:lstStyle/>
          <a:p>
            <a:pPr indent="0" marL="0">
              <a:buNone/>
            </a:pPr>
            <a:r>
              <a:rPr lang="en-US" sz="750" i="1" dirty="0">
                <a:solidFill>
                  <a:srgbClr val="3A5060"/>
                </a:solidFill>
                <a:latin typeface="Calibri" pitchFamily="34" charset="0"/>
                <a:ea typeface="Calibri" pitchFamily="34" charset="-122"/>
                <a:cs typeface="Calibri" pitchFamily="34" charset="-120"/>
              </a:rPr>
              <a:t>Learn step by step  ·  Алхам алхмаар судлаарай</a:t>
            </a:r>
            <a:endParaRPr lang="en-US" sz="750" dirty="0"/>
          </a:p>
        </p:txBody>
      </p:sp>
      <p:sp>
        <p:nvSpPr>
          <p:cNvPr id="32" name="Text 29"/>
          <p:cNvSpPr/>
          <p:nvPr/>
        </p:nvSpPr>
        <p:spPr>
          <a:xfrm>
            <a:off x="3648456" y="1289304"/>
            <a:ext cx="2980944" cy="402336"/>
          </a:xfrm>
          <a:prstGeom prst="rect">
            <a:avLst/>
          </a:prstGeom>
          <a:noFill/>
          <a:ln/>
        </p:spPr>
        <p:txBody>
          <a:bodyPr wrap="square" lIns="0" tIns="0" rIns="0" bIns="0" rtlCol="0" anchor="t"/>
          <a:lstStyle/>
          <a:p>
            <a:pPr indent="0" marL="0">
              <a:lnSpc>
                <a:spcPct val="128000"/>
              </a:lnSpc>
              <a:buNone/>
            </a:pPr>
            <a:r>
              <a:rPr lang="en-US" sz="800" dirty="0">
                <a:solidFill>
                  <a:srgbClr val="1A2A3A"/>
                </a:solidFill>
                <a:latin typeface="Calibri" pitchFamily="34" charset="0"/>
                <a:ea typeface="Calibri" pitchFamily="34" charset="-122"/>
                <a:cs typeface="Calibri" pitchFamily="34" charset="-120"/>
              </a:rPr>
              <a:t>In storytelling, we use Past Simple with SEQUENCE WORDS to connect events and make stories flow naturally. Sequence words: First (эхлээд), Then (дараа нь), After that (үүний дараа), Next (дараачийн), Suddenly (гэнэт), Finally (эцэст нь), At first (эхэндээ), Later (хожим). These words tell the listener WHEN and IN WHAT ORDER things happened.</a:t>
            </a:r>
            <a:endParaRPr lang="en-US" sz="800" dirty="0"/>
          </a:p>
        </p:txBody>
      </p:sp>
      <p:sp>
        <p:nvSpPr>
          <p:cNvPr id="33" name="Text 30"/>
          <p:cNvSpPr/>
          <p:nvPr/>
        </p:nvSpPr>
        <p:spPr>
          <a:xfrm>
            <a:off x="3648456" y="1709928"/>
            <a:ext cx="2980944" cy="347472"/>
          </a:xfrm>
          <a:prstGeom prst="rect">
            <a:avLst/>
          </a:prstGeom>
          <a:noFill/>
          <a:ln/>
        </p:spPr>
        <p:txBody>
          <a:bodyPr wrap="square" lIns="0" tIns="0" rIns="0" bIns="0" rtlCol="0" anchor="t"/>
          <a:lstStyle/>
          <a:p>
            <a:pPr indent="0" marL="0">
              <a:lnSpc>
                <a:spcPct val="125000"/>
              </a:lnSpc>
              <a:buNone/>
            </a:pPr>
            <a:r>
              <a:rPr lang="en-US" sz="750" dirty="0">
                <a:solidFill>
                  <a:srgbClr val="3A5060"/>
                </a:solidFill>
                <a:latin typeface="Calibri" pitchFamily="34" charset="0"/>
                <a:ea typeface="Calibri" pitchFamily="34" charset="-122"/>
                <a:cs typeface="Calibri" pitchFamily="34" charset="-120"/>
              </a:rPr>
              <a:t>Түүх ярихдаа Past Simple-г ДАРААЛАЛЫН ҮГС-тэй хослуулдаг. Дараалалын үгс: First (эхлээд), Then (дараа нь), After that (үүний дараа), Suddenly (гэнэт), Finally (эцэст нь), At first (эхэндээ), Later (хожим). Эдгээр үгс үйл явдлуудын ДАРААЛАЛыг харуулдаг.</a:t>
            </a:r>
            <a:endParaRPr lang="en-US" sz="750" dirty="0"/>
          </a:p>
        </p:txBody>
      </p:sp>
      <p:graphicFrame>
        <p:nvGraphicFramePr>
          <p:cNvPr id="3" name="Table 1"/>
          <p:cNvGraphicFramePr>
            <a:graphicFrameLocks noGrp="1"/>
          </p:cNvGraphicFramePr>
          <p:nvPr>
            <p:extLst>
              <p:ext uri="{D42A27DB-BD31-4B8C-83A1-F6EECF244321}">
                <p14:modId xmlns:p14="http://schemas.microsoft.com/office/powerpoint/2010/main" val="1579011935"/>
              </p:ext>
            </p:extLst>
          </p:nvPr>
        </p:nvGraphicFramePr>
        <p:xfrm>
          <a:off x="3639312" y="2075688"/>
          <a:ext cx="2980944" cy="914400"/>
        </p:xfrm>
        <a:graphic>
          <a:graphicData uri="http://schemas.openxmlformats.org/drawingml/2006/table">
            <a:tbl>
              <a:tblPr/>
              <a:tblGrid>
                <a:gridCol w="417332"/>
                <a:gridCol w="298094"/>
                <a:gridCol w="566379"/>
                <a:gridCol w="596189"/>
                <a:gridCol w="596189"/>
                <a:gridCol w="506760"/>
              </a:tblGrid>
              <a:tr h="192024">
                <a:tc>
                  <a:txBody>
                    <a:bodyPr/>
                    <a:lstStyle/>
                    <a:p>
                      <a:pPr algn="l" indent="0" marL="0">
                        <a:buNone/>
                      </a:pPr>
                      <a:r>
                        <a:rPr lang="en-US" sz="750" b="1" dirty="0">
                          <a:solidFill>
                            <a:srgbClr val="FFFFFF"/>
                          </a:solidFill>
                          <a:latin typeface="Calibri" pitchFamily="34" charset="0"/>
                          <a:ea typeface="Calibri" pitchFamily="34" charset="-122"/>
                          <a:cs typeface="Calibri" pitchFamily="34" charset="-120"/>
                        </a:rPr>
                        <a:t>Form</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1A3A5C"/>
                    </a:solidFill>
                  </a:tcPr>
                </a:tc>
                <a:tc>
                  <a:txBody>
                    <a:bodyPr/>
                    <a:lstStyle/>
                    <a:p>
                      <a:pPr algn="l" indent="0" marL="0">
                        <a:buNone/>
                      </a:pPr>
                      <a:r>
                        <a:rPr lang="en-US" sz="750" b="1" dirty="0">
                          <a:solidFill>
                            <a:srgbClr val="FFFFFF"/>
                          </a:solidFill>
                          <a:latin typeface="Calibri" pitchFamily="34" charset="0"/>
                          <a:ea typeface="Calibri" pitchFamily="34" charset="-122"/>
                          <a:cs typeface="Calibri" pitchFamily="34" charset="-120"/>
                        </a:rPr>
                        <a:t>Verb</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1A3A5C"/>
                    </a:solidFill>
                  </a:tcPr>
                </a:tc>
                <a:tc>
                  <a:txBody>
                    <a:bodyPr/>
                    <a:lstStyle/>
                    <a:p>
                      <a:pPr algn="l" indent="0" marL="0">
                        <a:buNone/>
                      </a:pPr>
                      <a:r>
                        <a:rPr lang="en-US" sz="750" b="1" dirty="0">
                          <a:solidFill>
                            <a:srgbClr val="FFFFFF"/>
                          </a:solidFill>
                          <a:latin typeface="Calibri" pitchFamily="34" charset="0"/>
                          <a:ea typeface="Calibri" pitchFamily="34" charset="-122"/>
                          <a:cs typeface="Calibri" pitchFamily="34" charset="-120"/>
                        </a:rPr>
                        <a:t>Positive</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1A3A5C"/>
                    </a:solidFill>
                  </a:tcPr>
                </a:tc>
                <a:tc>
                  <a:txBody>
                    <a:bodyPr/>
                    <a:lstStyle/>
                    <a:p>
                      <a:pPr algn="l" indent="0" marL="0">
                        <a:buNone/>
                      </a:pPr>
                      <a:r>
                        <a:rPr lang="en-US" sz="750" b="1" dirty="0">
                          <a:solidFill>
                            <a:srgbClr val="FFFFFF"/>
                          </a:solidFill>
                          <a:latin typeface="Calibri" pitchFamily="34" charset="0"/>
                          <a:ea typeface="Calibri" pitchFamily="34" charset="-122"/>
                          <a:cs typeface="Calibri" pitchFamily="34" charset="-120"/>
                        </a:rPr>
                        <a:t>Negative</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1A3A5C"/>
                    </a:solidFill>
                  </a:tcPr>
                </a:tc>
                <a:tc>
                  <a:txBody>
                    <a:bodyPr/>
                    <a:lstStyle/>
                    <a:p>
                      <a:pPr algn="l" indent="0" marL="0">
                        <a:buNone/>
                      </a:pPr>
                      <a:r>
                        <a:rPr lang="en-US" sz="750" b="1" dirty="0">
                          <a:solidFill>
                            <a:srgbClr val="FFFFFF"/>
                          </a:solidFill>
                          <a:latin typeface="Calibri" pitchFamily="34" charset="0"/>
                          <a:ea typeface="Calibri" pitchFamily="34" charset="-122"/>
                          <a:cs typeface="Calibri" pitchFamily="34" charset="-120"/>
                        </a:rPr>
                        <a:t>Question</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1A3A5C"/>
                    </a:solidFill>
                  </a:tcPr>
                </a:tc>
                <a:tc>
                  <a:txBody>
                    <a:bodyPr/>
                    <a:lstStyle/>
                    <a:p>
                      <a:pPr algn="l" indent="0" marL="0">
                        <a:buNone/>
                      </a:pPr>
                      <a:r>
                        <a:rPr lang="en-US" sz="750" b="1" dirty="0">
                          <a:solidFill>
                            <a:srgbClr val="FFFFFF"/>
                          </a:solidFill>
                          <a:latin typeface="Calibri" pitchFamily="34" charset="0"/>
                          <a:ea typeface="Calibri" pitchFamily="34" charset="-122"/>
                          <a:cs typeface="Calibri" pitchFamily="34" charset="-120"/>
                        </a:rPr>
                        <a:t>Монгол</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1A3A5C"/>
                    </a:solidFill>
                  </a:tcPr>
                </a:tc>
              </a:tr>
              <a:tr h="192024">
                <a:tc>
                  <a:txBody>
                    <a:bodyPr/>
                    <a:lstStyle/>
                    <a:p>
                      <a:pPr algn="l" indent="0" marL="0">
                        <a:buNone/>
                      </a:pPr>
                      <a:r>
                        <a:rPr lang="en-US" sz="750" b="1" dirty="0">
                          <a:solidFill>
                            <a:srgbClr val="2E6DA4"/>
                          </a:solidFill>
                          <a:latin typeface="Calibri" pitchFamily="34" charset="0"/>
                          <a:ea typeface="Calibri" pitchFamily="34" charset="-122"/>
                          <a:cs typeface="Calibri" pitchFamily="34" charset="-120"/>
                        </a:rPr>
                        <a:t>First</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900" b="1" dirty="0">
                          <a:solidFill>
                            <a:srgbClr val="6B3FA0"/>
                          </a:solidFill>
                          <a:latin typeface="Calibri" pitchFamily="34" charset="0"/>
                          <a:ea typeface="Calibri" pitchFamily="34" charset="-122"/>
                          <a:cs typeface="Calibri" pitchFamily="34" charset="-120"/>
                        </a:rPr>
                        <a:t>sequence</a:t>
                      </a:r>
                      <a:endParaRPr lang="en-US" sz="9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00" dirty="0">
                          <a:solidFill>
                            <a:srgbClr val="1A2A3A"/>
                          </a:solidFill>
                          <a:latin typeface="Calibri" pitchFamily="34" charset="0"/>
                          <a:ea typeface="Calibri" pitchFamily="34" charset="-122"/>
                          <a:cs typeface="Calibri" pitchFamily="34" charset="-120"/>
                        </a:rPr>
                        <a:t>First, I was born.</a:t>
                      </a:r>
                      <a:endParaRPr lang="en-US" sz="7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00" dirty="0">
                          <a:solidFill>
                            <a:srgbClr val="B83030"/>
                          </a:solidFill>
                          <a:latin typeface="Calibri" pitchFamily="34" charset="0"/>
                          <a:ea typeface="Calibri" pitchFamily="34" charset="-122"/>
                          <a:cs typeface="Calibri" pitchFamily="34" charset="-120"/>
                        </a:rPr>
                        <a:t>—</a:t>
                      </a:r>
                      <a:endParaRPr lang="en-US" sz="7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00" dirty="0">
                          <a:solidFill>
                            <a:srgbClr val="0D7C7B"/>
                          </a:solidFill>
                          <a:latin typeface="Calibri" pitchFamily="34" charset="0"/>
                          <a:ea typeface="Calibri" pitchFamily="34" charset="-122"/>
                          <a:cs typeface="Calibri" pitchFamily="34" charset="-120"/>
                        </a:rPr>
                        <a:t>What happened first?</a:t>
                      </a:r>
                      <a:endParaRPr lang="en-US" sz="7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50" dirty="0">
                          <a:solidFill>
                            <a:srgbClr val="3A5060"/>
                          </a:solidFill>
                          <a:latin typeface="Calibri" pitchFamily="34" charset="0"/>
                          <a:ea typeface="Calibri" pitchFamily="34" charset="-122"/>
                          <a:cs typeface="Calibri" pitchFamily="34" charset="-120"/>
                        </a:rPr>
                        <a:t>Эхлээд</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r>
              <a:tr h="192024">
                <a:tc>
                  <a:txBody>
                    <a:bodyPr/>
                    <a:lstStyle/>
                    <a:p>
                      <a:pPr algn="l" indent="0" marL="0">
                        <a:buNone/>
                      </a:pPr>
                      <a:r>
                        <a:rPr lang="en-US" sz="750" b="1" dirty="0">
                          <a:solidFill>
                            <a:srgbClr val="2E6DA4"/>
                          </a:solidFill>
                          <a:latin typeface="Calibri" pitchFamily="34" charset="0"/>
                          <a:ea typeface="Calibri" pitchFamily="34" charset="-122"/>
                          <a:cs typeface="Calibri" pitchFamily="34" charset="-120"/>
                        </a:rPr>
                        <a:t>Then</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900" b="1" dirty="0">
                          <a:solidFill>
                            <a:srgbClr val="6B3FA0"/>
                          </a:solidFill>
                          <a:latin typeface="Calibri" pitchFamily="34" charset="0"/>
                          <a:ea typeface="Calibri" pitchFamily="34" charset="-122"/>
                          <a:cs typeface="Calibri" pitchFamily="34" charset="-120"/>
                        </a:rPr>
                        <a:t>sequence</a:t>
                      </a:r>
                      <a:endParaRPr lang="en-US" sz="9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700" dirty="0">
                          <a:solidFill>
                            <a:srgbClr val="1A2A3A"/>
                          </a:solidFill>
                          <a:latin typeface="Calibri" pitchFamily="34" charset="0"/>
                          <a:ea typeface="Calibri" pitchFamily="34" charset="-122"/>
                          <a:cs typeface="Calibri" pitchFamily="34" charset="-120"/>
                        </a:rPr>
                        <a:t>Then we moved.</a:t>
                      </a:r>
                      <a:endParaRPr lang="en-US" sz="7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700" dirty="0">
                          <a:solidFill>
                            <a:srgbClr val="B83030"/>
                          </a:solidFill>
                          <a:latin typeface="Calibri" pitchFamily="34" charset="0"/>
                          <a:ea typeface="Calibri" pitchFamily="34" charset="-122"/>
                          <a:cs typeface="Calibri" pitchFamily="34" charset="-120"/>
                        </a:rPr>
                        <a:t>—</a:t>
                      </a:r>
                      <a:endParaRPr lang="en-US" sz="7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700" dirty="0">
                          <a:solidFill>
                            <a:srgbClr val="0D7C7B"/>
                          </a:solidFill>
                          <a:latin typeface="Calibri" pitchFamily="34" charset="0"/>
                          <a:ea typeface="Calibri" pitchFamily="34" charset="-122"/>
                          <a:cs typeface="Calibri" pitchFamily="34" charset="-120"/>
                        </a:rPr>
                        <a:t>What happened then?</a:t>
                      </a:r>
                      <a:endParaRPr lang="en-US" sz="7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750" dirty="0">
                          <a:solidFill>
                            <a:srgbClr val="3A5060"/>
                          </a:solidFill>
                          <a:latin typeface="Calibri" pitchFamily="34" charset="0"/>
                          <a:ea typeface="Calibri" pitchFamily="34" charset="-122"/>
                          <a:cs typeface="Calibri" pitchFamily="34" charset="-120"/>
                        </a:rPr>
                        <a:t>Дараа нь</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r>
              <a:tr h="192024">
                <a:tc>
                  <a:txBody>
                    <a:bodyPr/>
                    <a:lstStyle/>
                    <a:p>
                      <a:pPr algn="l" indent="0" marL="0">
                        <a:buNone/>
                      </a:pPr>
                      <a:r>
                        <a:rPr lang="en-US" sz="750" b="1" dirty="0">
                          <a:solidFill>
                            <a:srgbClr val="2E6DA4"/>
                          </a:solidFill>
                          <a:latin typeface="Calibri" pitchFamily="34" charset="0"/>
                          <a:ea typeface="Calibri" pitchFamily="34" charset="-122"/>
                          <a:cs typeface="Calibri" pitchFamily="34" charset="-120"/>
                        </a:rPr>
                        <a:t>After that</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900" b="1" dirty="0">
                          <a:solidFill>
                            <a:srgbClr val="6B3FA0"/>
                          </a:solidFill>
                          <a:latin typeface="Calibri" pitchFamily="34" charset="0"/>
                          <a:ea typeface="Calibri" pitchFamily="34" charset="-122"/>
                          <a:cs typeface="Calibri" pitchFamily="34" charset="-120"/>
                        </a:rPr>
                        <a:t>sequence</a:t>
                      </a:r>
                      <a:endParaRPr lang="en-US" sz="9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00" dirty="0">
                          <a:solidFill>
                            <a:srgbClr val="1A2A3A"/>
                          </a:solidFill>
                          <a:latin typeface="Calibri" pitchFamily="34" charset="0"/>
                          <a:ea typeface="Calibri" pitchFamily="34" charset="-122"/>
                          <a:cs typeface="Calibri" pitchFamily="34" charset="-120"/>
                        </a:rPr>
                        <a:t>After that, I started school.</a:t>
                      </a:r>
                      <a:endParaRPr lang="en-US" sz="7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00" dirty="0">
                          <a:solidFill>
                            <a:srgbClr val="B83030"/>
                          </a:solidFill>
                          <a:latin typeface="Calibri" pitchFamily="34" charset="0"/>
                          <a:ea typeface="Calibri" pitchFamily="34" charset="-122"/>
                          <a:cs typeface="Calibri" pitchFamily="34" charset="-120"/>
                        </a:rPr>
                        <a:t>—</a:t>
                      </a:r>
                      <a:endParaRPr lang="en-US" sz="7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00" dirty="0">
                          <a:solidFill>
                            <a:srgbClr val="0D7C7B"/>
                          </a:solidFill>
                          <a:latin typeface="Calibri" pitchFamily="34" charset="0"/>
                          <a:ea typeface="Calibri" pitchFamily="34" charset="-122"/>
                          <a:cs typeface="Calibri" pitchFamily="34" charset="-120"/>
                        </a:rPr>
                        <a:t>What happened after?</a:t>
                      </a:r>
                      <a:endParaRPr lang="en-US" sz="7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50" dirty="0">
                          <a:solidFill>
                            <a:srgbClr val="3A5060"/>
                          </a:solidFill>
                          <a:latin typeface="Calibri" pitchFamily="34" charset="0"/>
                          <a:ea typeface="Calibri" pitchFamily="34" charset="-122"/>
                          <a:cs typeface="Calibri" pitchFamily="34" charset="-120"/>
                        </a:rPr>
                        <a:t>Үүний дараа</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r>
              <a:tr h="192024">
                <a:tc>
                  <a:txBody>
                    <a:bodyPr/>
                    <a:lstStyle/>
                    <a:p>
                      <a:pPr algn="l" indent="0" marL="0">
                        <a:buNone/>
                      </a:pPr>
                      <a:r>
                        <a:rPr lang="en-US" sz="750" b="1" dirty="0">
                          <a:solidFill>
                            <a:srgbClr val="2E6DA4"/>
                          </a:solidFill>
                          <a:latin typeface="Calibri" pitchFamily="34" charset="0"/>
                          <a:ea typeface="Calibri" pitchFamily="34" charset="-122"/>
                          <a:cs typeface="Calibri" pitchFamily="34" charset="-120"/>
                        </a:rPr>
                        <a:t>Suddenly</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900" b="1" dirty="0">
                          <a:solidFill>
                            <a:srgbClr val="6B3FA0"/>
                          </a:solidFill>
                          <a:latin typeface="Calibri" pitchFamily="34" charset="0"/>
                          <a:ea typeface="Calibri" pitchFamily="34" charset="-122"/>
                          <a:cs typeface="Calibri" pitchFamily="34" charset="-120"/>
                        </a:rPr>
                        <a:t>sequence</a:t>
                      </a:r>
                      <a:endParaRPr lang="en-US" sz="9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700" dirty="0">
                          <a:solidFill>
                            <a:srgbClr val="1A2A3A"/>
                          </a:solidFill>
                          <a:latin typeface="Calibri" pitchFamily="34" charset="0"/>
                          <a:ea typeface="Calibri" pitchFamily="34" charset="-122"/>
                          <a:cs typeface="Calibri" pitchFamily="34" charset="-120"/>
                        </a:rPr>
                        <a:t>Suddenly, it all changed.</a:t>
                      </a:r>
                      <a:endParaRPr lang="en-US" sz="7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700" dirty="0">
                          <a:solidFill>
                            <a:srgbClr val="B83030"/>
                          </a:solidFill>
                          <a:latin typeface="Calibri" pitchFamily="34" charset="0"/>
                          <a:ea typeface="Calibri" pitchFamily="34" charset="-122"/>
                          <a:cs typeface="Calibri" pitchFamily="34" charset="-120"/>
                        </a:rPr>
                        <a:t>—</a:t>
                      </a:r>
                      <a:endParaRPr lang="en-US" sz="7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700" dirty="0">
                          <a:solidFill>
                            <a:srgbClr val="0D7C7B"/>
                          </a:solidFill>
                          <a:latin typeface="Calibri" pitchFamily="34" charset="0"/>
                          <a:ea typeface="Calibri" pitchFamily="34" charset="-122"/>
                          <a:cs typeface="Calibri" pitchFamily="34" charset="-120"/>
                        </a:rPr>
                        <a:t>What changed suddenly?</a:t>
                      </a:r>
                      <a:endParaRPr lang="en-US" sz="7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750" dirty="0">
                          <a:solidFill>
                            <a:srgbClr val="3A5060"/>
                          </a:solidFill>
                          <a:latin typeface="Calibri" pitchFamily="34" charset="0"/>
                          <a:ea typeface="Calibri" pitchFamily="34" charset="-122"/>
                          <a:cs typeface="Calibri" pitchFamily="34" charset="-120"/>
                        </a:rPr>
                        <a:t>Гэнэт</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r>
              <a:tr h="192024">
                <a:tc>
                  <a:txBody>
                    <a:bodyPr/>
                    <a:lstStyle/>
                    <a:p>
                      <a:pPr algn="l" indent="0" marL="0">
                        <a:buNone/>
                      </a:pPr>
                      <a:r>
                        <a:rPr lang="en-US" sz="750" b="1" dirty="0">
                          <a:solidFill>
                            <a:srgbClr val="2E6DA4"/>
                          </a:solidFill>
                          <a:latin typeface="Calibri" pitchFamily="34" charset="0"/>
                          <a:ea typeface="Calibri" pitchFamily="34" charset="-122"/>
                          <a:cs typeface="Calibri" pitchFamily="34" charset="-120"/>
                        </a:rPr>
                        <a:t>Finally</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900" b="1" dirty="0">
                          <a:solidFill>
                            <a:srgbClr val="6B3FA0"/>
                          </a:solidFill>
                          <a:latin typeface="Calibri" pitchFamily="34" charset="0"/>
                          <a:ea typeface="Calibri" pitchFamily="34" charset="-122"/>
                          <a:cs typeface="Calibri" pitchFamily="34" charset="-120"/>
                        </a:rPr>
                        <a:t>sequence</a:t>
                      </a:r>
                      <a:endParaRPr lang="en-US" sz="9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00" dirty="0">
                          <a:solidFill>
                            <a:srgbClr val="1A2A3A"/>
                          </a:solidFill>
                          <a:latin typeface="Calibri" pitchFamily="34" charset="0"/>
                          <a:ea typeface="Calibri" pitchFamily="34" charset="-122"/>
                          <a:cs typeface="Calibri" pitchFamily="34" charset="-120"/>
                        </a:rPr>
                        <a:t>Finally, I passed!</a:t>
                      </a:r>
                      <a:endParaRPr lang="en-US" sz="7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00" dirty="0">
                          <a:solidFill>
                            <a:srgbClr val="B83030"/>
                          </a:solidFill>
                          <a:latin typeface="Calibri" pitchFamily="34" charset="0"/>
                          <a:ea typeface="Calibri" pitchFamily="34" charset="-122"/>
                          <a:cs typeface="Calibri" pitchFamily="34" charset="-120"/>
                        </a:rPr>
                        <a:t>—</a:t>
                      </a:r>
                      <a:endParaRPr lang="en-US" sz="7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00" dirty="0">
                          <a:solidFill>
                            <a:srgbClr val="0D7C7B"/>
                          </a:solidFill>
                          <a:latin typeface="Calibri" pitchFamily="34" charset="0"/>
                          <a:ea typeface="Calibri" pitchFamily="34" charset="-122"/>
                          <a:cs typeface="Calibri" pitchFamily="34" charset="-120"/>
                        </a:rPr>
                        <a:t>How did it end?</a:t>
                      </a:r>
                      <a:endParaRPr lang="en-US" sz="7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50" dirty="0">
                          <a:solidFill>
                            <a:srgbClr val="3A5060"/>
                          </a:solidFill>
                          <a:latin typeface="Calibri" pitchFamily="34" charset="0"/>
                          <a:ea typeface="Calibri" pitchFamily="34" charset="-122"/>
                          <a:cs typeface="Calibri" pitchFamily="34" charset="-120"/>
                        </a:rPr>
                        <a:t>Эцэст нь</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r>
            </a:tbl>
          </a:graphicData>
        </a:graphic>
      </p:graphicFrame>
      <p:sp>
        <p:nvSpPr>
          <p:cNvPr id="35" name="Shape 31"/>
          <p:cNvSpPr/>
          <p:nvPr/>
        </p:nvSpPr>
        <p:spPr>
          <a:xfrm>
            <a:off x="3639312" y="3273552"/>
            <a:ext cx="2980944" cy="164592"/>
          </a:xfrm>
          <a:prstGeom prst="rect">
            <a:avLst/>
          </a:prstGeom>
          <a:solidFill>
            <a:srgbClr val="0D7C7B"/>
          </a:solidFill>
          <a:ln w="12700">
            <a:solidFill>
              <a:srgbClr val="0D7C7B"/>
            </a:solidFill>
            <a:prstDash val="solid"/>
          </a:ln>
        </p:spPr>
      </p:sp>
      <p:sp>
        <p:nvSpPr>
          <p:cNvPr id="36" name="Text 32"/>
          <p:cNvSpPr/>
          <p:nvPr/>
        </p:nvSpPr>
        <p:spPr>
          <a:xfrm>
            <a:off x="3657600" y="3273552"/>
            <a:ext cx="2980944" cy="164592"/>
          </a:xfrm>
          <a:prstGeom prst="rect">
            <a:avLst/>
          </a:prstGeom>
          <a:noFill/>
          <a:ln/>
        </p:spPr>
        <p:txBody>
          <a:bodyPr wrap="square" lIns="0" tIns="0" rIns="0" bIns="0" rtlCol="0" anchor="ctr"/>
          <a:lstStyle/>
          <a:p>
            <a:pPr indent="0" marL="0">
              <a:buNone/>
            </a:pPr>
            <a:r>
              <a:rPr lang="en-US" sz="800" b="1" dirty="0">
                <a:solidFill>
                  <a:srgbClr val="FFFFFF"/>
                </a:solidFill>
                <a:latin typeface="Calibri" pitchFamily="34" charset="0"/>
                <a:ea typeface="Calibri" pitchFamily="34" charset="-122"/>
                <a:cs typeface="Calibri" pitchFamily="34" charset="-120"/>
              </a:rPr>
              <a:t>✂  Key Forms / Товчилсон хэлбэр</a:t>
            </a:r>
            <a:endParaRPr lang="en-US" sz="800" dirty="0"/>
          </a:p>
        </p:txBody>
      </p:sp>
      <p:sp>
        <p:nvSpPr>
          <p:cNvPr id="37" name="Shape 33"/>
          <p:cNvSpPr/>
          <p:nvPr/>
        </p:nvSpPr>
        <p:spPr>
          <a:xfrm>
            <a:off x="3639312" y="3438144"/>
            <a:ext cx="2980944" cy="274320"/>
          </a:xfrm>
          <a:prstGeom prst="rect">
            <a:avLst/>
          </a:prstGeom>
          <a:solidFill>
            <a:srgbClr val="E0F4F4"/>
          </a:solidFill>
          <a:ln w="12700">
            <a:solidFill>
              <a:srgbClr val="0D7C7B"/>
            </a:solidFill>
            <a:prstDash val="solid"/>
          </a:ln>
        </p:spPr>
      </p:sp>
      <p:sp>
        <p:nvSpPr>
          <p:cNvPr id="38" name="Text 34"/>
          <p:cNvSpPr/>
          <p:nvPr/>
        </p:nvSpPr>
        <p:spPr>
          <a:xfrm>
            <a:off x="3657600" y="3465576"/>
            <a:ext cx="1639519" cy="237744"/>
          </a:xfrm>
          <a:prstGeom prst="rect">
            <a:avLst/>
          </a:prstGeom>
          <a:noFill/>
          <a:ln/>
        </p:spPr>
        <p:txBody>
          <a:bodyPr wrap="square" lIns="0" tIns="0" rIns="0" bIns="0" rtlCol="0" anchor="t"/>
          <a:lstStyle/>
          <a:p>
            <a:pPr indent="0" marL="0">
              <a:lnSpc>
                <a:spcPct val="130000"/>
              </a:lnSpc>
              <a:buNone/>
            </a:pPr>
            <a:r>
              <a:rPr lang="en-US" sz="850" b="1" dirty="0">
                <a:solidFill>
                  <a:srgbClr val="0D7C7B"/>
                </a:solidFill>
                <a:latin typeface="Calibri" pitchFamily="34" charset="0"/>
                <a:ea typeface="Calibri" pitchFamily="34" charset="-122"/>
                <a:cs typeface="Calibri" pitchFamily="34" charset="-120"/>
              </a:rPr>
              <a:t>At first I didn't like it, but THEN I loved it!</a:t>
            </a:r>
            <a:endParaRPr lang="en-US" sz="850" dirty="0"/>
          </a:p>
          <a:p>
            <a:pPr indent="0" marL="0">
              <a:lnSpc>
                <a:spcPct val="130000"/>
              </a:lnSpc>
              <a:buNone/>
            </a:pPr>
            <a:r>
              <a:rPr lang="en-US" sz="850" b="1" dirty="0">
                <a:solidFill>
                  <a:srgbClr val="0D7C7B"/>
                </a:solidFill>
                <a:latin typeface="Calibri" pitchFamily="34" charset="0"/>
                <a:ea typeface="Calibri" pitchFamily="34" charset="-122"/>
                <a:cs typeface="Calibri" pitchFamily="34" charset="-120"/>
              </a:rPr>
              <a:t>First→Then→After that→Finally = perfect story structure</a:t>
            </a:r>
            <a:endParaRPr lang="en-US" sz="850" dirty="0"/>
          </a:p>
        </p:txBody>
      </p:sp>
      <p:sp>
        <p:nvSpPr>
          <p:cNvPr id="39" name="Text 35"/>
          <p:cNvSpPr/>
          <p:nvPr/>
        </p:nvSpPr>
        <p:spPr>
          <a:xfrm>
            <a:off x="5297119" y="3465576"/>
            <a:ext cx="1311615" cy="237744"/>
          </a:xfrm>
          <a:prstGeom prst="rect">
            <a:avLst/>
          </a:prstGeom>
          <a:noFill/>
          <a:ln/>
        </p:spPr>
        <p:txBody>
          <a:bodyPr wrap="square" lIns="0" tIns="0" rIns="0" bIns="0" rtlCol="0" anchor="t"/>
          <a:lstStyle/>
          <a:p>
            <a:pPr indent="0" marL="0">
              <a:lnSpc>
                <a:spcPct val="130000"/>
              </a:lnSpc>
              <a:buNone/>
            </a:pPr>
            <a:r>
              <a:rPr lang="en-US" sz="750" i="1" dirty="0">
                <a:solidFill>
                  <a:srgbClr val="3A5060"/>
                </a:solidFill>
                <a:latin typeface="Calibri" pitchFamily="34" charset="0"/>
                <a:ea typeface="Calibri" pitchFamily="34" charset="-122"/>
                <a:cs typeface="Calibri" pitchFamily="34" charset="-120"/>
              </a:rPr>
              <a:t>Дараалалын үгсийг хэрэглэж баян хэлж сур!</a:t>
            </a:r>
            <a:endParaRPr lang="en-US" sz="750" dirty="0"/>
          </a:p>
          <a:p>
            <a:pPr indent="0" marL="0">
              <a:lnSpc>
                <a:spcPct val="130000"/>
              </a:lnSpc>
              <a:buNone/>
            </a:pPr>
            <a:r>
              <a:rPr lang="en-US" sz="750" i="1" dirty="0">
                <a:solidFill>
                  <a:srgbClr val="3A5060"/>
                </a:solidFill>
                <a:latin typeface="Calibri" pitchFamily="34" charset="0"/>
                <a:ea typeface="Calibri" pitchFamily="34" charset="-122"/>
                <a:cs typeface="Calibri" pitchFamily="34" charset="-120"/>
              </a:rPr>
              <a:t>First... Then... After that... Finally... = гайхалтай түүхийн бүтэц</a:t>
            </a:r>
            <a:endParaRPr lang="en-US" sz="750" dirty="0"/>
          </a:p>
        </p:txBody>
      </p:sp>
      <p:sp>
        <p:nvSpPr>
          <p:cNvPr id="40" name="Shape 36"/>
          <p:cNvSpPr/>
          <p:nvPr/>
        </p:nvSpPr>
        <p:spPr>
          <a:xfrm>
            <a:off x="3639312" y="3749040"/>
            <a:ext cx="2980944" cy="164592"/>
          </a:xfrm>
          <a:prstGeom prst="rect">
            <a:avLst/>
          </a:prstGeom>
          <a:solidFill>
            <a:srgbClr val="1A3A5C"/>
          </a:solidFill>
          <a:ln w="12700">
            <a:solidFill>
              <a:srgbClr val="1A3A5C"/>
            </a:solidFill>
            <a:prstDash val="solid"/>
          </a:ln>
        </p:spPr>
      </p:sp>
      <p:sp>
        <p:nvSpPr>
          <p:cNvPr id="41" name="Text 37"/>
          <p:cNvSpPr/>
          <p:nvPr/>
        </p:nvSpPr>
        <p:spPr>
          <a:xfrm>
            <a:off x="3657600" y="3749040"/>
            <a:ext cx="2980944" cy="164592"/>
          </a:xfrm>
          <a:prstGeom prst="rect">
            <a:avLst/>
          </a:prstGeom>
          <a:noFill/>
          <a:ln/>
        </p:spPr>
        <p:txBody>
          <a:bodyPr wrap="square" lIns="0" tIns="0" rIns="0" bIns="0" rtlCol="0" anchor="ctr"/>
          <a:lstStyle/>
          <a:p>
            <a:pPr indent="0" marL="0">
              <a:buNone/>
            </a:pPr>
            <a:r>
              <a:rPr lang="en-US" sz="800" b="1" dirty="0">
                <a:solidFill>
                  <a:srgbClr val="FFFFFF"/>
                </a:solidFill>
                <a:latin typeface="Calibri" pitchFamily="34" charset="0"/>
                <a:ea typeface="Calibri" pitchFamily="34" charset="-122"/>
                <a:cs typeface="Calibri" pitchFamily="34" charset="-120"/>
              </a:rPr>
              <a:t>⚖  Negatives &amp; Questions</a:t>
            </a:r>
            <a:endParaRPr lang="en-US" sz="800" dirty="0"/>
          </a:p>
        </p:txBody>
      </p:sp>
      <p:sp>
        <p:nvSpPr>
          <p:cNvPr id="42" name="Shape 38"/>
          <p:cNvSpPr/>
          <p:nvPr/>
        </p:nvSpPr>
        <p:spPr>
          <a:xfrm>
            <a:off x="3639312" y="3913632"/>
            <a:ext cx="2980944" cy="310896"/>
          </a:xfrm>
          <a:prstGeom prst="rect">
            <a:avLst/>
          </a:prstGeom>
          <a:solidFill>
            <a:srgbClr val="F8FAFC"/>
          </a:solidFill>
          <a:ln w="12700">
            <a:solidFill>
              <a:srgbClr val="C8D8E8"/>
            </a:solidFill>
            <a:prstDash val="solid"/>
          </a:ln>
        </p:spPr>
      </p:sp>
      <p:sp>
        <p:nvSpPr>
          <p:cNvPr id="43" name="Text 39"/>
          <p:cNvSpPr/>
          <p:nvPr/>
        </p:nvSpPr>
        <p:spPr>
          <a:xfrm>
            <a:off x="3657600" y="3941064"/>
            <a:ext cx="2944368" cy="274320"/>
          </a:xfrm>
          <a:prstGeom prst="rect">
            <a:avLst/>
          </a:prstGeom>
          <a:noFill/>
          <a:ln/>
        </p:spPr>
        <p:txBody>
          <a:bodyPr wrap="square" lIns="0" tIns="0" rIns="0" bIns="0" rtlCol="0" anchor="t"/>
          <a:lstStyle/>
          <a:p>
            <a:pPr indent="0" marL="0">
              <a:lnSpc>
                <a:spcPct val="130000"/>
              </a:lnSpc>
              <a:buNone/>
            </a:pPr>
            <a:r>
              <a:rPr lang="en-US" sz="800" b="1" dirty="0">
                <a:solidFill>
                  <a:srgbClr val="B83030"/>
                </a:solidFill>
                <a:latin typeface="Calibri" pitchFamily="34" charset="0"/>
                <a:ea typeface="Calibri" pitchFamily="34" charset="-122"/>
                <a:cs typeface="Calibri" pitchFamily="34" charset="-120"/>
              </a:rPr>
              <a:t>Rule 1 — Negative: </a:t>
            </a:r>
            <a:pPr indent="0" marL="0">
              <a:lnSpc>
                <a:spcPct val="130000"/>
              </a:lnSpc>
              <a:buNone/>
            </a:pPr>
            <a:r>
              <a:rPr lang="en-US" sz="800" dirty="0">
                <a:solidFill>
                  <a:srgbClr val="1A2A3A"/>
                </a:solidFill>
                <a:latin typeface="Calibri" pitchFamily="34" charset="0"/>
                <a:ea typeface="Calibri" pitchFamily="34" charset="-122"/>
                <a:cs typeface="Calibri" pitchFamily="34" charset="-120"/>
              </a:rPr>
              <a:t>At first I DIDN'T understand. I WASN'T good at English. We DIDN'T have a good teacher.
</a:t>
            </a:r>
            <a:pPr indent="0" marL="0">
              <a:lnSpc>
                <a:spcPct val="130000"/>
              </a:lnSpc>
              <a:buNone/>
            </a:pPr>
            <a:r>
              <a:rPr lang="en-US" sz="800" b="1" dirty="0">
                <a:solidFill>
                  <a:srgbClr val="0D7C7B"/>
                </a:solidFill>
                <a:latin typeface="Calibri" pitchFamily="34" charset="0"/>
                <a:ea typeface="Calibri" pitchFamily="34" charset="-122"/>
                <a:cs typeface="Calibri" pitchFamily="34" charset="-120"/>
              </a:rPr>
              <a:t>Rule 2 — Question: </a:t>
            </a:r>
            <a:pPr indent="0" marL="0">
              <a:lnSpc>
                <a:spcPct val="130000"/>
              </a:lnSpc>
              <a:buNone/>
            </a:pPr>
            <a:r>
              <a:rPr lang="en-US" sz="800" dirty="0">
                <a:solidFill>
                  <a:srgbClr val="1A2A3A"/>
                </a:solidFill>
                <a:latin typeface="Calibri" pitchFamily="34" charset="0"/>
                <a:ea typeface="Calibri" pitchFamily="34" charset="-122"/>
                <a:cs typeface="Calibri" pitchFamily="34" charset="-120"/>
              </a:rPr>
              <a:t>WHEN did you start school?  WHERE did you grow up?  WHAT happened next?  HOW did you feel?</a:t>
            </a:r>
            <a:endParaRPr lang="en-US" sz="800" dirty="0"/>
          </a:p>
        </p:txBody>
      </p:sp>
      <p:sp>
        <p:nvSpPr>
          <p:cNvPr id="44" name="Shape 40"/>
          <p:cNvSpPr/>
          <p:nvPr/>
        </p:nvSpPr>
        <p:spPr>
          <a:xfrm>
            <a:off x="3639312" y="4261104"/>
            <a:ext cx="1463040" cy="164592"/>
          </a:xfrm>
          <a:prstGeom prst="rect">
            <a:avLst/>
          </a:prstGeom>
          <a:solidFill>
            <a:srgbClr val="C97A0A"/>
          </a:solidFill>
          <a:ln w="12700">
            <a:solidFill>
              <a:srgbClr val="C97A0A"/>
            </a:solidFill>
            <a:prstDash val="solid"/>
          </a:ln>
        </p:spPr>
      </p:sp>
      <p:sp>
        <p:nvSpPr>
          <p:cNvPr id="45" name="Text 41"/>
          <p:cNvSpPr/>
          <p:nvPr/>
        </p:nvSpPr>
        <p:spPr>
          <a:xfrm>
            <a:off x="3639312" y="4261104"/>
            <a:ext cx="1463040" cy="164592"/>
          </a:xfrm>
          <a:prstGeom prst="rect">
            <a:avLst/>
          </a:prstGeom>
          <a:noFill/>
          <a:ln/>
        </p:spPr>
        <p:txBody>
          <a:bodyPr wrap="square" lIns="0" tIns="63500" rIns="0" bIns="0" rtlCol="0" anchor="ctr"/>
          <a:lstStyle/>
          <a:p>
            <a:pPr indent="0" marL="0">
              <a:buNone/>
            </a:pPr>
            <a:r>
              <a:rPr lang="en-US" sz="800" b="1" dirty="0">
                <a:solidFill>
                  <a:srgbClr val="FFFFFF"/>
                </a:solidFill>
                <a:latin typeface="Calibri" pitchFamily="34" charset="0"/>
                <a:ea typeface="Calibri" pitchFamily="34" charset="-122"/>
                <a:cs typeface="Calibri" pitchFamily="34" charset="-120"/>
              </a:rPr>
              <a:t>💡  Grammar Tip</a:t>
            </a:r>
            <a:endParaRPr lang="en-US" sz="800" dirty="0"/>
          </a:p>
        </p:txBody>
      </p:sp>
      <p:sp>
        <p:nvSpPr>
          <p:cNvPr id="46" name="Shape 42"/>
          <p:cNvSpPr/>
          <p:nvPr/>
        </p:nvSpPr>
        <p:spPr>
          <a:xfrm>
            <a:off x="5138928" y="4261104"/>
            <a:ext cx="1463040" cy="164592"/>
          </a:xfrm>
          <a:prstGeom prst="rect">
            <a:avLst/>
          </a:prstGeom>
          <a:solidFill>
            <a:srgbClr val="B83030"/>
          </a:solidFill>
          <a:ln w="12700">
            <a:solidFill>
              <a:srgbClr val="B83030"/>
            </a:solidFill>
            <a:prstDash val="solid"/>
          </a:ln>
        </p:spPr>
      </p:sp>
      <p:sp>
        <p:nvSpPr>
          <p:cNvPr id="47" name="Text 43"/>
          <p:cNvSpPr/>
          <p:nvPr/>
        </p:nvSpPr>
        <p:spPr>
          <a:xfrm>
            <a:off x="5138928" y="4261104"/>
            <a:ext cx="1463040" cy="164592"/>
          </a:xfrm>
          <a:prstGeom prst="rect">
            <a:avLst/>
          </a:prstGeom>
          <a:noFill/>
          <a:ln/>
        </p:spPr>
        <p:txBody>
          <a:bodyPr wrap="square" lIns="0" tIns="63500" rIns="0" bIns="0" rtlCol="0" anchor="ctr"/>
          <a:lstStyle/>
          <a:p>
            <a:pPr indent="0" marL="0">
              <a:buNone/>
            </a:pPr>
            <a:r>
              <a:rPr lang="en-US" sz="800" b="1" dirty="0">
                <a:solidFill>
                  <a:srgbClr val="FFFFFF"/>
                </a:solidFill>
                <a:latin typeface="Calibri" pitchFamily="34" charset="0"/>
                <a:ea typeface="Calibri" pitchFamily="34" charset="-122"/>
                <a:cs typeface="Calibri" pitchFamily="34" charset="-120"/>
              </a:rPr>
              <a:t>⚠  Common Mistakes</a:t>
            </a:r>
            <a:endParaRPr lang="en-US" sz="800" dirty="0"/>
          </a:p>
        </p:txBody>
      </p:sp>
      <p:sp>
        <p:nvSpPr>
          <p:cNvPr id="48" name="Shape 44"/>
          <p:cNvSpPr/>
          <p:nvPr/>
        </p:nvSpPr>
        <p:spPr>
          <a:xfrm>
            <a:off x="3639312" y="4425696"/>
            <a:ext cx="1463040" cy="2144817"/>
          </a:xfrm>
          <a:prstGeom prst="rect">
            <a:avLst/>
          </a:prstGeom>
          <a:solidFill>
            <a:srgbClr val="FEF3DC"/>
          </a:solidFill>
          <a:ln w="12700">
            <a:solidFill>
              <a:srgbClr val="C97A0A"/>
            </a:solidFill>
            <a:prstDash val="solid"/>
          </a:ln>
        </p:spPr>
      </p:sp>
      <p:sp>
        <p:nvSpPr>
          <p:cNvPr id="49" name="Text 45"/>
          <p:cNvSpPr/>
          <p:nvPr/>
        </p:nvSpPr>
        <p:spPr>
          <a:xfrm>
            <a:off x="3666744" y="4462272"/>
            <a:ext cx="1380744" cy="2089953"/>
          </a:xfrm>
          <a:prstGeom prst="rect">
            <a:avLst/>
          </a:prstGeom>
          <a:noFill/>
          <a:ln/>
        </p:spPr>
        <p:txBody>
          <a:bodyPr wrap="square" lIns="0" tIns="0" rIns="0" bIns="0" rtlCol="0" anchor="t"/>
          <a:lstStyle/>
          <a:p>
            <a:pPr indent="0" marL="0">
              <a:lnSpc>
                <a:spcPct val="135000"/>
              </a:lnSpc>
              <a:buNone/>
            </a:pPr>
            <a:r>
              <a:rPr lang="en-US" sz="780" dirty="0">
                <a:solidFill>
                  <a:srgbClr val="1A2A3A"/>
                </a:solidFill>
                <a:latin typeface="Calibri" pitchFamily="34" charset="0"/>
                <a:ea typeface="Calibri" pitchFamily="34" charset="-122"/>
                <a:cs typeface="Calibri" pitchFamily="34" charset="-120"/>
              </a:rPr>
              <a:t>• First / Then / After that / Finally = sequence!</a:t>
            </a:r>
            <a:endParaRPr lang="en-US" sz="780" dirty="0"/>
          </a:p>
          <a:p>
            <a:pPr indent="0" marL="0">
              <a:lnSpc>
                <a:spcPct val="135000"/>
              </a:lnSpc>
              <a:buNone/>
            </a:pPr>
            <a:r>
              <a:rPr lang="en-US" sz="780" dirty="0">
                <a:solidFill>
                  <a:srgbClr val="1A2A3A"/>
                </a:solidFill>
                <a:latin typeface="Calibri" pitchFamily="34" charset="0"/>
                <a:ea typeface="Calibri" pitchFamily="34" charset="-122"/>
                <a:cs typeface="Calibri" pitchFamily="34" charset="-120"/>
              </a:rPr>
              <a:t>• Suddenly = unexpected change in story</a:t>
            </a:r>
            <a:endParaRPr lang="en-US" sz="780" dirty="0"/>
          </a:p>
          <a:p>
            <a:pPr indent="0" marL="0">
              <a:lnSpc>
                <a:spcPct val="135000"/>
              </a:lnSpc>
              <a:buNone/>
            </a:pPr>
            <a:r>
              <a:rPr lang="en-US" sz="780" dirty="0">
                <a:solidFill>
                  <a:srgbClr val="1A2A3A"/>
                </a:solidFill>
                <a:latin typeface="Calibri" pitchFamily="34" charset="0"/>
                <a:ea typeface="Calibri" pitchFamily="34" charset="-122"/>
                <a:cs typeface="Calibri" pitchFamily="34" charset="-120"/>
              </a:rPr>
              <a:t>• At first... but then... = contrast and change</a:t>
            </a:r>
            <a:endParaRPr lang="en-US" sz="780" dirty="0"/>
          </a:p>
          <a:p>
            <a:pPr indent="0" marL="0">
              <a:lnSpc>
                <a:spcPct val="135000"/>
              </a:lnSpc>
              <a:buNone/>
            </a:pPr>
            <a:r>
              <a:rPr lang="en-US" sz="780" dirty="0">
                <a:solidFill>
                  <a:srgbClr val="1A2A3A"/>
                </a:solidFill>
                <a:latin typeface="Calibri" pitchFamily="34" charset="0"/>
                <a:ea typeface="Calibri" pitchFamily="34" charset="-122"/>
                <a:cs typeface="Calibri" pitchFamily="34" charset="-120"/>
              </a:rPr>
              <a:t>• When I was + age = talking about past events</a:t>
            </a:r>
            <a:endParaRPr lang="en-US" sz="780" dirty="0"/>
          </a:p>
        </p:txBody>
      </p:sp>
      <p:sp>
        <p:nvSpPr>
          <p:cNvPr id="50" name="Shape 46"/>
          <p:cNvSpPr/>
          <p:nvPr/>
        </p:nvSpPr>
        <p:spPr>
          <a:xfrm>
            <a:off x="5138928" y="4425696"/>
            <a:ext cx="1463040" cy="2144817"/>
          </a:xfrm>
          <a:prstGeom prst="rect">
            <a:avLst/>
          </a:prstGeom>
          <a:solidFill>
            <a:srgbClr val="FDECEA"/>
          </a:solidFill>
          <a:ln w="12700">
            <a:solidFill>
              <a:srgbClr val="B83030"/>
            </a:solidFill>
            <a:prstDash val="solid"/>
          </a:ln>
        </p:spPr>
      </p:sp>
      <p:sp>
        <p:nvSpPr>
          <p:cNvPr id="51" name="Text 47"/>
          <p:cNvSpPr/>
          <p:nvPr/>
        </p:nvSpPr>
        <p:spPr>
          <a:xfrm>
            <a:off x="5166360" y="4462272"/>
            <a:ext cx="1380744" cy="2089953"/>
          </a:xfrm>
          <a:prstGeom prst="rect">
            <a:avLst/>
          </a:prstGeom>
          <a:noFill/>
          <a:ln/>
        </p:spPr>
        <p:txBody>
          <a:bodyPr wrap="square" lIns="0" tIns="0" rIns="0" bIns="0" rtlCol="0" anchor="t"/>
          <a:lstStyle/>
          <a:p>
            <a:pPr indent="0" marL="0">
              <a:lnSpc>
                <a:spcPct val="135000"/>
              </a:lnSpc>
              <a:buNone/>
            </a:pPr>
            <a:r>
              <a:rPr lang="en-US" sz="780" dirty="0">
                <a:solidFill>
                  <a:srgbClr val="1A2A3A"/>
                </a:solidFill>
                <a:latin typeface="Calibri" pitchFamily="34" charset="0"/>
                <a:ea typeface="Calibri" pitchFamily="34" charset="-122"/>
                <a:cs typeface="Calibri" pitchFamily="34" charset="-120"/>
              </a:rPr>
              <a:t>❌ First I go to school.  ✅ First I WENT to school.</a:t>
            </a:r>
            <a:endParaRPr lang="en-US" sz="780" dirty="0"/>
          </a:p>
          <a:p>
            <a:pPr indent="0" marL="0">
              <a:lnSpc>
                <a:spcPct val="135000"/>
              </a:lnSpc>
              <a:buNone/>
            </a:pPr>
            <a:r>
              <a:rPr lang="en-US" sz="780" dirty="0">
                <a:solidFill>
                  <a:srgbClr val="1A2A3A"/>
                </a:solidFill>
                <a:latin typeface="Calibri" pitchFamily="34" charset="0"/>
                <a:ea typeface="Calibri" pitchFamily="34" charset="-122"/>
                <a:cs typeface="Calibri" pitchFamily="34" charset="-120"/>
              </a:rPr>
              <a:t>❌ Then suddenly I am happy.  ✅ Then suddenly I WAS happy.</a:t>
            </a:r>
            <a:endParaRPr lang="en-US" sz="780" dirty="0"/>
          </a:p>
          <a:p>
            <a:pPr indent="0" marL="0">
              <a:lnSpc>
                <a:spcPct val="135000"/>
              </a:lnSpc>
              <a:buNone/>
            </a:pPr>
            <a:r>
              <a:rPr lang="en-US" sz="780" dirty="0">
                <a:solidFill>
                  <a:srgbClr val="1A2A3A"/>
                </a:solidFill>
                <a:latin typeface="Calibri" pitchFamily="34" charset="0"/>
                <a:ea typeface="Calibri" pitchFamily="34" charset="-122"/>
                <a:cs typeface="Calibri" pitchFamily="34" charset="-120"/>
              </a:rPr>
              <a:t>❌ After that I move.  ✅ After that I MOVED.</a:t>
            </a:r>
            <a:endParaRPr lang="en-US" sz="780" dirty="0"/>
          </a:p>
          <a:p>
            <a:pPr indent="0" marL="0">
              <a:lnSpc>
                <a:spcPct val="135000"/>
              </a:lnSpc>
              <a:buNone/>
            </a:pPr>
            <a:r>
              <a:rPr lang="en-US" sz="780" dirty="0">
                <a:solidFill>
                  <a:srgbClr val="1A2A3A"/>
                </a:solidFill>
                <a:latin typeface="Calibri" pitchFamily="34" charset="0"/>
                <a:ea typeface="Calibri" pitchFamily="34" charset="-122"/>
                <a:cs typeface="Calibri" pitchFamily="34" charset="-120"/>
              </a:rPr>
              <a:t>❌ Finally I pass.  ✅ Finally I PASSED.</a:t>
            </a:r>
            <a:endParaRPr lang="en-US" sz="780" dirty="0"/>
          </a:p>
        </p:txBody>
      </p:sp>
      <p:sp>
        <p:nvSpPr>
          <p:cNvPr id="52" name="Shape 48"/>
          <p:cNvSpPr/>
          <p:nvPr/>
        </p:nvSpPr>
        <p:spPr>
          <a:xfrm>
            <a:off x="3639312" y="6607089"/>
            <a:ext cx="2980944" cy="164592"/>
          </a:xfrm>
          <a:prstGeom prst="rect">
            <a:avLst/>
          </a:prstGeom>
          <a:solidFill>
            <a:srgbClr val="0D7C7B"/>
          </a:solidFill>
          <a:ln w="12700">
            <a:solidFill>
              <a:srgbClr val="0D7C7B"/>
            </a:solidFill>
            <a:prstDash val="solid"/>
          </a:ln>
        </p:spPr>
      </p:sp>
      <p:sp>
        <p:nvSpPr>
          <p:cNvPr id="53" name="Text 49"/>
          <p:cNvSpPr/>
          <p:nvPr/>
        </p:nvSpPr>
        <p:spPr>
          <a:xfrm>
            <a:off x="3657600" y="6607089"/>
            <a:ext cx="2980944" cy="164592"/>
          </a:xfrm>
          <a:prstGeom prst="rect">
            <a:avLst/>
          </a:prstGeom>
          <a:noFill/>
          <a:ln/>
        </p:spPr>
        <p:txBody>
          <a:bodyPr wrap="square" lIns="0" tIns="0" rIns="0" bIns="0" rtlCol="0" anchor="ctr"/>
          <a:lstStyle/>
          <a:p>
            <a:pPr indent="0" marL="0">
              <a:buNone/>
            </a:pPr>
            <a:r>
              <a:rPr lang="en-US" sz="850" b="1" dirty="0">
                <a:solidFill>
                  <a:srgbClr val="FFFFFF"/>
                </a:solidFill>
                <a:latin typeface="Calibri" pitchFamily="34" charset="0"/>
                <a:ea typeface="Calibri" pitchFamily="34" charset="-122"/>
                <a:cs typeface="Calibri" pitchFamily="34" charset="-120"/>
              </a:rPr>
              <a:t>⚡  Quick Practice — Fill in the blank</a:t>
            </a:r>
            <a:endParaRPr lang="en-US" sz="850" dirty="0"/>
          </a:p>
        </p:txBody>
      </p:sp>
      <p:sp>
        <p:nvSpPr>
          <p:cNvPr id="54" name="Shape 50"/>
          <p:cNvSpPr/>
          <p:nvPr/>
        </p:nvSpPr>
        <p:spPr>
          <a:xfrm>
            <a:off x="3639312" y="6771681"/>
            <a:ext cx="2980944" cy="2902671"/>
          </a:xfrm>
          <a:prstGeom prst="rect">
            <a:avLst/>
          </a:prstGeom>
          <a:solidFill>
            <a:srgbClr val="E0F4F4"/>
          </a:solidFill>
          <a:ln w="12700">
            <a:solidFill>
              <a:srgbClr val="0D7C7B"/>
            </a:solidFill>
            <a:prstDash val="solid"/>
          </a:ln>
        </p:spPr>
      </p:sp>
      <p:graphicFrame>
        <p:nvGraphicFramePr>
          <p:cNvPr id="4" name="Table 2"/>
          <p:cNvGraphicFramePr>
            <a:graphicFrameLocks noGrp="1"/>
          </p:cNvGraphicFramePr>
          <p:nvPr>
            <p:extLst>
              <p:ext uri="{D42A27DB-BD31-4B8C-83A1-F6EECF244321}">
                <p14:modId xmlns:p14="http://schemas.microsoft.com/office/powerpoint/2010/main" val="1579011935"/>
              </p:ext>
            </p:extLst>
          </p:nvPr>
        </p:nvGraphicFramePr>
        <p:xfrm>
          <a:off x="3657600" y="6799113"/>
          <a:ext cx="2944368" cy="914400"/>
        </p:xfrm>
        <a:graphic>
          <a:graphicData uri="http://schemas.openxmlformats.org/drawingml/2006/table">
            <a:tbl>
              <a:tblPr/>
              <a:tblGrid>
                <a:gridCol w="1472184"/>
                <a:gridCol w="1472184"/>
              </a:tblGrid>
              <a:tr h="624074">
                <a:tc>
                  <a:txBody>
                    <a:bodyPr/>
                    <a:lstStyle/>
                    <a:p>
                      <a:pPr algn="l" indent="0" marL="0">
                        <a:buNone/>
                      </a:pPr>
                      <a:r>
                        <a:rPr lang="en-US" sz="900" dirty="0">
                          <a:solidFill>
                            <a:srgbClr val="1A2A3A"/>
                          </a:solidFill>
                          <a:latin typeface="Calibri" pitchFamily="34" charset="0"/>
                          <a:ea typeface="Calibri" pitchFamily="34" charset="-122"/>
                          <a:cs typeface="Calibri" pitchFamily="34" charset="-120"/>
                        </a:rPr>
                        <a:t>1. _____, I was nervous at school. (At first)</a:t>
                      </a:r>
                      <a:endParaRPr lang="en-US" sz="9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E4F2EC"/>
                    </a:solidFill>
                  </a:tcPr>
                </a:tc>
                <a:tc>
                  <a:txBody>
                    <a:bodyPr/>
                    <a:lstStyle/>
                    <a:p>
                      <a:pPr algn="l" indent="0" marL="0">
                        <a:buNone/>
                      </a:pPr>
                      <a:r>
                        <a:rPr lang="en-US" sz="900" dirty="0">
                          <a:solidFill>
                            <a:srgbClr val="1A2A3A"/>
                          </a:solidFill>
                          <a:latin typeface="Calibri" pitchFamily="34" charset="0"/>
                          <a:ea typeface="Calibri" pitchFamily="34" charset="-122"/>
                          <a:cs typeface="Calibri" pitchFamily="34" charset="-120"/>
                        </a:rPr>
                        <a:t>5. _____ I started school at age 6. (First)</a:t>
                      </a:r>
                      <a:endParaRPr lang="en-US" sz="9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E4F2EC"/>
                    </a:solidFill>
                  </a:tcPr>
                </a:tc>
              </a:tr>
              <a:tr h="624074">
                <a:tc>
                  <a:txBody>
                    <a:bodyPr/>
                    <a:lstStyle/>
                    <a:p>
                      <a:pPr algn="l" indent="0" marL="0">
                        <a:buNone/>
                      </a:pPr>
                      <a:r>
                        <a:rPr lang="en-US" sz="900" dirty="0">
                          <a:solidFill>
                            <a:srgbClr val="1A2A3A"/>
                          </a:solidFill>
                          <a:latin typeface="Calibri" pitchFamily="34" charset="0"/>
                          <a:ea typeface="Calibri" pitchFamily="34" charset="-122"/>
                          <a:cs typeface="Calibri" pitchFamily="34" charset="-120"/>
                        </a:rPr>
                        <a:t>2. _____ I made lots of friends. (Then)</a:t>
                      </a:r>
                      <a:endParaRPr lang="en-US" sz="9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0FAF5"/>
                    </a:solidFill>
                  </a:tcPr>
                </a:tc>
                <a:tc>
                  <a:txBody>
                    <a:bodyPr/>
                    <a:lstStyle/>
                    <a:p>
                      <a:pPr algn="l" indent="0" marL="0">
                        <a:buNone/>
                      </a:pPr>
                      <a:r>
                        <a:rPr lang="en-US" sz="900" dirty="0">
                          <a:solidFill>
                            <a:srgbClr val="1A2A3A"/>
                          </a:solidFill>
                          <a:latin typeface="Calibri" pitchFamily="34" charset="0"/>
                          <a:ea typeface="Calibri" pitchFamily="34" charset="-122"/>
                          <a:cs typeface="Calibri" pitchFamily="34" charset="-120"/>
                        </a:rPr>
                        <a:t>6. _____ I loved English! (Finally)</a:t>
                      </a:r>
                      <a:endParaRPr lang="en-US" sz="9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0FAF5"/>
                    </a:solidFill>
                  </a:tcPr>
                </a:tc>
              </a:tr>
              <a:tr h="624074">
                <a:tc>
                  <a:txBody>
                    <a:bodyPr/>
                    <a:lstStyle/>
                    <a:p>
                      <a:pPr algn="l" indent="0" marL="0">
                        <a:buNone/>
                      </a:pPr>
                      <a:r>
                        <a:rPr lang="en-US" sz="900" dirty="0">
                          <a:solidFill>
                            <a:srgbClr val="1A2A3A"/>
                          </a:solidFill>
                          <a:latin typeface="Calibri" pitchFamily="34" charset="0"/>
                          <a:ea typeface="Calibri" pitchFamily="34" charset="-122"/>
                          <a:cs typeface="Calibri" pitchFamily="34" charset="-120"/>
                        </a:rPr>
                        <a:t>3. _____ I moved to a new class. (After that)</a:t>
                      </a:r>
                      <a:endParaRPr lang="en-US" sz="9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E4F2EC"/>
                    </a:solidFill>
                  </a:tcPr>
                </a:tc>
                <a:tc>
                  <a:txBody>
                    <a:bodyPr/>
                    <a:lstStyle/>
                    <a:p>
                      <a:pPr algn="l" indent="0" marL="0">
                        <a:buNone/>
                      </a:pPr>
                      <a:r>
                        <a:rPr lang="en-US" sz="900" dirty="0">
                          <a:solidFill>
                            <a:srgbClr val="1A2A3A"/>
                          </a:solidFill>
                          <a:latin typeface="Calibri" pitchFamily="34" charset="0"/>
                          <a:ea typeface="Calibri" pitchFamily="34" charset="-122"/>
                          <a:cs typeface="Calibri" pitchFamily="34" charset="-120"/>
                        </a:rPr>
                        <a:t>7. _____, everything changed for me. (Suddenly)</a:t>
                      </a:r>
                      <a:endParaRPr lang="en-US" sz="9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E4F2EC"/>
                    </a:solidFill>
                  </a:tcPr>
                </a:tc>
              </a:tr>
              <a:tr h="624074">
                <a:tc>
                  <a:txBody>
                    <a:bodyPr/>
                    <a:lstStyle/>
                    <a:p>
                      <a:pPr algn="l" indent="0" marL="0">
                        <a:buNone/>
                      </a:pPr>
                      <a:r>
                        <a:rPr lang="en-US" sz="900" dirty="0">
                          <a:solidFill>
                            <a:srgbClr val="1A2A3A"/>
                          </a:solidFill>
                          <a:latin typeface="Calibri" pitchFamily="34" charset="0"/>
                          <a:ea typeface="Calibri" pitchFamily="34" charset="-122"/>
                          <a:cs typeface="Calibri" pitchFamily="34" charset="-120"/>
                        </a:rPr>
                        <a:t>4. _____ I began to understand. (Later)</a:t>
                      </a:r>
                      <a:endParaRPr lang="en-US" sz="9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0FAF5"/>
                    </a:solidFill>
                  </a:tcPr>
                </a:tc>
                <a:tc>
                  <a:txBody>
                    <a:bodyPr/>
                    <a:lstStyle/>
                    <a:p>
                      <a:pPr algn="l" indent="0" marL="0">
                        <a:buNone/>
                      </a:pPr>
                      <a:r>
                        <a:rPr lang="en-US" sz="900" dirty="0">
                          <a:solidFill>
                            <a:srgbClr val="1A2A3A"/>
                          </a:solidFill>
                          <a:latin typeface="Calibri" pitchFamily="34" charset="0"/>
                          <a:ea typeface="Calibri" pitchFamily="34" charset="-122"/>
                          <a:cs typeface="Calibri" pitchFamily="34" charset="-120"/>
                        </a:rPr>
                        <a:t>8. _____ school, I studied at home. (After)</a:t>
                      </a:r>
                      <a:endParaRPr lang="en-US" sz="9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0FAF5"/>
                    </a:solidFill>
                  </a:tcPr>
                </a:tc>
              </a:tr>
            </a:tbl>
          </a:graphicData>
        </a:graphic>
      </p:graphicFrame>
      <p:sp>
        <p:nvSpPr>
          <p:cNvPr id="56" name="Text 51"/>
          <p:cNvSpPr/>
          <p:nvPr/>
        </p:nvSpPr>
        <p:spPr>
          <a:xfrm>
            <a:off x="3666744" y="9341130"/>
            <a:ext cx="2926080" cy="128016"/>
          </a:xfrm>
          <a:prstGeom prst="rect">
            <a:avLst/>
          </a:prstGeom>
          <a:noFill/>
          <a:ln/>
        </p:spPr>
        <p:txBody>
          <a:bodyPr wrap="square" lIns="0" tIns="0" rIns="0" bIns="0" rtlCol="0" anchor="t"/>
          <a:lstStyle/>
          <a:p>
            <a:pPr indent="0" marL="0">
              <a:buNone/>
            </a:pPr>
            <a:r>
              <a:rPr lang="en-US" sz="800" b="1" dirty="0">
                <a:solidFill>
                  <a:srgbClr val="0D7C7B"/>
                </a:solidFill>
                <a:latin typeface="Calibri" pitchFamily="34" charset="0"/>
                <a:ea typeface="Calibri" pitchFamily="34" charset="-122"/>
                <a:cs typeface="Calibri" pitchFamily="34" charset="-120"/>
              </a:rPr>
              <a:t>🔑  Answers: 1-At first · 2-Then · 3-After that · 4-Later · 5-First · 6-Finally · 7-Suddenly · 8-After</a:t>
            </a:r>
            <a:endParaRPr lang="en-US" sz="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2F6FA"/>
        </a:solidFill>
      </p:bgPr>
    </p:bg>
    <p:spTree>
      <p:nvGrpSpPr>
        <p:cNvPr id="1" name=""/>
        <p:cNvGrpSpPr/>
        <p:nvPr/>
      </p:nvGrpSpPr>
      <p:grpSpPr>
        <a:xfrm>
          <a:off x="0" y="0"/>
          <a:ext cx="0" cy="0"/>
          <a:chOff x="0" y="0"/>
          <a:chExt cx="0" cy="0"/>
        </a:xfrm>
      </p:grpSpPr>
      <p:sp>
        <p:nvSpPr>
          <p:cNvPr id="2" name="Shape 0"/>
          <p:cNvSpPr/>
          <p:nvPr/>
        </p:nvSpPr>
        <p:spPr>
          <a:xfrm>
            <a:off x="0" y="0"/>
            <a:ext cx="6858000" cy="347472"/>
          </a:xfrm>
          <a:prstGeom prst="rect">
            <a:avLst/>
          </a:prstGeom>
          <a:solidFill>
            <a:srgbClr val="1A3A5C"/>
          </a:solidFill>
          <a:ln w="12700">
            <a:solidFill>
              <a:srgbClr val="1A3A5C"/>
            </a:solidFill>
            <a:prstDash val="solid"/>
          </a:ln>
        </p:spPr>
      </p:sp>
      <p:sp>
        <p:nvSpPr>
          <p:cNvPr id="3" name="Shape 1"/>
          <p:cNvSpPr/>
          <p:nvPr/>
        </p:nvSpPr>
        <p:spPr>
          <a:xfrm>
            <a:off x="0" y="0"/>
            <a:ext cx="50292" cy="347472"/>
          </a:xfrm>
          <a:prstGeom prst="rect">
            <a:avLst/>
          </a:prstGeom>
          <a:solidFill>
            <a:srgbClr val="F2C93A"/>
          </a:solidFill>
          <a:ln w="12700">
            <a:solidFill>
              <a:srgbClr val="F2C93A"/>
            </a:solidFill>
            <a:prstDash val="solid"/>
          </a:ln>
        </p:spPr>
      </p:sp>
      <p:sp>
        <p:nvSpPr>
          <p:cNvPr id="4" name="Text 2"/>
          <p:cNvSpPr/>
          <p:nvPr/>
        </p:nvSpPr>
        <p:spPr>
          <a:xfrm>
            <a:off x="100584" y="0"/>
            <a:ext cx="3657600" cy="347472"/>
          </a:xfrm>
          <a:prstGeom prst="rect">
            <a:avLst/>
          </a:prstGeom>
          <a:noFill/>
          <a:ln/>
        </p:spPr>
        <p:txBody>
          <a:bodyPr wrap="square" lIns="0" tIns="0" rIns="0" bIns="0" rtlCol="0" anchor="ctr"/>
          <a:lstStyle/>
          <a:p>
            <a:pPr indent="0" marL="0">
              <a:buNone/>
            </a:pPr>
            <a:r>
              <a:rPr lang="en-US" sz="1350" b="1" dirty="0">
                <a:solidFill>
                  <a:srgbClr val="F2C93A"/>
                </a:solidFill>
                <a:latin typeface="Georgia" pitchFamily="34" charset="0"/>
                <a:ea typeface="Georgia" pitchFamily="34" charset="-122"/>
                <a:cs typeface="Georgia" pitchFamily="34" charset="-120"/>
              </a:rPr>
              <a:t>Speak English in 90 Days</a:t>
            </a:r>
            <a:endParaRPr lang="en-US" sz="1350" dirty="0"/>
          </a:p>
        </p:txBody>
      </p:sp>
      <p:sp>
        <p:nvSpPr>
          <p:cNvPr id="5" name="Text 3"/>
          <p:cNvSpPr/>
          <p:nvPr/>
        </p:nvSpPr>
        <p:spPr>
          <a:xfrm>
            <a:off x="3657600" y="0"/>
            <a:ext cx="1920240" cy="347472"/>
          </a:xfrm>
          <a:prstGeom prst="rect">
            <a:avLst/>
          </a:prstGeom>
          <a:noFill/>
          <a:ln/>
        </p:spPr>
        <p:txBody>
          <a:bodyPr wrap="square" lIns="0" tIns="0" rIns="0" bIns="0" rtlCol="0" anchor="ctr"/>
          <a:lstStyle/>
          <a:p>
            <a:pPr algn="ctr" indent="0" marL="0">
              <a:buNone/>
            </a:pPr>
            <a:r>
              <a:rPr lang="en-US" sz="800" dirty="0">
                <a:solidFill>
                  <a:srgbClr val="90AABF"/>
                </a:solidFill>
                <a:latin typeface="Calibri" pitchFamily="34" charset="0"/>
                <a:ea typeface="Calibri" pitchFamily="34" charset="-122"/>
                <a:cs typeface="Calibri" pitchFamily="34" charset="-120"/>
              </a:rPr>
              <a:t>A2 · Book 2 · Дунд шат</a:t>
            </a:r>
            <a:endParaRPr lang="en-US" sz="800" dirty="0"/>
          </a:p>
        </p:txBody>
      </p:sp>
      <p:sp>
        <p:nvSpPr>
          <p:cNvPr id="6" name="Text 4"/>
          <p:cNvSpPr/>
          <p:nvPr/>
        </p:nvSpPr>
        <p:spPr>
          <a:xfrm>
            <a:off x="5577840" y="0"/>
            <a:ext cx="1170432" cy="347472"/>
          </a:xfrm>
          <a:prstGeom prst="rect">
            <a:avLst/>
          </a:prstGeom>
          <a:noFill/>
          <a:ln/>
        </p:spPr>
        <p:txBody>
          <a:bodyPr wrap="square" lIns="0" tIns="0" rIns="0" bIns="0" rtlCol="0" anchor="ctr"/>
          <a:lstStyle/>
          <a:p>
            <a:pPr algn="r" indent="0" marL="0">
              <a:buNone/>
            </a:pPr>
            <a:r>
              <a:rPr lang="en-US" sz="850" dirty="0">
                <a:solidFill>
                  <a:srgbClr val="F2C93A"/>
                </a:solidFill>
                <a:latin typeface="Calibri" pitchFamily="34" charset="0"/>
                <a:ea typeface="Calibri" pitchFamily="34" charset="-122"/>
                <a:cs typeface="Calibri" pitchFamily="34" charset="-120"/>
              </a:rPr>
              <a:t>20-25 минут</a:t>
            </a:r>
            <a:endParaRPr lang="en-US" sz="850" dirty="0"/>
          </a:p>
        </p:txBody>
      </p:sp>
      <p:sp>
        <p:nvSpPr>
          <p:cNvPr id="7" name="Shape 5"/>
          <p:cNvSpPr/>
          <p:nvPr/>
        </p:nvSpPr>
        <p:spPr>
          <a:xfrm>
            <a:off x="0" y="347472"/>
            <a:ext cx="1335024" cy="237744"/>
          </a:xfrm>
          <a:prstGeom prst="rect">
            <a:avLst/>
          </a:prstGeom>
          <a:solidFill>
            <a:srgbClr val="F2C93A"/>
          </a:solidFill>
          <a:ln w="12700">
            <a:solidFill>
              <a:srgbClr val="F2C93A"/>
            </a:solidFill>
            <a:prstDash val="solid"/>
          </a:ln>
        </p:spPr>
      </p:sp>
      <p:sp>
        <p:nvSpPr>
          <p:cNvPr id="8" name="Text 6"/>
          <p:cNvSpPr/>
          <p:nvPr/>
        </p:nvSpPr>
        <p:spPr>
          <a:xfrm>
            <a:off x="0" y="347472"/>
            <a:ext cx="1335024" cy="237744"/>
          </a:xfrm>
          <a:prstGeom prst="rect">
            <a:avLst/>
          </a:prstGeom>
          <a:noFill/>
          <a:ln/>
        </p:spPr>
        <p:txBody>
          <a:bodyPr wrap="square" lIns="0" tIns="0" rIns="0" bIns="0" rtlCol="0" anchor="ctr"/>
          <a:lstStyle/>
          <a:p>
            <a:pPr algn="ctr" indent="0" marL="0">
              <a:buNone/>
            </a:pPr>
            <a:r>
              <a:rPr lang="en-US" sz="850" b="1" dirty="0">
                <a:solidFill>
                  <a:srgbClr val="1A3A5C"/>
                </a:solidFill>
                <a:latin typeface="Calibri" pitchFamily="34" charset="0"/>
                <a:ea typeface="Calibri" pitchFamily="34" charset="-122"/>
                <a:cs typeface="Calibri" pitchFamily="34" charset="-120"/>
              </a:rPr>
              <a:t>DAY 31 · ӨДӨР 31</a:t>
            </a:r>
            <a:endParaRPr lang="en-US" sz="850" dirty="0"/>
          </a:p>
        </p:txBody>
      </p:sp>
      <p:sp>
        <p:nvSpPr>
          <p:cNvPr id="9" name="Shape 7"/>
          <p:cNvSpPr/>
          <p:nvPr/>
        </p:nvSpPr>
        <p:spPr>
          <a:xfrm>
            <a:off x="1335024" y="347472"/>
            <a:ext cx="4498848" cy="237744"/>
          </a:xfrm>
          <a:prstGeom prst="rect">
            <a:avLst/>
          </a:prstGeom>
          <a:solidFill>
            <a:srgbClr val="1E7A4A"/>
          </a:solidFill>
          <a:ln w="12700">
            <a:solidFill>
              <a:srgbClr val="1E7A4A"/>
            </a:solidFill>
            <a:prstDash val="solid"/>
          </a:ln>
        </p:spPr>
      </p:sp>
      <p:sp>
        <p:nvSpPr>
          <p:cNvPr id="10" name="Text 8"/>
          <p:cNvSpPr/>
          <p:nvPr/>
        </p:nvSpPr>
        <p:spPr>
          <a:xfrm>
            <a:off x="1408176" y="347472"/>
            <a:ext cx="4425696" cy="237744"/>
          </a:xfrm>
          <a:prstGeom prst="rect">
            <a:avLst/>
          </a:prstGeom>
          <a:noFill/>
          <a:ln/>
        </p:spPr>
        <p:txBody>
          <a:bodyPr wrap="square" lIns="0" tIns="0" rIns="0" bIns="0" rtlCol="0" anchor="ctr"/>
          <a:lstStyle/>
          <a:p>
            <a:pPr indent="0" marL="0">
              <a:buNone/>
            </a:pPr>
            <a:r>
              <a:rPr lang="en-US" sz="850" b="1" dirty="0">
                <a:solidFill>
                  <a:srgbClr val="FFFFFF"/>
                </a:solidFill>
                <a:latin typeface="Calibri" pitchFamily="34" charset="0"/>
                <a:ea typeface="Calibri" pitchFamily="34" charset="-122"/>
                <a:cs typeface="Calibri" pitchFamily="34" charset="-120"/>
              </a:rPr>
              <a:t>Reading &amp; Speaking  ·  Унших ба Ярих</a:t>
            </a:r>
            <a:endParaRPr lang="en-US" sz="850" dirty="0"/>
          </a:p>
        </p:txBody>
      </p:sp>
      <p:sp>
        <p:nvSpPr>
          <p:cNvPr id="11" name="Shape 9"/>
          <p:cNvSpPr/>
          <p:nvPr/>
        </p:nvSpPr>
        <p:spPr>
          <a:xfrm>
            <a:off x="5833872" y="347472"/>
            <a:ext cx="1024128" cy="237744"/>
          </a:xfrm>
          <a:prstGeom prst="rect">
            <a:avLst/>
          </a:prstGeom>
          <a:solidFill>
            <a:srgbClr val="1A3A5C"/>
          </a:solidFill>
          <a:ln w="12700">
            <a:solidFill>
              <a:srgbClr val="1A3A5C"/>
            </a:solidFill>
            <a:prstDash val="solid"/>
          </a:ln>
        </p:spPr>
      </p:sp>
      <p:sp>
        <p:nvSpPr>
          <p:cNvPr id="12" name="Text 10"/>
          <p:cNvSpPr/>
          <p:nvPr/>
        </p:nvSpPr>
        <p:spPr>
          <a:xfrm>
            <a:off x="5760720" y="347472"/>
            <a:ext cx="1042416" cy="237744"/>
          </a:xfrm>
          <a:prstGeom prst="rect">
            <a:avLst/>
          </a:prstGeom>
          <a:noFill/>
          <a:ln/>
        </p:spPr>
        <p:txBody>
          <a:bodyPr wrap="square" lIns="0" tIns="0" rIns="0" bIns="0" rtlCol="0" anchor="ctr"/>
          <a:lstStyle/>
          <a:p>
            <a:pPr algn="r" indent="0" marL="0">
              <a:buNone/>
            </a:pPr>
            <a:r>
              <a:rPr lang="en-US" sz="750" dirty="0">
                <a:solidFill>
                  <a:srgbClr val="F2C93A"/>
                </a:solidFill>
                <a:latin typeface="Calibri" pitchFamily="34" charset="0"/>
                <a:ea typeface="Calibri" pitchFamily="34" charset="-122"/>
                <a:cs typeface="Calibri" pitchFamily="34" charset="-120"/>
              </a:rPr>
              <a:t>📚 Page 2</a:t>
            </a:r>
            <a:endParaRPr lang="en-US" sz="750" dirty="0"/>
          </a:p>
        </p:txBody>
      </p:sp>
      <p:sp>
        <p:nvSpPr>
          <p:cNvPr id="13" name="Shape 11"/>
          <p:cNvSpPr/>
          <p:nvPr/>
        </p:nvSpPr>
        <p:spPr>
          <a:xfrm>
            <a:off x="0" y="9601200"/>
            <a:ext cx="6858000" cy="91440"/>
          </a:xfrm>
          <a:prstGeom prst="rect">
            <a:avLst/>
          </a:prstGeom>
          <a:solidFill>
            <a:srgbClr val="E4EEF6"/>
          </a:solidFill>
          <a:ln w="12700">
            <a:solidFill>
              <a:srgbClr val="E4EEF6"/>
            </a:solidFill>
            <a:prstDash val="solid"/>
          </a:ln>
        </p:spPr>
      </p:sp>
      <p:sp>
        <p:nvSpPr>
          <p:cNvPr id="14" name="Text 12"/>
          <p:cNvSpPr/>
          <p:nvPr/>
        </p:nvSpPr>
        <p:spPr>
          <a:xfrm>
            <a:off x="0" y="9601200"/>
            <a:ext cx="6858000" cy="91440"/>
          </a:xfrm>
          <a:prstGeom prst="rect">
            <a:avLst/>
          </a:prstGeom>
          <a:noFill/>
          <a:ln/>
        </p:spPr>
        <p:txBody>
          <a:bodyPr wrap="square" lIns="0" tIns="0" rIns="0" bIns="0" rtlCol="0" anchor="ctr"/>
          <a:lstStyle/>
          <a:p>
            <a:pPr algn="ctr" indent="0" marL="0">
              <a:buNone/>
            </a:pPr>
            <a:r>
              <a:rPr lang="en-US" sz="650" dirty="0">
                <a:solidFill>
                  <a:srgbClr val="7A90A0"/>
                </a:solidFill>
                <a:latin typeface="Calibri" pitchFamily="34" charset="0"/>
                <a:ea typeface="Calibri" pitchFamily="34" charset="-122"/>
                <a:cs typeface="Calibri" pitchFamily="34" charset="-120"/>
              </a:rPr>
              <a:t>Speak English in 90 Days  ·  A2 Level  ·  Book 2</a:t>
            </a:r>
            <a:endParaRPr lang="en-US" sz="650" dirty="0"/>
          </a:p>
        </p:txBody>
      </p:sp>
      <p:sp>
        <p:nvSpPr>
          <p:cNvPr id="15" name="Shape 13"/>
          <p:cNvSpPr/>
          <p:nvPr/>
        </p:nvSpPr>
        <p:spPr>
          <a:xfrm>
            <a:off x="179222" y="627278"/>
            <a:ext cx="6528816" cy="1865376"/>
          </a:xfrm>
          <a:prstGeom prst="rect">
            <a:avLst/>
          </a:prstGeom>
          <a:solidFill>
            <a:srgbClr val="D0DCE8"/>
          </a:solidFill>
          <a:ln w="12700">
            <a:solidFill>
              <a:srgbClr val="D0DCE8"/>
            </a:solidFill>
            <a:prstDash val="solid"/>
          </a:ln>
        </p:spPr>
      </p:sp>
      <p:sp>
        <p:nvSpPr>
          <p:cNvPr id="16" name="Shape 14"/>
          <p:cNvSpPr/>
          <p:nvPr/>
        </p:nvSpPr>
        <p:spPr>
          <a:xfrm>
            <a:off x="164592" y="612648"/>
            <a:ext cx="6528816" cy="1865376"/>
          </a:xfrm>
          <a:prstGeom prst="rect">
            <a:avLst/>
          </a:prstGeom>
          <a:solidFill>
            <a:srgbClr val="FFFFFF"/>
          </a:solidFill>
          <a:ln w="12700">
            <a:solidFill>
              <a:srgbClr val="C8D8E8"/>
            </a:solidFill>
            <a:prstDash val="solid"/>
          </a:ln>
        </p:spPr>
      </p:sp>
      <p:sp>
        <p:nvSpPr>
          <p:cNvPr id="17" name="Shape 15"/>
          <p:cNvSpPr/>
          <p:nvPr/>
        </p:nvSpPr>
        <p:spPr>
          <a:xfrm>
            <a:off x="164592" y="612648"/>
            <a:ext cx="6528816" cy="256032"/>
          </a:xfrm>
          <a:prstGeom prst="rect">
            <a:avLst/>
          </a:prstGeom>
          <a:solidFill>
            <a:srgbClr val="1E7A4A"/>
          </a:solidFill>
          <a:ln w="12700">
            <a:solidFill>
              <a:srgbClr val="1E7A4A"/>
            </a:solidFill>
            <a:prstDash val="solid"/>
          </a:ln>
        </p:spPr>
      </p:sp>
      <p:sp>
        <p:nvSpPr>
          <p:cNvPr id="18" name="Shape 16"/>
          <p:cNvSpPr/>
          <p:nvPr/>
        </p:nvSpPr>
        <p:spPr>
          <a:xfrm>
            <a:off x="164592" y="868680"/>
            <a:ext cx="6528816" cy="146304"/>
          </a:xfrm>
          <a:prstGeom prst="rect">
            <a:avLst/>
          </a:prstGeom>
          <a:solidFill>
            <a:srgbClr val="E8F5EE"/>
          </a:solidFill>
          <a:ln w="12700">
            <a:solidFill>
              <a:srgbClr val="E8F5EE"/>
            </a:solidFill>
            <a:prstDash val="solid"/>
          </a:ln>
        </p:spPr>
      </p:sp>
      <p:sp>
        <p:nvSpPr>
          <p:cNvPr id="19" name="Text 17"/>
          <p:cNvSpPr/>
          <p:nvPr/>
        </p:nvSpPr>
        <p:spPr>
          <a:xfrm>
            <a:off x="256032" y="612648"/>
            <a:ext cx="6400800" cy="256032"/>
          </a:xfrm>
          <a:prstGeom prst="rect">
            <a:avLst/>
          </a:prstGeom>
          <a:noFill/>
          <a:ln/>
        </p:spPr>
        <p:txBody>
          <a:bodyPr wrap="square" lIns="0" tIns="0" rIns="0" bIns="0" rtlCol="0" anchor="ctr"/>
          <a:lstStyle/>
          <a:p>
            <a:pPr indent="0" marL="0">
              <a:buNone/>
            </a:pPr>
            <a:r>
              <a:rPr lang="en-US" sz="1050" b="1" dirty="0">
                <a:solidFill>
                  <a:srgbClr val="FFFFFF"/>
                </a:solidFill>
                <a:latin typeface="Georgia" pitchFamily="34" charset="0"/>
                <a:ea typeface="Georgia" pitchFamily="34" charset="-122"/>
                <a:cs typeface="Georgia" pitchFamily="34" charset="-120"/>
              </a:rPr>
              <a:t>📖  Reading Passage / Унших дасгал</a:t>
            </a:r>
            <a:endParaRPr lang="en-US" sz="1050" dirty="0"/>
          </a:p>
        </p:txBody>
      </p:sp>
      <p:sp>
        <p:nvSpPr>
          <p:cNvPr id="20" name="Text 18"/>
          <p:cNvSpPr/>
          <p:nvPr/>
        </p:nvSpPr>
        <p:spPr>
          <a:xfrm>
            <a:off x="256032" y="877824"/>
            <a:ext cx="6400800" cy="137160"/>
          </a:xfrm>
          <a:prstGeom prst="rect">
            <a:avLst/>
          </a:prstGeom>
          <a:noFill/>
          <a:ln/>
        </p:spPr>
        <p:txBody>
          <a:bodyPr wrap="square" lIns="0" tIns="0" rIns="0" bIns="0" rtlCol="0" anchor="ctr"/>
          <a:lstStyle/>
          <a:p>
            <a:pPr indent="0" marL="0">
              <a:buNone/>
            </a:pPr>
            <a:r>
              <a:rPr lang="en-US" sz="750" i="1" dirty="0">
                <a:solidFill>
                  <a:srgbClr val="3A5060"/>
                </a:solidFill>
                <a:latin typeface="Calibri" pitchFamily="34" charset="0"/>
                <a:ea typeface="Calibri" pitchFamily="34" charset="-122"/>
                <a:cs typeface="Calibri" pitchFamily="34" charset="-120"/>
              </a:rPr>
              <a:t>Bold = today's vocab · Read aloud at least twice! · Дор хаяж 2 удаа чангаар уншаарай!</a:t>
            </a:r>
            <a:endParaRPr lang="en-US" sz="750" dirty="0"/>
          </a:p>
        </p:txBody>
      </p:sp>
      <p:sp>
        <p:nvSpPr>
          <p:cNvPr id="21" name="Shape 19"/>
          <p:cNvSpPr/>
          <p:nvPr/>
        </p:nvSpPr>
        <p:spPr>
          <a:xfrm>
            <a:off x="237744" y="1033272"/>
            <a:ext cx="6382512" cy="1380744"/>
          </a:xfrm>
          <a:prstGeom prst="rect">
            <a:avLst/>
          </a:prstGeom>
          <a:solidFill>
            <a:srgbClr val="EBF5F0"/>
          </a:solidFill>
          <a:ln w="12700">
            <a:solidFill>
              <a:srgbClr val="1E7A4A"/>
            </a:solidFill>
            <a:prstDash val="solid"/>
          </a:ln>
        </p:spPr>
      </p:sp>
      <p:sp>
        <p:nvSpPr>
          <p:cNvPr id="22" name="Text 20"/>
          <p:cNvSpPr/>
          <p:nvPr/>
        </p:nvSpPr>
        <p:spPr>
          <a:xfrm>
            <a:off x="310896" y="1069848"/>
            <a:ext cx="6236208" cy="1298448"/>
          </a:xfrm>
          <a:prstGeom prst="rect">
            <a:avLst/>
          </a:prstGeom>
          <a:noFill/>
          <a:ln/>
        </p:spPr>
        <p:txBody>
          <a:bodyPr wrap="square" lIns="0" tIns="0" rIns="0" bIns="0" rtlCol="0" anchor="t"/>
          <a:lstStyle/>
          <a:p>
            <a:pPr indent="0" marL="0">
              <a:lnSpc>
                <a:spcPct val="155000"/>
              </a:lnSpc>
              <a:buNone/>
            </a:pPr>
            <a:r>
              <a:rPr lang="en-US" sz="950" b="1" dirty="0">
                <a:solidFill>
                  <a:srgbClr val="5A3A1A"/>
                </a:solidFill>
                <a:latin typeface="Georgia" pitchFamily="34" charset="0"/>
                <a:ea typeface="Georgia" pitchFamily="34" charset="-122"/>
                <a:cs typeface="Georgia" pitchFamily="34" charset="-120"/>
              </a:rPr>
              <a:t>Let me tell you my life story. </a:t>
            </a:r>
            <a:pPr indent="0" marL="0">
              <a:lnSpc>
                <a:spcPct val="155000"/>
              </a:lnSpc>
              <a:buNone/>
            </a:pPr>
            <a:r>
              <a:rPr lang="en-US" sz="950" dirty="0">
                <a:solidFill>
                  <a:srgbClr val="1A2A3A"/>
                </a:solidFill>
                <a:latin typeface="Georgia" pitchFamily="34" charset="0"/>
                <a:ea typeface="Georgia" pitchFamily="34" charset="-122"/>
                <a:cs typeface="Georgia" pitchFamily="34" charset="-120"/>
              </a:rPr>
              <a:t>I was </a:t>
            </a:r>
            <a:pPr indent="0" marL="0">
              <a:lnSpc>
                <a:spcPct val="155000"/>
              </a:lnSpc>
              <a:buNone/>
            </a:pPr>
            <a:r>
              <a:rPr lang="en-US" sz="950" b="1" dirty="0">
                <a:solidFill>
                  <a:srgbClr val="2E6DA4"/>
                </a:solidFill>
                <a:latin typeface="Georgia" pitchFamily="34" charset="0"/>
                <a:ea typeface="Georgia" pitchFamily="34" charset="-122"/>
                <a:cs typeface="Georgia" pitchFamily="34" charset="-120"/>
              </a:rPr>
              <a:t>born</a:t>
            </a:r>
            <a:pPr indent="0" marL="0">
              <a:lnSpc>
                <a:spcPct val="155000"/>
              </a:lnSpc>
              <a:buNone/>
            </a:pPr>
            <a:r>
              <a:rPr lang="en-US" sz="950" dirty="0">
                <a:solidFill>
                  <a:srgbClr val="1A2A3A"/>
                </a:solidFill>
                <a:latin typeface="Georgia" pitchFamily="34" charset="0"/>
                <a:ea typeface="Georgia" pitchFamily="34" charset="-122"/>
                <a:cs typeface="Georgia" pitchFamily="34" charset="-120"/>
              </a:rPr>
              <a:t> in Ulaanbaatar in 2008. I </a:t>
            </a:r>
            <a:pPr indent="0" marL="0">
              <a:lnSpc>
                <a:spcPct val="155000"/>
              </a:lnSpc>
              <a:buNone/>
            </a:pPr>
            <a:r>
              <a:rPr lang="en-US" sz="950" b="1" dirty="0">
                <a:solidFill>
                  <a:srgbClr val="2E6DA4"/>
                </a:solidFill>
                <a:latin typeface="Georgia" pitchFamily="34" charset="0"/>
                <a:ea typeface="Georgia" pitchFamily="34" charset="-122"/>
                <a:cs typeface="Georgia" pitchFamily="34" charset="-120"/>
              </a:rPr>
              <a:t>grew up</a:t>
            </a:r>
            <a:pPr indent="0" marL="0">
              <a:lnSpc>
                <a:spcPct val="155000"/>
              </a:lnSpc>
              <a:buNone/>
            </a:pPr>
            <a:r>
              <a:rPr lang="en-US" sz="950" dirty="0">
                <a:solidFill>
                  <a:srgbClr val="1A2A3A"/>
                </a:solidFill>
                <a:latin typeface="Georgia" pitchFamily="34" charset="0"/>
                <a:ea typeface="Georgia" pitchFamily="34" charset="-122"/>
                <a:cs typeface="Georgia" pitchFamily="34" charset="-120"/>
              </a:rPr>
              <a:t> in a small apartment near the city centre. </a:t>
            </a:r>
            <a:pPr indent="0" marL="0">
              <a:lnSpc>
                <a:spcPct val="155000"/>
              </a:lnSpc>
              <a:buNone/>
            </a:pPr>
            <a:r>
              <a:rPr lang="en-US" sz="950" b="1" dirty="0">
                <a:solidFill>
                  <a:srgbClr val="8B4A9C"/>
                </a:solidFill>
                <a:latin typeface="Georgia" pitchFamily="34" charset="0"/>
                <a:ea typeface="Georgia" pitchFamily="34" charset="-122"/>
                <a:cs typeface="Georgia" pitchFamily="34" charset="-120"/>
              </a:rPr>
              <a:t>At first</a:t>
            </a:r>
            <a:pPr indent="0" marL="0">
              <a:lnSpc>
                <a:spcPct val="155000"/>
              </a:lnSpc>
              <a:buNone/>
            </a:pPr>
            <a:r>
              <a:rPr lang="en-US" sz="950" dirty="0">
                <a:solidFill>
                  <a:srgbClr val="1A2A3A"/>
                </a:solidFill>
                <a:latin typeface="Georgia" pitchFamily="34" charset="0"/>
                <a:ea typeface="Georgia" pitchFamily="34" charset="-122"/>
                <a:cs typeface="Georgia" pitchFamily="34" charset="-120"/>
              </a:rPr>
              <a:t>, life was simple and very happy. When I was six, I </a:t>
            </a:r>
            <a:pPr indent="0" marL="0">
              <a:lnSpc>
                <a:spcPct val="155000"/>
              </a:lnSpc>
              <a:buNone/>
            </a:pPr>
            <a:r>
              <a:rPr lang="en-US" sz="950" b="1" dirty="0">
                <a:solidFill>
                  <a:srgbClr val="2E6DA4"/>
                </a:solidFill>
                <a:latin typeface="Georgia" pitchFamily="34" charset="0"/>
                <a:ea typeface="Georgia" pitchFamily="34" charset="-122"/>
                <a:cs typeface="Georgia" pitchFamily="34" charset="-120"/>
              </a:rPr>
              <a:t>started</a:t>
            </a:r>
            <a:pPr indent="0" marL="0">
              <a:lnSpc>
                <a:spcPct val="155000"/>
              </a:lnSpc>
              <a:buNone/>
            </a:pPr>
            <a:r>
              <a:rPr lang="en-US" sz="950" dirty="0">
                <a:solidFill>
                  <a:srgbClr val="1A2A3A"/>
                </a:solidFill>
                <a:latin typeface="Georgia" pitchFamily="34" charset="0"/>
                <a:ea typeface="Georgia" pitchFamily="34" charset="-122"/>
                <a:cs typeface="Georgia" pitchFamily="34" charset="-120"/>
              </a:rPr>
              <a:t> primary school. </a:t>
            </a:r>
            <a:pPr indent="0" marL="0">
              <a:lnSpc>
                <a:spcPct val="155000"/>
              </a:lnSpc>
              <a:buNone/>
            </a:pPr>
            <a:r>
              <a:rPr lang="en-US" sz="950" b="1" dirty="0">
                <a:solidFill>
                  <a:srgbClr val="8B4A9C"/>
                </a:solidFill>
                <a:latin typeface="Georgia" pitchFamily="34" charset="0"/>
                <a:ea typeface="Georgia" pitchFamily="34" charset="-122"/>
                <a:cs typeface="Georgia" pitchFamily="34" charset="-120"/>
              </a:rPr>
              <a:t>At first</a:t>
            </a:r>
            <a:pPr indent="0" marL="0">
              <a:lnSpc>
                <a:spcPct val="155000"/>
              </a:lnSpc>
              <a:buNone/>
            </a:pPr>
            <a:r>
              <a:rPr lang="en-US" sz="950" dirty="0">
                <a:solidFill>
                  <a:srgbClr val="1A2A3A"/>
                </a:solidFill>
                <a:latin typeface="Georgia" pitchFamily="34" charset="0"/>
                <a:ea typeface="Georgia" pitchFamily="34" charset="-122"/>
                <a:cs typeface="Georgia" pitchFamily="34" charset="-120"/>
              </a:rPr>
              <a:t>, English was very difficult for me. But </a:t>
            </a:r>
            <a:pPr indent="0" marL="0">
              <a:lnSpc>
                <a:spcPct val="155000"/>
              </a:lnSpc>
              <a:buNone/>
            </a:pPr>
            <a:r>
              <a:rPr lang="en-US" sz="950" b="1" dirty="0">
                <a:solidFill>
                  <a:srgbClr val="8B4A9C"/>
                </a:solidFill>
                <a:latin typeface="Georgia" pitchFamily="34" charset="0"/>
                <a:ea typeface="Georgia" pitchFamily="34" charset="-122"/>
                <a:cs typeface="Georgia" pitchFamily="34" charset="-120"/>
              </a:rPr>
              <a:t>then</a:t>
            </a:r>
            <a:pPr indent="0" marL="0">
              <a:lnSpc>
                <a:spcPct val="155000"/>
              </a:lnSpc>
              <a:buNone/>
            </a:pPr>
            <a:r>
              <a:rPr lang="en-US" sz="950" dirty="0">
                <a:solidFill>
                  <a:srgbClr val="1A2A3A"/>
                </a:solidFill>
                <a:latin typeface="Georgia" pitchFamily="34" charset="0"/>
                <a:ea typeface="Georgia" pitchFamily="34" charset="-122"/>
                <a:cs typeface="Georgia" pitchFamily="34" charset="-120"/>
              </a:rPr>
              <a:t> I found a wonderful teacher. </a:t>
            </a:r>
            <a:pPr indent="0" marL="0">
              <a:lnSpc>
                <a:spcPct val="155000"/>
              </a:lnSpc>
              <a:buNone/>
            </a:pPr>
            <a:r>
              <a:rPr lang="en-US" sz="950" b="1" dirty="0">
                <a:solidFill>
                  <a:srgbClr val="8B4A9C"/>
                </a:solidFill>
                <a:latin typeface="Georgia" pitchFamily="34" charset="0"/>
                <a:ea typeface="Georgia" pitchFamily="34" charset="-122"/>
                <a:cs typeface="Georgia" pitchFamily="34" charset="-120"/>
              </a:rPr>
              <a:t>After that</a:t>
            </a:r>
            <a:pPr indent="0" marL="0">
              <a:lnSpc>
                <a:spcPct val="155000"/>
              </a:lnSpc>
              <a:buNone/>
            </a:pPr>
            <a:r>
              <a:rPr lang="en-US" sz="950" dirty="0">
                <a:solidFill>
                  <a:srgbClr val="1A2A3A"/>
                </a:solidFill>
                <a:latin typeface="Georgia" pitchFamily="34" charset="0"/>
                <a:ea typeface="Georgia" pitchFamily="34" charset="-122"/>
                <a:cs typeface="Georgia" pitchFamily="34" charset="-120"/>
              </a:rPr>
              <a:t>, I practised English every single day. </a:t>
            </a:r>
            <a:pPr indent="0" marL="0">
              <a:lnSpc>
                <a:spcPct val="155000"/>
              </a:lnSpc>
              <a:buNone/>
            </a:pPr>
            <a:r>
              <a:rPr lang="en-US" sz="950" b="1" dirty="0">
                <a:solidFill>
                  <a:srgbClr val="8B4A9C"/>
                </a:solidFill>
                <a:latin typeface="Georgia" pitchFamily="34" charset="0"/>
                <a:ea typeface="Georgia" pitchFamily="34" charset="-122"/>
                <a:cs typeface="Georgia" pitchFamily="34" charset="-120"/>
              </a:rPr>
              <a:t>Suddenly</a:t>
            </a:r>
            <a:pPr indent="0" marL="0">
              <a:lnSpc>
                <a:spcPct val="155000"/>
              </a:lnSpc>
              <a:buNone/>
            </a:pPr>
            <a:r>
              <a:rPr lang="en-US" sz="950" dirty="0">
                <a:solidFill>
                  <a:srgbClr val="1A2A3A"/>
                </a:solidFill>
                <a:latin typeface="Georgia" pitchFamily="34" charset="0"/>
                <a:ea typeface="Georgia" pitchFamily="34" charset="-122"/>
                <a:cs typeface="Georgia" pitchFamily="34" charset="-120"/>
              </a:rPr>
              <a:t>, I realised I could actually speak it! </a:t>
            </a:r>
            <a:pPr indent="0" marL="0">
              <a:lnSpc>
                <a:spcPct val="155000"/>
              </a:lnSpc>
              <a:buNone/>
            </a:pPr>
            <a:r>
              <a:rPr lang="en-US" sz="950" b="1" dirty="0">
                <a:solidFill>
                  <a:srgbClr val="8B4A9C"/>
                </a:solidFill>
                <a:latin typeface="Georgia" pitchFamily="34" charset="0"/>
                <a:ea typeface="Georgia" pitchFamily="34" charset="-122"/>
                <a:cs typeface="Georgia" pitchFamily="34" charset="-120"/>
              </a:rPr>
              <a:t>Finally</a:t>
            </a:r>
            <a:pPr indent="0" marL="0">
              <a:lnSpc>
                <a:spcPct val="155000"/>
              </a:lnSpc>
              <a:buNone/>
            </a:pPr>
            <a:r>
              <a:rPr lang="en-US" sz="950" dirty="0">
                <a:solidFill>
                  <a:srgbClr val="1A2A3A"/>
                </a:solidFill>
                <a:latin typeface="Georgia" pitchFamily="34" charset="0"/>
                <a:ea typeface="Georgia" pitchFamily="34" charset="-122"/>
                <a:cs typeface="Georgia" pitchFamily="34" charset="-120"/>
              </a:rPr>
              <a:t>, English became my favourite subject. Now I am telling my story in English — and that makes me incredibly proud!</a:t>
            </a:r>
            <a:endParaRPr lang="en-US" sz="950" dirty="0"/>
          </a:p>
        </p:txBody>
      </p:sp>
      <p:sp>
        <p:nvSpPr>
          <p:cNvPr id="23" name="Shape 21"/>
          <p:cNvSpPr/>
          <p:nvPr/>
        </p:nvSpPr>
        <p:spPr>
          <a:xfrm>
            <a:off x="179222" y="2565806"/>
            <a:ext cx="3218688" cy="1828800"/>
          </a:xfrm>
          <a:prstGeom prst="rect">
            <a:avLst/>
          </a:prstGeom>
          <a:solidFill>
            <a:srgbClr val="D0DCE8"/>
          </a:solidFill>
          <a:ln w="12700">
            <a:solidFill>
              <a:srgbClr val="D0DCE8"/>
            </a:solidFill>
            <a:prstDash val="solid"/>
          </a:ln>
        </p:spPr>
      </p:sp>
      <p:sp>
        <p:nvSpPr>
          <p:cNvPr id="24" name="Shape 22"/>
          <p:cNvSpPr/>
          <p:nvPr/>
        </p:nvSpPr>
        <p:spPr>
          <a:xfrm>
            <a:off x="164592" y="2551176"/>
            <a:ext cx="3218688" cy="1828800"/>
          </a:xfrm>
          <a:prstGeom prst="rect">
            <a:avLst/>
          </a:prstGeom>
          <a:solidFill>
            <a:srgbClr val="FFFFFF"/>
          </a:solidFill>
          <a:ln w="12700">
            <a:solidFill>
              <a:srgbClr val="C8D8E8"/>
            </a:solidFill>
            <a:prstDash val="solid"/>
          </a:ln>
        </p:spPr>
      </p:sp>
      <p:sp>
        <p:nvSpPr>
          <p:cNvPr id="25" name="Shape 23"/>
          <p:cNvSpPr/>
          <p:nvPr/>
        </p:nvSpPr>
        <p:spPr>
          <a:xfrm>
            <a:off x="164592" y="2551176"/>
            <a:ext cx="3218688" cy="256032"/>
          </a:xfrm>
          <a:prstGeom prst="rect">
            <a:avLst/>
          </a:prstGeom>
          <a:solidFill>
            <a:srgbClr val="C97A0A"/>
          </a:solidFill>
          <a:ln w="12700">
            <a:solidFill>
              <a:srgbClr val="C97A0A"/>
            </a:solidFill>
            <a:prstDash val="solid"/>
          </a:ln>
        </p:spPr>
      </p:sp>
      <p:sp>
        <p:nvSpPr>
          <p:cNvPr id="26" name="Shape 24"/>
          <p:cNvSpPr/>
          <p:nvPr/>
        </p:nvSpPr>
        <p:spPr>
          <a:xfrm>
            <a:off x="164592" y="2807208"/>
            <a:ext cx="3218688" cy="146304"/>
          </a:xfrm>
          <a:prstGeom prst="rect">
            <a:avLst/>
          </a:prstGeom>
          <a:solidFill>
            <a:srgbClr val="FEF3DC"/>
          </a:solidFill>
          <a:ln w="12700">
            <a:solidFill>
              <a:srgbClr val="FEF3DC"/>
            </a:solidFill>
            <a:prstDash val="solid"/>
          </a:ln>
        </p:spPr>
      </p:sp>
      <p:sp>
        <p:nvSpPr>
          <p:cNvPr id="27" name="Text 25"/>
          <p:cNvSpPr/>
          <p:nvPr/>
        </p:nvSpPr>
        <p:spPr>
          <a:xfrm>
            <a:off x="256032" y="2551176"/>
            <a:ext cx="3090672" cy="256032"/>
          </a:xfrm>
          <a:prstGeom prst="rect">
            <a:avLst/>
          </a:prstGeom>
          <a:noFill/>
          <a:ln/>
        </p:spPr>
        <p:txBody>
          <a:bodyPr wrap="square" lIns="0" tIns="0" rIns="0" bIns="0" rtlCol="0" anchor="ctr"/>
          <a:lstStyle/>
          <a:p>
            <a:pPr indent="0" marL="0">
              <a:buNone/>
            </a:pPr>
            <a:r>
              <a:rPr lang="en-US" sz="1050" b="1" dirty="0">
                <a:solidFill>
                  <a:srgbClr val="FFFFFF"/>
                </a:solidFill>
                <a:latin typeface="Georgia" pitchFamily="34" charset="0"/>
                <a:ea typeface="Georgia" pitchFamily="34" charset="-122"/>
                <a:cs typeface="Georgia" pitchFamily="34" charset="-120"/>
              </a:rPr>
              <a:t>🔑  Key Phrases &amp; Translation / Гол хэллэг</a:t>
            </a:r>
            <a:endParaRPr lang="en-US" sz="1050" dirty="0"/>
          </a:p>
        </p:txBody>
      </p:sp>
      <p:sp>
        <p:nvSpPr>
          <p:cNvPr id="28" name="Text 26"/>
          <p:cNvSpPr/>
          <p:nvPr/>
        </p:nvSpPr>
        <p:spPr>
          <a:xfrm>
            <a:off x="256032" y="2816352"/>
            <a:ext cx="3090672" cy="137160"/>
          </a:xfrm>
          <a:prstGeom prst="rect">
            <a:avLst/>
          </a:prstGeom>
          <a:noFill/>
          <a:ln/>
        </p:spPr>
        <p:txBody>
          <a:bodyPr wrap="square" lIns="0" tIns="0" rIns="0" bIns="0" rtlCol="0" anchor="ctr"/>
          <a:lstStyle/>
          <a:p>
            <a:pPr indent="0" marL="0">
              <a:buNone/>
            </a:pPr>
            <a:r>
              <a:rPr lang="en-US" sz="750" i="1" dirty="0">
                <a:solidFill>
                  <a:srgbClr val="3A5060"/>
                </a:solidFill>
                <a:latin typeface="Calibri" pitchFamily="34" charset="0"/>
                <a:ea typeface="Calibri" pitchFamily="34" charset="-122"/>
                <a:cs typeface="Calibri" pitchFamily="34" charset="-120"/>
              </a:rPr>
              <a:t>Цээжил! · Memorize these phrases</a:t>
            </a:r>
            <a:endParaRPr lang="en-US" sz="75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219456" y="2971800"/>
          <a:ext cx="3108960" cy="914400"/>
        </p:xfrm>
        <a:graphic>
          <a:graphicData uri="http://schemas.openxmlformats.org/drawingml/2006/table">
            <a:tbl>
              <a:tblPr/>
              <a:tblGrid>
                <a:gridCol w="1057046"/>
                <a:gridCol w="1057046"/>
                <a:gridCol w="994867"/>
              </a:tblGrid>
              <a:tr h="196596">
                <a:tc>
                  <a:txBody>
                    <a:bodyPr/>
                    <a:lstStyle/>
                    <a:p>
                      <a:pPr algn="l" indent="0" marL="0">
                        <a:buNone/>
                      </a:pPr>
                      <a:r>
                        <a:rPr lang="en-US" sz="800" b="1" dirty="0">
                          <a:solidFill>
                            <a:srgbClr val="FFFFFF"/>
                          </a:solidFill>
                          <a:latin typeface="Calibri" pitchFamily="34" charset="0"/>
                          <a:ea typeface="Calibri" pitchFamily="34" charset="-122"/>
                          <a:cs typeface="Calibri" pitchFamily="34" charset="-120"/>
                        </a:rPr>
                        <a:t>English Phrase</a:t>
                      </a:r>
                      <a:endParaRPr lang="en-US" sz="8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C97A0A"/>
                    </a:solidFill>
                  </a:tcPr>
                </a:tc>
                <a:tc>
                  <a:txBody>
                    <a:bodyPr/>
                    <a:lstStyle/>
                    <a:p>
                      <a:pPr algn="l" indent="0" marL="0">
                        <a:buNone/>
                      </a:pPr>
                      <a:r>
                        <a:rPr lang="en-US" sz="800" b="1" dirty="0">
                          <a:solidFill>
                            <a:srgbClr val="FFFFFF"/>
                          </a:solidFill>
                          <a:latin typeface="Calibri" pitchFamily="34" charset="0"/>
                          <a:ea typeface="Calibri" pitchFamily="34" charset="-122"/>
                          <a:cs typeface="Calibri" pitchFamily="34" charset="-120"/>
                        </a:rPr>
                        <a:t>Mongolian / Монгол</a:t>
                      </a:r>
                      <a:endParaRPr lang="en-US" sz="8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C97A0A"/>
                    </a:solidFill>
                  </a:tcPr>
                </a:tc>
                <a:tc>
                  <a:txBody>
                    <a:bodyPr/>
                    <a:lstStyle/>
                    <a:p>
                      <a:pPr algn="l" indent="0" marL="0">
                        <a:buNone/>
                      </a:pPr>
                      <a:r>
                        <a:rPr lang="en-US" sz="800" b="1" dirty="0">
                          <a:solidFill>
                            <a:srgbClr val="FFFFFF"/>
                          </a:solidFill>
                          <a:latin typeface="Calibri" pitchFamily="34" charset="0"/>
                          <a:ea typeface="Calibri" pitchFamily="34" charset="-122"/>
                          <a:cs typeface="Calibri" pitchFamily="34" charset="-120"/>
                        </a:rPr>
                        <a:t>Grammar Note</a:t>
                      </a:r>
                      <a:endParaRPr lang="en-US" sz="8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C97A0A"/>
                    </a:solidFill>
                  </a:tcPr>
                </a:tc>
              </a:tr>
              <a:tr h="196596">
                <a:tc>
                  <a:txBody>
                    <a:bodyPr/>
                    <a:lstStyle/>
                    <a:p>
                      <a:pPr algn="l" indent="0" marL="0">
                        <a:buNone/>
                      </a:pPr>
                      <a:r>
                        <a:rPr lang="en-US" sz="800" b="1" dirty="0">
                          <a:solidFill>
                            <a:srgbClr val="2E6DA4"/>
                          </a:solidFill>
                          <a:latin typeface="Calibri" pitchFamily="34" charset="0"/>
                          <a:ea typeface="Calibri" pitchFamily="34" charset="-122"/>
                          <a:cs typeface="Calibri" pitchFamily="34" charset="-120"/>
                        </a:rPr>
                        <a:t>I was born in Ulaanbaatar</a:t>
                      </a:r>
                      <a:endParaRPr lang="en-US" sz="8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800" dirty="0">
                          <a:solidFill>
                            <a:srgbClr val="1A2A3A"/>
                          </a:solidFill>
                          <a:latin typeface="Calibri" pitchFamily="34" charset="0"/>
                          <a:ea typeface="Calibri" pitchFamily="34" charset="-122"/>
                          <a:cs typeface="Calibri" pitchFamily="34" charset="-120"/>
                        </a:rPr>
                        <a:t>Би Улаанбаатарт төрсөн</a:t>
                      </a:r>
                      <a:endParaRPr lang="en-US" sz="8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50" i="1" dirty="0">
                          <a:solidFill>
                            <a:srgbClr val="3A5060"/>
                          </a:solidFill>
                          <a:latin typeface="Calibri" pitchFamily="34" charset="0"/>
                          <a:ea typeface="Calibri" pitchFamily="34" charset="-122"/>
                          <a:cs typeface="Calibri" pitchFamily="34" charset="-120"/>
                        </a:rPr>
                        <a:t>was born = past passive</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r>
              <a:tr h="196596">
                <a:tc>
                  <a:txBody>
                    <a:bodyPr/>
                    <a:lstStyle/>
                    <a:p>
                      <a:pPr algn="l" indent="0" marL="0">
                        <a:buNone/>
                      </a:pPr>
                      <a:r>
                        <a:rPr lang="en-US" sz="800" b="1" dirty="0">
                          <a:solidFill>
                            <a:srgbClr val="2E6DA4"/>
                          </a:solidFill>
                          <a:latin typeface="Calibri" pitchFamily="34" charset="0"/>
                          <a:ea typeface="Calibri" pitchFamily="34" charset="-122"/>
                          <a:cs typeface="Calibri" pitchFamily="34" charset="-120"/>
                        </a:rPr>
                        <a:t>I grew up in...</a:t>
                      </a:r>
                      <a:endParaRPr lang="en-US" sz="8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800" dirty="0">
                          <a:solidFill>
                            <a:srgbClr val="1A2A3A"/>
                          </a:solidFill>
                          <a:latin typeface="Calibri" pitchFamily="34" charset="0"/>
                          <a:ea typeface="Calibri" pitchFamily="34" charset="-122"/>
                          <a:cs typeface="Calibri" pitchFamily="34" charset="-120"/>
                        </a:rPr>
                        <a:t>Би ...-д өсч томорсон</a:t>
                      </a:r>
                      <a:endParaRPr lang="en-US" sz="8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750" i="1" dirty="0">
                          <a:solidFill>
                            <a:srgbClr val="3A5060"/>
                          </a:solidFill>
                          <a:latin typeface="Calibri" pitchFamily="34" charset="0"/>
                          <a:ea typeface="Calibri" pitchFamily="34" charset="-122"/>
                          <a:cs typeface="Calibri" pitchFamily="34" charset="-120"/>
                        </a:rPr>
                        <a:t>grew up = past of grow up</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r>
              <a:tr h="196596">
                <a:tc>
                  <a:txBody>
                    <a:bodyPr/>
                    <a:lstStyle/>
                    <a:p>
                      <a:pPr algn="l" indent="0" marL="0">
                        <a:buNone/>
                      </a:pPr>
                      <a:r>
                        <a:rPr lang="en-US" sz="800" b="1" dirty="0">
                          <a:solidFill>
                            <a:srgbClr val="2E6DA4"/>
                          </a:solidFill>
                          <a:latin typeface="Calibri" pitchFamily="34" charset="0"/>
                          <a:ea typeface="Calibri" pitchFamily="34" charset="-122"/>
                          <a:cs typeface="Calibri" pitchFamily="34" charset="-120"/>
                        </a:rPr>
                        <a:t>At first it was hard</a:t>
                      </a:r>
                      <a:endParaRPr lang="en-US" sz="8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800" dirty="0">
                          <a:solidFill>
                            <a:srgbClr val="1A2A3A"/>
                          </a:solidFill>
                          <a:latin typeface="Calibri" pitchFamily="34" charset="0"/>
                          <a:ea typeface="Calibri" pitchFamily="34" charset="-122"/>
                          <a:cs typeface="Calibri" pitchFamily="34" charset="-120"/>
                        </a:rPr>
                        <a:t>Эхэндээ хэцүү байсан</a:t>
                      </a:r>
                      <a:endParaRPr lang="en-US" sz="8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50" i="1" dirty="0">
                          <a:solidFill>
                            <a:srgbClr val="3A5060"/>
                          </a:solidFill>
                          <a:latin typeface="Calibri" pitchFamily="34" charset="0"/>
                          <a:ea typeface="Calibri" pitchFamily="34" charset="-122"/>
                          <a:cs typeface="Calibri" pitchFamily="34" charset="-120"/>
                        </a:rPr>
                        <a:t>at first = contrast opening</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r>
              <a:tr h="196596">
                <a:tc>
                  <a:txBody>
                    <a:bodyPr/>
                    <a:lstStyle/>
                    <a:p>
                      <a:pPr algn="l" indent="0" marL="0">
                        <a:buNone/>
                      </a:pPr>
                      <a:r>
                        <a:rPr lang="en-US" sz="800" b="1" dirty="0">
                          <a:solidFill>
                            <a:srgbClr val="2E6DA4"/>
                          </a:solidFill>
                          <a:latin typeface="Calibri" pitchFamily="34" charset="0"/>
                          <a:ea typeface="Calibri" pitchFamily="34" charset="-122"/>
                          <a:cs typeface="Calibri" pitchFamily="34" charset="-120"/>
                        </a:rPr>
                        <a:t>Then everything changed</a:t>
                      </a:r>
                      <a:endParaRPr lang="en-US" sz="8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800" dirty="0">
                          <a:solidFill>
                            <a:srgbClr val="1A2A3A"/>
                          </a:solidFill>
                          <a:latin typeface="Calibri" pitchFamily="34" charset="0"/>
                          <a:ea typeface="Calibri" pitchFamily="34" charset="-122"/>
                          <a:cs typeface="Calibri" pitchFamily="34" charset="-120"/>
                        </a:rPr>
                        <a:t>Дараа нь бүх зүйл өөрчлөгдсөн</a:t>
                      </a:r>
                      <a:endParaRPr lang="en-US" sz="8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750" i="1" dirty="0">
                          <a:solidFill>
                            <a:srgbClr val="3A5060"/>
                          </a:solidFill>
                          <a:latin typeface="Calibri" pitchFamily="34" charset="0"/>
                          <a:ea typeface="Calibri" pitchFamily="34" charset="-122"/>
                          <a:cs typeface="Calibri" pitchFamily="34" charset="-120"/>
                        </a:rPr>
                        <a:t>then = next event</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r>
              <a:tr h="196596">
                <a:tc>
                  <a:txBody>
                    <a:bodyPr/>
                    <a:lstStyle/>
                    <a:p>
                      <a:pPr algn="l" indent="0" marL="0">
                        <a:buNone/>
                      </a:pPr>
                      <a:r>
                        <a:rPr lang="en-US" sz="800" b="1" dirty="0">
                          <a:solidFill>
                            <a:srgbClr val="2E6DA4"/>
                          </a:solidFill>
                          <a:latin typeface="Calibri" pitchFamily="34" charset="0"/>
                          <a:ea typeface="Calibri" pitchFamily="34" charset="-122"/>
                          <a:cs typeface="Calibri" pitchFamily="34" charset="-120"/>
                        </a:rPr>
                        <a:t>Suddenly I understood</a:t>
                      </a:r>
                      <a:endParaRPr lang="en-US" sz="8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800" dirty="0">
                          <a:solidFill>
                            <a:srgbClr val="1A2A3A"/>
                          </a:solidFill>
                          <a:latin typeface="Calibri" pitchFamily="34" charset="0"/>
                          <a:ea typeface="Calibri" pitchFamily="34" charset="-122"/>
                          <a:cs typeface="Calibri" pitchFamily="34" charset="-120"/>
                        </a:rPr>
                        <a:t>Гэнэт би ойлгосон</a:t>
                      </a:r>
                      <a:endParaRPr lang="en-US" sz="8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50" i="1" dirty="0">
                          <a:solidFill>
                            <a:srgbClr val="3A5060"/>
                          </a:solidFill>
                          <a:latin typeface="Calibri" pitchFamily="34" charset="0"/>
                          <a:ea typeface="Calibri" pitchFamily="34" charset="-122"/>
                          <a:cs typeface="Calibri" pitchFamily="34" charset="-120"/>
                        </a:rPr>
                        <a:t>suddenly = unexpected change</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r>
              <a:tr h="196596">
                <a:tc>
                  <a:txBody>
                    <a:bodyPr/>
                    <a:lstStyle/>
                    <a:p>
                      <a:pPr algn="l" indent="0" marL="0">
                        <a:buNone/>
                      </a:pPr>
                      <a:r>
                        <a:rPr lang="en-US" sz="800" b="1" dirty="0">
                          <a:solidFill>
                            <a:srgbClr val="2E6DA4"/>
                          </a:solidFill>
                          <a:latin typeface="Calibri" pitchFamily="34" charset="0"/>
                          <a:ea typeface="Calibri" pitchFamily="34" charset="-122"/>
                          <a:cs typeface="Calibri" pitchFamily="34" charset="-120"/>
                        </a:rPr>
                        <a:t>Finally I was proud</a:t>
                      </a:r>
                      <a:endParaRPr lang="en-US" sz="8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800" dirty="0">
                          <a:solidFill>
                            <a:srgbClr val="1A2A3A"/>
                          </a:solidFill>
                          <a:latin typeface="Calibri" pitchFamily="34" charset="0"/>
                          <a:ea typeface="Calibri" pitchFamily="34" charset="-122"/>
                          <a:cs typeface="Calibri" pitchFamily="34" charset="-120"/>
                        </a:rPr>
                        <a:t>Эцэст нь би бахарсан</a:t>
                      </a:r>
                      <a:endParaRPr lang="en-US" sz="8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750" i="1" dirty="0">
                          <a:solidFill>
                            <a:srgbClr val="3A5060"/>
                          </a:solidFill>
                          <a:latin typeface="Calibri" pitchFamily="34" charset="0"/>
                          <a:ea typeface="Calibri" pitchFamily="34" charset="-122"/>
                          <a:cs typeface="Calibri" pitchFamily="34" charset="-120"/>
                        </a:rPr>
                        <a:t>finally = last / end event</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r>
            </a:tbl>
          </a:graphicData>
        </a:graphic>
      </p:graphicFrame>
      <p:sp>
        <p:nvSpPr>
          <p:cNvPr id="30" name="Shape 27"/>
          <p:cNvSpPr/>
          <p:nvPr/>
        </p:nvSpPr>
        <p:spPr>
          <a:xfrm>
            <a:off x="3489350" y="2565806"/>
            <a:ext cx="3218688" cy="1828800"/>
          </a:xfrm>
          <a:prstGeom prst="rect">
            <a:avLst/>
          </a:prstGeom>
          <a:solidFill>
            <a:srgbClr val="D0DCE8"/>
          </a:solidFill>
          <a:ln w="12700">
            <a:solidFill>
              <a:srgbClr val="D0DCE8"/>
            </a:solidFill>
            <a:prstDash val="solid"/>
          </a:ln>
        </p:spPr>
      </p:sp>
      <p:sp>
        <p:nvSpPr>
          <p:cNvPr id="31" name="Shape 28"/>
          <p:cNvSpPr/>
          <p:nvPr/>
        </p:nvSpPr>
        <p:spPr>
          <a:xfrm>
            <a:off x="3474720" y="2551176"/>
            <a:ext cx="3218688" cy="1828800"/>
          </a:xfrm>
          <a:prstGeom prst="rect">
            <a:avLst/>
          </a:prstGeom>
          <a:solidFill>
            <a:srgbClr val="FFFFFF"/>
          </a:solidFill>
          <a:ln w="12700">
            <a:solidFill>
              <a:srgbClr val="C8D8E8"/>
            </a:solidFill>
            <a:prstDash val="solid"/>
          </a:ln>
        </p:spPr>
      </p:sp>
      <p:sp>
        <p:nvSpPr>
          <p:cNvPr id="32" name="Shape 29"/>
          <p:cNvSpPr/>
          <p:nvPr/>
        </p:nvSpPr>
        <p:spPr>
          <a:xfrm>
            <a:off x="3474720" y="2551176"/>
            <a:ext cx="3218688" cy="256032"/>
          </a:xfrm>
          <a:prstGeom prst="rect">
            <a:avLst/>
          </a:prstGeom>
          <a:solidFill>
            <a:srgbClr val="0D7C7B"/>
          </a:solidFill>
          <a:ln w="12700">
            <a:solidFill>
              <a:srgbClr val="0D7C7B"/>
            </a:solidFill>
            <a:prstDash val="solid"/>
          </a:ln>
        </p:spPr>
      </p:sp>
      <p:sp>
        <p:nvSpPr>
          <p:cNvPr id="33" name="Shape 30"/>
          <p:cNvSpPr/>
          <p:nvPr/>
        </p:nvSpPr>
        <p:spPr>
          <a:xfrm>
            <a:off x="3474720" y="2807208"/>
            <a:ext cx="3218688" cy="146304"/>
          </a:xfrm>
          <a:prstGeom prst="rect">
            <a:avLst/>
          </a:prstGeom>
          <a:solidFill>
            <a:srgbClr val="E0F4F4"/>
          </a:solidFill>
          <a:ln w="12700">
            <a:solidFill>
              <a:srgbClr val="E0F4F4"/>
            </a:solidFill>
            <a:prstDash val="solid"/>
          </a:ln>
        </p:spPr>
      </p:sp>
      <p:sp>
        <p:nvSpPr>
          <p:cNvPr id="34" name="Text 31"/>
          <p:cNvSpPr/>
          <p:nvPr/>
        </p:nvSpPr>
        <p:spPr>
          <a:xfrm>
            <a:off x="3566160" y="2551176"/>
            <a:ext cx="3090672" cy="256032"/>
          </a:xfrm>
          <a:prstGeom prst="rect">
            <a:avLst/>
          </a:prstGeom>
          <a:noFill/>
          <a:ln/>
        </p:spPr>
        <p:txBody>
          <a:bodyPr wrap="square" lIns="0" tIns="0" rIns="0" bIns="0" rtlCol="0" anchor="ctr"/>
          <a:lstStyle/>
          <a:p>
            <a:pPr indent="0" marL="0">
              <a:buNone/>
            </a:pPr>
            <a:r>
              <a:rPr lang="en-US" sz="1050" b="1" dirty="0">
                <a:solidFill>
                  <a:srgbClr val="FFFFFF"/>
                </a:solidFill>
                <a:latin typeface="Georgia" pitchFamily="34" charset="0"/>
                <a:ea typeface="Georgia" pitchFamily="34" charset="-122"/>
                <a:cs typeface="Georgia" pitchFamily="34" charset="-120"/>
              </a:rPr>
              <a:t>🗣️  Speaking Practice / Ярих дасгал</a:t>
            </a:r>
            <a:endParaRPr lang="en-US" sz="1050" dirty="0"/>
          </a:p>
        </p:txBody>
      </p:sp>
      <p:sp>
        <p:nvSpPr>
          <p:cNvPr id="35" name="Text 32"/>
          <p:cNvSpPr/>
          <p:nvPr/>
        </p:nvSpPr>
        <p:spPr>
          <a:xfrm>
            <a:off x="3566160" y="2816352"/>
            <a:ext cx="3090672" cy="137160"/>
          </a:xfrm>
          <a:prstGeom prst="rect">
            <a:avLst/>
          </a:prstGeom>
          <a:noFill/>
          <a:ln/>
        </p:spPr>
        <p:txBody>
          <a:bodyPr wrap="square" lIns="0" tIns="0" rIns="0" bIns="0" rtlCol="0" anchor="ctr"/>
          <a:lstStyle/>
          <a:p>
            <a:pPr indent="0" marL="0">
              <a:buNone/>
            </a:pPr>
            <a:r>
              <a:rPr lang="en-US" sz="750" i="1" dirty="0">
                <a:solidFill>
                  <a:srgbClr val="3A5060"/>
                </a:solidFill>
                <a:latin typeface="Calibri" pitchFamily="34" charset="0"/>
                <a:ea typeface="Calibri" pitchFamily="34" charset="-122"/>
                <a:cs typeface="Calibri" pitchFamily="34" charset="-120"/>
              </a:rPr>
              <a:t>Answer OUT LOUD — don't write, just speak!</a:t>
            </a:r>
            <a:endParaRPr lang="en-US" sz="750" dirty="0"/>
          </a:p>
        </p:txBody>
      </p:sp>
      <p:sp>
        <p:nvSpPr>
          <p:cNvPr id="36" name="Text 33"/>
          <p:cNvSpPr/>
          <p:nvPr/>
        </p:nvSpPr>
        <p:spPr>
          <a:xfrm>
            <a:off x="3557016" y="2971800"/>
            <a:ext cx="3072384" cy="274320"/>
          </a:xfrm>
          <a:prstGeom prst="rect">
            <a:avLst/>
          </a:prstGeom>
          <a:noFill/>
          <a:ln/>
        </p:spPr>
        <p:txBody>
          <a:bodyPr wrap="square" lIns="0" tIns="0" rIns="0" bIns="0" rtlCol="0" anchor="t"/>
          <a:lstStyle/>
          <a:p>
            <a:pPr indent="0" marL="0">
              <a:lnSpc>
                <a:spcPct val="120000"/>
              </a:lnSpc>
              <a:buNone/>
            </a:pPr>
            <a:r>
              <a:rPr lang="en-US" sz="800" b="1" dirty="0">
                <a:solidFill>
                  <a:srgbClr val="0D7C7B"/>
                </a:solidFill>
                <a:latin typeface="Calibri" pitchFamily="34" charset="0"/>
                <a:ea typeface="Calibri" pitchFamily="34" charset="-122"/>
                <a:cs typeface="Calibri" pitchFamily="34" charset="-120"/>
              </a:rPr>
              <a:t>Answer OUT LOUD in English — do not write, just speak!
</a:t>
            </a:r>
            <a:pPr indent="0" marL="0">
              <a:lnSpc>
                <a:spcPct val="120000"/>
              </a:lnSpc>
              <a:buNone/>
            </a:pPr>
            <a:r>
              <a:rPr lang="en-US" sz="750" i="1" dirty="0">
                <a:solidFill>
                  <a:srgbClr val="3A5060"/>
                </a:solidFill>
                <a:latin typeface="Calibri" pitchFamily="34" charset="0"/>
                <a:ea typeface="Calibri" pitchFamily="34" charset="-122"/>
                <a:cs typeface="Calibri" pitchFamily="34" charset="-120"/>
              </a:rPr>
              <a:t>Англиар ЧАНГААР хариулаарай — бичихгүй, зөвхөн ярь!</a:t>
            </a:r>
            <a:endParaRPr lang="en-US" sz="800" dirty="0"/>
          </a:p>
        </p:txBody>
      </p:sp>
      <p:graphicFrame>
        <p:nvGraphicFramePr>
          <p:cNvPr id="5" name="Table 1"/>
          <p:cNvGraphicFramePr>
            <a:graphicFrameLocks noGrp="1"/>
          </p:cNvGraphicFramePr>
          <p:nvPr>
            <p:extLst>
              <p:ext uri="{D42A27DB-BD31-4B8C-83A1-F6EECF244321}">
                <p14:modId xmlns:p14="http://schemas.microsoft.com/office/powerpoint/2010/main" val="1579011935"/>
              </p:ext>
            </p:extLst>
          </p:nvPr>
        </p:nvGraphicFramePr>
        <p:xfrm>
          <a:off x="3529584" y="3264408"/>
          <a:ext cx="3108960" cy="914400"/>
        </p:xfrm>
        <a:graphic>
          <a:graphicData uri="http://schemas.openxmlformats.org/drawingml/2006/table">
            <a:tbl>
              <a:tblPr/>
              <a:tblGrid>
                <a:gridCol w="3108960"/>
              </a:tblGrid>
              <a:tr h="169164">
                <a:tc>
                  <a:txBody>
                    <a:bodyPr/>
                    <a:lstStyle/>
                    <a:p>
                      <a:pPr algn="l" indent="0" marL="0">
                        <a:buNone/>
                      </a:pPr>
                      <a:r>
                        <a:rPr lang="en-US" sz="850" dirty="0">
                          <a:solidFill>
                            <a:srgbClr val="1A2A3A"/>
                          </a:solidFill>
                          <a:latin typeface="Calibri" pitchFamily="34" charset="0"/>
                          <a:ea typeface="Calibri" pitchFamily="34" charset="-122"/>
                          <a:cs typeface="Calibri" pitchFamily="34" charset="-120"/>
                        </a:rPr>
                        <a:t>1.  Where were you born?  /  Та хаана төрсөн бэ?</a:t>
                      </a:r>
                      <a:endParaRPr lang="en-US" sz="8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r>
              <a:tr h="169164">
                <a:tc>
                  <a:txBody>
                    <a:bodyPr/>
                    <a:lstStyle/>
                    <a:p>
                      <a:pPr algn="l" indent="0" marL="0">
                        <a:buNone/>
                      </a:pPr>
                      <a:r>
                        <a:rPr lang="en-US" sz="850" dirty="0">
                          <a:solidFill>
                            <a:srgbClr val="2E6DA4"/>
                          </a:solidFill>
                          <a:latin typeface="Calibri" pitchFamily="34" charset="0"/>
                          <a:ea typeface="Calibri" pitchFamily="34" charset="-122"/>
                          <a:cs typeface="Calibri" pitchFamily="34" charset="-120"/>
                        </a:rPr>
                        <a:t>2.  Where did you grow up?  /  Та хаана өсч томорсон бэ?</a:t>
                      </a:r>
                      <a:endParaRPr lang="en-US" sz="8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r>
              <a:tr h="169164">
                <a:tc>
                  <a:txBody>
                    <a:bodyPr/>
                    <a:lstStyle/>
                    <a:p>
                      <a:pPr algn="l" indent="0" marL="0">
                        <a:buNone/>
                      </a:pPr>
                      <a:r>
                        <a:rPr lang="en-US" sz="850" dirty="0">
                          <a:solidFill>
                            <a:srgbClr val="1A2A3A"/>
                          </a:solidFill>
                          <a:latin typeface="Calibri" pitchFamily="34" charset="0"/>
                          <a:ea typeface="Calibri" pitchFamily="34" charset="-122"/>
                          <a:cs typeface="Calibri" pitchFamily="34" charset="-120"/>
                        </a:rPr>
                        <a:t>3.  When did you start school?  /  Та хэдэн настайдаа сургуульд орсон бэ?</a:t>
                      </a:r>
                      <a:endParaRPr lang="en-US" sz="8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r>
              <a:tr h="169164">
                <a:tc>
                  <a:txBody>
                    <a:bodyPr/>
                    <a:lstStyle/>
                    <a:p>
                      <a:pPr algn="l" indent="0" marL="0">
                        <a:buNone/>
                      </a:pPr>
                      <a:r>
                        <a:rPr lang="en-US" sz="850" dirty="0">
                          <a:solidFill>
                            <a:srgbClr val="2E6DA4"/>
                          </a:solidFill>
                          <a:latin typeface="Calibri" pitchFamily="34" charset="0"/>
                          <a:ea typeface="Calibri" pitchFamily="34" charset="-122"/>
                          <a:cs typeface="Calibri" pitchFamily="34" charset="-120"/>
                        </a:rPr>
                        <a:t>4.  What was your childhood like?  /  Таны хүүхэд нас ямар байсан бэ?</a:t>
                      </a:r>
                      <a:endParaRPr lang="en-US" sz="8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r>
              <a:tr h="169164">
                <a:tc>
                  <a:txBody>
                    <a:bodyPr/>
                    <a:lstStyle/>
                    <a:p>
                      <a:pPr algn="l" indent="0" marL="0">
                        <a:buNone/>
                      </a:pPr>
                      <a:r>
                        <a:rPr lang="en-US" sz="850" dirty="0">
                          <a:solidFill>
                            <a:srgbClr val="1A2A3A"/>
                          </a:solidFill>
                          <a:latin typeface="Calibri" pitchFamily="34" charset="0"/>
                          <a:ea typeface="Calibri" pitchFamily="34" charset="-122"/>
                          <a:cs typeface="Calibri" pitchFamily="34" charset="-120"/>
                        </a:rPr>
                        <a:t>5.  What happened when you first studied English?</a:t>
                      </a:r>
                      <a:endParaRPr lang="en-US" sz="8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r>
              <a:tr h="169164">
                <a:tc>
                  <a:txBody>
                    <a:bodyPr/>
                    <a:lstStyle/>
                    <a:p>
                      <a:pPr algn="l" indent="0" marL="0">
                        <a:buNone/>
                      </a:pPr>
                      <a:r>
                        <a:rPr lang="en-US" sz="850" dirty="0">
                          <a:solidFill>
                            <a:srgbClr val="2E6DA4"/>
                          </a:solidFill>
                          <a:latin typeface="Calibri" pitchFamily="34" charset="0"/>
                          <a:ea typeface="Calibri" pitchFamily="34" charset="-122"/>
                          <a:cs typeface="Calibri" pitchFamily="34" charset="-120"/>
                        </a:rPr>
                        <a:t>6.  Tell your life story in 5 sentences using sequence words!</a:t>
                      </a:r>
                      <a:endParaRPr lang="en-US" sz="8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r>
            </a:tbl>
          </a:graphicData>
        </a:graphic>
      </p:graphicFrame>
      <p:sp>
        <p:nvSpPr>
          <p:cNvPr id="38" name="Shape 34"/>
          <p:cNvSpPr/>
          <p:nvPr/>
        </p:nvSpPr>
        <p:spPr>
          <a:xfrm>
            <a:off x="179222" y="4467758"/>
            <a:ext cx="6528816" cy="5111496"/>
          </a:xfrm>
          <a:prstGeom prst="rect">
            <a:avLst/>
          </a:prstGeom>
          <a:solidFill>
            <a:srgbClr val="D0DCE8"/>
          </a:solidFill>
          <a:ln w="12700">
            <a:solidFill>
              <a:srgbClr val="D0DCE8"/>
            </a:solidFill>
            <a:prstDash val="solid"/>
          </a:ln>
        </p:spPr>
      </p:sp>
      <p:sp>
        <p:nvSpPr>
          <p:cNvPr id="39" name="Shape 35"/>
          <p:cNvSpPr/>
          <p:nvPr/>
        </p:nvSpPr>
        <p:spPr>
          <a:xfrm>
            <a:off x="164592" y="4453128"/>
            <a:ext cx="6528816" cy="5111496"/>
          </a:xfrm>
          <a:prstGeom prst="rect">
            <a:avLst/>
          </a:prstGeom>
          <a:solidFill>
            <a:srgbClr val="FFFFFF"/>
          </a:solidFill>
          <a:ln w="12700">
            <a:solidFill>
              <a:srgbClr val="C8D8E8"/>
            </a:solidFill>
            <a:prstDash val="solid"/>
          </a:ln>
        </p:spPr>
      </p:sp>
      <p:sp>
        <p:nvSpPr>
          <p:cNvPr id="40" name="Shape 36"/>
          <p:cNvSpPr/>
          <p:nvPr/>
        </p:nvSpPr>
        <p:spPr>
          <a:xfrm>
            <a:off x="164592" y="4453128"/>
            <a:ext cx="6528816" cy="256032"/>
          </a:xfrm>
          <a:prstGeom prst="rect">
            <a:avLst/>
          </a:prstGeom>
          <a:solidFill>
            <a:srgbClr val="6B3FA0"/>
          </a:solidFill>
          <a:ln w="12700">
            <a:solidFill>
              <a:srgbClr val="6B3FA0"/>
            </a:solidFill>
            <a:prstDash val="solid"/>
          </a:ln>
        </p:spPr>
      </p:sp>
      <p:sp>
        <p:nvSpPr>
          <p:cNvPr id="41" name="Shape 37"/>
          <p:cNvSpPr/>
          <p:nvPr/>
        </p:nvSpPr>
        <p:spPr>
          <a:xfrm>
            <a:off x="164592" y="4709160"/>
            <a:ext cx="6528816" cy="146304"/>
          </a:xfrm>
          <a:prstGeom prst="rect">
            <a:avLst/>
          </a:prstGeom>
          <a:solidFill>
            <a:srgbClr val="F0EAFA"/>
          </a:solidFill>
          <a:ln w="12700">
            <a:solidFill>
              <a:srgbClr val="F0EAFA"/>
            </a:solidFill>
            <a:prstDash val="solid"/>
          </a:ln>
        </p:spPr>
      </p:sp>
      <p:sp>
        <p:nvSpPr>
          <p:cNvPr id="42" name="Text 38"/>
          <p:cNvSpPr/>
          <p:nvPr/>
        </p:nvSpPr>
        <p:spPr>
          <a:xfrm>
            <a:off x="256032" y="4453128"/>
            <a:ext cx="6400800" cy="256032"/>
          </a:xfrm>
          <a:prstGeom prst="rect">
            <a:avLst/>
          </a:prstGeom>
          <a:noFill/>
          <a:ln/>
        </p:spPr>
        <p:txBody>
          <a:bodyPr wrap="square" lIns="0" tIns="0" rIns="0" bIns="0" rtlCol="0" anchor="ctr"/>
          <a:lstStyle/>
          <a:p>
            <a:pPr indent="0" marL="0">
              <a:buNone/>
            </a:pPr>
            <a:r>
              <a:rPr lang="en-US" sz="1050" b="1" dirty="0">
                <a:solidFill>
                  <a:srgbClr val="FFFFFF"/>
                </a:solidFill>
                <a:latin typeface="Georgia" pitchFamily="34" charset="0"/>
                <a:ea typeface="Georgia" pitchFamily="34" charset="-122"/>
                <a:cs typeface="Georgia" pitchFamily="34" charset="-120"/>
              </a:rPr>
              <a:t>💬  Role Play / Дүрд тоглох</a:t>
            </a:r>
            <a:endParaRPr lang="en-US" sz="1050" dirty="0"/>
          </a:p>
        </p:txBody>
      </p:sp>
      <p:sp>
        <p:nvSpPr>
          <p:cNvPr id="43" name="Text 39"/>
          <p:cNvSpPr/>
          <p:nvPr/>
        </p:nvSpPr>
        <p:spPr>
          <a:xfrm>
            <a:off x="256032" y="4718304"/>
            <a:ext cx="6400800" cy="137160"/>
          </a:xfrm>
          <a:prstGeom prst="rect">
            <a:avLst/>
          </a:prstGeom>
          <a:noFill/>
          <a:ln/>
        </p:spPr>
        <p:txBody>
          <a:bodyPr wrap="square" lIns="0" tIns="0" rIns="0" bIns="0" rtlCol="0" anchor="ctr"/>
          <a:lstStyle/>
          <a:p>
            <a:pPr indent="0" marL="0">
              <a:buNone/>
            </a:pPr>
            <a:r>
              <a:rPr lang="en-US" sz="750" i="1" dirty="0">
                <a:solidFill>
                  <a:srgbClr val="3A5060"/>
                </a:solidFill>
                <a:latin typeface="Calibri" pitchFamily="34" charset="0"/>
                <a:ea typeface="Calibri" pitchFamily="34" charset="-122"/>
                <a:cs typeface="Calibri" pitchFamily="34" charset="-120"/>
              </a:rPr>
              <a:t>Найзтайгаа дадлагал · Repeat until it sounds natural!</a:t>
            </a:r>
            <a:endParaRPr lang="en-US" sz="750" dirty="0"/>
          </a:p>
        </p:txBody>
      </p:sp>
      <p:graphicFrame>
        <p:nvGraphicFramePr>
          <p:cNvPr id="7" name="Table 2"/>
          <p:cNvGraphicFramePr>
            <a:graphicFrameLocks noGrp="1"/>
          </p:cNvGraphicFramePr>
          <p:nvPr>
            <p:extLst>
              <p:ext uri="{D42A27DB-BD31-4B8C-83A1-F6EECF244321}">
                <p14:modId xmlns:p14="http://schemas.microsoft.com/office/powerpoint/2010/main" val="1579011935"/>
              </p:ext>
            </p:extLst>
          </p:nvPr>
        </p:nvGraphicFramePr>
        <p:xfrm>
          <a:off x="237744" y="4873752"/>
          <a:ext cx="6382512" cy="914400"/>
        </p:xfrm>
        <a:graphic>
          <a:graphicData uri="http://schemas.openxmlformats.org/drawingml/2006/table">
            <a:tbl>
              <a:tblPr/>
              <a:tblGrid>
                <a:gridCol w="3191256"/>
                <a:gridCol w="3191256"/>
              </a:tblGrid>
              <a:tr h="748284">
                <a:tc>
                  <a:txBody>
                    <a:bodyPr/>
                    <a:lstStyle/>
                    <a:p>
                      <a:pPr algn="l" indent="0" marL="0">
                        <a:buNone/>
                      </a:pPr>
                      <a:r>
                        <a:rPr lang="en-US" sz="900" b="1" dirty="0">
                          <a:solidFill>
                            <a:srgbClr val="2E6DA4"/>
                          </a:solidFill>
                          <a:latin typeface="Calibri" pitchFamily="34" charset="0"/>
                          <a:ea typeface="Calibri" pitchFamily="34" charset="-122"/>
                          <a:cs typeface="Calibri" pitchFamily="34" charset="-120"/>
                        </a:rPr>
                        <a:t>A:  Tell me about your life story!</a:t>
                      </a:r>
                      <a:endParaRPr lang="en-US" sz="9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900" dirty="0">
                          <a:solidFill>
                            <a:srgbClr val="1E7A4A"/>
                          </a:solidFill>
                          <a:latin typeface="Calibri" pitchFamily="34" charset="0"/>
                          <a:ea typeface="Calibri" pitchFamily="34" charset="-122"/>
                          <a:cs typeface="Calibri" pitchFamily="34" charset="-120"/>
                        </a:rPr>
                        <a:t>B:  Sure! First, I was born in Darkhan in 2007.</a:t>
                      </a:r>
                      <a:endParaRPr lang="en-US" sz="9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r>
              <a:tr h="748284">
                <a:tc>
                  <a:txBody>
                    <a:bodyPr/>
                    <a:lstStyle/>
                    <a:p>
                      <a:pPr algn="l" indent="0" marL="0">
                        <a:buNone/>
                      </a:pPr>
                      <a:r>
                        <a:rPr lang="en-US" sz="900" dirty="0">
                          <a:solidFill>
                            <a:srgbClr val="1A2A3A"/>
                          </a:solidFill>
                          <a:latin typeface="Calibri" pitchFamily="34" charset="0"/>
                          <a:ea typeface="Calibri" pitchFamily="34" charset="-122"/>
                          <a:cs typeface="Calibri" pitchFamily="34" charset="-120"/>
                        </a:rPr>
                        <a:t>A:  Did you grow up there?</a:t>
                      </a:r>
                      <a:endParaRPr lang="en-US" sz="9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900" dirty="0">
                          <a:solidFill>
                            <a:srgbClr val="3A5060"/>
                          </a:solidFill>
                          <a:latin typeface="Calibri" pitchFamily="34" charset="0"/>
                          <a:ea typeface="Calibri" pitchFamily="34" charset="-122"/>
                          <a:cs typeface="Calibri" pitchFamily="34" charset="-120"/>
                        </a:rPr>
                        <a:t>B:  At first yes, but then we moved to Ulaanbaatar.</a:t>
                      </a:r>
                      <a:endParaRPr lang="en-US" sz="9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r>
              <a:tr h="748284">
                <a:tc>
                  <a:txBody>
                    <a:bodyPr/>
                    <a:lstStyle/>
                    <a:p>
                      <a:pPr algn="l" indent="0" marL="0">
                        <a:buNone/>
                      </a:pPr>
                      <a:r>
                        <a:rPr lang="en-US" sz="900" dirty="0">
                          <a:solidFill>
                            <a:srgbClr val="1A2A3A"/>
                          </a:solidFill>
                          <a:latin typeface="Calibri" pitchFamily="34" charset="0"/>
                          <a:ea typeface="Calibri" pitchFamily="34" charset="-122"/>
                          <a:cs typeface="Calibri" pitchFamily="34" charset="-120"/>
                        </a:rPr>
                        <a:t>A:  When did you move?</a:t>
                      </a:r>
                      <a:endParaRPr lang="en-US" sz="9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900" dirty="0">
                          <a:solidFill>
                            <a:srgbClr val="3A5060"/>
                          </a:solidFill>
                          <a:latin typeface="Calibri" pitchFamily="34" charset="0"/>
                          <a:ea typeface="Calibri" pitchFamily="34" charset="-122"/>
                          <a:cs typeface="Calibri" pitchFamily="34" charset="-120"/>
                        </a:rPr>
                        <a:t>B:  We moved when I was eight years old.</a:t>
                      </a:r>
                      <a:endParaRPr lang="en-US" sz="9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r>
              <a:tr h="748284">
                <a:tc>
                  <a:txBody>
                    <a:bodyPr/>
                    <a:lstStyle/>
                    <a:p>
                      <a:pPr algn="l" indent="0" marL="0">
                        <a:buNone/>
                      </a:pPr>
                      <a:r>
                        <a:rPr lang="en-US" sz="900" dirty="0">
                          <a:solidFill>
                            <a:srgbClr val="1A2A3A"/>
                          </a:solidFill>
                          <a:latin typeface="Calibri" pitchFamily="34" charset="0"/>
                          <a:ea typeface="Calibri" pitchFamily="34" charset="-122"/>
                          <a:cs typeface="Calibri" pitchFamily="34" charset="-120"/>
                        </a:rPr>
                        <a:t>A:  What happened after you moved?</a:t>
                      </a:r>
                      <a:endParaRPr lang="en-US" sz="9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900" dirty="0">
                          <a:solidFill>
                            <a:srgbClr val="3A5060"/>
                          </a:solidFill>
                          <a:latin typeface="Calibri" pitchFamily="34" charset="0"/>
                          <a:ea typeface="Calibri" pitchFamily="34" charset="-122"/>
                          <a:cs typeface="Calibri" pitchFamily="34" charset="-120"/>
                        </a:rPr>
                        <a:t>B:  I started a new school. At first it was difficult.</a:t>
                      </a:r>
                      <a:endParaRPr lang="en-US" sz="9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r>
              <a:tr h="748284">
                <a:tc>
                  <a:txBody>
                    <a:bodyPr/>
                    <a:lstStyle/>
                    <a:p>
                      <a:pPr algn="l" indent="0" marL="0">
                        <a:buNone/>
                      </a:pPr>
                      <a:r>
                        <a:rPr lang="en-US" sz="900" dirty="0">
                          <a:solidFill>
                            <a:srgbClr val="1A2A3A"/>
                          </a:solidFill>
                          <a:latin typeface="Calibri" pitchFamily="34" charset="0"/>
                          <a:ea typeface="Calibri" pitchFamily="34" charset="-122"/>
                          <a:cs typeface="Calibri" pitchFamily="34" charset="-120"/>
                        </a:rPr>
                        <a:t>A:  Did you make new friends quickly?</a:t>
                      </a:r>
                      <a:endParaRPr lang="en-US" sz="9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900" dirty="0">
                          <a:solidFill>
                            <a:srgbClr val="3A5060"/>
                          </a:solidFill>
                          <a:latin typeface="Calibri" pitchFamily="34" charset="0"/>
                          <a:ea typeface="Calibri" pitchFamily="34" charset="-122"/>
                          <a:cs typeface="Calibri" pitchFamily="34" charset="-120"/>
                        </a:rPr>
                        <a:t>B:  Yes! Then I met Bat and we became best friends.</a:t>
                      </a:r>
                      <a:endParaRPr lang="en-US" sz="9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r>
              <a:tr h="748284">
                <a:tc>
                  <a:txBody>
                    <a:bodyPr/>
                    <a:lstStyle/>
                    <a:p>
                      <a:pPr algn="l" indent="0" marL="0">
                        <a:buNone/>
                      </a:pPr>
                      <a:r>
                        <a:rPr lang="en-US" sz="900" dirty="0">
                          <a:solidFill>
                            <a:srgbClr val="1A2A3A"/>
                          </a:solidFill>
                          <a:latin typeface="Calibri" pitchFamily="34" charset="0"/>
                          <a:ea typeface="Calibri" pitchFamily="34" charset="-122"/>
                          <a:cs typeface="Calibri" pitchFamily="34" charset="-120"/>
                        </a:rPr>
                        <a:t>A:  What a wonderful story!</a:t>
                      </a:r>
                      <a:endParaRPr lang="en-US" sz="9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900" dirty="0">
                          <a:solidFill>
                            <a:srgbClr val="3A5060"/>
                          </a:solidFill>
                          <a:latin typeface="Calibri" pitchFamily="34" charset="0"/>
                          <a:ea typeface="Calibri" pitchFamily="34" charset="-122"/>
                          <a:cs typeface="Calibri" pitchFamily="34" charset="-120"/>
                        </a:rPr>
                        <a:t>B:  Thank you! English helped me tell it much better.</a:t>
                      </a:r>
                      <a:endParaRPr lang="en-US" sz="9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r>
            </a:tbl>
          </a:graphicData>
        </a:graphic>
      </p:graphicFrame>
      <p:sp>
        <p:nvSpPr>
          <p:cNvPr id="45" name="Shape 40"/>
          <p:cNvSpPr/>
          <p:nvPr/>
        </p:nvSpPr>
        <p:spPr>
          <a:xfrm>
            <a:off x="237744" y="9381744"/>
            <a:ext cx="6382512" cy="146304"/>
          </a:xfrm>
          <a:prstGeom prst="rect">
            <a:avLst/>
          </a:prstGeom>
          <a:solidFill>
            <a:srgbClr val="FEF3DC"/>
          </a:solidFill>
          <a:ln w="12700">
            <a:solidFill>
              <a:srgbClr val="C97A0A"/>
            </a:solidFill>
            <a:prstDash val="solid"/>
          </a:ln>
        </p:spPr>
      </p:sp>
      <p:sp>
        <p:nvSpPr>
          <p:cNvPr id="46" name="Text 41"/>
          <p:cNvSpPr/>
          <p:nvPr/>
        </p:nvSpPr>
        <p:spPr>
          <a:xfrm>
            <a:off x="292608" y="9390888"/>
            <a:ext cx="6272784" cy="137160"/>
          </a:xfrm>
          <a:prstGeom prst="rect">
            <a:avLst/>
          </a:prstGeom>
          <a:noFill/>
          <a:ln/>
        </p:spPr>
        <p:txBody>
          <a:bodyPr wrap="square" lIns="0" tIns="0" rIns="0" bIns="0" rtlCol="0" anchor="ctr"/>
          <a:lstStyle/>
          <a:p>
            <a:pPr indent="0" marL="0">
              <a:buNone/>
            </a:pPr>
            <a:r>
              <a:rPr lang="en-US" sz="750" i="1" dirty="0">
                <a:solidFill>
                  <a:srgbClr val="C97A0A"/>
                </a:solidFill>
                <a:latin typeface="Calibri" pitchFamily="34" charset="0"/>
                <a:ea typeface="Calibri" pitchFamily="34" charset="-122"/>
                <a:cs typeface="Calibri" pitchFamily="34" charset="-120"/>
              </a:rPr>
              <a:t>🌟  A2 Tip: Give longer answers! Don't just say 'yes' — add a reason. 'Yes, I have been there — it was amazing because...'  ·  A2 зөвлөгөө: Урт хариулт өг! Шалтгаан нэм.</a:t>
            </a:r>
            <a:endParaRPr lang="en-US" sz="7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2F6FA"/>
        </a:solidFill>
      </p:bgPr>
    </p:bg>
    <p:spTree>
      <p:nvGrpSpPr>
        <p:cNvPr id="1" name=""/>
        <p:cNvGrpSpPr/>
        <p:nvPr/>
      </p:nvGrpSpPr>
      <p:grpSpPr>
        <a:xfrm>
          <a:off x="0" y="0"/>
          <a:ext cx="0" cy="0"/>
          <a:chOff x="0" y="0"/>
          <a:chExt cx="0" cy="0"/>
        </a:xfrm>
      </p:grpSpPr>
      <p:sp>
        <p:nvSpPr>
          <p:cNvPr id="2" name="Shape 0"/>
          <p:cNvSpPr/>
          <p:nvPr/>
        </p:nvSpPr>
        <p:spPr>
          <a:xfrm>
            <a:off x="0" y="0"/>
            <a:ext cx="6858000" cy="347472"/>
          </a:xfrm>
          <a:prstGeom prst="rect">
            <a:avLst/>
          </a:prstGeom>
          <a:solidFill>
            <a:srgbClr val="1A3A5C"/>
          </a:solidFill>
          <a:ln w="12700">
            <a:solidFill>
              <a:srgbClr val="1A3A5C"/>
            </a:solidFill>
            <a:prstDash val="solid"/>
          </a:ln>
        </p:spPr>
      </p:sp>
      <p:sp>
        <p:nvSpPr>
          <p:cNvPr id="3" name="Shape 1"/>
          <p:cNvSpPr/>
          <p:nvPr/>
        </p:nvSpPr>
        <p:spPr>
          <a:xfrm>
            <a:off x="0" y="0"/>
            <a:ext cx="50292" cy="347472"/>
          </a:xfrm>
          <a:prstGeom prst="rect">
            <a:avLst/>
          </a:prstGeom>
          <a:solidFill>
            <a:srgbClr val="F2C93A"/>
          </a:solidFill>
          <a:ln w="12700">
            <a:solidFill>
              <a:srgbClr val="F2C93A"/>
            </a:solidFill>
            <a:prstDash val="solid"/>
          </a:ln>
        </p:spPr>
      </p:sp>
      <p:sp>
        <p:nvSpPr>
          <p:cNvPr id="4" name="Text 2"/>
          <p:cNvSpPr/>
          <p:nvPr/>
        </p:nvSpPr>
        <p:spPr>
          <a:xfrm>
            <a:off x="100584" y="0"/>
            <a:ext cx="3657600" cy="347472"/>
          </a:xfrm>
          <a:prstGeom prst="rect">
            <a:avLst/>
          </a:prstGeom>
          <a:noFill/>
          <a:ln/>
        </p:spPr>
        <p:txBody>
          <a:bodyPr wrap="square" lIns="0" tIns="0" rIns="0" bIns="0" rtlCol="0" anchor="ctr"/>
          <a:lstStyle/>
          <a:p>
            <a:pPr indent="0" marL="0">
              <a:buNone/>
            </a:pPr>
            <a:r>
              <a:rPr lang="en-US" sz="1350" b="1" dirty="0">
                <a:solidFill>
                  <a:srgbClr val="F2C93A"/>
                </a:solidFill>
                <a:latin typeface="Georgia" pitchFamily="34" charset="0"/>
                <a:ea typeface="Georgia" pitchFamily="34" charset="-122"/>
                <a:cs typeface="Georgia" pitchFamily="34" charset="-120"/>
              </a:rPr>
              <a:t>Speak English in 90 Days</a:t>
            </a:r>
            <a:endParaRPr lang="en-US" sz="1350" dirty="0"/>
          </a:p>
        </p:txBody>
      </p:sp>
      <p:sp>
        <p:nvSpPr>
          <p:cNvPr id="5" name="Text 3"/>
          <p:cNvSpPr/>
          <p:nvPr/>
        </p:nvSpPr>
        <p:spPr>
          <a:xfrm>
            <a:off x="3657600" y="0"/>
            <a:ext cx="1920240" cy="347472"/>
          </a:xfrm>
          <a:prstGeom prst="rect">
            <a:avLst/>
          </a:prstGeom>
          <a:noFill/>
          <a:ln/>
        </p:spPr>
        <p:txBody>
          <a:bodyPr wrap="square" lIns="0" tIns="0" rIns="0" bIns="0" rtlCol="0" anchor="ctr"/>
          <a:lstStyle/>
          <a:p>
            <a:pPr algn="ctr" indent="0" marL="0">
              <a:buNone/>
            </a:pPr>
            <a:r>
              <a:rPr lang="en-US" sz="800" dirty="0">
                <a:solidFill>
                  <a:srgbClr val="90AABF"/>
                </a:solidFill>
                <a:latin typeface="Calibri" pitchFamily="34" charset="0"/>
                <a:ea typeface="Calibri" pitchFamily="34" charset="-122"/>
                <a:cs typeface="Calibri" pitchFamily="34" charset="-120"/>
              </a:rPr>
              <a:t>A2 · Book 2 · Дунд шат</a:t>
            </a:r>
            <a:endParaRPr lang="en-US" sz="800" dirty="0"/>
          </a:p>
        </p:txBody>
      </p:sp>
      <p:sp>
        <p:nvSpPr>
          <p:cNvPr id="6" name="Text 4"/>
          <p:cNvSpPr/>
          <p:nvPr/>
        </p:nvSpPr>
        <p:spPr>
          <a:xfrm>
            <a:off x="5577840" y="0"/>
            <a:ext cx="1170432" cy="347472"/>
          </a:xfrm>
          <a:prstGeom prst="rect">
            <a:avLst/>
          </a:prstGeom>
          <a:noFill/>
          <a:ln/>
        </p:spPr>
        <p:txBody>
          <a:bodyPr wrap="square" lIns="0" tIns="0" rIns="0" bIns="0" rtlCol="0" anchor="ctr"/>
          <a:lstStyle/>
          <a:p>
            <a:pPr algn="r" indent="0" marL="0">
              <a:buNone/>
            </a:pPr>
            <a:r>
              <a:rPr lang="en-US" sz="850" dirty="0">
                <a:solidFill>
                  <a:srgbClr val="F2C93A"/>
                </a:solidFill>
                <a:latin typeface="Calibri" pitchFamily="34" charset="0"/>
                <a:ea typeface="Calibri" pitchFamily="34" charset="-122"/>
                <a:cs typeface="Calibri" pitchFamily="34" charset="-120"/>
              </a:rPr>
              <a:t>15-20 минут</a:t>
            </a:r>
            <a:endParaRPr lang="en-US" sz="850" dirty="0"/>
          </a:p>
        </p:txBody>
      </p:sp>
      <p:sp>
        <p:nvSpPr>
          <p:cNvPr id="7" name="Shape 5"/>
          <p:cNvSpPr/>
          <p:nvPr/>
        </p:nvSpPr>
        <p:spPr>
          <a:xfrm>
            <a:off x="0" y="347472"/>
            <a:ext cx="1335024" cy="237744"/>
          </a:xfrm>
          <a:prstGeom prst="rect">
            <a:avLst/>
          </a:prstGeom>
          <a:solidFill>
            <a:srgbClr val="F2C93A"/>
          </a:solidFill>
          <a:ln w="12700">
            <a:solidFill>
              <a:srgbClr val="F2C93A"/>
            </a:solidFill>
            <a:prstDash val="solid"/>
          </a:ln>
        </p:spPr>
      </p:sp>
      <p:sp>
        <p:nvSpPr>
          <p:cNvPr id="8" name="Text 6"/>
          <p:cNvSpPr/>
          <p:nvPr/>
        </p:nvSpPr>
        <p:spPr>
          <a:xfrm>
            <a:off x="0" y="347472"/>
            <a:ext cx="1335024" cy="237744"/>
          </a:xfrm>
          <a:prstGeom prst="rect">
            <a:avLst/>
          </a:prstGeom>
          <a:noFill/>
          <a:ln/>
        </p:spPr>
        <p:txBody>
          <a:bodyPr wrap="square" lIns="0" tIns="0" rIns="0" bIns="0" rtlCol="0" anchor="ctr"/>
          <a:lstStyle/>
          <a:p>
            <a:pPr algn="ctr" indent="0" marL="0">
              <a:buNone/>
            </a:pPr>
            <a:r>
              <a:rPr lang="en-US" sz="850" b="1" dirty="0">
                <a:solidFill>
                  <a:srgbClr val="1A3A5C"/>
                </a:solidFill>
                <a:latin typeface="Calibri" pitchFamily="34" charset="0"/>
                <a:ea typeface="Calibri" pitchFamily="34" charset="-122"/>
                <a:cs typeface="Calibri" pitchFamily="34" charset="-120"/>
              </a:rPr>
              <a:t>DAY 31 · ӨДӨР 31</a:t>
            </a:r>
            <a:endParaRPr lang="en-US" sz="850" dirty="0"/>
          </a:p>
        </p:txBody>
      </p:sp>
      <p:sp>
        <p:nvSpPr>
          <p:cNvPr id="9" name="Shape 7"/>
          <p:cNvSpPr/>
          <p:nvPr/>
        </p:nvSpPr>
        <p:spPr>
          <a:xfrm>
            <a:off x="1335024" y="347472"/>
            <a:ext cx="4498848" cy="237744"/>
          </a:xfrm>
          <a:prstGeom prst="rect">
            <a:avLst/>
          </a:prstGeom>
          <a:solidFill>
            <a:srgbClr val="6B3FA0"/>
          </a:solidFill>
          <a:ln w="12700">
            <a:solidFill>
              <a:srgbClr val="6B3FA0"/>
            </a:solidFill>
            <a:prstDash val="solid"/>
          </a:ln>
        </p:spPr>
      </p:sp>
      <p:sp>
        <p:nvSpPr>
          <p:cNvPr id="10" name="Text 8"/>
          <p:cNvSpPr/>
          <p:nvPr/>
        </p:nvSpPr>
        <p:spPr>
          <a:xfrm>
            <a:off x="1408176" y="347472"/>
            <a:ext cx="4425696" cy="237744"/>
          </a:xfrm>
          <a:prstGeom prst="rect">
            <a:avLst/>
          </a:prstGeom>
          <a:noFill/>
          <a:ln/>
        </p:spPr>
        <p:txBody>
          <a:bodyPr wrap="square" lIns="0" tIns="0" rIns="0" bIns="0" rtlCol="0" anchor="ctr"/>
          <a:lstStyle/>
          <a:p>
            <a:pPr indent="0" marL="0">
              <a:buNone/>
            </a:pPr>
            <a:r>
              <a:rPr lang="en-US" sz="850" b="1" dirty="0">
                <a:solidFill>
                  <a:srgbClr val="FFFFFF"/>
                </a:solidFill>
                <a:latin typeface="Calibri" pitchFamily="34" charset="0"/>
                <a:ea typeface="Calibri" pitchFamily="34" charset="-122"/>
                <a:cs typeface="Calibri" pitchFamily="34" charset="-120"/>
              </a:rPr>
              <a:t>Listening · Practice · Homework</a:t>
            </a:r>
            <a:endParaRPr lang="en-US" sz="850" dirty="0"/>
          </a:p>
        </p:txBody>
      </p:sp>
      <p:sp>
        <p:nvSpPr>
          <p:cNvPr id="11" name="Shape 9"/>
          <p:cNvSpPr/>
          <p:nvPr/>
        </p:nvSpPr>
        <p:spPr>
          <a:xfrm>
            <a:off x="5833872" y="347472"/>
            <a:ext cx="1024128" cy="237744"/>
          </a:xfrm>
          <a:prstGeom prst="rect">
            <a:avLst/>
          </a:prstGeom>
          <a:solidFill>
            <a:srgbClr val="1A3A5C"/>
          </a:solidFill>
          <a:ln w="12700">
            <a:solidFill>
              <a:srgbClr val="1A3A5C"/>
            </a:solidFill>
            <a:prstDash val="solid"/>
          </a:ln>
        </p:spPr>
      </p:sp>
      <p:sp>
        <p:nvSpPr>
          <p:cNvPr id="12" name="Text 10"/>
          <p:cNvSpPr/>
          <p:nvPr/>
        </p:nvSpPr>
        <p:spPr>
          <a:xfrm>
            <a:off x="5760720" y="347472"/>
            <a:ext cx="1042416" cy="237744"/>
          </a:xfrm>
          <a:prstGeom prst="rect">
            <a:avLst/>
          </a:prstGeom>
          <a:noFill/>
          <a:ln/>
        </p:spPr>
        <p:txBody>
          <a:bodyPr wrap="square" lIns="0" tIns="0" rIns="0" bIns="0" rtlCol="0" anchor="ctr"/>
          <a:lstStyle/>
          <a:p>
            <a:pPr algn="r" indent="0" marL="0">
              <a:buNone/>
            </a:pPr>
            <a:r>
              <a:rPr lang="en-US" sz="750" dirty="0">
                <a:solidFill>
                  <a:srgbClr val="F2C93A"/>
                </a:solidFill>
                <a:latin typeface="Calibri" pitchFamily="34" charset="0"/>
                <a:ea typeface="Calibri" pitchFamily="34" charset="-122"/>
                <a:cs typeface="Calibri" pitchFamily="34" charset="-120"/>
              </a:rPr>
              <a:t>🎧 Page 3</a:t>
            </a:r>
            <a:endParaRPr lang="en-US" sz="750" dirty="0"/>
          </a:p>
        </p:txBody>
      </p:sp>
      <p:sp>
        <p:nvSpPr>
          <p:cNvPr id="13" name="Shape 11"/>
          <p:cNvSpPr/>
          <p:nvPr/>
        </p:nvSpPr>
        <p:spPr>
          <a:xfrm>
            <a:off x="0" y="9601200"/>
            <a:ext cx="6858000" cy="91440"/>
          </a:xfrm>
          <a:prstGeom prst="rect">
            <a:avLst/>
          </a:prstGeom>
          <a:solidFill>
            <a:srgbClr val="E4EEF6"/>
          </a:solidFill>
          <a:ln w="12700">
            <a:solidFill>
              <a:srgbClr val="E4EEF6"/>
            </a:solidFill>
            <a:prstDash val="solid"/>
          </a:ln>
        </p:spPr>
      </p:sp>
      <p:sp>
        <p:nvSpPr>
          <p:cNvPr id="14" name="Text 12"/>
          <p:cNvSpPr/>
          <p:nvPr/>
        </p:nvSpPr>
        <p:spPr>
          <a:xfrm>
            <a:off x="0" y="9601200"/>
            <a:ext cx="6858000" cy="91440"/>
          </a:xfrm>
          <a:prstGeom prst="rect">
            <a:avLst/>
          </a:prstGeom>
          <a:noFill/>
          <a:ln/>
        </p:spPr>
        <p:txBody>
          <a:bodyPr wrap="square" lIns="0" tIns="0" rIns="0" bIns="0" rtlCol="0" anchor="ctr"/>
          <a:lstStyle/>
          <a:p>
            <a:pPr algn="ctr" indent="0" marL="0">
              <a:buNone/>
            </a:pPr>
            <a:r>
              <a:rPr lang="en-US" sz="650" dirty="0">
                <a:solidFill>
                  <a:srgbClr val="7A90A0"/>
                </a:solidFill>
                <a:latin typeface="Calibri" pitchFamily="34" charset="0"/>
                <a:ea typeface="Calibri" pitchFamily="34" charset="-122"/>
                <a:cs typeface="Calibri" pitchFamily="34" charset="-120"/>
              </a:rPr>
              <a:t>Speak English in 90 Days  ·  A2 Level  ·  Book 2</a:t>
            </a:r>
            <a:endParaRPr lang="en-US" sz="650" dirty="0"/>
          </a:p>
        </p:txBody>
      </p:sp>
      <p:sp>
        <p:nvSpPr>
          <p:cNvPr id="15" name="Shape 13"/>
          <p:cNvSpPr/>
          <p:nvPr/>
        </p:nvSpPr>
        <p:spPr>
          <a:xfrm>
            <a:off x="179222" y="627278"/>
            <a:ext cx="6528816" cy="1956816"/>
          </a:xfrm>
          <a:prstGeom prst="rect">
            <a:avLst/>
          </a:prstGeom>
          <a:solidFill>
            <a:srgbClr val="D0DCE8"/>
          </a:solidFill>
          <a:ln w="12700">
            <a:solidFill>
              <a:srgbClr val="D0DCE8"/>
            </a:solidFill>
            <a:prstDash val="solid"/>
          </a:ln>
        </p:spPr>
      </p:sp>
      <p:sp>
        <p:nvSpPr>
          <p:cNvPr id="16" name="Shape 14"/>
          <p:cNvSpPr/>
          <p:nvPr/>
        </p:nvSpPr>
        <p:spPr>
          <a:xfrm>
            <a:off x="164592" y="612648"/>
            <a:ext cx="6528816" cy="1956816"/>
          </a:xfrm>
          <a:prstGeom prst="rect">
            <a:avLst/>
          </a:prstGeom>
          <a:solidFill>
            <a:srgbClr val="FFFFFF"/>
          </a:solidFill>
          <a:ln w="12700">
            <a:solidFill>
              <a:srgbClr val="C8D8E8"/>
            </a:solidFill>
            <a:prstDash val="solid"/>
          </a:ln>
        </p:spPr>
      </p:sp>
      <p:sp>
        <p:nvSpPr>
          <p:cNvPr id="17" name="Shape 15"/>
          <p:cNvSpPr/>
          <p:nvPr/>
        </p:nvSpPr>
        <p:spPr>
          <a:xfrm>
            <a:off x="164592" y="612648"/>
            <a:ext cx="6528816" cy="256032"/>
          </a:xfrm>
          <a:prstGeom prst="rect">
            <a:avLst/>
          </a:prstGeom>
          <a:solidFill>
            <a:srgbClr val="6B3FA0"/>
          </a:solidFill>
          <a:ln w="12700">
            <a:solidFill>
              <a:srgbClr val="6B3FA0"/>
            </a:solidFill>
            <a:prstDash val="solid"/>
          </a:ln>
        </p:spPr>
      </p:sp>
      <p:sp>
        <p:nvSpPr>
          <p:cNvPr id="18" name="Shape 16"/>
          <p:cNvSpPr/>
          <p:nvPr/>
        </p:nvSpPr>
        <p:spPr>
          <a:xfrm>
            <a:off x="164592" y="868680"/>
            <a:ext cx="6528816" cy="146304"/>
          </a:xfrm>
          <a:prstGeom prst="rect">
            <a:avLst/>
          </a:prstGeom>
          <a:solidFill>
            <a:srgbClr val="F0EAFA"/>
          </a:solidFill>
          <a:ln w="12700">
            <a:solidFill>
              <a:srgbClr val="F0EAFA"/>
            </a:solidFill>
            <a:prstDash val="solid"/>
          </a:ln>
        </p:spPr>
      </p:sp>
      <p:sp>
        <p:nvSpPr>
          <p:cNvPr id="19" name="Text 17"/>
          <p:cNvSpPr/>
          <p:nvPr/>
        </p:nvSpPr>
        <p:spPr>
          <a:xfrm>
            <a:off x="256032" y="612648"/>
            <a:ext cx="6400800" cy="256032"/>
          </a:xfrm>
          <a:prstGeom prst="rect">
            <a:avLst/>
          </a:prstGeom>
          <a:noFill/>
          <a:ln/>
        </p:spPr>
        <p:txBody>
          <a:bodyPr wrap="square" lIns="0" tIns="0" rIns="0" bIns="0" rtlCol="0" anchor="ctr"/>
          <a:lstStyle/>
          <a:p>
            <a:pPr indent="0" marL="0">
              <a:buNone/>
            </a:pPr>
            <a:r>
              <a:rPr lang="en-US" sz="1050" b="1" dirty="0">
                <a:solidFill>
                  <a:srgbClr val="FFFFFF"/>
                </a:solidFill>
                <a:latin typeface="Georgia" pitchFamily="34" charset="0"/>
                <a:ea typeface="Georgia" pitchFamily="34" charset="-122"/>
                <a:cs typeface="Georgia" pitchFamily="34" charset="-120"/>
              </a:rPr>
              <a:t>🎧  Listening Script / Сонсох текст</a:t>
            </a:r>
            <a:endParaRPr lang="en-US" sz="1050" dirty="0"/>
          </a:p>
        </p:txBody>
      </p:sp>
      <p:sp>
        <p:nvSpPr>
          <p:cNvPr id="20" name="Text 18"/>
          <p:cNvSpPr/>
          <p:nvPr/>
        </p:nvSpPr>
        <p:spPr>
          <a:xfrm>
            <a:off x="256032" y="877824"/>
            <a:ext cx="6400800" cy="137160"/>
          </a:xfrm>
          <a:prstGeom prst="rect">
            <a:avLst/>
          </a:prstGeom>
          <a:noFill/>
          <a:ln/>
        </p:spPr>
        <p:txBody>
          <a:bodyPr wrap="square" lIns="0" tIns="0" rIns="0" bIns="0" rtlCol="0" anchor="ctr"/>
          <a:lstStyle/>
          <a:p>
            <a:pPr indent="0" marL="0">
              <a:buNone/>
            </a:pPr>
            <a:r>
              <a:rPr lang="en-US" sz="750" i="1" dirty="0">
                <a:solidFill>
                  <a:srgbClr val="3A5060"/>
                </a:solidFill>
                <a:latin typeface="Calibri" pitchFamily="34" charset="0"/>
                <a:ea typeface="Calibri" pitchFamily="34" charset="-122"/>
                <a:cs typeface="Calibri" pitchFamily="34" charset="-120"/>
              </a:rPr>
              <a:t>Answer 10 questions WITHOUT looking at the text!</a:t>
            </a:r>
            <a:endParaRPr lang="en-US" sz="750" dirty="0"/>
          </a:p>
        </p:txBody>
      </p:sp>
      <p:sp>
        <p:nvSpPr>
          <p:cNvPr id="21" name="Shape 19"/>
          <p:cNvSpPr/>
          <p:nvPr/>
        </p:nvSpPr>
        <p:spPr>
          <a:xfrm>
            <a:off x="237744" y="1033272"/>
            <a:ext cx="6382512" cy="1481328"/>
          </a:xfrm>
          <a:prstGeom prst="rect">
            <a:avLst/>
          </a:prstGeom>
          <a:solidFill>
            <a:srgbClr val="F4F8FC"/>
          </a:solidFill>
          <a:ln w="12700">
            <a:solidFill>
              <a:srgbClr val="2E6DA4"/>
            </a:solidFill>
            <a:prstDash val="solid"/>
          </a:ln>
        </p:spPr>
      </p:sp>
      <p:sp>
        <p:nvSpPr>
          <p:cNvPr id="22" name="Text 20"/>
          <p:cNvSpPr/>
          <p:nvPr/>
        </p:nvSpPr>
        <p:spPr>
          <a:xfrm>
            <a:off x="292608" y="1069848"/>
            <a:ext cx="6272784" cy="1408176"/>
          </a:xfrm>
          <a:prstGeom prst="rect">
            <a:avLst/>
          </a:prstGeom>
          <a:noFill/>
          <a:ln/>
        </p:spPr>
        <p:txBody>
          <a:bodyPr wrap="square" lIns="0" tIns="0" rIns="0" bIns="0" rtlCol="0" anchor="t"/>
          <a:lstStyle/>
          <a:p>
            <a:pPr indent="0" marL="0">
              <a:lnSpc>
                <a:spcPct val="150000"/>
              </a:lnSpc>
              <a:buNone/>
            </a:pPr>
            <a:r>
              <a:rPr lang="en-US" sz="850" b="1" dirty="0">
                <a:solidFill>
                  <a:srgbClr val="6B3FA0"/>
                </a:solidFill>
                <a:latin typeface="Calibri" pitchFamily="34" charset="0"/>
                <a:ea typeface="Calibri" pitchFamily="34" charset="-122"/>
                <a:cs typeface="Calibri" pitchFamily="34" charset="-120"/>
              </a:rPr>
              <a:t>Teacher: </a:t>
            </a:r>
            <a:pPr indent="0" marL="0">
              <a:lnSpc>
                <a:spcPct val="150000"/>
              </a:lnSpc>
              <a:buNone/>
            </a:pPr>
            <a:r>
              <a:rPr lang="en-US" sz="850" dirty="0">
                <a:solidFill>
                  <a:srgbClr val="1A2A3A"/>
                </a:solidFill>
                <a:latin typeface="Calibri" pitchFamily="34" charset="0"/>
                <a:ea typeface="Calibri" pitchFamily="34" charset="-122"/>
                <a:cs typeface="Calibri" pitchFamily="34" charset="-120"/>
              </a:rPr>
              <a:t>Today tell your life story in 5 sentences using sequence words! Bat, you first.  </a:t>
            </a:r>
            <a:pPr indent="0" marL="0">
              <a:lnSpc>
                <a:spcPct val="150000"/>
              </a:lnSpc>
              <a:buNone/>
            </a:pPr>
            <a:r>
              <a:rPr lang="en-US" sz="850" b="1" dirty="0">
                <a:solidFill>
                  <a:srgbClr val="2E6DA4"/>
                </a:solidFill>
                <a:latin typeface="Calibri" pitchFamily="34" charset="0"/>
                <a:ea typeface="Calibri" pitchFamily="34" charset="-122"/>
                <a:cs typeface="Calibri" pitchFamily="34" charset="-120"/>
              </a:rPr>
              <a:t>Bat: </a:t>
            </a:r>
            <a:pPr indent="0" marL="0">
              <a:lnSpc>
                <a:spcPct val="150000"/>
              </a:lnSpc>
              <a:buNone/>
            </a:pPr>
            <a:r>
              <a:rPr lang="en-US" sz="850" dirty="0">
                <a:solidFill>
                  <a:srgbClr val="1A2A3A"/>
                </a:solidFill>
                <a:latin typeface="Calibri" pitchFamily="34" charset="0"/>
                <a:ea typeface="Calibri" pitchFamily="34" charset="-122"/>
                <a:cs typeface="Calibri" pitchFamily="34" charset="-120"/>
              </a:rPr>
              <a:t>OK! First, I was born in Ulaanbaatar. Then I grew up near the city centre. After that, I started school at age six. Suddenly, I discovered I loved English. Finally, here I am — speaking English every day!  </a:t>
            </a:r>
            <a:pPr indent="0" marL="0">
              <a:lnSpc>
                <a:spcPct val="150000"/>
              </a:lnSpc>
              <a:buNone/>
            </a:pPr>
            <a:r>
              <a:rPr lang="en-US" sz="850" b="1" dirty="0">
                <a:solidFill>
                  <a:srgbClr val="6B3FA0"/>
                </a:solidFill>
                <a:latin typeface="Calibri" pitchFamily="34" charset="0"/>
                <a:ea typeface="Calibri" pitchFamily="34" charset="-122"/>
                <a:cs typeface="Calibri" pitchFamily="34" charset="-120"/>
              </a:rPr>
              <a:t>Teacher: </a:t>
            </a:r>
            <a:pPr indent="0" marL="0">
              <a:lnSpc>
                <a:spcPct val="150000"/>
              </a:lnSpc>
              <a:buNone/>
            </a:pPr>
            <a:r>
              <a:rPr lang="en-US" sz="850" dirty="0">
                <a:solidFill>
                  <a:srgbClr val="1A2A3A"/>
                </a:solidFill>
                <a:latin typeface="Calibri" pitchFamily="34" charset="0"/>
                <a:ea typeface="Calibri" pitchFamily="34" charset="-122"/>
                <a:cs typeface="Calibri" pitchFamily="34" charset="-120"/>
              </a:rPr>
              <a:t>Perfect! You used all the sequence words correctly. Sarnai, your turn.  </a:t>
            </a:r>
            <a:pPr indent="0" marL="0">
              <a:lnSpc>
                <a:spcPct val="150000"/>
              </a:lnSpc>
              <a:buNone/>
            </a:pPr>
            <a:r>
              <a:rPr lang="en-US" sz="850" b="1" dirty="0">
                <a:solidFill>
                  <a:srgbClr val="C97A0A"/>
                </a:solidFill>
                <a:latin typeface="Calibri" pitchFamily="34" charset="0"/>
                <a:ea typeface="Calibri" pitchFamily="34" charset="-122"/>
                <a:cs typeface="Calibri" pitchFamily="34" charset="-120"/>
              </a:rPr>
              <a:t>Sarnai: </a:t>
            </a:r>
            <a:pPr indent="0" marL="0">
              <a:lnSpc>
                <a:spcPct val="150000"/>
              </a:lnSpc>
              <a:buNone/>
            </a:pPr>
            <a:r>
              <a:rPr lang="en-US" sz="850" dirty="0">
                <a:solidFill>
                  <a:srgbClr val="1A2A3A"/>
                </a:solidFill>
                <a:latin typeface="Calibri" pitchFamily="34" charset="0"/>
                <a:ea typeface="Calibri" pitchFamily="34" charset="-122"/>
                <a:cs typeface="Calibri" pitchFamily="34" charset="-120"/>
              </a:rPr>
              <a:t>First, I was born in a small town. Then my family moved to the capital when I was five. After that, I started art classes. At first I was nervous, but later I won a competition. Finally, I decided to study art at university!  </a:t>
            </a:r>
            <a:pPr indent="0" marL="0">
              <a:lnSpc>
                <a:spcPct val="150000"/>
              </a:lnSpc>
              <a:buNone/>
            </a:pPr>
            <a:r>
              <a:rPr lang="en-US" sz="850" b="1" dirty="0">
                <a:solidFill>
                  <a:srgbClr val="6B3FA0"/>
                </a:solidFill>
                <a:latin typeface="Calibri" pitchFamily="34" charset="0"/>
                <a:ea typeface="Calibri" pitchFamily="34" charset="-122"/>
                <a:cs typeface="Calibri" pitchFamily="34" charset="-120"/>
              </a:rPr>
              <a:t>Teacher: </a:t>
            </a:r>
            <a:pPr indent="0" marL="0">
              <a:lnSpc>
                <a:spcPct val="150000"/>
              </a:lnSpc>
              <a:buNone/>
            </a:pPr>
            <a:r>
              <a:rPr lang="en-US" sz="850" dirty="0">
                <a:solidFill>
                  <a:srgbClr val="1A2A3A"/>
                </a:solidFill>
                <a:latin typeface="Calibri" pitchFamily="34" charset="0"/>
                <a:ea typeface="Calibri" pitchFamily="34" charset="-122"/>
                <a:cs typeface="Calibri" pitchFamily="34" charset="-120"/>
              </a:rPr>
              <a:t>Both of you told wonderful stories! Sequence words make your English sound natural and fluent.</a:t>
            </a:r>
            <a:endParaRPr lang="en-US" sz="850" dirty="0"/>
          </a:p>
        </p:txBody>
      </p:sp>
      <p:sp>
        <p:nvSpPr>
          <p:cNvPr id="23" name="Shape 21"/>
          <p:cNvSpPr/>
          <p:nvPr/>
        </p:nvSpPr>
        <p:spPr>
          <a:xfrm>
            <a:off x="179222" y="2657246"/>
            <a:ext cx="3218688" cy="3200400"/>
          </a:xfrm>
          <a:prstGeom prst="rect">
            <a:avLst/>
          </a:prstGeom>
          <a:solidFill>
            <a:srgbClr val="D0DCE8"/>
          </a:solidFill>
          <a:ln w="12700">
            <a:solidFill>
              <a:srgbClr val="D0DCE8"/>
            </a:solidFill>
            <a:prstDash val="solid"/>
          </a:ln>
        </p:spPr>
      </p:sp>
      <p:sp>
        <p:nvSpPr>
          <p:cNvPr id="24" name="Shape 22"/>
          <p:cNvSpPr/>
          <p:nvPr/>
        </p:nvSpPr>
        <p:spPr>
          <a:xfrm>
            <a:off x="164592" y="2642616"/>
            <a:ext cx="3218688" cy="3200400"/>
          </a:xfrm>
          <a:prstGeom prst="rect">
            <a:avLst/>
          </a:prstGeom>
          <a:solidFill>
            <a:srgbClr val="FFFFFF"/>
          </a:solidFill>
          <a:ln w="12700">
            <a:solidFill>
              <a:srgbClr val="C8D8E8"/>
            </a:solidFill>
            <a:prstDash val="solid"/>
          </a:ln>
        </p:spPr>
      </p:sp>
      <p:sp>
        <p:nvSpPr>
          <p:cNvPr id="25" name="Shape 23"/>
          <p:cNvSpPr/>
          <p:nvPr/>
        </p:nvSpPr>
        <p:spPr>
          <a:xfrm>
            <a:off x="164592" y="2642616"/>
            <a:ext cx="3218688" cy="256032"/>
          </a:xfrm>
          <a:prstGeom prst="rect">
            <a:avLst/>
          </a:prstGeom>
          <a:solidFill>
            <a:srgbClr val="2E6DA4"/>
          </a:solidFill>
          <a:ln w="12700">
            <a:solidFill>
              <a:srgbClr val="2E6DA4"/>
            </a:solidFill>
            <a:prstDash val="solid"/>
          </a:ln>
        </p:spPr>
      </p:sp>
      <p:sp>
        <p:nvSpPr>
          <p:cNvPr id="26" name="Shape 24"/>
          <p:cNvSpPr/>
          <p:nvPr/>
        </p:nvSpPr>
        <p:spPr>
          <a:xfrm>
            <a:off x="164592" y="2898648"/>
            <a:ext cx="3218688" cy="146304"/>
          </a:xfrm>
          <a:prstGeom prst="rect">
            <a:avLst/>
          </a:prstGeom>
          <a:solidFill>
            <a:srgbClr val="EBF4FB"/>
          </a:solidFill>
          <a:ln w="12700">
            <a:solidFill>
              <a:srgbClr val="EBF4FB"/>
            </a:solidFill>
            <a:prstDash val="solid"/>
          </a:ln>
        </p:spPr>
      </p:sp>
      <p:sp>
        <p:nvSpPr>
          <p:cNvPr id="27" name="Text 25"/>
          <p:cNvSpPr/>
          <p:nvPr/>
        </p:nvSpPr>
        <p:spPr>
          <a:xfrm>
            <a:off x="256032" y="2642616"/>
            <a:ext cx="3090672" cy="256032"/>
          </a:xfrm>
          <a:prstGeom prst="rect">
            <a:avLst/>
          </a:prstGeom>
          <a:noFill/>
          <a:ln/>
        </p:spPr>
        <p:txBody>
          <a:bodyPr wrap="square" lIns="0" tIns="0" rIns="0" bIns="0" rtlCol="0" anchor="ctr"/>
          <a:lstStyle/>
          <a:p>
            <a:pPr indent="0" marL="0">
              <a:buNone/>
            </a:pPr>
            <a:r>
              <a:rPr lang="en-US" sz="1050" b="1" dirty="0">
                <a:solidFill>
                  <a:srgbClr val="FFFFFF"/>
                </a:solidFill>
                <a:latin typeface="Georgia" pitchFamily="34" charset="0"/>
                <a:ea typeface="Georgia" pitchFamily="34" charset="-122"/>
                <a:cs typeface="Georgia" pitchFamily="34" charset="-120"/>
              </a:rPr>
              <a:t>❓  Comprehension Questions (10)</a:t>
            </a:r>
            <a:endParaRPr lang="en-US" sz="1050" dirty="0"/>
          </a:p>
        </p:txBody>
      </p:sp>
      <p:sp>
        <p:nvSpPr>
          <p:cNvPr id="28" name="Text 26"/>
          <p:cNvSpPr/>
          <p:nvPr/>
        </p:nvSpPr>
        <p:spPr>
          <a:xfrm>
            <a:off x="256032" y="2907792"/>
            <a:ext cx="3090672" cy="137160"/>
          </a:xfrm>
          <a:prstGeom prst="rect">
            <a:avLst/>
          </a:prstGeom>
          <a:noFill/>
          <a:ln/>
        </p:spPr>
        <p:txBody>
          <a:bodyPr wrap="square" lIns="0" tIns="0" rIns="0" bIns="0" rtlCol="0" anchor="ctr"/>
          <a:lstStyle/>
          <a:p>
            <a:pPr indent="0" marL="0">
              <a:buNone/>
            </a:pPr>
            <a:r>
              <a:rPr lang="en-US" sz="750" i="1" dirty="0">
                <a:solidFill>
                  <a:srgbClr val="3A5060"/>
                </a:solidFill>
                <a:latin typeface="Calibri" pitchFamily="34" charset="0"/>
                <a:ea typeface="Calibri" pitchFamily="34" charset="-122"/>
                <a:cs typeface="Calibri" pitchFamily="34" charset="-120"/>
              </a:rPr>
              <a:t>Choose the best answer.</a:t>
            </a:r>
            <a:endParaRPr lang="en-US" sz="75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228600" y="3063240"/>
          <a:ext cx="3090672" cy="914400"/>
        </p:xfrm>
        <a:graphic>
          <a:graphicData uri="http://schemas.openxmlformats.org/drawingml/2006/table">
            <a:tbl>
              <a:tblPr/>
              <a:tblGrid>
                <a:gridCol w="247254"/>
                <a:gridCol w="1236269"/>
                <a:gridCol w="1607149"/>
              </a:tblGrid>
              <a:tr h="278892">
                <a:tc>
                  <a:txBody>
                    <a:bodyPr/>
                    <a:lstStyle/>
                    <a:p>
                      <a:pPr algn="ctr" indent="0" marL="0">
                        <a:buNone/>
                      </a:pPr>
                      <a:r>
                        <a:rPr lang="en-US" sz="750" b="1" dirty="0">
                          <a:solidFill>
                            <a:srgbClr val="2E6DA4"/>
                          </a:solidFill>
                          <a:latin typeface="Calibri" pitchFamily="34" charset="0"/>
                          <a:ea typeface="Calibri" pitchFamily="34" charset="-122"/>
                          <a:cs typeface="Calibri" pitchFamily="34" charset="-120"/>
                        </a:rPr>
                        <a:t>1.</a:t>
                      </a:r>
                      <a:endParaRPr lang="en-US" sz="750" dirty="0">
                        <a:latin typeface="Calibri" charset="0"/>
                        <a:ea typeface="Calibri" charset="0"/>
                        <a:cs typeface="Calibri" charset="0"/>
                      </a:endParaRPr>
                    </a:p>
                  </a:txBody>
                  <a:tcPr marL="91440" marR="91440" marT="45720" marB="45720" anchor="t">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80" b="1" dirty="0">
                          <a:solidFill>
                            <a:srgbClr val="1A2A3A"/>
                          </a:solidFill>
                          <a:latin typeface="Calibri" pitchFamily="34" charset="0"/>
                          <a:ea typeface="Calibri" pitchFamily="34" charset="-122"/>
                          <a:cs typeface="Calibri" pitchFamily="34" charset="-120"/>
                        </a:rPr>
                        <a:t>Where was Bat born?</a:t>
                      </a:r>
                      <a:endParaRPr lang="en-US" sz="780" dirty="0">
                        <a:latin typeface="Calibri" charset="0"/>
                        <a:ea typeface="Calibri" charset="0"/>
                        <a:cs typeface="Calibri" charset="0"/>
                      </a:endParaRPr>
                    </a:p>
                  </a:txBody>
                  <a:tcPr marL="91440" marR="91440" marT="45720" marB="45720" anchor="t">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50" i="1" dirty="0">
                          <a:solidFill>
                            <a:srgbClr val="3A5060"/>
                          </a:solidFill>
                          <a:latin typeface="Calibri" pitchFamily="34" charset="0"/>
                          <a:ea typeface="Calibri" pitchFamily="34" charset="-122"/>
                          <a:cs typeface="Calibri" pitchFamily="34" charset="-120"/>
                        </a:rPr>
                        <a:t>a) Darkhan</a:t>
                      </a:r>
                      <a:endParaRPr lang="en-US" sz="750" dirty="0">
                        <a:latin typeface="Calibri" charset="0"/>
                        <a:ea typeface="Calibri" charset="0"/>
                        <a:cs typeface="Calibri" charset="0"/>
                      </a:endParaRPr>
                    </a:p>
                    <a:p>
                      <a:pPr algn="l" indent="0" marL="0">
                        <a:buNone/>
                      </a:pPr>
                      <a:r>
                        <a:rPr lang="en-US" sz="750" i="1" dirty="0">
                          <a:solidFill>
                            <a:srgbClr val="3A5060"/>
                          </a:solidFill>
                          <a:latin typeface="Calibri" pitchFamily="34" charset="0"/>
                          <a:ea typeface="Calibri" pitchFamily="34" charset="-122"/>
                          <a:cs typeface="Calibri" pitchFamily="34" charset="-120"/>
                        </a:rPr>
                        <a:t>b) a small town</a:t>
                      </a:r>
                      <a:endParaRPr lang="en-US" sz="750" dirty="0">
                        <a:latin typeface="Calibri" charset="0"/>
                        <a:ea typeface="Calibri" charset="0"/>
                        <a:cs typeface="Calibri" charset="0"/>
                      </a:endParaRPr>
                    </a:p>
                    <a:p>
                      <a:pPr algn="l" indent="0" marL="0">
                        <a:buNone/>
                      </a:pPr>
                      <a:r>
                        <a:rPr lang="en-US" sz="750" i="1" dirty="0">
                          <a:solidFill>
                            <a:srgbClr val="3A5060"/>
                          </a:solidFill>
                          <a:latin typeface="Calibri" pitchFamily="34" charset="0"/>
                          <a:ea typeface="Calibri" pitchFamily="34" charset="-122"/>
                          <a:cs typeface="Calibri" pitchFamily="34" charset="-120"/>
                        </a:rPr>
                        <a:t>c) Ulaanbaatar</a:t>
                      </a:r>
                      <a:endParaRPr lang="en-US" sz="750" dirty="0">
                        <a:latin typeface="Calibri" charset="0"/>
                        <a:ea typeface="Calibri" charset="0"/>
                        <a:cs typeface="Calibri" charset="0"/>
                      </a:endParaRPr>
                    </a:p>
                  </a:txBody>
                  <a:tcPr marL="91440" marR="91440" marT="45720" marB="45720" anchor="t">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r>
              <a:tr h="278892">
                <a:tc>
                  <a:txBody>
                    <a:bodyPr/>
                    <a:lstStyle/>
                    <a:p>
                      <a:pPr algn="ctr" indent="0" marL="0">
                        <a:buNone/>
                      </a:pPr>
                      <a:r>
                        <a:rPr lang="en-US" sz="750" b="1" dirty="0">
                          <a:solidFill>
                            <a:srgbClr val="2E6DA4"/>
                          </a:solidFill>
                          <a:latin typeface="Calibri" pitchFamily="34" charset="0"/>
                          <a:ea typeface="Calibri" pitchFamily="34" charset="-122"/>
                          <a:cs typeface="Calibri" pitchFamily="34" charset="-120"/>
                        </a:rPr>
                        <a:t>2.</a:t>
                      </a:r>
                      <a:endParaRPr lang="en-US" sz="750" dirty="0">
                        <a:latin typeface="Calibri" charset="0"/>
                        <a:ea typeface="Calibri" charset="0"/>
                        <a:cs typeface="Calibri" charset="0"/>
                      </a:endParaRPr>
                    </a:p>
                  </a:txBody>
                  <a:tcPr marL="91440" marR="91440" marT="45720" marB="45720" anchor="t">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780" b="1" dirty="0">
                          <a:solidFill>
                            <a:srgbClr val="1A2A3A"/>
                          </a:solidFill>
                          <a:latin typeface="Calibri" pitchFamily="34" charset="0"/>
                          <a:ea typeface="Calibri" pitchFamily="34" charset="-122"/>
                          <a:cs typeface="Calibri" pitchFamily="34" charset="-120"/>
                        </a:rPr>
                        <a:t>Where did Bat grow up?</a:t>
                      </a:r>
                      <a:endParaRPr lang="en-US" sz="780" dirty="0">
                        <a:latin typeface="Calibri" charset="0"/>
                        <a:ea typeface="Calibri" charset="0"/>
                        <a:cs typeface="Calibri" charset="0"/>
                      </a:endParaRPr>
                    </a:p>
                  </a:txBody>
                  <a:tcPr marL="91440" marR="91440" marT="45720" marB="45720" anchor="t">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750" i="1" dirty="0">
                          <a:solidFill>
                            <a:srgbClr val="3A5060"/>
                          </a:solidFill>
                          <a:latin typeface="Calibri" pitchFamily="34" charset="0"/>
                          <a:ea typeface="Calibri" pitchFamily="34" charset="-122"/>
                          <a:cs typeface="Calibri" pitchFamily="34" charset="-120"/>
                        </a:rPr>
                        <a:t>a) in the countryside</a:t>
                      </a:r>
                      <a:endParaRPr lang="en-US" sz="750" dirty="0">
                        <a:latin typeface="Calibri" charset="0"/>
                        <a:ea typeface="Calibri" charset="0"/>
                        <a:cs typeface="Calibri" charset="0"/>
                      </a:endParaRPr>
                    </a:p>
                    <a:p>
                      <a:pPr algn="l" indent="0" marL="0">
                        <a:buNone/>
                      </a:pPr>
                      <a:r>
                        <a:rPr lang="en-US" sz="750" i="1" dirty="0">
                          <a:solidFill>
                            <a:srgbClr val="3A5060"/>
                          </a:solidFill>
                          <a:latin typeface="Calibri" pitchFamily="34" charset="0"/>
                          <a:ea typeface="Calibri" pitchFamily="34" charset="-122"/>
                          <a:cs typeface="Calibri" pitchFamily="34" charset="-120"/>
                        </a:rPr>
                        <a:t>b) near the city centre</a:t>
                      </a:r>
                      <a:endParaRPr lang="en-US" sz="750" dirty="0">
                        <a:latin typeface="Calibri" charset="0"/>
                        <a:ea typeface="Calibri" charset="0"/>
                        <a:cs typeface="Calibri" charset="0"/>
                      </a:endParaRPr>
                    </a:p>
                    <a:p>
                      <a:pPr algn="l" indent="0" marL="0">
                        <a:buNone/>
                      </a:pPr>
                      <a:r>
                        <a:rPr lang="en-US" sz="750" i="1" dirty="0">
                          <a:solidFill>
                            <a:srgbClr val="3A5060"/>
                          </a:solidFill>
                          <a:latin typeface="Calibri" pitchFamily="34" charset="0"/>
                          <a:ea typeface="Calibri" pitchFamily="34" charset="-122"/>
                          <a:cs typeface="Calibri" pitchFamily="34" charset="-120"/>
                        </a:rPr>
                        <a:t>c) near a park</a:t>
                      </a:r>
                      <a:endParaRPr lang="en-US" sz="750" dirty="0">
                        <a:latin typeface="Calibri" charset="0"/>
                        <a:ea typeface="Calibri" charset="0"/>
                        <a:cs typeface="Calibri" charset="0"/>
                      </a:endParaRPr>
                    </a:p>
                  </a:txBody>
                  <a:tcPr marL="91440" marR="91440" marT="45720" marB="45720" anchor="t">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r>
              <a:tr h="278892">
                <a:tc>
                  <a:txBody>
                    <a:bodyPr/>
                    <a:lstStyle/>
                    <a:p>
                      <a:pPr algn="ctr" indent="0" marL="0">
                        <a:buNone/>
                      </a:pPr>
                      <a:r>
                        <a:rPr lang="en-US" sz="750" b="1" dirty="0">
                          <a:solidFill>
                            <a:srgbClr val="2E6DA4"/>
                          </a:solidFill>
                          <a:latin typeface="Calibri" pitchFamily="34" charset="0"/>
                          <a:ea typeface="Calibri" pitchFamily="34" charset="-122"/>
                          <a:cs typeface="Calibri" pitchFamily="34" charset="-120"/>
                        </a:rPr>
                        <a:t>3.</a:t>
                      </a:r>
                      <a:endParaRPr lang="en-US" sz="750" dirty="0">
                        <a:latin typeface="Calibri" charset="0"/>
                        <a:ea typeface="Calibri" charset="0"/>
                        <a:cs typeface="Calibri" charset="0"/>
                      </a:endParaRPr>
                    </a:p>
                  </a:txBody>
                  <a:tcPr marL="91440" marR="91440" marT="45720" marB="45720" anchor="t">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80" b="1" dirty="0">
                          <a:solidFill>
                            <a:srgbClr val="1A2A3A"/>
                          </a:solidFill>
                          <a:latin typeface="Calibri" pitchFamily="34" charset="0"/>
                          <a:ea typeface="Calibri" pitchFamily="34" charset="-122"/>
                          <a:cs typeface="Calibri" pitchFamily="34" charset="-120"/>
                        </a:rPr>
                        <a:t>What age did Bat start school?</a:t>
                      </a:r>
                      <a:endParaRPr lang="en-US" sz="780" dirty="0">
                        <a:latin typeface="Calibri" charset="0"/>
                        <a:ea typeface="Calibri" charset="0"/>
                        <a:cs typeface="Calibri" charset="0"/>
                      </a:endParaRPr>
                    </a:p>
                  </a:txBody>
                  <a:tcPr marL="91440" marR="91440" marT="45720" marB="45720" anchor="t">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50" i="1" dirty="0">
                          <a:solidFill>
                            <a:srgbClr val="3A5060"/>
                          </a:solidFill>
                          <a:latin typeface="Calibri" pitchFamily="34" charset="0"/>
                          <a:ea typeface="Calibri" pitchFamily="34" charset="-122"/>
                          <a:cs typeface="Calibri" pitchFamily="34" charset="-120"/>
                        </a:rPr>
                        <a:t>a) five</a:t>
                      </a:r>
                      <a:endParaRPr lang="en-US" sz="750" dirty="0">
                        <a:latin typeface="Calibri" charset="0"/>
                        <a:ea typeface="Calibri" charset="0"/>
                        <a:cs typeface="Calibri" charset="0"/>
                      </a:endParaRPr>
                    </a:p>
                    <a:p>
                      <a:pPr algn="l" indent="0" marL="0">
                        <a:buNone/>
                      </a:pPr>
                      <a:r>
                        <a:rPr lang="en-US" sz="750" i="1" dirty="0">
                          <a:solidFill>
                            <a:srgbClr val="3A5060"/>
                          </a:solidFill>
                          <a:latin typeface="Calibri" pitchFamily="34" charset="0"/>
                          <a:ea typeface="Calibri" pitchFamily="34" charset="-122"/>
                          <a:cs typeface="Calibri" pitchFamily="34" charset="-120"/>
                        </a:rPr>
                        <a:t>b) seven</a:t>
                      </a:r>
                      <a:endParaRPr lang="en-US" sz="750" dirty="0">
                        <a:latin typeface="Calibri" charset="0"/>
                        <a:ea typeface="Calibri" charset="0"/>
                        <a:cs typeface="Calibri" charset="0"/>
                      </a:endParaRPr>
                    </a:p>
                    <a:p>
                      <a:pPr algn="l" indent="0" marL="0">
                        <a:buNone/>
                      </a:pPr>
                      <a:r>
                        <a:rPr lang="en-US" sz="750" i="1" dirty="0">
                          <a:solidFill>
                            <a:srgbClr val="3A5060"/>
                          </a:solidFill>
                          <a:latin typeface="Calibri" pitchFamily="34" charset="0"/>
                          <a:ea typeface="Calibri" pitchFamily="34" charset="-122"/>
                          <a:cs typeface="Calibri" pitchFamily="34" charset="-120"/>
                        </a:rPr>
                        <a:t>c) six</a:t>
                      </a:r>
                      <a:endParaRPr lang="en-US" sz="750" dirty="0">
                        <a:latin typeface="Calibri" charset="0"/>
                        <a:ea typeface="Calibri" charset="0"/>
                        <a:cs typeface="Calibri" charset="0"/>
                      </a:endParaRPr>
                    </a:p>
                  </a:txBody>
                  <a:tcPr marL="91440" marR="91440" marT="45720" marB="45720" anchor="t">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r>
              <a:tr h="278892">
                <a:tc>
                  <a:txBody>
                    <a:bodyPr/>
                    <a:lstStyle/>
                    <a:p>
                      <a:pPr algn="ctr" indent="0" marL="0">
                        <a:buNone/>
                      </a:pPr>
                      <a:r>
                        <a:rPr lang="en-US" sz="750" b="1" dirty="0">
                          <a:solidFill>
                            <a:srgbClr val="2E6DA4"/>
                          </a:solidFill>
                          <a:latin typeface="Calibri" pitchFamily="34" charset="0"/>
                          <a:ea typeface="Calibri" pitchFamily="34" charset="-122"/>
                          <a:cs typeface="Calibri" pitchFamily="34" charset="-120"/>
                        </a:rPr>
                        <a:t>4.</a:t>
                      </a:r>
                      <a:endParaRPr lang="en-US" sz="750" dirty="0">
                        <a:latin typeface="Calibri" charset="0"/>
                        <a:ea typeface="Calibri" charset="0"/>
                        <a:cs typeface="Calibri" charset="0"/>
                      </a:endParaRPr>
                    </a:p>
                  </a:txBody>
                  <a:tcPr marL="91440" marR="91440" marT="45720" marB="45720" anchor="t">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780" b="1" dirty="0">
                          <a:solidFill>
                            <a:srgbClr val="1A2A3A"/>
                          </a:solidFill>
                          <a:latin typeface="Calibri" pitchFamily="34" charset="0"/>
                          <a:ea typeface="Calibri" pitchFamily="34" charset="-122"/>
                          <a:cs typeface="Calibri" pitchFamily="34" charset="-120"/>
                        </a:rPr>
                        <a:t>What did Bat discover?</a:t>
                      </a:r>
                      <a:endParaRPr lang="en-US" sz="780" dirty="0">
                        <a:latin typeface="Calibri" charset="0"/>
                        <a:ea typeface="Calibri" charset="0"/>
                        <a:cs typeface="Calibri" charset="0"/>
                      </a:endParaRPr>
                    </a:p>
                  </a:txBody>
                  <a:tcPr marL="91440" marR="91440" marT="45720" marB="45720" anchor="t">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750" i="1" dirty="0">
                          <a:solidFill>
                            <a:srgbClr val="3A5060"/>
                          </a:solidFill>
                          <a:latin typeface="Calibri" pitchFamily="34" charset="0"/>
                          <a:ea typeface="Calibri" pitchFamily="34" charset="-122"/>
                          <a:cs typeface="Calibri" pitchFamily="34" charset="-120"/>
                        </a:rPr>
                        <a:t>a) he loved math</a:t>
                      </a:r>
                      <a:endParaRPr lang="en-US" sz="750" dirty="0">
                        <a:latin typeface="Calibri" charset="0"/>
                        <a:ea typeface="Calibri" charset="0"/>
                        <a:cs typeface="Calibri" charset="0"/>
                      </a:endParaRPr>
                    </a:p>
                    <a:p>
                      <a:pPr algn="l" indent="0" marL="0">
                        <a:buNone/>
                      </a:pPr>
                      <a:r>
                        <a:rPr lang="en-US" sz="750" i="1" dirty="0">
                          <a:solidFill>
                            <a:srgbClr val="3A5060"/>
                          </a:solidFill>
                          <a:latin typeface="Calibri" pitchFamily="34" charset="0"/>
                          <a:ea typeface="Calibri" pitchFamily="34" charset="-122"/>
                          <a:cs typeface="Calibri" pitchFamily="34" charset="-120"/>
                        </a:rPr>
                        <a:t>b) he loved English</a:t>
                      </a:r>
                      <a:endParaRPr lang="en-US" sz="750" dirty="0">
                        <a:latin typeface="Calibri" charset="0"/>
                        <a:ea typeface="Calibri" charset="0"/>
                        <a:cs typeface="Calibri" charset="0"/>
                      </a:endParaRPr>
                    </a:p>
                    <a:p>
                      <a:pPr algn="l" indent="0" marL="0">
                        <a:buNone/>
                      </a:pPr>
                      <a:r>
                        <a:rPr lang="en-US" sz="750" i="1" dirty="0">
                          <a:solidFill>
                            <a:srgbClr val="3A5060"/>
                          </a:solidFill>
                          <a:latin typeface="Calibri" pitchFamily="34" charset="0"/>
                          <a:ea typeface="Calibri" pitchFamily="34" charset="-122"/>
                          <a:cs typeface="Calibri" pitchFamily="34" charset="-120"/>
                        </a:rPr>
                        <a:t>c) he loved art</a:t>
                      </a:r>
                      <a:endParaRPr lang="en-US" sz="750" dirty="0">
                        <a:latin typeface="Calibri" charset="0"/>
                        <a:ea typeface="Calibri" charset="0"/>
                        <a:cs typeface="Calibri" charset="0"/>
                      </a:endParaRPr>
                    </a:p>
                  </a:txBody>
                  <a:tcPr marL="91440" marR="91440" marT="45720" marB="45720" anchor="t">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r>
              <a:tr h="278892">
                <a:tc>
                  <a:txBody>
                    <a:bodyPr/>
                    <a:lstStyle/>
                    <a:p>
                      <a:pPr algn="ctr" indent="0" marL="0">
                        <a:buNone/>
                      </a:pPr>
                      <a:r>
                        <a:rPr lang="en-US" sz="750" b="1" dirty="0">
                          <a:solidFill>
                            <a:srgbClr val="2E6DA4"/>
                          </a:solidFill>
                          <a:latin typeface="Calibri" pitchFamily="34" charset="0"/>
                          <a:ea typeface="Calibri" pitchFamily="34" charset="-122"/>
                          <a:cs typeface="Calibri" pitchFamily="34" charset="-120"/>
                        </a:rPr>
                        <a:t>5.</a:t>
                      </a:r>
                      <a:endParaRPr lang="en-US" sz="750" dirty="0">
                        <a:latin typeface="Calibri" charset="0"/>
                        <a:ea typeface="Calibri" charset="0"/>
                        <a:cs typeface="Calibri" charset="0"/>
                      </a:endParaRPr>
                    </a:p>
                  </a:txBody>
                  <a:tcPr marL="91440" marR="91440" marT="45720" marB="45720" anchor="t">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80" b="1" dirty="0">
                          <a:solidFill>
                            <a:srgbClr val="1A2A3A"/>
                          </a:solidFill>
                          <a:latin typeface="Calibri" pitchFamily="34" charset="0"/>
                          <a:ea typeface="Calibri" pitchFamily="34" charset="-122"/>
                          <a:cs typeface="Calibri" pitchFamily="34" charset="-120"/>
                        </a:rPr>
                        <a:t>Where was Sarnai born?</a:t>
                      </a:r>
                      <a:endParaRPr lang="en-US" sz="780" dirty="0">
                        <a:latin typeface="Calibri" charset="0"/>
                        <a:ea typeface="Calibri" charset="0"/>
                        <a:cs typeface="Calibri" charset="0"/>
                      </a:endParaRPr>
                    </a:p>
                  </a:txBody>
                  <a:tcPr marL="91440" marR="91440" marT="45720" marB="45720" anchor="t">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50" i="1" dirty="0">
                          <a:solidFill>
                            <a:srgbClr val="3A5060"/>
                          </a:solidFill>
                          <a:latin typeface="Calibri" pitchFamily="34" charset="0"/>
                          <a:ea typeface="Calibri" pitchFamily="34" charset="-122"/>
                          <a:cs typeface="Calibri" pitchFamily="34" charset="-120"/>
                        </a:rPr>
                        <a:t>a) Ulaanbaatar</a:t>
                      </a:r>
                      <a:endParaRPr lang="en-US" sz="750" dirty="0">
                        <a:latin typeface="Calibri" charset="0"/>
                        <a:ea typeface="Calibri" charset="0"/>
                        <a:cs typeface="Calibri" charset="0"/>
                      </a:endParaRPr>
                    </a:p>
                    <a:p>
                      <a:pPr algn="l" indent="0" marL="0">
                        <a:buNone/>
                      </a:pPr>
                      <a:r>
                        <a:rPr lang="en-US" sz="750" i="1" dirty="0">
                          <a:solidFill>
                            <a:srgbClr val="3A5060"/>
                          </a:solidFill>
                          <a:latin typeface="Calibri" pitchFamily="34" charset="0"/>
                          <a:ea typeface="Calibri" pitchFamily="34" charset="-122"/>
                          <a:cs typeface="Calibri" pitchFamily="34" charset="-120"/>
                        </a:rPr>
                        <a:t>b) a small town</a:t>
                      </a:r>
                      <a:endParaRPr lang="en-US" sz="750" dirty="0">
                        <a:latin typeface="Calibri" charset="0"/>
                        <a:ea typeface="Calibri" charset="0"/>
                        <a:cs typeface="Calibri" charset="0"/>
                      </a:endParaRPr>
                    </a:p>
                    <a:p>
                      <a:pPr algn="l" indent="0" marL="0">
                        <a:buNone/>
                      </a:pPr>
                      <a:r>
                        <a:rPr lang="en-US" sz="750" i="1" dirty="0">
                          <a:solidFill>
                            <a:srgbClr val="3A5060"/>
                          </a:solidFill>
                          <a:latin typeface="Calibri" pitchFamily="34" charset="0"/>
                          <a:ea typeface="Calibri" pitchFamily="34" charset="-122"/>
                          <a:cs typeface="Calibri" pitchFamily="34" charset="-120"/>
                        </a:rPr>
                        <a:t>c) Darkhan</a:t>
                      </a:r>
                      <a:endParaRPr lang="en-US" sz="750" dirty="0">
                        <a:latin typeface="Calibri" charset="0"/>
                        <a:ea typeface="Calibri" charset="0"/>
                        <a:cs typeface="Calibri" charset="0"/>
                      </a:endParaRPr>
                    </a:p>
                  </a:txBody>
                  <a:tcPr marL="91440" marR="91440" marT="45720" marB="45720" anchor="t">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r>
              <a:tr h="278892">
                <a:tc>
                  <a:txBody>
                    <a:bodyPr/>
                    <a:lstStyle/>
                    <a:p>
                      <a:pPr algn="ctr" indent="0" marL="0">
                        <a:buNone/>
                      </a:pPr>
                      <a:r>
                        <a:rPr lang="en-US" sz="750" b="1" dirty="0">
                          <a:solidFill>
                            <a:srgbClr val="2E6DA4"/>
                          </a:solidFill>
                          <a:latin typeface="Calibri" pitchFamily="34" charset="0"/>
                          <a:ea typeface="Calibri" pitchFamily="34" charset="-122"/>
                          <a:cs typeface="Calibri" pitchFamily="34" charset="-120"/>
                        </a:rPr>
                        <a:t>6.</a:t>
                      </a:r>
                      <a:endParaRPr lang="en-US" sz="750" dirty="0">
                        <a:latin typeface="Calibri" charset="0"/>
                        <a:ea typeface="Calibri" charset="0"/>
                        <a:cs typeface="Calibri" charset="0"/>
                      </a:endParaRPr>
                    </a:p>
                  </a:txBody>
                  <a:tcPr marL="91440" marR="91440" marT="45720" marB="45720" anchor="t">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780" b="1" dirty="0">
                          <a:solidFill>
                            <a:srgbClr val="1A2A3A"/>
                          </a:solidFill>
                          <a:latin typeface="Calibri" pitchFamily="34" charset="0"/>
                          <a:ea typeface="Calibri" pitchFamily="34" charset="-122"/>
                          <a:cs typeface="Calibri" pitchFamily="34" charset="-120"/>
                        </a:rPr>
                        <a:t>How old was Sarnai when she moved?</a:t>
                      </a:r>
                      <a:endParaRPr lang="en-US" sz="780" dirty="0">
                        <a:latin typeface="Calibri" charset="0"/>
                        <a:ea typeface="Calibri" charset="0"/>
                        <a:cs typeface="Calibri" charset="0"/>
                      </a:endParaRPr>
                    </a:p>
                  </a:txBody>
                  <a:tcPr marL="91440" marR="91440" marT="45720" marB="45720" anchor="t">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750" i="1" dirty="0">
                          <a:solidFill>
                            <a:srgbClr val="3A5060"/>
                          </a:solidFill>
                          <a:latin typeface="Calibri" pitchFamily="34" charset="0"/>
                          <a:ea typeface="Calibri" pitchFamily="34" charset="-122"/>
                          <a:cs typeface="Calibri" pitchFamily="34" charset="-120"/>
                        </a:rPr>
                        <a:t>a) six</a:t>
                      </a:r>
                      <a:endParaRPr lang="en-US" sz="750" dirty="0">
                        <a:latin typeface="Calibri" charset="0"/>
                        <a:ea typeface="Calibri" charset="0"/>
                        <a:cs typeface="Calibri" charset="0"/>
                      </a:endParaRPr>
                    </a:p>
                    <a:p>
                      <a:pPr algn="l" indent="0" marL="0">
                        <a:buNone/>
                      </a:pPr>
                      <a:r>
                        <a:rPr lang="en-US" sz="750" i="1" dirty="0">
                          <a:solidFill>
                            <a:srgbClr val="3A5060"/>
                          </a:solidFill>
                          <a:latin typeface="Calibri" pitchFamily="34" charset="0"/>
                          <a:ea typeface="Calibri" pitchFamily="34" charset="-122"/>
                          <a:cs typeface="Calibri" pitchFamily="34" charset="-120"/>
                        </a:rPr>
                        <a:t>b) eight</a:t>
                      </a:r>
                      <a:endParaRPr lang="en-US" sz="750" dirty="0">
                        <a:latin typeface="Calibri" charset="0"/>
                        <a:ea typeface="Calibri" charset="0"/>
                        <a:cs typeface="Calibri" charset="0"/>
                      </a:endParaRPr>
                    </a:p>
                    <a:p>
                      <a:pPr algn="l" indent="0" marL="0">
                        <a:buNone/>
                      </a:pPr>
                      <a:r>
                        <a:rPr lang="en-US" sz="750" i="1" dirty="0">
                          <a:solidFill>
                            <a:srgbClr val="3A5060"/>
                          </a:solidFill>
                          <a:latin typeface="Calibri" pitchFamily="34" charset="0"/>
                          <a:ea typeface="Calibri" pitchFamily="34" charset="-122"/>
                          <a:cs typeface="Calibri" pitchFamily="34" charset="-120"/>
                        </a:rPr>
                        <a:t>c) five</a:t>
                      </a:r>
                      <a:endParaRPr lang="en-US" sz="750" dirty="0">
                        <a:latin typeface="Calibri" charset="0"/>
                        <a:ea typeface="Calibri" charset="0"/>
                        <a:cs typeface="Calibri" charset="0"/>
                      </a:endParaRPr>
                    </a:p>
                  </a:txBody>
                  <a:tcPr marL="91440" marR="91440" marT="45720" marB="45720" anchor="t">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r>
              <a:tr h="278892">
                <a:tc>
                  <a:txBody>
                    <a:bodyPr/>
                    <a:lstStyle/>
                    <a:p>
                      <a:pPr algn="ctr" indent="0" marL="0">
                        <a:buNone/>
                      </a:pPr>
                      <a:r>
                        <a:rPr lang="en-US" sz="750" b="1" dirty="0">
                          <a:solidFill>
                            <a:srgbClr val="2E6DA4"/>
                          </a:solidFill>
                          <a:latin typeface="Calibri" pitchFamily="34" charset="0"/>
                          <a:ea typeface="Calibri" pitchFamily="34" charset="-122"/>
                          <a:cs typeface="Calibri" pitchFamily="34" charset="-120"/>
                        </a:rPr>
                        <a:t>7.</a:t>
                      </a:r>
                      <a:endParaRPr lang="en-US" sz="750" dirty="0">
                        <a:latin typeface="Calibri" charset="0"/>
                        <a:ea typeface="Calibri" charset="0"/>
                        <a:cs typeface="Calibri" charset="0"/>
                      </a:endParaRPr>
                    </a:p>
                  </a:txBody>
                  <a:tcPr marL="91440" marR="91440" marT="45720" marB="45720" anchor="t">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80" b="1" dirty="0">
                          <a:solidFill>
                            <a:srgbClr val="1A2A3A"/>
                          </a:solidFill>
                          <a:latin typeface="Calibri" pitchFamily="34" charset="0"/>
                          <a:ea typeface="Calibri" pitchFamily="34" charset="-122"/>
                          <a:cs typeface="Calibri" pitchFamily="34" charset="-120"/>
                        </a:rPr>
                        <a:t>What did Sarnai start after moving?</a:t>
                      </a:r>
                      <a:endParaRPr lang="en-US" sz="780" dirty="0">
                        <a:latin typeface="Calibri" charset="0"/>
                        <a:ea typeface="Calibri" charset="0"/>
                        <a:cs typeface="Calibri" charset="0"/>
                      </a:endParaRPr>
                    </a:p>
                  </a:txBody>
                  <a:tcPr marL="91440" marR="91440" marT="45720" marB="45720" anchor="t">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50" i="1" dirty="0">
                          <a:solidFill>
                            <a:srgbClr val="3A5060"/>
                          </a:solidFill>
                          <a:latin typeface="Calibri" pitchFamily="34" charset="0"/>
                          <a:ea typeface="Calibri" pitchFamily="34" charset="-122"/>
                          <a:cs typeface="Calibri" pitchFamily="34" charset="-120"/>
                        </a:rPr>
                        <a:t>a) football</a:t>
                      </a:r>
                      <a:endParaRPr lang="en-US" sz="750" dirty="0">
                        <a:latin typeface="Calibri" charset="0"/>
                        <a:ea typeface="Calibri" charset="0"/>
                        <a:cs typeface="Calibri" charset="0"/>
                      </a:endParaRPr>
                    </a:p>
                    <a:p>
                      <a:pPr algn="l" indent="0" marL="0">
                        <a:buNone/>
                      </a:pPr>
                      <a:r>
                        <a:rPr lang="en-US" sz="750" i="1" dirty="0">
                          <a:solidFill>
                            <a:srgbClr val="3A5060"/>
                          </a:solidFill>
                          <a:latin typeface="Calibri" pitchFamily="34" charset="0"/>
                          <a:ea typeface="Calibri" pitchFamily="34" charset="-122"/>
                          <a:cs typeface="Calibri" pitchFamily="34" charset="-120"/>
                        </a:rPr>
                        <a:t>b) English classes</a:t>
                      </a:r>
                      <a:endParaRPr lang="en-US" sz="750" dirty="0">
                        <a:latin typeface="Calibri" charset="0"/>
                        <a:ea typeface="Calibri" charset="0"/>
                        <a:cs typeface="Calibri" charset="0"/>
                      </a:endParaRPr>
                    </a:p>
                    <a:p>
                      <a:pPr algn="l" indent="0" marL="0">
                        <a:buNone/>
                      </a:pPr>
                      <a:r>
                        <a:rPr lang="en-US" sz="750" i="1" dirty="0">
                          <a:solidFill>
                            <a:srgbClr val="3A5060"/>
                          </a:solidFill>
                          <a:latin typeface="Calibri" pitchFamily="34" charset="0"/>
                          <a:ea typeface="Calibri" pitchFamily="34" charset="-122"/>
                          <a:cs typeface="Calibri" pitchFamily="34" charset="-120"/>
                        </a:rPr>
                        <a:t>c) art classes</a:t>
                      </a:r>
                      <a:endParaRPr lang="en-US" sz="750" dirty="0">
                        <a:latin typeface="Calibri" charset="0"/>
                        <a:ea typeface="Calibri" charset="0"/>
                        <a:cs typeface="Calibri" charset="0"/>
                      </a:endParaRPr>
                    </a:p>
                  </a:txBody>
                  <a:tcPr marL="91440" marR="91440" marT="45720" marB="45720" anchor="t">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r>
              <a:tr h="278892">
                <a:tc>
                  <a:txBody>
                    <a:bodyPr/>
                    <a:lstStyle/>
                    <a:p>
                      <a:pPr algn="ctr" indent="0" marL="0">
                        <a:buNone/>
                      </a:pPr>
                      <a:r>
                        <a:rPr lang="en-US" sz="750" b="1" dirty="0">
                          <a:solidFill>
                            <a:srgbClr val="2E6DA4"/>
                          </a:solidFill>
                          <a:latin typeface="Calibri" pitchFamily="34" charset="0"/>
                          <a:ea typeface="Calibri" pitchFamily="34" charset="-122"/>
                          <a:cs typeface="Calibri" pitchFamily="34" charset="-120"/>
                        </a:rPr>
                        <a:t>8.</a:t>
                      </a:r>
                      <a:endParaRPr lang="en-US" sz="750" dirty="0">
                        <a:latin typeface="Calibri" charset="0"/>
                        <a:ea typeface="Calibri" charset="0"/>
                        <a:cs typeface="Calibri" charset="0"/>
                      </a:endParaRPr>
                    </a:p>
                  </a:txBody>
                  <a:tcPr marL="91440" marR="91440" marT="45720" marB="45720" anchor="t">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780" b="1" dirty="0">
                          <a:solidFill>
                            <a:srgbClr val="1A2A3A"/>
                          </a:solidFill>
                          <a:latin typeface="Calibri" pitchFamily="34" charset="0"/>
                          <a:ea typeface="Calibri" pitchFamily="34" charset="-122"/>
                          <a:cs typeface="Calibri" pitchFamily="34" charset="-120"/>
                        </a:rPr>
                        <a:t>How did Sarnai feel at first in art?</a:t>
                      </a:r>
                      <a:endParaRPr lang="en-US" sz="780" dirty="0">
                        <a:latin typeface="Calibri" charset="0"/>
                        <a:ea typeface="Calibri" charset="0"/>
                        <a:cs typeface="Calibri" charset="0"/>
                      </a:endParaRPr>
                    </a:p>
                  </a:txBody>
                  <a:tcPr marL="91440" marR="91440" marT="45720" marB="45720" anchor="t">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750" i="1" dirty="0">
                          <a:solidFill>
                            <a:srgbClr val="3A5060"/>
                          </a:solidFill>
                          <a:latin typeface="Calibri" pitchFamily="34" charset="0"/>
                          <a:ea typeface="Calibri" pitchFamily="34" charset="-122"/>
                          <a:cs typeface="Calibri" pitchFamily="34" charset="-120"/>
                        </a:rPr>
                        <a:t>a) excited</a:t>
                      </a:r>
                      <a:endParaRPr lang="en-US" sz="750" dirty="0">
                        <a:latin typeface="Calibri" charset="0"/>
                        <a:ea typeface="Calibri" charset="0"/>
                        <a:cs typeface="Calibri" charset="0"/>
                      </a:endParaRPr>
                    </a:p>
                    <a:p>
                      <a:pPr algn="l" indent="0" marL="0">
                        <a:buNone/>
                      </a:pPr>
                      <a:r>
                        <a:rPr lang="en-US" sz="750" i="1" dirty="0">
                          <a:solidFill>
                            <a:srgbClr val="3A5060"/>
                          </a:solidFill>
                          <a:latin typeface="Calibri" pitchFamily="34" charset="0"/>
                          <a:ea typeface="Calibri" pitchFamily="34" charset="-122"/>
                          <a:cs typeface="Calibri" pitchFamily="34" charset="-120"/>
                        </a:rPr>
                        <a:t>b) nervous</a:t>
                      </a:r>
                      <a:endParaRPr lang="en-US" sz="750" dirty="0">
                        <a:latin typeface="Calibri" charset="0"/>
                        <a:ea typeface="Calibri" charset="0"/>
                        <a:cs typeface="Calibri" charset="0"/>
                      </a:endParaRPr>
                    </a:p>
                    <a:p>
                      <a:pPr algn="l" indent="0" marL="0">
                        <a:buNone/>
                      </a:pPr>
                      <a:r>
                        <a:rPr lang="en-US" sz="750" i="1" dirty="0">
                          <a:solidFill>
                            <a:srgbClr val="3A5060"/>
                          </a:solidFill>
                          <a:latin typeface="Calibri" pitchFamily="34" charset="0"/>
                          <a:ea typeface="Calibri" pitchFamily="34" charset="-122"/>
                          <a:cs typeface="Calibri" pitchFamily="34" charset="-120"/>
                        </a:rPr>
                        <a:t>c) bored</a:t>
                      </a:r>
                      <a:endParaRPr lang="en-US" sz="750" dirty="0">
                        <a:latin typeface="Calibri" charset="0"/>
                        <a:ea typeface="Calibri" charset="0"/>
                        <a:cs typeface="Calibri" charset="0"/>
                      </a:endParaRPr>
                    </a:p>
                  </a:txBody>
                  <a:tcPr marL="91440" marR="91440" marT="45720" marB="45720" anchor="t">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r>
              <a:tr h="278892">
                <a:tc>
                  <a:txBody>
                    <a:bodyPr/>
                    <a:lstStyle/>
                    <a:p>
                      <a:pPr algn="ctr" indent="0" marL="0">
                        <a:buNone/>
                      </a:pPr>
                      <a:r>
                        <a:rPr lang="en-US" sz="750" b="1" dirty="0">
                          <a:solidFill>
                            <a:srgbClr val="2E6DA4"/>
                          </a:solidFill>
                          <a:latin typeface="Calibri" pitchFamily="34" charset="0"/>
                          <a:ea typeface="Calibri" pitchFamily="34" charset="-122"/>
                          <a:cs typeface="Calibri" pitchFamily="34" charset="-120"/>
                        </a:rPr>
                        <a:t>9.</a:t>
                      </a:r>
                      <a:endParaRPr lang="en-US" sz="750" dirty="0">
                        <a:latin typeface="Calibri" charset="0"/>
                        <a:ea typeface="Calibri" charset="0"/>
                        <a:cs typeface="Calibri" charset="0"/>
                      </a:endParaRPr>
                    </a:p>
                  </a:txBody>
                  <a:tcPr marL="91440" marR="91440" marT="45720" marB="45720" anchor="t">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80" b="1" dirty="0">
                          <a:solidFill>
                            <a:srgbClr val="1A2A3A"/>
                          </a:solidFill>
                          <a:latin typeface="Calibri" pitchFamily="34" charset="0"/>
                          <a:ea typeface="Calibri" pitchFamily="34" charset="-122"/>
                          <a:cs typeface="Calibri" pitchFamily="34" charset="-120"/>
                        </a:rPr>
                        <a:t>What did Sarnai win?</a:t>
                      </a:r>
                      <a:endParaRPr lang="en-US" sz="780" dirty="0">
                        <a:latin typeface="Calibri" charset="0"/>
                        <a:ea typeface="Calibri" charset="0"/>
                        <a:cs typeface="Calibri" charset="0"/>
                      </a:endParaRPr>
                    </a:p>
                  </a:txBody>
                  <a:tcPr marL="91440" marR="91440" marT="45720" marB="45720" anchor="t">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50" i="1" dirty="0">
                          <a:solidFill>
                            <a:srgbClr val="3A5060"/>
                          </a:solidFill>
                          <a:latin typeface="Calibri" pitchFamily="34" charset="0"/>
                          <a:ea typeface="Calibri" pitchFamily="34" charset="-122"/>
                          <a:cs typeface="Calibri" pitchFamily="34" charset="-120"/>
                        </a:rPr>
                        <a:t>a) a sports prize</a:t>
                      </a:r>
                      <a:endParaRPr lang="en-US" sz="750" dirty="0">
                        <a:latin typeface="Calibri" charset="0"/>
                        <a:ea typeface="Calibri" charset="0"/>
                        <a:cs typeface="Calibri" charset="0"/>
                      </a:endParaRPr>
                    </a:p>
                    <a:p>
                      <a:pPr algn="l" indent="0" marL="0">
                        <a:buNone/>
                      </a:pPr>
                      <a:r>
                        <a:rPr lang="en-US" sz="750" i="1" dirty="0">
                          <a:solidFill>
                            <a:srgbClr val="3A5060"/>
                          </a:solidFill>
                          <a:latin typeface="Calibri" pitchFamily="34" charset="0"/>
                          <a:ea typeface="Calibri" pitchFamily="34" charset="-122"/>
                          <a:cs typeface="Calibri" pitchFamily="34" charset="-120"/>
                        </a:rPr>
                        <a:t>b) a competition</a:t>
                      </a:r>
                      <a:endParaRPr lang="en-US" sz="750" dirty="0">
                        <a:latin typeface="Calibri" charset="0"/>
                        <a:ea typeface="Calibri" charset="0"/>
                        <a:cs typeface="Calibri" charset="0"/>
                      </a:endParaRPr>
                    </a:p>
                    <a:p>
                      <a:pPr algn="l" indent="0" marL="0">
                        <a:buNone/>
                      </a:pPr>
                      <a:r>
                        <a:rPr lang="en-US" sz="750" i="1" dirty="0">
                          <a:solidFill>
                            <a:srgbClr val="3A5060"/>
                          </a:solidFill>
                          <a:latin typeface="Calibri" pitchFamily="34" charset="0"/>
                          <a:ea typeface="Calibri" pitchFamily="34" charset="-122"/>
                          <a:cs typeface="Calibri" pitchFamily="34" charset="-120"/>
                        </a:rPr>
                        <a:t>c) an award</a:t>
                      </a:r>
                      <a:endParaRPr lang="en-US" sz="750" dirty="0">
                        <a:latin typeface="Calibri" charset="0"/>
                        <a:ea typeface="Calibri" charset="0"/>
                        <a:cs typeface="Calibri" charset="0"/>
                      </a:endParaRPr>
                    </a:p>
                  </a:txBody>
                  <a:tcPr marL="91440" marR="91440" marT="45720" marB="45720" anchor="t">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r>
              <a:tr h="278892">
                <a:tc>
                  <a:txBody>
                    <a:bodyPr/>
                    <a:lstStyle/>
                    <a:p>
                      <a:pPr algn="ctr" indent="0" marL="0">
                        <a:buNone/>
                      </a:pPr>
                      <a:r>
                        <a:rPr lang="en-US" sz="750" b="1" dirty="0">
                          <a:solidFill>
                            <a:srgbClr val="2E6DA4"/>
                          </a:solidFill>
                          <a:latin typeface="Calibri" pitchFamily="34" charset="0"/>
                          <a:ea typeface="Calibri" pitchFamily="34" charset="-122"/>
                          <a:cs typeface="Calibri" pitchFamily="34" charset="-120"/>
                        </a:rPr>
                        <a:t>10.</a:t>
                      </a:r>
                      <a:endParaRPr lang="en-US" sz="750" dirty="0">
                        <a:latin typeface="Calibri" charset="0"/>
                        <a:ea typeface="Calibri" charset="0"/>
                        <a:cs typeface="Calibri" charset="0"/>
                      </a:endParaRPr>
                    </a:p>
                  </a:txBody>
                  <a:tcPr marL="91440" marR="91440" marT="45720" marB="45720" anchor="t">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780" b="1" dirty="0">
                          <a:solidFill>
                            <a:srgbClr val="1A2A3A"/>
                          </a:solidFill>
                          <a:latin typeface="Calibri" pitchFamily="34" charset="0"/>
                          <a:ea typeface="Calibri" pitchFamily="34" charset="-122"/>
                          <a:cs typeface="Calibri" pitchFamily="34" charset="-120"/>
                        </a:rPr>
                        <a:t>Which sequence word means 'last event'?</a:t>
                      </a:r>
                      <a:endParaRPr lang="en-US" sz="780" dirty="0">
                        <a:latin typeface="Calibri" charset="0"/>
                        <a:ea typeface="Calibri" charset="0"/>
                        <a:cs typeface="Calibri" charset="0"/>
                      </a:endParaRPr>
                    </a:p>
                  </a:txBody>
                  <a:tcPr marL="91440" marR="91440" marT="45720" marB="45720" anchor="t">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750" i="1" dirty="0">
                          <a:solidFill>
                            <a:srgbClr val="3A5060"/>
                          </a:solidFill>
                          <a:latin typeface="Calibri" pitchFamily="34" charset="0"/>
                          <a:ea typeface="Calibri" pitchFamily="34" charset="-122"/>
                          <a:cs typeface="Calibri" pitchFamily="34" charset="-120"/>
                        </a:rPr>
                        <a:t>a) Then</a:t>
                      </a:r>
                      <a:endParaRPr lang="en-US" sz="750" dirty="0">
                        <a:latin typeface="Calibri" charset="0"/>
                        <a:ea typeface="Calibri" charset="0"/>
                        <a:cs typeface="Calibri" charset="0"/>
                      </a:endParaRPr>
                    </a:p>
                    <a:p>
                      <a:pPr algn="l" indent="0" marL="0">
                        <a:buNone/>
                      </a:pPr>
                      <a:r>
                        <a:rPr lang="en-US" sz="750" i="1" dirty="0">
                          <a:solidFill>
                            <a:srgbClr val="3A5060"/>
                          </a:solidFill>
                          <a:latin typeface="Calibri" pitchFamily="34" charset="0"/>
                          <a:ea typeface="Calibri" pitchFamily="34" charset="-122"/>
                          <a:cs typeface="Calibri" pitchFamily="34" charset="-120"/>
                        </a:rPr>
                        <a:t>b) Suddenly</a:t>
                      </a:r>
                      <a:endParaRPr lang="en-US" sz="750" dirty="0">
                        <a:latin typeface="Calibri" charset="0"/>
                        <a:ea typeface="Calibri" charset="0"/>
                        <a:cs typeface="Calibri" charset="0"/>
                      </a:endParaRPr>
                    </a:p>
                    <a:p>
                      <a:pPr algn="l" indent="0" marL="0">
                        <a:buNone/>
                      </a:pPr>
                      <a:r>
                        <a:rPr lang="en-US" sz="750" i="1" dirty="0">
                          <a:solidFill>
                            <a:srgbClr val="3A5060"/>
                          </a:solidFill>
                          <a:latin typeface="Calibri" pitchFamily="34" charset="0"/>
                          <a:ea typeface="Calibri" pitchFamily="34" charset="-122"/>
                          <a:cs typeface="Calibri" pitchFamily="34" charset="-120"/>
                        </a:rPr>
                        <a:t>c) Finally</a:t>
                      </a:r>
                      <a:endParaRPr lang="en-US" sz="750" dirty="0">
                        <a:latin typeface="Calibri" charset="0"/>
                        <a:ea typeface="Calibri" charset="0"/>
                        <a:cs typeface="Calibri" charset="0"/>
                      </a:endParaRPr>
                    </a:p>
                  </a:txBody>
                  <a:tcPr marL="91440" marR="91440" marT="45720" marB="45720" anchor="t">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r>
            </a:tbl>
          </a:graphicData>
        </a:graphic>
      </p:graphicFrame>
      <p:sp>
        <p:nvSpPr>
          <p:cNvPr id="30" name="Shape 27"/>
          <p:cNvSpPr/>
          <p:nvPr/>
        </p:nvSpPr>
        <p:spPr>
          <a:xfrm>
            <a:off x="3489350" y="2657246"/>
            <a:ext cx="3218688" cy="3200400"/>
          </a:xfrm>
          <a:prstGeom prst="rect">
            <a:avLst/>
          </a:prstGeom>
          <a:solidFill>
            <a:srgbClr val="D0DCE8"/>
          </a:solidFill>
          <a:ln w="12700">
            <a:solidFill>
              <a:srgbClr val="D0DCE8"/>
            </a:solidFill>
            <a:prstDash val="solid"/>
          </a:ln>
        </p:spPr>
      </p:sp>
      <p:sp>
        <p:nvSpPr>
          <p:cNvPr id="31" name="Shape 28"/>
          <p:cNvSpPr/>
          <p:nvPr/>
        </p:nvSpPr>
        <p:spPr>
          <a:xfrm>
            <a:off x="3474720" y="2642616"/>
            <a:ext cx="3218688" cy="3200400"/>
          </a:xfrm>
          <a:prstGeom prst="rect">
            <a:avLst/>
          </a:prstGeom>
          <a:solidFill>
            <a:srgbClr val="FFFFFF"/>
          </a:solidFill>
          <a:ln w="12700">
            <a:solidFill>
              <a:srgbClr val="C8D8E8"/>
            </a:solidFill>
            <a:prstDash val="solid"/>
          </a:ln>
        </p:spPr>
      </p:sp>
      <p:sp>
        <p:nvSpPr>
          <p:cNvPr id="32" name="Shape 29"/>
          <p:cNvSpPr/>
          <p:nvPr/>
        </p:nvSpPr>
        <p:spPr>
          <a:xfrm>
            <a:off x="3474720" y="2642616"/>
            <a:ext cx="3218688" cy="256032"/>
          </a:xfrm>
          <a:prstGeom prst="rect">
            <a:avLst/>
          </a:prstGeom>
          <a:solidFill>
            <a:srgbClr val="0D7C7B"/>
          </a:solidFill>
          <a:ln w="12700">
            <a:solidFill>
              <a:srgbClr val="0D7C7B"/>
            </a:solidFill>
            <a:prstDash val="solid"/>
          </a:ln>
        </p:spPr>
      </p:sp>
      <p:sp>
        <p:nvSpPr>
          <p:cNvPr id="33" name="Shape 30"/>
          <p:cNvSpPr/>
          <p:nvPr/>
        </p:nvSpPr>
        <p:spPr>
          <a:xfrm>
            <a:off x="3474720" y="2898648"/>
            <a:ext cx="3218688" cy="146304"/>
          </a:xfrm>
          <a:prstGeom prst="rect">
            <a:avLst/>
          </a:prstGeom>
          <a:solidFill>
            <a:srgbClr val="E0F4F4"/>
          </a:solidFill>
          <a:ln w="12700">
            <a:solidFill>
              <a:srgbClr val="E0F4F4"/>
            </a:solidFill>
            <a:prstDash val="solid"/>
          </a:ln>
        </p:spPr>
      </p:sp>
      <p:sp>
        <p:nvSpPr>
          <p:cNvPr id="34" name="Text 31"/>
          <p:cNvSpPr/>
          <p:nvPr/>
        </p:nvSpPr>
        <p:spPr>
          <a:xfrm>
            <a:off x="3566160" y="2642616"/>
            <a:ext cx="3090672" cy="256032"/>
          </a:xfrm>
          <a:prstGeom prst="rect">
            <a:avLst/>
          </a:prstGeom>
          <a:noFill/>
          <a:ln/>
        </p:spPr>
        <p:txBody>
          <a:bodyPr wrap="square" lIns="0" tIns="0" rIns="0" bIns="0" rtlCol="0" anchor="ctr"/>
          <a:lstStyle/>
          <a:p>
            <a:pPr indent="0" marL="0">
              <a:buNone/>
            </a:pPr>
            <a:r>
              <a:rPr lang="en-US" sz="1050" b="1" dirty="0">
                <a:solidFill>
                  <a:srgbClr val="FFFFFF"/>
                </a:solidFill>
                <a:latin typeface="Georgia" pitchFamily="34" charset="0"/>
                <a:ea typeface="Georgia" pitchFamily="34" charset="-122"/>
                <a:cs typeface="Georgia" pitchFamily="34" charset="-120"/>
              </a:rPr>
              <a:t>✏️  Grammar Practice &amp; Matching</a:t>
            </a:r>
            <a:endParaRPr lang="en-US" sz="1050" dirty="0"/>
          </a:p>
        </p:txBody>
      </p:sp>
      <p:sp>
        <p:nvSpPr>
          <p:cNvPr id="35" name="Shape 32"/>
          <p:cNvSpPr/>
          <p:nvPr/>
        </p:nvSpPr>
        <p:spPr>
          <a:xfrm>
            <a:off x="3529584" y="3063240"/>
            <a:ext cx="3108960" cy="164592"/>
          </a:xfrm>
          <a:prstGeom prst="rect">
            <a:avLst/>
          </a:prstGeom>
          <a:solidFill>
            <a:srgbClr val="0D7C7B"/>
          </a:solidFill>
          <a:ln w="12700">
            <a:solidFill>
              <a:srgbClr val="0D7C7B"/>
            </a:solidFill>
            <a:prstDash val="solid"/>
          </a:ln>
        </p:spPr>
      </p:sp>
      <p:sp>
        <p:nvSpPr>
          <p:cNvPr id="36" name="Text 33"/>
          <p:cNvSpPr/>
          <p:nvPr/>
        </p:nvSpPr>
        <p:spPr>
          <a:xfrm>
            <a:off x="3557016" y="3063240"/>
            <a:ext cx="3072384" cy="164592"/>
          </a:xfrm>
          <a:prstGeom prst="rect">
            <a:avLst/>
          </a:prstGeom>
          <a:noFill/>
          <a:ln/>
        </p:spPr>
        <p:txBody>
          <a:bodyPr wrap="square" lIns="0" tIns="0" rIns="0" bIns="0" rtlCol="0" anchor="ctr"/>
          <a:lstStyle/>
          <a:p>
            <a:pPr indent="0" marL="0">
              <a:buNone/>
            </a:pPr>
            <a:r>
              <a:rPr lang="en-US" sz="800" b="1" dirty="0">
                <a:solidFill>
                  <a:srgbClr val="FFFFFF"/>
                </a:solidFill>
                <a:latin typeface="Calibri" pitchFamily="34" charset="0"/>
                <a:ea typeface="Calibri" pitchFamily="34" charset="-122"/>
                <a:cs typeface="Calibri" pitchFamily="34" charset="-120"/>
              </a:rPr>
              <a:t>Fill in the blank — First / Then / After that / Finally / Suddenly / At first</a:t>
            </a:r>
            <a:endParaRPr lang="en-US" sz="800" dirty="0"/>
          </a:p>
        </p:txBody>
      </p:sp>
      <p:graphicFrame>
        <p:nvGraphicFramePr>
          <p:cNvPr id="7" name="Table 1"/>
          <p:cNvGraphicFramePr>
            <a:graphicFrameLocks noGrp="1"/>
          </p:cNvGraphicFramePr>
          <p:nvPr>
            <p:extLst>
              <p:ext uri="{D42A27DB-BD31-4B8C-83A1-F6EECF244321}">
                <p14:modId xmlns:p14="http://schemas.microsoft.com/office/powerpoint/2010/main" val="1579011935"/>
              </p:ext>
            </p:extLst>
          </p:nvPr>
        </p:nvGraphicFramePr>
        <p:xfrm>
          <a:off x="3529584" y="3227832"/>
          <a:ext cx="3108960" cy="914400"/>
        </p:xfrm>
        <a:graphic>
          <a:graphicData uri="http://schemas.openxmlformats.org/drawingml/2006/table">
            <a:tbl>
              <a:tblPr/>
              <a:tblGrid>
                <a:gridCol w="3108960"/>
              </a:tblGrid>
              <a:tr h="199339">
                <a:tc>
                  <a:txBody>
                    <a:bodyPr/>
                    <a:lstStyle/>
                    <a:p>
                      <a:pPr algn="l" indent="0" marL="0">
                        <a:buNone/>
                      </a:pPr>
                      <a:r>
                        <a:rPr lang="en-US" sz="850" dirty="0">
                          <a:solidFill>
                            <a:srgbClr val="1A2A3A"/>
                          </a:solidFill>
                          <a:latin typeface="Calibri" pitchFamily="34" charset="0"/>
                          <a:ea typeface="Calibri" pitchFamily="34" charset="-122"/>
                          <a:cs typeface="Calibri" pitchFamily="34" charset="-120"/>
                        </a:rPr>
                        <a:t>1. _____, I was born in Ulaanbaatar. (First)</a:t>
                      </a:r>
                      <a:endParaRPr lang="en-US" sz="8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r>
              <a:tr h="199339">
                <a:tc>
                  <a:txBody>
                    <a:bodyPr/>
                    <a:lstStyle/>
                    <a:p>
                      <a:pPr algn="l" indent="0" marL="0">
                        <a:buNone/>
                      </a:pPr>
                      <a:r>
                        <a:rPr lang="en-US" sz="850" dirty="0">
                          <a:solidFill>
                            <a:srgbClr val="0D7C7B"/>
                          </a:solidFill>
                          <a:latin typeface="Calibri" pitchFamily="34" charset="0"/>
                          <a:ea typeface="Calibri" pitchFamily="34" charset="-122"/>
                          <a:cs typeface="Calibri" pitchFamily="34" charset="-120"/>
                        </a:rPr>
                        <a:t>2. _____ I started school at age 6. (Then)</a:t>
                      </a:r>
                      <a:endParaRPr lang="en-US" sz="8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r>
              <a:tr h="199339">
                <a:tc>
                  <a:txBody>
                    <a:bodyPr/>
                    <a:lstStyle/>
                    <a:p>
                      <a:pPr algn="l" indent="0" marL="0">
                        <a:buNone/>
                      </a:pPr>
                      <a:r>
                        <a:rPr lang="en-US" sz="850" dirty="0">
                          <a:solidFill>
                            <a:srgbClr val="1A2A3A"/>
                          </a:solidFill>
                          <a:latin typeface="Calibri" pitchFamily="34" charset="0"/>
                          <a:ea typeface="Calibri" pitchFamily="34" charset="-122"/>
                          <a:cs typeface="Calibri" pitchFamily="34" charset="-120"/>
                        </a:rPr>
                        <a:t>3. _____ I found a great English teacher. (After that)</a:t>
                      </a:r>
                      <a:endParaRPr lang="en-US" sz="8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r>
              <a:tr h="199339">
                <a:tc>
                  <a:txBody>
                    <a:bodyPr/>
                    <a:lstStyle/>
                    <a:p>
                      <a:pPr algn="l" indent="0" marL="0">
                        <a:buNone/>
                      </a:pPr>
                      <a:r>
                        <a:rPr lang="en-US" sz="850" dirty="0">
                          <a:solidFill>
                            <a:srgbClr val="0D7C7B"/>
                          </a:solidFill>
                          <a:latin typeface="Calibri" pitchFamily="34" charset="0"/>
                          <a:ea typeface="Calibri" pitchFamily="34" charset="-122"/>
                          <a:cs typeface="Calibri" pitchFamily="34" charset="-120"/>
                        </a:rPr>
                        <a:t>4. _____, everything changed for me! (Suddenly)</a:t>
                      </a:r>
                      <a:endParaRPr lang="en-US" sz="8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r>
              <a:tr h="199339">
                <a:tc>
                  <a:txBody>
                    <a:bodyPr/>
                    <a:lstStyle/>
                    <a:p>
                      <a:pPr algn="l" indent="0" marL="0">
                        <a:buNone/>
                      </a:pPr>
                      <a:r>
                        <a:rPr lang="en-US" sz="850" dirty="0">
                          <a:solidFill>
                            <a:srgbClr val="1A2A3A"/>
                          </a:solidFill>
                          <a:latin typeface="Calibri" pitchFamily="34" charset="0"/>
                          <a:ea typeface="Calibri" pitchFamily="34" charset="-122"/>
                          <a:cs typeface="Calibri" pitchFamily="34" charset="-120"/>
                        </a:rPr>
                        <a:t>5. _____ English became easy for me! (Finally)</a:t>
                      </a:r>
                      <a:endParaRPr lang="en-US" sz="8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r>
              <a:tr h="199339">
                <a:tc>
                  <a:txBody>
                    <a:bodyPr/>
                    <a:lstStyle/>
                    <a:p>
                      <a:pPr algn="l" indent="0" marL="0">
                        <a:buNone/>
                      </a:pPr>
                      <a:r>
                        <a:rPr lang="en-US" sz="850" dirty="0">
                          <a:solidFill>
                            <a:srgbClr val="0D7C7B"/>
                          </a:solidFill>
                          <a:latin typeface="Calibri" pitchFamily="34" charset="0"/>
                          <a:ea typeface="Calibri" pitchFamily="34" charset="-122"/>
                          <a:cs typeface="Calibri" pitchFamily="34" charset="-120"/>
                        </a:rPr>
                        <a:t>6. _____ I was very nervous. (At first)</a:t>
                      </a:r>
                      <a:endParaRPr lang="en-US" sz="8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r>
            </a:tbl>
          </a:graphicData>
        </a:graphic>
      </p:graphicFrame>
      <p:sp>
        <p:nvSpPr>
          <p:cNvPr id="38" name="Shape 34"/>
          <p:cNvSpPr/>
          <p:nvPr/>
        </p:nvSpPr>
        <p:spPr>
          <a:xfrm>
            <a:off x="3529584" y="4478731"/>
            <a:ext cx="3108960" cy="164592"/>
          </a:xfrm>
          <a:prstGeom prst="rect">
            <a:avLst/>
          </a:prstGeom>
          <a:solidFill>
            <a:srgbClr val="6B3FA0"/>
          </a:solidFill>
          <a:ln w="12700">
            <a:solidFill>
              <a:srgbClr val="6B3FA0"/>
            </a:solidFill>
            <a:prstDash val="solid"/>
          </a:ln>
        </p:spPr>
      </p:sp>
      <p:sp>
        <p:nvSpPr>
          <p:cNvPr id="39" name="Text 35"/>
          <p:cNvSpPr/>
          <p:nvPr/>
        </p:nvSpPr>
        <p:spPr>
          <a:xfrm>
            <a:off x="3557016" y="4478731"/>
            <a:ext cx="3072384" cy="164592"/>
          </a:xfrm>
          <a:prstGeom prst="rect">
            <a:avLst/>
          </a:prstGeom>
          <a:noFill/>
          <a:ln/>
        </p:spPr>
        <p:txBody>
          <a:bodyPr wrap="square" lIns="0" tIns="0" rIns="0" bIns="0" rtlCol="0" anchor="ctr"/>
          <a:lstStyle/>
          <a:p>
            <a:pPr indent="0" marL="0">
              <a:buNone/>
            </a:pPr>
            <a:r>
              <a:rPr lang="en-US" sz="800" b="1" dirty="0">
                <a:solidFill>
                  <a:srgbClr val="FFFFFF"/>
                </a:solidFill>
                <a:latin typeface="Calibri" pitchFamily="34" charset="0"/>
                <a:ea typeface="Calibri" pitchFamily="34" charset="-122"/>
                <a:cs typeface="Calibri" pitchFamily="34" charset="-120"/>
              </a:rPr>
              <a:t>Matching — English → Mongolian</a:t>
            </a:r>
            <a:endParaRPr lang="en-US" sz="800" dirty="0"/>
          </a:p>
        </p:txBody>
      </p:sp>
      <p:graphicFrame>
        <p:nvGraphicFramePr>
          <p:cNvPr id="10" name="Table 2"/>
          <p:cNvGraphicFramePr>
            <a:graphicFrameLocks noGrp="1"/>
          </p:cNvGraphicFramePr>
          <p:nvPr>
            <p:extLst>
              <p:ext uri="{D42A27DB-BD31-4B8C-83A1-F6EECF244321}">
                <p14:modId xmlns:p14="http://schemas.microsoft.com/office/powerpoint/2010/main" val="1579011935"/>
              </p:ext>
            </p:extLst>
          </p:nvPr>
        </p:nvGraphicFramePr>
        <p:xfrm>
          <a:off x="3529584" y="4643323"/>
          <a:ext cx="3108960" cy="914400"/>
        </p:xfrm>
        <a:graphic>
          <a:graphicData uri="http://schemas.openxmlformats.org/drawingml/2006/table">
            <a:tbl>
              <a:tblPr/>
              <a:tblGrid>
                <a:gridCol w="1616659"/>
                <a:gridCol w="1492301"/>
              </a:tblGrid>
              <a:tr h="235915">
                <a:tc>
                  <a:txBody>
                    <a:bodyPr/>
                    <a:lstStyle/>
                    <a:p>
                      <a:pPr algn="l" indent="0" marL="0">
                        <a:buNone/>
                      </a:pPr>
                      <a:r>
                        <a:rPr lang="en-US" sz="850" b="1" dirty="0">
                          <a:solidFill>
                            <a:srgbClr val="2E6DA4"/>
                          </a:solidFill>
                          <a:latin typeface="Calibri" pitchFamily="34" charset="0"/>
                          <a:ea typeface="Calibri" pitchFamily="34" charset="-122"/>
                          <a:cs typeface="Calibri" pitchFamily="34" charset="-120"/>
                        </a:rPr>
                        <a:t>1. born</a:t>
                      </a:r>
                      <a:endParaRPr lang="en-US" sz="8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850" dirty="0">
                          <a:solidFill>
                            <a:srgbClr val="0D7C7B"/>
                          </a:solidFill>
                          <a:latin typeface="Calibri" pitchFamily="34" charset="0"/>
                          <a:ea typeface="Calibri" pitchFamily="34" charset="-122"/>
                          <a:cs typeface="Calibri" pitchFamily="34" charset="-120"/>
                        </a:rPr>
                        <a:t>A. эцэст нь</a:t>
                      </a:r>
                      <a:endParaRPr lang="en-US" sz="8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r>
              <a:tr h="235915">
                <a:tc>
                  <a:txBody>
                    <a:bodyPr/>
                    <a:lstStyle/>
                    <a:p>
                      <a:pPr algn="l" indent="0" marL="0">
                        <a:buNone/>
                      </a:pPr>
                      <a:r>
                        <a:rPr lang="en-US" sz="850" b="1" dirty="0">
                          <a:solidFill>
                            <a:srgbClr val="2E6DA4"/>
                          </a:solidFill>
                          <a:latin typeface="Calibri" pitchFamily="34" charset="0"/>
                          <a:ea typeface="Calibri" pitchFamily="34" charset="-122"/>
                          <a:cs typeface="Calibri" pitchFamily="34" charset="-120"/>
                        </a:rPr>
                        <a:t>2. grew up</a:t>
                      </a:r>
                      <a:endParaRPr lang="en-US" sz="8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850" dirty="0">
                          <a:solidFill>
                            <a:srgbClr val="0D7C7B"/>
                          </a:solidFill>
                          <a:latin typeface="Calibri" pitchFamily="34" charset="0"/>
                          <a:ea typeface="Calibri" pitchFamily="34" charset="-122"/>
                          <a:cs typeface="Calibri" pitchFamily="34" charset="-120"/>
                        </a:rPr>
                        <a:t>B. гэнэт</a:t>
                      </a:r>
                      <a:endParaRPr lang="en-US" sz="8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r>
              <a:tr h="235915">
                <a:tc>
                  <a:txBody>
                    <a:bodyPr/>
                    <a:lstStyle/>
                    <a:p>
                      <a:pPr algn="l" indent="0" marL="0">
                        <a:buNone/>
                      </a:pPr>
                      <a:r>
                        <a:rPr lang="en-US" sz="850" b="1" dirty="0">
                          <a:solidFill>
                            <a:srgbClr val="2E6DA4"/>
                          </a:solidFill>
                          <a:latin typeface="Calibri" pitchFamily="34" charset="0"/>
                          <a:ea typeface="Calibri" pitchFamily="34" charset="-122"/>
                          <a:cs typeface="Calibri" pitchFamily="34" charset="-120"/>
                        </a:rPr>
                        <a:t>3. finally</a:t>
                      </a:r>
                      <a:endParaRPr lang="en-US" sz="8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850" dirty="0">
                          <a:solidFill>
                            <a:srgbClr val="0D7C7B"/>
                          </a:solidFill>
                          <a:latin typeface="Calibri" pitchFamily="34" charset="0"/>
                          <a:ea typeface="Calibri" pitchFamily="34" charset="-122"/>
                          <a:cs typeface="Calibri" pitchFamily="34" charset="-120"/>
                        </a:rPr>
                        <a:t>C. өсч томорсон</a:t>
                      </a:r>
                      <a:endParaRPr lang="en-US" sz="8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r>
              <a:tr h="235915">
                <a:tc>
                  <a:txBody>
                    <a:bodyPr/>
                    <a:lstStyle/>
                    <a:p>
                      <a:pPr algn="l" indent="0" marL="0">
                        <a:buNone/>
                      </a:pPr>
                      <a:r>
                        <a:rPr lang="en-US" sz="850" b="1" dirty="0">
                          <a:solidFill>
                            <a:srgbClr val="2E6DA4"/>
                          </a:solidFill>
                          <a:latin typeface="Calibri" pitchFamily="34" charset="0"/>
                          <a:ea typeface="Calibri" pitchFamily="34" charset="-122"/>
                          <a:cs typeface="Calibri" pitchFamily="34" charset="-120"/>
                        </a:rPr>
                        <a:t>4. suddenly</a:t>
                      </a:r>
                      <a:endParaRPr lang="en-US" sz="8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850" dirty="0">
                          <a:solidFill>
                            <a:srgbClr val="0D7C7B"/>
                          </a:solidFill>
                          <a:latin typeface="Calibri" pitchFamily="34" charset="0"/>
                          <a:ea typeface="Calibri" pitchFamily="34" charset="-122"/>
                          <a:cs typeface="Calibri" pitchFamily="34" charset="-120"/>
                        </a:rPr>
                        <a:t>D. дараа нь</a:t>
                      </a:r>
                      <a:endParaRPr lang="en-US" sz="8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r>
              <a:tr h="235915">
                <a:tc>
                  <a:txBody>
                    <a:bodyPr/>
                    <a:lstStyle/>
                    <a:p>
                      <a:pPr algn="l" indent="0" marL="0">
                        <a:buNone/>
                      </a:pPr>
                      <a:r>
                        <a:rPr lang="en-US" sz="850" b="1" dirty="0">
                          <a:solidFill>
                            <a:srgbClr val="2E6DA4"/>
                          </a:solidFill>
                          <a:latin typeface="Calibri" pitchFamily="34" charset="0"/>
                          <a:ea typeface="Calibri" pitchFamily="34" charset="-122"/>
                          <a:cs typeface="Calibri" pitchFamily="34" charset="-120"/>
                        </a:rPr>
                        <a:t>5. then</a:t>
                      </a:r>
                      <a:endParaRPr lang="en-US" sz="8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850" dirty="0">
                          <a:solidFill>
                            <a:srgbClr val="0D7C7B"/>
                          </a:solidFill>
                          <a:latin typeface="Calibri" pitchFamily="34" charset="0"/>
                          <a:ea typeface="Calibri" pitchFamily="34" charset="-122"/>
                          <a:cs typeface="Calibri" pitchFamily="34" charset="-120"/>
                        </a:rPr>
                        <a:t>E. төрсөн</a:t>
                      </a:r>
                      <a:endParaRPr lang="en-US" sz="8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r>
            </a:tbl>
          </a:graphicData>
        </a:graphic>
      </p:graphicFrame>
      <p:sp>
        <p:nvSpPr>
          <p:cNvPr id="41" name="Shape 36"/>
          <p:cNvSpPr/>
          <p:nvPr/>
        </p:nvSpPr>
        <p:spPr>
          <a:xfrm>
            <a:off x="179222" y="5930798"/>
            <a:ext cx="2115312" cy="3648456"/>
          </a:xfrm>
          <a:prstGeom prst="rect">
            <a:avLst/>
          </a:prstGeom>
          <a:solidFill>
            <a:srgbClr val="D0DCE8"/>
          </a:solidFill>
          <a:ln w="12700">
            <a:solidFill>
              <a:srgbClr val="D0DCE8"/>
            </a:solidFill>
            <a:prstDash val="solid"/>
          </a:ln>
        </p:spPr>
      </p:sp>
      <p:sp>
        <p:nvSpPr>
          <p:cNvPr id="42" name="Shape 37"/>
          <p:cNvSpPr/>
          <p:nvPr/>
        </p:nvSpPr>
        <p:spPr>
          <a:xfrm>
            <a:off x="164592" y="5916168"/>
            <a:ext cx="2115312" cy="3648456"/>
          </a:xfrm>
          <a:prstGeom prst="rect">
            <a:avLst/>
          </a:prstGeom>
          <a:solidFill>
            <a:srgbClr val="FFFFFF"/>
          </a:solidFill>
          <a:ln w="12700">
            <a:solidFill>
              <a:srgbClr val="C8D8E8"/>
            </a:solidFill>
            <a:prstDash val="solid"/>
          </a:ln>
        </p:spPr>
      </p:sp>
      <p:sp>
        <p:nvSpPr>
          <p:cNvPr id="43" name="Shape 38"/>
          <p:cNvSpPr/>
          <p:nvPr/>
        </p:nvSpPr>
        <p:spPr>
          <a:xfrm>
            <a:off x="164592" y="5916168"/>
            <a:ext cx="2115312" cy="256032"/>
          </a:xfrm>
          <a:prstGeom prst="rect">
            <a:avLst/>
          </a:prstGeom>
          <a:solidFill>
            <a:srgbClr val="C97A0A"/>
          </a:solidFill>
          <a:ln w="12700">
            <a:solidFill>
              <a:srgbClr val="C97A0A"/>
            </a:solidFill>
            <a:prstDash val="solid"/>
          </a:ln>
        </p:spPr>
      </p:sp>
      <p:sp>
        <p:nvSpPr>
          <p:cNvPr id="44" name="Shape 39"/>
          <p:cNvSpPr/>
          <p:nvPr/>
        </p:nvSpPr>
        <p:spPr>
          <a:xfrm>
            <a:off x="164592" y="6172200"/>
            <a:ext cx="2115312" cy="146304"/>
          </a:xfrm>
          <a:prstGeom prst="rect">
            <a:avLst/>
          </a:prstGeom>
          <a:solidFill>
            <a:srgbClr val="FEF3DC"/>
          </a:solidFill>
          <a:ln w="12700">
            <a:solidFill>
              <a:srgbClr val="FEF3DC"/>
            </a:solidFill>
            <a:prstDash val="solid"/>
          </a:ln>
        </p:spPr>
      </p:sp>
      <p:sp>
        <p:nvSpPr>
          <p:cNvPr id="45" name="Text 40"/>
          <p:cNvSpPr/>
          <p:nvPr/>
        </p:nvSpPr>
        <p:spPr>
          <a:xfrm>
            <a:off x="256032" y="5916168"/>
            <a:ext cx="1987296" cy="256032"/>
          </a:xfrm>
          <a:prstGeom prst="rect">
            <a:avLst/>
          </a:prstGeom>
          <a:noFill/>
          <a:ln/>
        </p:spPr>
        <p:txBody>
          <a:bodyPr wrap="square" lIns="0" tIns="0" rIns="0" bIns="0" rtlCol="0" anchor="ctr"/>
          <a:lstStyle/>
          <a:p>
            <a:pPr indent="0" marL="0">
              <a:buNone/>
            </a:pPr>
            <a:r>
              <a:rPr lang="en-US" sz="1050" b="1" dirty="0">
                <a:solidFill>
                  <a:srgbClr val="FFFFFF"/>
                </a:solidFill>
                <a:latin typeface="Georgia" pitchFamily="34" charset="0"/>
                <a:ea typeface="Georgia" pitchFamily="34" charset="-122"/>
                <a:cs typeface="Georgia" pitchFamily="34" charset="-120"/>
              </a:rPr>
              <a:t>📝  Homework / Гэрийн даалгавар</a:t>
            </a:r>
            <a:endParaRPr lang="en-US" sz="1050" dirty="0"/>
          </a:p>
        </p:txBody>
      </p:sp>
      <p:sp>
        <p:nvSpPr>
          <p:cNvPr id="46" name="Text 41"/>
          <p:cNvSpPr/>
          <p:nvPr/>
        </p:nvSpPr>
        <p:spPr>
          <a:xfrm>
            <a:off x="256032" y="6181344"/>
            <a:ext cx="1987296" cy="137160"/>
          </a:xfrm>
          <a:prstGeom prst="rect">
            <a:avLst/>
          </a:prstGeom>
          <a:noFill/>
          <a:ln/>
        </p:spPr>
        <p:txBody>
          <a:bodyPr wrap="square" lIns="0" tIns="0" rIns="0" bIns="0" rtlCol="0" anchor="ctr"/>
          <a:lstStyle/>
          <a:p>
            <a:pPr indent="0" marL="0">
              <a:buNone/>
            </a:pPr>
            <a:r>
              <a:rPr lang="en-US" sz="750" i="1" dirty="0">
                <a:solidFill>
                  <a:srgbClr val="3A5060"/>
                </a:solidFill>
                <a:latin typeface="Calibri" pitchFamily="34" charset="0"/>
                <a:ea typeface="Calibri" pitchFamily="34" charset="-122"/>
                <a:cs typeface="Calibri" pitchFamily="34" charset="-120"/>
              </a:rPr>
              <a:t>Маргааш болохоос өмнө дуусга</a:t>
            </a:r>
            <a:endParaRPr lang="en-US" sz="750" dirty="0"/>
          </a:p>
        </p:txBody>
      </p:sp>
      <p:sp>
        <p:nvSpPr>
          <p:cNvPr id="47" name="Text 42"/>
          <p:cNvSpPr/>
          <p:nvPr/>
        </p:nvSpPr>
        <p:spPr>
          <a:xfrm>
            <a:off x="256032" y="6345936"/>
            <a:ext cx="1969008" cy="3154680"/>
          </a:xfrm>
          <a:prstGeom prst="rect">
            <a:avLst/>
          </a:prstGeom>
          <a:noFill/>
          <a:ln/>
        </p:spPr>
        <p:txBody>
          <a:bodyPr wrap="square" lIns="0" tIns="0" rIns="0" bIns="0" rtlCol="0" anchor="t"/>
          <a:lstStyle/>
          <a:p>
            <a:pPr indent="0" marL="0">
              <a:lnSpc>
                <a:spcPct val="210000"/>
              </a:lnSpc>
              <a:buNone/>
            </a:pPr>
            <a:r>
              <a:rPr lang="en-US" sz="950" b="1" dirty="0">
                <a:solidFill>
                  <a:srgbClr val="C97A0A"/>
                </a:solidFill>
                <a:latin typeface="Calibri" pitchFamily="34" charset="0"/>
                <a:ea typeface="Calibri" pitchFamily="34" charset="-122"/>
                <a:cs typeface="Calibri" pitchFamily="34" charset="-120"/>
              </a:rPr>
              <a:t>✍  </a:t>
            </a:r>
            <a:pPr indent="0" marL="0">
              <a:lnSpc>
                <a:spcPct val="210000"/>
              </a:lnSpc>
              <a:buNone/>
            </a:pPr>
            <a:r>
              <a:rPr lang="en-US" sz="950" dirty="0">
                <a:solidFill>
                  <a:srgbClr val="1A2A3A"/>
                </a:solidFill>
                <a:latin typeface="Calibri" pitchFamily="34" charset="0"/>
                <a:ea typeface="Calibri" pitchFamily="34" charset="-122"/>
                <a:cs typeface="Calibri" pitchFamily="34" charset="-120"/>
              </a:rPr>
              <a:t>Writing: Write your own life story in 8-10 sentences using First, Then, After that, Suddenly, Finally.
</a:t>
            </a:r>
            <a:pPr indent="0" marL="0">
              <a:lnSpc>
                <a:spcPct val="210000"/>
              </a:lnSpc>
              <a:buNone/>
            </a:pPr>
            <a:r>
              <a:rPr lang="en-US" sz="950" b="1" dirty="0">
                <a:solidFill>
                  <a:srgbClr val="C97A0A"/>
                </a:solidFill>
                <a:latin typeface="Calibri" pitchFamily="34" charset="0"/>
                <a:ea typeface="Calibri" pitchFamily="34" charset="-122"/>
                <a:cs typeface="Calibri" pitchFamily="34" charset="-120"/>
              </a:rPr>
              <a:t>📖  </a:t>
            </a:r>
            <a:pPr indent="0" marL="0">
              <a:lnSpc>
                <a:spcPct val="210000"/>
              </a:lnSpc>
              <a:buNone/>
            </a:pPr>
            <a:r>
              <a:rPr lang="en-US" sz="950" dirty="0">
                <a:solidFill>
                  <a:srgbClr val="1A2A3A"/>
                </a:solidFill>
                <a:latin typeface="Calibri" pitchFamily="34" charset="0"/>
                <a:ea typeface="Calibri" pitchFamily="34" charset="-122"/>
                <a:cs typeface="Calibri" pitchFamily="34" charset="-120"/>
              </a:rPr>
              <a:t>Vocabulary: Write 5 time expressions: 'when I was 6', 'in 2015', 'three years ago', 'last year', 'at age 10'.
</a:t>
            </a:r>
            <a:pPr indent="0" marL="0">
              <a:lnSpc>
                <a:spcPct val="210000"/>
              </a:lnSpc>
              <a:buNone/>
            </a:pPr>
            <a:r>
              <a:rPr lang="en-US" sz="950" b="1" dirty="0">
                <a:solidFill>
                  <a:srgbClr val="C97A0A"/>
                </a:solidFill>
                <a:latin typeface="Calibri" pitchFamily="34" charset="0"/>
                <a:ea typeface="Calibri" pitchFamily="34" charset="-122"/>
                <a:cs typeface="Calibri" pitchFamily="34" charset="-120"/>
              </a:rPr>
              <a:t>🗣️  </a:t>
            </a:r>
            <a:pPr indent="0" marL="0">
              <a:lnSpc>
                <a:spcPct val="210000"/>
              </a:lnSpc>
              <a:buNone/>
            </a:pPr>
            <a:r>
              <a:rPr lang="en-US" sz="950" dirty="0">
                <a:solidFill>
                  <a:srgbClr val="1A2A3A"/>
                </a:solidFill>
                <a:latin typeface="Calibri" pitchFamily="34" charset="0"/>
                <a:ea typeface="Calibri" pitchFamily="34" charset="-122"/>
                <a:cs typeface="Calibri" pitchFamily="34" charset="-120"/>
              </a:rPr>
              <a:t>Speaking: Tell your life story to someone in 1 minute — use all sequence words!
</a:t>
            </a:r>
            <a:pPr indent="0" marL="0">
              <a:lnSpc>
                <a:spcPct val="210000"/>
              </a:lnSpc>
              <a:buNone/>
            </a:pPr>
            <a:r>
              <a:rPr lang="en-US" sz="950" b="1" dirty="0">
                <a:solidFill>
                  <a:srgbClr val="C97A0A"/>
                </a:solidFill>
                <a:latin typeface="Calibri" pitchFamily="34" charset="0"/>
                <a:ea typeface="Calibri" pitchFamily="34" charset="-122"/>
                <a:cs typeface="Calibri" pitchFamily="34" charset="-120"/>
              </a:rPr>
              <a:t>🔁  </a:t>
            </a:r>
            <a:pPr indent="0" marL="0">
              <a:lnSpc>
                <a:spcPct val="210000"/>
              </a:lnSpc>
              <a:buNone/>
            </a:pPr>
            <a:r>
              <a:rPr lang="en-US" sz="950" dirty="0">
                <a:solidFill>
                  <a:srgbClr val="1A2A3A"/>
                </a:solidFill>
                <a:latin typeface="Calibri" pitchFamily="34" charset="0"/>
                <a:ea typeface="Calibri" pitchFamily="34" charset="-122"/>
                <a:cs typeface="Calibri" pitchFamily="34" charset="-120"/>
              </a:rPr>
              <a:t>Review: First→Then→After that→Suddenly→Finally — the 5 key storytelling sequence words.
</a:t>
            </a:r>
            <a:endParaRPr lang="en-US" sz="950" dirty="0"/>
          </a:p>
        </p:txBody>
      </p:sp>
      <p:sp>
        <p:nvSpPr>
          <p:cNvPr id="48" name="Shape 43"/>
          <p:cNvSpPr/>
          <p:nvPr/>
        </p:nvSpPr>
        <p:spPr>
          <a:xfrm>
            <a:off x="2385974" y="5930798"/>
            <a:ext cx="2115312" cy="3648456"/>
          </a:xfrm>
          <a:prstGeom prst="rect">
            <a:avLst/>
          </a:prstGeom>
          <a:solidFill>
            <a:srgbClr val="D0DCE8"/>
          </a:solidFill>
          <a:ln w="12700">
            <a:solidFill>
              <a:srgbClr val="D0DCE8"/>
            </a:solidFill>
            <a:prstDash val="solid"/>
          </a:ln>
        </p:spPr>
      </p:sp>
      <p:sp>
        <p:nvSpPr>
          <p:cNvPr id="49" name="Shape 44"/>
          <p:cNvSpPr/>
          <p:nvPr/>
        </p:nvSpPr>
        <p:spPr>
          <a:xfrm>
            <a:off x="2371344" y="5916168"/>
            <a:ext cx="2115312" cy="3648456"/>
          </a:xfrm>
          <a:prstGeom prst="rect">
            <a:avLst/>
          </a:prstGeom>
          <a:solidFill>
            <a:srgbClr val="FFFFFF"/>
          </a:solidFill>
          <a:ln w="12700">
            <a:solidFill>
              <a:srgbClr val="C8D8E8"/>
            </a:solidFill>
            <a:prstDash val="solid"/>
          </a:ln>
        </p:spPr>
      </p:sp>
      <p:sp>
        <p:nvSpPr>
          <p:cNvPr id="50" name="Shape 45"/>
          <p:cNvSpPr/>
          <p:nvPr/>
        </p:nvSpPr>
        <p:spPr>
          <a:xfrm>
            <a:off x="2371344" y="5916168"/>
            <a:ext cx="2115312" cy="256032"/>
          </a:xfrm>
          <a:prstGeom prst="rect">
            <a:avLst/>
          </a:prstGeom>
          <a:solidFill>
            <a:srgbClr val="1E7A4A"/>
          </a:solidFill>
          <a:ln w="12700">
            <a:solidFill>
              <a:srgbClr val="1E7A4A"/>
            </a:solidFill>
            <a:prstDash val="solid"/>
          </a:ln>
        </p:spPr>
      </p:sp>
      <p:sp>
        <p:nvSpPr>
          <p:cNvPr id="51" name="Shape 46"/>
          <p:cNvSpPr/>
          <p:nvPr/>
        </p:nvSpPr>
        <p:spPr>
          <a:xfrm>
            <a:off x="2371344" y="6172200"/>
            <a:ext cx="2115312" cy="146304"/>
          </a:xfrm>
          <a:prstGeom prst="rect">
            <a:avLst/>
          </a:prstGeom>
          <a:solidFill>
            <a:srgbClr val="E8F5EE"/>
          </a:solidFill>
          <a:ln w="12700">
            <a:solidFill>
              <a:srgbClr val="E8F5EE"/>
            </a:solidFill>
            <a:prstDash val="solid"/>
          </a:ln>
        </p:spPr>
      </p:sp>
      <p:sp>
        <p:nvSpPr>
          <p:cNvPr id="52" name="Text 47"/>
          <p:cNvSpPr/>
          <p:nvPr/>
        </p:nvSpPr>
        <p:spPr>
          <a:xfrm>
            <a:off x="2462784" y="5916168"/>
            <a:ext cx="1987296" cy="256032"/>
          </a:xfrm>
          <a:prstGeom prst="rect">
            <a:avLst/>
          </a:prstGeom>
          <a:noFill/>
          <a:ln/>
        </p:spPr>
        <p:txBody>
          <a:bodyPr wrap="square" lIns="0" tIns="0" rIns="0" bIns="0" rtlCol="0" anchor="ctr"/>
          <a:lstStyle/>
          <a:p>
            <a:pPr indent="0" marL="0">
              <a:buNone/>
            </a:pPr>
            <a:r>
              <a:rPr lang="en-US" sz="1050" b="1" dirty="0">
                <a:solidFill>
                  <a:srgbClr val="FFFFFF"/>
                </a:solidFill>
                <a:latin typeface="Georgia" pitchFamily="34" charset="0"/>
                <a:ea typeface="Georgia" pitchFamily="34" charset="-122"/>
                <a:cs typeface="Georgia" pitchFamily="34" charset="-120"/>
              </a:rPr>
              <a:t>🔑  Answer Key / Хариулт</a:t>
            </a:r>
            <a:endParaRPr lang="en-US" sz="1050" dirty="0"/>
          </a:p>
        </p:txBody>
      </p:sp>
      <p:sp>
        <p:nvSpPr>
          <p:cNvPr id="53" name="Text 48"/>
          <p:cNvSpPr/>
          <p:nvPr/>
        </p:nvSpPr>
        <p:spPr>
          <a:xfrm>
            <a:off x="2462784" y="6181344"/>
            <a:ext cx="1987296" cy="137160"/>
          </a:xfrm>
          <a:prstGeom prst="rect">
            <a:avLst/>
          </a:prstGeom>
          <a:noFill/>
          <a:ln/>
        </p:spPr>
        <p:txBody>
          <a:bodyPr wrap="square" lIns="0" tIns="0" rIns="0" bIns="0" rtlCol="0" anchor="ctr"/>
          <a:lstStyle/>
          <a:p>
            <a:pPr indent="0" marL="0">
              <a:buNone/>
            </a:pPr>
            <a:r>
              <a:rPr lang="en-US" sz="750" i="1" dirty="0">
                <a:solidFill>
                  <a:srgbClr val="3A5060"/>
                </a:solidFill>
                <a:latin typeface="Calibri" pitchFamily="34" charset="0"/>
                <a:ea typeface="Calibri" pitchFamily="34" charset="-122"/>
                <a:cs typeface="Calibri" pitchFamily="34" charset="-120"/>
              </a:rPr>
              <a:t>Check honestly!</a:t>
            </a:r>
            <a:endParaRPr lang="en-US" sz="750" dirty="0"/>
          </a:p>
        </p:txBody>
      </p:sp>
      <p:sp>
        <p:nvSpPr>
          <p:cNvPr id="54" name="Text 49"/>
          <p:cNvSpPr/>
          <p:nvPr/>
        </p:nvSpPr>
        <p:spPr>
          <a:xfrm>
            <a:off x="2462784" y="6345936"/>
            <a:ext cx="1969008" cy="3154680"/>
          </a:xfrm>
          <a:prstGeom prst="rect">
            <a:avLst/>
          </a:prstGeom>
          <a:noFill/>
          <a:ln/>
        </p:spPr>
        <p:txBody>
          <a:bodyPr wrap="square" lIns="0" tIns="0" rIns="0" bIns="0" rtlCol="0" anchor="t"/>
          <a:lstStyle/>
          <a:p>
            <a:pPr indent="0" marL="0">
              <a:lnSpc>
                <a:spcPct val="195000"/>
              </a:lnSpc>
              <a:buNone/>
            </a:pPr>
            <a:r>
              <a:rPr lang="en-US" sz="900" b="1" dirty="0">
                <a:solidFill>
                  <a:srgbClr val="1E7A4A"/>
                </a:solidFill>
                <a:latin typeface="Calibri" pitchFamily="34" charset="0"/>
                <a:ea typeface="Calibri" pitchFamily="34" charset="-122"/>
                <a:cs typeface="Calibri" pitchFamily="34" charset="-120"/>
              </a:rPr>
              <a:t>Fill in blanks:
</a:t>
            </a:r>
            <a:pPr indent="0" marL="0">
              <a:lnSpc>
                <a:spcPct val="195000"/>
              </a:lnSpc>
              <a:buNone/>
            </a:pPr>
            <a:r>
              <a:rPr lang="en-US" sz="900" dirty="0">
                <a:solidFill>
                  <a:srgbClr val="1A2A3A"/>
                </a:solidFill>
                <a:latin typeface="Calibri" pitchFamily="34" charset="0"/>
                <a:ea typeface="Calibri" pitchFamily="34" charset="-122"/>
                <a:cs typeface="Calibri" pitchFamily="34" charset="-120"/>
              </a:rPr>
              <a:t>1-First · 2-Then · 3-After that · 4-Suddenly · 5-Finally · 6-At first
</a:t>
            </a:r>
            <a:pPr indent="0" marL="0">
              <a:lnSpc>
                <a:spcPct val="195000"/>
              </a:lnSpc>
              <a:buNone/>
            </a:pPr>
            <a:r>
              <a:rPr lang="en-US" sz="900" b="1" dirty="0">
                <a:solidFill>
                  <a:srgbClr val="1E7A4A"/>
                </a:solidFill>
                <a:latin typeface="Calibri" pitchFamily="34" charset="0"/>
                <a:ea typeface="Calibri" pitchFamily="34" charset="-122"/>
                <a:cs typeface="Calibri" pitchFamily="34" charset="-120"/>
              </a:rPr>
              <a:t>Matching:
</a:t>
            </a:r>
            <a:pPr indent="0" marL="0">
              <a:lnSpc>
                <a:spcPct val="195000"/>
              </a:lnSpc>
              <a:buNone/>
            </a:pPr>
            <a:r>
              <a:rPr lang="en-US" sz="900" dirty="0">
                <a:solidFill>
                  <a:srgbClr val="1A2A3A"/>
                </a:solidFill>
                <a:latin typeface="Calibri" pitchFamily="34" charset="0"/>
                <a:ea typeface="Calibri" pitchFamily="34" charset="-122"/>
                <a:cs typeface="Calibri" pitchFamily="34" charset="-120"/>
              </a:rPr>
              <a:t>1-E · 2-C · 3-A · 4-B · 5-D
</a:t>
            </a:r>
            <a:pPr indent="0" marL="0">
              <a:lnSpc>
                <a:spcPct val="195000"/>
              </a:lnSpc>
              <a:buNone/>
            </a:pPr>
            <a:r>
              <a:rPr lang="en-US" sz="900" b="1" dirty="0">
                <a:solidFill>
                  <a:srgbClr val="1E7A4A"/>
                </a:solidFill>
                <a:latin typeface="Calibri" pitchFamily="34" charset="0"/>
                <a:ea typeface="Calibri" pitchFamily="34" charset="-122"/>
                <a:cs typeface="Calibri" pitchFamily="34" charset="-120"/>
              </a:rPr>
              <a:t>Listening (1–10):
</a:t>
            </a:r>
            <a:pPr indent="0" marL="0">
              <a:lnSpc>
                <a:spcPct val="195000"/>
              </a:lnSpc>
              <a:buNone/>
            </a:pPr>
            <a:r>
              <a:rPr lang="en-US" sz="900" dirty="0">
                <a:solidFill>
                  <a:srgbClr val="1A2A3A"/>
                </a:solidFill>
                <a:latin typeface="Calibri" pitchFamily="34" charset="0"/>
                <a:ea typeface="Calibri" pitchFamily="34" charset="-122"/>
                <a:cs typeface="Calibri" pitchFamily="34" charset="-120"/>
              </a:rPr>
              <a:t>1-c · 2-b · 3-c · 4-b · 5-b
6-c · 7-c · 8-b · 9-b · 10-c
</a:t>
            </a:r>
            <a:pPr indent="0" marL="0">
              <a:lnSpc>
                <a:spcPct val="195000"/>
              </a:lnSpc>
              <a:buNone/>
            </a:pPr>
            <a:r>
              <a:rPr lang="en-US" sz="900" b="1" dirty="0">
                <a:solidFill>
                  <a:srgbClr val="C97A0A"/>
                </a:solidFill>
                <a:latin typeface="Calibri" pitchFamily="34" charset="0"/>
                <a:ea typeface="Calibri" pitchFamily="34" charset="-122"/>
                <a:cs typeface="Calibri" pitchFamily="34" charset="-120"/>
              </a:rPr>
              <a:t>💡  </a:t>
            </a:r>
            <a:pPr indent="0" marL="0">
              <a:lnSpc>
                <a:spcPct val="195000"/>
              </a:lnSpc>
              <a:buNone/>
            </a:pPr>
            <a:r>
              <a:rPr lang="en-US" sz="850" i="1" dirty="0">
                <a:solidFill>
                  <a:srgbClr val="3A5060"/>
                </a:solidFill>
                <a:latin typeface="Calibri" pitchFamily="34" charset="0"/>
                <a:ea typeface="Calibri" pitchFamily="34" charset="-122"/>
                <a:cs typeface="Calibri" pitchFamily="34" charset="-120"/>
              </a:rPr>
              <a:t>Mistakes help you learn!</a:t>
            </a:r>
            <a:endParaRPr lang="en-US" sz="900" dirty="0"/>
          </a:p>
        </p:txBody>
      </p:sp>
      <p:sp>
        <p:nvSpPr>
          <p:cNvPr id="55" name="Shape 50"/>
          <p:cNvSpPr/>
          <p:nvPr/>
        </p:nvSpPr>
        <p:spPr>
          <a:xfrm>
            <a:off x="4592726" y="5930798"/>
            <a:ext cx="2115312" cy="3648456"/>
          </a:xfrm>
          <a:prstGeom prst="rect">
            <a:avLst/>
          </a:prstGeom>
          <a:solidFill>
            <a:srgbClr val="D0DCE8"/>
          </a:solidFill>
          <a:ln w="12700">
            <a:solidFill>
              <a:srgbClr val="D0DCE8"/>
            </a:solidFill>
            <a:prstDash val="solid"/>
          </a:ln>
        </p:spPr>
      </p:sp>
      <p:sp>
        <p:nvSpPr>
          <p:cNvPr id="56" name="Shape 51"/>
          <p:cNvSpPr/>
          <p:nvPr/>
        </p:nvSpPr>
        <p:spPr>
          <a:xfrm>
            <a:off x="4578096" y="5916168"/>
            <a:ext cx="2115312" cy="3648456"/>
          </a:xfrm>
          <a:prstGeom prst="rect">
            <a:avLst/>
          </a:prstGeom>
          <a:solidFill>
            <a:srgbClr val="FFFFFF"/>
          </a:solidFill>
          <a:ln w="12700">
            <a:solidFill>
              <a:srgbClr val="C8D8E8"/>
            </a:solidFill>
            <a:prstDash val="solid"/>
          </a:ln>
        </p:spPr>
      </p:sp>
      <p:sp>
        <p:nvSpPr>
          <p:cNvPr id="57" name="Shape 52"/>
          <p:cNvSpPr/>
          <p:nvPr/>
        </p:nvSpPr>
        <p:spPr>
          <a:xfrm>
            <a:off x="4578096" y="5916168"/>
            <a:ext cx="2115312" cy="256032"/>
          </a:xfrm>
          <a:prstGeom prst="rect">
            <a:avLst/>
          </a:prstGeom>
          <a:solidFill>
            <a:srgbClr val="2E6DA4"/>
          </a:solidFill>
          <a:ln w="12700">
            <a:solidFill>
              <a:srgbClr val="2E6DA4"/>
            </a:solidFill>
            <a:prstDash val="solid"/>
          </a:ln>
        </p:spPr>
      </p:sp>
      <p:sp>
        <p:nvSpPr>
          <p:cNvPr id="58" name="Shape 53"/>
          <p:cNvSpPr/>
          <p:nvPr/>
        </p:nvSpPr>
        <p:spPr>
          <a:xfrm>
            <a:off x="4578096" y="6172200"/>
            <a:ext cx="2115312" cy="146304"/>
          </a:xfrm>
          <a:prstGeom prst="rect">
            <a:avLst/>
          </a:prstGeom>
          <a:solidFill>
            <a:srgbClr val="EBF4FB"/>
          </a:solidFill>
          <a:ln w="12700">
            <a:solidFill>
              <a:srgbClr val="EBF4FB"/>
            </a:solidFill>
            <a:prstDash val="solid"/>
          </a:ln>
        </p:spPr>
      </p:sp>
      <p:sp>
        <p:nvSpPr>
          <p:cNvPr id="59" name="Text 54"/>
          <p:cNvSpPr/>
          <p:nvPr/>
        </p:nvSpPr>
        <p:spPr>
          <a:xfrm>
            <a:off x="4669536" y="5916168"/>
            <a:ext cx="1987296" cy="256032"/>
          </a:xfrm>
          <a:prstGeom prst="rect">
            <a:avLst/>
          </a:prstGeom>
          <a:noFill/>
          <a:ln/>
        </p:spPr>
        <p:txBody>
          <a:bodyPr wrap="square" lIns="0" tIns="0" rIns="0" bIns="0" rtlCol="0" anchor="ctr"/>
          <a:lstStyle/>
          <a:p>
            <a:pPr indent="0" marL="0">
              <a:buNone/>
            </a:pPr>
            <a:r>
              <a:rPr lang="en-US" sz="1050" b="1" dirty="0">
                <a:solidFill>
                  <a:srgbClr val="FFFFFF"/>
                </a:solidFill>
                <a:latin typeface="Georgia" pitchFamily="34" charset="0"/>
                <a:ea typeface="Georgia" pitchFamily="34" charset="-122"/>
                <a:cs typeface="Georgia" pitchFamily="34" charset="-120"/>
              </a:rPr>
              <a:t>🌟  Day 31 Complete!</a:t>
            </a:r>
            <a:endParaRPr lang="en-US" sz="1050" dirty="0"/>
          </a:p>
        </p:txBody>
      </p:sp>
      <p:sp>
        <p:nvSpPr>
          <p:cNvPr id="60" name="Text 55"/>
          <p:cNvSpPr/>
          <p:nvPr/>
        </p:nvSpPr>
        <p:spPr>
          <a:xfrm>
            <a:off x="4669536" y="6181344"/>
            <a:ext cx="1987296" cy="137160"/>
          </a:xfrm>
          <a:prstGeom prst="rect">
            <a:avLst/>
          </a:prstGeom>
          <a:noFill/>
          <a:ln/>
        </p:spPr>
        <p:txBody>
          <a:bodyPr wrap="square" lIns="0" tIns="0" rIns="0" bIns="0" rtlCol="0" anchor="ctr"/>
          <a:lstStyle/>
          <a:p>
            <a:pPr indent="0" marL="0">
              <a:buNone/>
            </a:pPr>
            <a:r>
              <a:rPr lang="en-US" sz="750" i="1" dirty="0">
                <a:solidFill>
                  <a:srgbClr val="3A5060"/>
                </a:solidFill>
                <a:latin typeface="Calibri" pitchFamily="34" charset="0"/>
                <a:ea typeface="Calibri" pitchFamily="34" charset="-122"/>
                <a:cs typeface="Calibri" pitchFamily="34" charset="-120"/>
              </a:rPr>
              <a:t>Today you completed:</a:t>
            </a:r>
            <a:endParaRPr lang="en-US" sz="750" dirty="0"/>
          </a:p>
        </p:txBody>
      </p:sp>
      <p:sp>
        <p:nvSpPr>
          <p:cNvPr id="61" name="Text 56"/>
          <p:cNvSpPr/>
          <p:nvPr/>
        </p:nvSpPr>
        <p:spPr>
          <a:xfrm>
            <a:off x="4669536" y="6345936"/>
            <a:ext cx="1969008" cy="2953512"/>
          </a:xfrm>
          <a:prstGeom prst="rect">
            <a:avLst/>
          </a:prstGeom>
          <a:noFill/>
          <a:ln/>
        </p:spPr>
        <p:txBody>
          <a:bodyPr wrap="square" lIns="0" tIns="0" rIns="0" bIns="0" rtlCol="0" anchor="t"/>
          <a:lstStyle/>
          <a:p>
            <a:pPr indent="0" marL="0">
              <a:lnSpc>
                <a:spcPct val="210000"/>
              </a:lnSpc>
              <a:buNone/>
            </a:pPr>
            <a:r>
              <a:rPr lang="en-US" sz="800" dirty="0">
                <a:solidFill>
                  <a:srgbClr val="1E7A4A"/>
                </a:solidFill>
                <a:latin typeface="Calibri" pitchFamily="34" charset="0"/>
                <a:ea typeface="Calibri" pitchFamily="34" charset="-122"/>
                <a:cs typeface="Calibri" pitchFamily="34" charset="-120"/>
              </a:rPr>
              <a:t>✅  20 амьдралын үг · 20 life story words</a:t>
            </a:r>
            <a:endParaRPr lang="en-US" sz="800" dirty="0"/>
          </a:p>
          <a:p>
            <a:pPr indent="0" marL="0">
              <a:lnSpc>
                <a:spcPct val="210000"/>
              </a:lnSpc>
              <a:buNone/>
            </a:pPr>
            <a:r>
              <a:rPr lang="en-US" sz="800" dirty="0">
                <a:solidFill>
                  <a:srgbClr val="1E7A4A"/>
                </a:solidFill>
                <a:latin typeface="Calibri" pitchFamily="34" charset="0"/>
                <a:ea typeface="Calibri" pitchFamily="34" charset="-122"/>
                <a:cs typeface="Calibri" pitchFamily="34" charset="-120"/>
              </a:rPr>
              <a:t>✅  Дараалалын үгс · Sequence words in storytelling</a:t>
            </a:r>
            <a:endParaRPr lang="en-US" sz="800" dirty="0"/>
          </a:p>
          <a:p>
            <a:pPr indent="0" marL="0">
              <a:lnSpc>
                <a:spcPct val="210000"/>
              </a:lnSpc>
              <a:buNone/>
            </a:pPr>
            <a:r>
              <a:rPr lang="en-US" sz="800" dirty="0">
                <a:solidFill>
                  <a:srgbClr val="1E7A4A"/>
                </a:solidFill>
                <a:latin typeface="Calibri" pitchFamily="34" charset="0"/>
                <a:ea typeface="Calibri" pitchFamily="34" charset="-122"/>
                <a:cs typeface="Calibri" pitchFamily="34" charset="-120"/>
              </a:rPr>
              <a:t>✅  Амьдралын түүх уншсан · Read a life story</a:t>
            </a:r>
            <a:endParaRPr lang="en-US" sz="800" dirty="0"/>
          </a:p>
          <a:p>
            <a:pPr indent="0" marL="0">
              <a:lnSpc>
                <a:spcPct val="210000"/>
              </a:lnSpc>
              <a:buNone/>
            </a:pPr>
            <a:r>
              <a:rPr lang="en-US" sz="800" dirty="0">
                <a:solidFill>
                  <a:srgbClr val="1E7A4A"/>
                </a:solidFill>
                <a:latin typeface="Calibri" pitchFamily="34" charset="0"/>
                <a:ea typeface="Calibri" pitchFamily="34" charset="-122"/>
                <a:cs typeface="Calibri" pitchFamily="34" charset="-120"/>
              </a:rPr>
              <a:t>✅  Дасгал · Grammar practice</a:t>
            </a:r>
            <a:endParaRPr lang="en-US" sz="800" dirty="0"/>
          </a:p>
          <a:p>
            <a:pPr indent="0" marL="0">
              <a:lnSpc>
                <a:spcPct val="210000"/>
              </a:lnSpc>
              <a:buNone/>
            </a:pPr>
            <a:r>
              <a:rPr lang="en-US" sz="800" dirty="0">
                <a:solidFill>
                  <a:srgbClr val="1E7A4A"/>
                </a:solidFill>
                <a:latin typeface="Calibri" pitchFamily="34" charset="0"/>
                <a:ea typeface="Calibri" pitchFamily="34" charset="-122"/>
                <a:cs typeface="Calibri" pitchFamily="34" charset="-120"/>
              </a:rPr>
              <a:t>✅  Ярих дасгал · Speaking practice</a:t>
            </a:r>
            <a:endParaRPr lang="en-US" sz="800" dirty="0"/>
          </a:p>
          <a:p>
            <a:pPr indent="0" marL="0">
              <a:lnSpc>
                <a:spcPct val="210000"/>
              </a:lnSpc>
              <a:buNone/>
            </a:pPr>
            <a:r>
              <a:rPr lang="en-US" sz="800" dirty="0">
                <a:solidFill>
                  <a:srgbClr val="1E7A4A"/>
                </a:solidFill>
                <a:latin typeface="Calibri" pitchFamily="34" charset="0"/>
                <a:ea typeface="Calibri" pitchFamily="34" charset="-122"/>
                <a:cs typeface="Calibri" pitchFamily="34" charset="-120"/>
              </a:rPr>
              <a:t>✅  Сонсох · Listening practice</a:t>
            </a:r>
            <a:endParaRPr lang="en-US" sz="800" dirty="0"/>
          </a:p>
          <a:p>
            <a:pPr indent="0" marL="0">
              <a:lnSpc>
                <a:spcPct val="210000"/>
              </a:lnSpc>
              <a:buNone/>
            </a:pPr>
            <a:r>
              <a:rPr lang="en-US" sz="800" dirty="0">
                <a:solidFill>
                  <a:srgbClr val="1E7A4A"/>
                </a:solidFill>
                <a:latin typeface="Calibri" pitchFamily="34" charset="0"/>
                <a:ea typeface="Calibri" pitchFamily="34" charset="-122"/>
                <a:cs typeface="Calibri" pitchFamily="34" charset="-120"/>
              </a:rPr>
              <a:t>✅  Өөрийн түүхийг ярьж сурсан · Told own story</a:t>
            </a:r>
            <a:endParaRPr lang="en-US" sz="800" dirty="0"/>
          </a:p>
        </p:txBody>
      </p:sp>
      <p:sp>
        <p:nvSpPr>
          <p:cNvPr id="62" name="Shape 57"/>
          <p:cNvSpPr/>
          <p:nvPr/>
        </p:nvSpPr>
        <p:spPr>
          <a:xfrm>
            <a:off x="4651248" y="9253728"/>
            <a:ext cx="1969008" cy="256032"/>
          </a:xfrm>
          <a:prstGeom prst="rect">
            <a:avLst/>
          </a:prstGeom>
          <a:solidFill>
            <a:srgbClr val="EBF4FB"/>
          </a:solidFill>
          <a:ln w="12700">
            <a:solidFill>
              <a:srgbClr val="2E6DA4"/>
            </a:solidFill>
            <a:prstDash val="solid"/>
          </a:ln>
        </p:spPr>
      </p:sp>
      <p:sp>
        <p:nvSpPr>
          <p:cNvPr id="63" name="Text 58"/>
          <p:cNvSpPr/>
          <p:nvPr/>
        </p:nvSpPr>
        <p:spPr>
          <a:xfrm>
            <a:off x="4687824" y="9262872"/>
            <a:ext cx="1914144" cy="237744"/>
          </a:xfrm>
          <a:prstGeom prst="rect">
            <a:avLst/>
          </a:prstGeom>
          <a:noFill/>
          <a:ln/>
        </p:spPr>
        <p:txBody>
          <a:bodyPr wrap="square" lIns="0" tIns="0" rIns="0" bIns="0" rtlCol="0" anchor="ctr"/>
          <a:lstStyle/>
          <a:p>
            <a:pPr indent="0" marL="0">
              <a:buNone/>
            </a:pPr>
            <a:r>
              <a:rPr lang="en-US" sz="850" b="1" dirty="0">
                <a:solidFill>
                  <a:srgbClr val="2E6DA4"/>
                </a:solidFill>
                <a:latin typeface="Calibri" pitchFamily="34" charset="0"/>
                <a:ea typeface="Calibri" pitchFamily="34" charset="-122"/>
                <a:cs typeface="Calibri" pitchFamily="34" charset="-120"/>
              </a:rPr>
              <a:t>🚀  Day 32: Places I Have Been</a:t>
            </a:r>
            <a:endParaRPr lang="en-US" sz="8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Slides>
  <Notes>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vt:i4>
      </vt:variant>
    </vt:vector>
  </HeadingPairs>
  <TitlesOfParts>
    <vt:vector size="6" baseType="lpstr">
      <vt:lpstr>Arial</vt:lpstr>
      <vt:lpstr>Calibri</vt:lpstr>
      <vt:lpstr>Office Theme</vt:lpstr>
      <vt:lpstr>Slide 1</vt:lpstr>
      <vt:lpstr>Slide 2</vt:lpstr>
      <vt:lpstr>Slide 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2026-04-03T10:10:53Z</dcterms:created>
  <dcterms:modified xsi:type="dcterms:W3CDTF">2026-04-03T10:10:53Z</dcterms:modified>
</cp:coreProperties>
</file>