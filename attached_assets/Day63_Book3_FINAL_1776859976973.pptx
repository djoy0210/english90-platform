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Lst>
  <p:notesMasterIdLst>
    <p:notesMasterId r:id="rId5"/>
  </p:notesMasterIdLst>
  <p:sldSz cx="6858000" cy="9692640"/>
  <p:notesSz cx="9692640" cy="6858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notesMaster" Target="notesMasters/notesMaster1.xml"/><Relationship Id="rId6" Type="http://schemas.openxmlformats.org/officeDocument/2006/relationships/presProps" Target="presProps.xml"/><Relationship Id="rId7" Type="http://schemas.openxmlformats.org/officeDocument/2006/relationships/viewProps" Target="viewProps.xml"/><Relationship Id="rId8" Type="http://schemas.openxmlformats.org/officeDocument/2006/relationships/theme" Target="theme/theme1.xml"/><Relationship Id="rId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2F6FA"/>
        </a:solidFill>
      </p:bgPr>
    </p:bg>
    <p:spTree>
      <p:nvGrpSpPr>
        <p:cNvPr id="1" name=""/>
        <p:cNvGrpSpPr/>
        <p:nvPr/>
      </p:nvGrpSpPr>
      <p:grpSpPr>
        <a:xfrm>
          <a:off x="0" y="0"/>
          <a:ext cx="0" cy="0"/>
          <a:chOff x="0" y="0"/>
          <a:chExt cx="0" cy="0"/>
        </a:xfrm>
      </p:grpSpPr>
      <p:sp>
        <p:nvSpPr>
          <p:cNvPr id="2" name="Shape 0"/>
          <p:cNvSpPr/>
          <p:nvPr/>
        </p:nvSpPr>
        <p:spPr>
          <a:xfrm>
            <a:off x="0" y="0"/>
            <a:ext cx="6858000" cy="347472"/>
          </a:xfrm>
          <a:prstGeom prst="rect">
            <a:avLst/>
          </a:prstGeom>
          <a:solidFill>
            <a:srgbClr val="1A3A5C"/>
          </a:solidFill>
          <a:ln w="12700">
            <a:solidFill>
              <a:srgbClr val="1A3A5C"/>
            </a:solidFill>
            <a:prstDash val="solid"/>
          </a:ln>
        </p:spPr>
      </p:sp>
      <p:sp>
        <p:nvSpPr>
          <p:cNvPr id="3" name="Shape 1"/>
          <p:cNvSpPr/>
          <p:nvPr/>
        </p:nvSpPr>
        <p:spPr>
          <a:xfrm>
            <a:off x="0" y="0"/>
            <a:ext cx="50292" cy="347472"/>
          </a:xfrm>
          <a:prstGeom prst="rect">
            <a:avLst/>
          </a:prstGeom>
          <a:solidFill>
            <a:srgbClr val="F2C93A"/>
          </a:solidFill>
          <a:ln w="12700">
            <a:solidFill>
              <a:srgbClr val="F2C93A"/>
            </a:solidFill>
            <a:prstDash val="solid"/>
          </a:ln>
        </p:spPr>
      </p:sp>
      <p:sp>
        <p:nvSpPr>
          <p:cNvPr id="4" name="Text 2"/>
          <p:cNvSpPr/>
          <p:nvPr/>
        </p:nvSpPr>
        <p:spPr>
          <a:xfrm>
            <a:off x="100584" y="0"/>
            <a:ext cx="3657600" cy="347472"/>
          </a:xfrm>
          <a:prstGeom prst="rect">
            <a:avLst/>
          </a:prstGeom>
          <a:noFill/>
          <a:ln/>
        </p:spPr>
        <p:txBody>
          <a:bodyPr wrap="square" lIns="0" tIns="0" rIns="0" bIns="0" rtlCol="0" anchor="ctr"/>
          <a:lstStyle/>
          <a:p>
            <a:pPr indent="0" marL="0">
              <a:buNone/>
            </a:pPr>
            <a:r>
              <a:rPr lang="en-US" sz="1350" b="1" dirty="0">
                <a:solidFill>
                  <a:srgbClr val="F2C93A"/>
                </a:solidFill>
                <a:latin typeface="Georgia" pitchFamily="34" charset="0"/>
                <a:ea typeface="Georgia" pitchFamily="34" charset="-122"/>
                <a:cs typeface="Georgia" pitchFamily="34" charset="-120"/>
              </a:rPr>
              <a:t>Speak English in 90 Days</a:t>
            </a:r>
            <a:endParaRPr lang="en-US" sz="1350" dirty="0"/>
          </a:p>
        </p:txBody>
      </p:sp>
      <p:sp>
        <p:nvSpPr>
          <p:cNvPr id="5" name="Text 3"/>
          <p:cNvSpPr/>
          <p:nvPr/>
        </p:nvSpPr>
        <p:spPr>
          <a:xfrm>
            <a:off x="3657600" y="0"/>
            <a:ext cx="1920240" cy="347472"/>
          </a:xfrm>
          <a:prstGeom prst="rect">
            <a:avLst/>
          </a:prstGeom>
          <a:noFill/>
          <a:ln/>
        </p:spPr>
        <p:txBody>
          <a:bodyPr wrap="square" lIns="0" tIns="0" rIns="0" bIns="0" rtlCol="0" anchor="ctr"/>
          <a:lstStyle/>
          <a:p>
            <a:pPr algn="ctr" indent="0" marL="0">
              <a:buNone/>
            </a:pPr>
            <a:r>
              <a:rPr lang="en-US" sz="800" dirty="0">
                <a:solidFill>
                  <a:srgbClr val="90AABF"/>
                </a:solidFill>
                <a:latin typeface="Calibri" pitchFamily="34" charset="0"/>
                <a:ea typeface="Calibri" pitchFamily="34" charset="-122"/>
                <a:cs typeface="Calibri" pitchFamily="34" charset="-120"/>
              </a:rPr>
              <a:t>B1 · Book 3 · Дэвшилтэт шат</a:t>
            </a:r>
            <a:endParaRPr lang="en-US" sz="800" dirty="0"/>
          </a:p>
        </p:txBody>
      </p:sp>
      <p:sp>
        <p:nvSpPr>
          <p:cNvPr id="6" name="Text 4"/>
          <p:cNvSpPr/>
          <p:nvPr/>
        </p:nvSpPr>
        <p:spPr>
          <a:xfrm>
            <a:off x="5577840" y="0"/>
            <a:ext cx="1170432" cy="347472"/>
          </a:xfrm>
          <a:prstGeom prst="rect">
            <a:avLst/>
          </a:prstGeom>
          <a:noFill/>
          <a:ln/>
        </p:spPr>
        <p:txBody>
          <a:bodyPr wrap="square" lIns="0" tIns="0" rIns="0" bIns="0" rtlCol="0" anchor="ctr"/>
          <a:lstStyle/>
          <a:p>
            <a:pPr algn="r" indent="0" marL="0">
              <a:buNone/>
            </a:pPr>
            <a:r>
              <a:rPr lang="en-US" sz="850" dirty="0">
                <a:solidFill>
                  <a:srgbClr val="F2C93A"/>
                </a:solidFill>
                <a:latin typeface="Calibri" pitchFamily="34" charset="0"/>
                <a:ea typeface="Calibri" pitchFamily="34" charset="-122"/>
                <a:cs typeface="Calibri" pitchFamily="34" charset="-120"/>
              </a:rPr>
              <a:t>25-30 минут</a:t>
            </a:r>
            <a:endParaRPr lang="en-US" sz="850" dirty="0"/>
          </a:p>
        </p:txBody>
      </p:sp>
      <p:sp>
        <p:nvSpPr>
          <p:cNvPr id="7" name="Shape 5"/>
          <p:cNvSpPr/>
          <p:nvPr/>
        </p:nvSpPr>
        <p:spPr>
          <a:xfrm>
            <a:off x="0" y="347472"/>
            <a:ext cx="1335024" cy="237744"/>
          </a:xfrm>
          <a:prstGeom prst="rect">
            <a:avLst/>
          </a:prstGeom>
          <a:solidFill>
            <a:srgbClr val="F2C93A"/>
          </a:solidFill>
          <a:ln w="12700">
            <a:solidFill>
              <a:srgbClr val="F2C93A"/>
            </a:solidFill>
            <a:prstDash val="solid"/>
          </a:ln>
        </p:spPr>
      </p:sp>
      <p:sp>
        <p:nvSpPr>
          <p:cNvPr id="8" name="Text 6"/>
          <p:cNvSpPr/>
          <p:nvPr/>
        </p:nvSpPr>
        <p:spPr>
          <a:xfrm>
            <a:off x="0" y="347472"/>
            <a:ext cx="1335024" cy="237744"/>
          </a:xfrm>
          <a:prstGeom prst="rect">
            <a:avLst/>
          </a:prstGeom>
          <a:noFill/>
          <a:ln/>
        </p:spPr>
        <p:txBody>
          <a:bodyPr wrap="square" lIns="0" tIns="0" rIns="0" bIns="0" rtlCol="0" anchor="ctr"/>
          <a:lstStyle/>
          <a:p>
            <a:pPr algn="ctr" indent="0" marL="0">
              <a:buNone/>
            </a:pPr>
            <a:r>
              <a:rPr lang="en-US" sz="850" b="1" dirty="0">
                <a:solidFill>
                  <a:srgbClr val="1A3A5C"/>
                </a:solidFill>
                <a:latin typeface="Calibri" pitchFamily="34" charset="0"/>
                <a:ea typeface="Calibri" pitchFamily="34" charset="-122"/>
                <a:cs typeface="Calibri" pitchFamily="34" charset="-120"/>
              </a:rPr>
              <a:t>DAY 63 · ӨДӨР 63</a:t>
            </a:r>
            <a:endParaRPr lang="en-US" sz="850" dirty="0"/>
          </a:p>
        </p:txBody>
      </p:sp>
      <p:sp>
        <p:nvSpPr>
          <p:cNvPr id="9" name="Shape 7"/>
          <p:cNvSpPr/>
          <p:nvPr/>
        </p:nvSpPr>
        <p:spPr>
          <a:xfrm>
            <a:off x="1335024" y="347472"/>
            <a:ext cx="4498848" cy="237744"/>
          </a:xfrm>
          <a:prstGeom prst="rect">
            <a:avLst/>
          </a:prstGeom>
          <a:solidFill>
            <a:srgbClr val="1A6A3A"/>
          </a:solidFill>
          <a:ln w="12700">
            <a:solidFill>
              <a:srgbClr val="1A6A3A"/>
            </a:solidFill>
            <a:prstDash val="solid"/>
          </a:ln>
        </p:spPr>
      </p:sp>
      <p:sp>
        <p:nvSpPr>
          <p:cNvPr id="10" name="Text 8"/>
          <p:cNvSpPr/>
          <p:nvPr/>
        </p:nvSpPr>
        <p:spPr>
          <a:xfrm>
            <a:off x="1408176" y="347472"/>
            <a:ext cx="4425696" cy="237744"/>
          </a:xfrm>
          <a:prstGeom prst="rect">
            <a:avLst/>
          </a:prstGeom>
          <a:noFill/>
          <a:ln/>
        </p:spPr>
        <p:txBody>
          <a:bodyPr wrap="square" lIns="0" tIns="0" rIns="0" bIns="0" rtlCol="0" anchor="ctr"/>
          <a:lstStyle/>
          <a:p>
            <a:pPr indent="0" marL="0">
              <a:buNone/>
            </a:pPr>
            <a:r>
              <a:rPr lang="en-US" sz="850" b="1" dirty="0">
                <a:solidFill>
                  <a:srgbClr val="FFFFFF"/>
                </a:solidFill>
                <a:latin typeface="Calibri" pitchFamily="34" charset="0"/>
                <a:ea typeface="Calibri" pitchFamily="34" charset="-122"/>
                <a:cs typeface="Calibri" pitchFamily="34" charset="-120"/>
              </a:rPr>
              <a:t>Life Changes  ·  Амьдралын өөрчлөлтүүд</a:t>
            </a:r>
            <a:endParaRPr lang="en-US" sz="850" dirty="0"/>
          </a:p>
        </p:txBody>
      </p:sp>
      <p:sp>
        <p:nvSpPr>
          <p:cNvPr id="11" name="Shape 9"/>
          <p:cNvSpPr/>
          <p:nvPr/>
        </p:nvSpPr>
        <p:spPr>
          <a:xfrm>
            <a:off x="5833872" y="347472"/>
            <a:ext cx="1024128" cy="237744"/>
          </a:xfrm>
          <a:prstGeom prst="rect">
            <a:avLst/>
          </a:prstGeom>
          <a:solidFill>
            <a:srgbClr val="1A3A5C"/>
          </a:solidFill>
          <a:ln w="12700">
            <a:solidFill>
              <a:srgbClr val="1A3A5C"/>
            </a:solidFill>
            <a:prstDash val="solid"/>
          </a:ln>
        </p:spPr>
      </p:sp>
      <p:sp>
        <p:nvSpPr>
          <p:cNvPr id="12" name="Text 10"/>
          <p:cNvSpPr/>
          <p:nvPr/>
        </p:nvSpPr>
        <p:spPr>
          <a:xfrm>
            <a:off x="5760720" y="347472"/>
            <a:ext cx="1042416" cy="237744"/>
          </a:xfrm>
          <a:prstGeom prst="rect">
            <a:avLst/>
          </a:prstGeom>
          <a:noFill/>
          <a:ln/>
        </p:spPr>
        <p:txBody>
          <a:bodyPr wrap="square" lIns="0" tIns="0" rIns="0" bIns="0" rtlCol="0" anchor="ctr"/>
          <a:lstStyle/>
          <a:p>
            <a:pPr algn="r" indent="0" marL="0">
              <a:buNone/>
            </a:pPr>
            <a:r>
              <a:rPr lang="en-US" sz="750" dirty="0">
                <a:solidFill>
                  <a:srgbClr val="F2C93A"/>
                </a:solidFill>
                <a:latin typeface="Calibri" pitchFamily="34" charset="0"/>
                <a:ea typeface="Calibri" pitchFamily="34" charset="-122"/>
                <a:cs typeface="Calibri" pitchFamily="34" charset="-120"/>
              </a:rPr>
              <a:t>📖 Page 1</a:t>
            </a:r>
            <a:endParaRPr lang="en-US" sz="750" dirty="0"/>
          </a:p>
        </p:txBody>
      </p:sp>
      <p:sp>
        <p:nvSpPr>
          <p:cNvPr id="13" name="Shape 11"/>
          <p:cNvSpPr/>
          <p:nvPr/>
        </p:nvSpPr>
        <p:spPr>
          <a:xfrm>
            <a:off x="0" y="9601200"/>
            <a:ext cx="6858000" cy="91440"/>
          </a:xfrm>
          <a:prstGeom prst="rect">
            <a:avLst/>
          </a:prstGeom>
          <a:solidFill>
            <a:srgbClr val="E4EEF6"/>
          </a:solidFill>
          <a:ln w="12700">
            <a:solidFill>
              <a:srgbClr val="E4EEF6"/>
            </a:solidFill>
            <a:prstDash val="solid"/>
          </a:ln>
        </p:spPr>
      </p:sp>
      <p:sp>
        <p:nvSpPr>
          <p:cNvPr id="14" name="Text 12"/>
          <p:cNvSpPr/>
          <p:nvPr/>
        </p:nvSpPr>
        <p:spPr>
          <a:xfrm>
            <a:off x="0" y="9601200"/>
            <a:ext cx="6858000" cy="91440"/>
          </a:xfrm>
          <a:prstGeom prst="rect">
            <a:avLst/>
          </a:prstGeom>
          <a:noFill/>
          <a:ln/>
        </p:spPr>
        <p:txBody>
          <a:bodyPr wrap="square" lIns="0" tIns="0" rIns="0" bIns="0" rtlCol="0" anchor="ctr"/>
          <a:lstStyle/>
          <a:p>
            <a:pPr algn="ctr" indent="0" marL="0">
              <a:buNone/>
            </a:pPr>
            <a:r>
              <a:rPr lang="en-US" sz="650" dirty="0">
                <a:solidFill>
                  <a:srgbClr val="7A90A0"/>
                </a:solidFill>
                <a:latin typeface="Calibri" pitchFamily="34" charset="0"/>
                <a:ea typeface="Calibri" pitchFamily="34" charset="-122"/>
                <a:cs typeface="Calibri" pitchFamily="34" charset="-120"/>
              </a:rPr>
              <a:t>Speak English in 90 Days  ·  B1 Level  ·  Book 3</a:t>
            </a:r>
            <a:endParaRPr lang="en-US" sz="650" dirty="0"/>
          </a:p>
        </p:txBody>
      </p:sp>
      <p:sp>
        <p:nvSpPr>
          <p:cNvPr id="15" name="Shape 13"/>
          <p:cNvSpPr/>
          <p:nvPr/>
        </p:nvSpPr>
        <p:spPr>
          <a:xfrm>
            <a:off x="164592" y="630936"/>
            <a:ext cx="6528816" cy="182880"/>
          </a:xfrm>
          <a:prstGeom prst="rect">
            <a:avLst/>
          </a:prstGeom>
          <a:solidFill>
            <a:srgbClr val="EBF4FB"/>
          </a:solidFill>
          <a:ln w="12700">
            <a:solidFill>
              <a:srgbClr val="2E6DA4"/>
            </a:solidFill>
            <a:prstDash val="solid"/>
          </a:ln>
        </p:spPr>
      </p:sp>
      <p:sp>
        <p:nvSpPr>
          <p:cNvPr id="16" name="Text 14"/>
          <p:cNvSpPr/>
          <p:nvPr/>
        </p:nvSpPr>
        <p:spPr>
          <a:xfrm>
            <a:off x="246888" y="630936"/>
            <a:ext cx="6419088" cy="182880"/>
          </a:xfrm>
          <a:prstGeom prst="rect">
            <a:avLst/>
          </a:prstGeom>
          <a:noFill/>
          <a:ln/>
        </p:spPr>
        <p:txBody>
          <a:bodyPr wrap="square" lIns="0" tIns="0" rIns="0" bIns="0" rtlCol="0" anchor="ctr"/>
          <a:lstStyle/>
          <a:p>
            <a:pPr indent="0" marL="0">
              <a:buNone/>
            </a:pPr>
            <a:r>
              <a:rPr lang="en-US" sz="800" dirty="0">
                <a:solidFill>
                  <a:srgbClr val="1A4A7A"/>
                </a:solidFill>
                <a:latin typeface="Calibri" pitchFamily="34" charset="0"/>
                <a:ea typeface="Calibri" pitchFamily="34" charset="-122"/>
                <a:cs typeface="Calibri" pitchFamily="34" charset="-120"/>
              </a:rPr>
              <a:t>✦ Learn 20 words   ✦ Grammar: Present Perfect Continuous — have/has been + -ing (ongoing action up to now)   ✦ Cover &amp; test yourself</a:t>
            </a:r>
            <a:endParaRPr lang="en-US" sz="800" dirty="0"/>
          </a:p>
        </p:txBody>
      </p:sp>
      <p:sp>
        <p:nvSpPr>
          <p:cNvPr id="17" name="Shape 15"/>
          <p:cNvSpPr/>
          <p:nvPr/>
        </p:nvSpPr>
        <p:spPr>
          <a:xfrm>
            <a:off x="179222" y="874166"/>
            <a:ext cx="3310128" cy="8705088"/>
          </a:xfrm>
          <a:prstGeom prst="rect">
            <a:avLst/>
          </a:prstGeom>
          <a:solidFill>
            <a:srgbClr val="D0DCE8"/>
          </a:solidFill>
          <a:ln w="12700">
            <a:solidFill>
              <a:srgbClr val="D0DCE8"/>
            </a:solidFill>
            <a:prstDash val="solid"/>
          </a:ln>
        </p:spPr>
      </p:sp>
      <p:sp>
        <p:nvSpPr>
          <p:cNvPr id="18" name="Shape 16"/>
          <p:cNvSpPr/>
          <p:nvPr/>
        </p:nvSpPr>
        <p:spPr>
          <a:xfrm>
            <a:off x="164592" y="859536"/>
            <a:ext cx="3310128" cy="8705088"/>
          </a:xfrm>
          <a:prstGeom prst="rect">
            <a:avLst/>
          </a:prstGeom>
          <a:solidFill>
            <a:srgbClr val="FFFFFF"/>
          </a:solidFill>
          <a:ln w="12700">
            <a:solidFill>
              <a:srgbClr val="C8D8E8"/>
            </a:solidFill>
            <a:prstDash val="solid"/>
          </a:ln>
        </p:spPr>
      </p:sp>
      <p:sp>
        <p:nvSpPr>
          <p:cNvPr id="19" name="Shape 17"/>
          <p:cNvSpPr/>
          <p:nvPr/>
        </p:nvSpPr>
        <p:spPr>
          <a:xfrm>
            <a:off x="164592" y="859536"/>
            <a:ext cx="3310128" cy="256032"/>
          </a:xfrm>
          <a:prstGeom prst="rect">
            <a:avLst/>
          </a:prstGeom>
          <a:solidFill>
            <a:srgbClr val="1A6A3A"/>
          </a:solidFill>
          <a:ln w="12700">
            <a:solidFill>
              <a:srgbClr val="1A6A3A"/>
            </a:solidFill>
            <a:prstDash val="solid"/>
          </a:ln>
        </p:spPr>
      </p:sp>
      <p:sp>
        <p:nvSpPr>
          <p:cNvPr id="20" name="Shape 18"/>
          <p:cNvSpPr/>
          <p:nvPr/>
        </p:nvSpPr>
        <p:spPr>
          <a:xfrm>
            <a:off x="164592" y="1115568"/>
            <a:ext cx="3310128" cy="146304"/>
          </a:xfrm>
          <a:prstGeom prst="rect">
            <a:avLst/>
          </a:prstGeom>
          <a:solidFill>
            <a:srgbClr val="EBF4FB"/>
          </a:solidFill>
          <a:ln w="12700">
            <a:solidFill>
              <a:srgbClr val="EBF4FB"/>
            </a:solidFill>
            <a:prstDash val="solid"/>
          </a:ln>
        </p:spPr>
      </p:sp>
      <p:sp>
        <p:nvSpPr>
          <p:cNvPr id="21" name="Text 19"/>
          <p:cNvSpPr/>
          <p:nvPr/>
        </p:nvSpPr>
        <p:spPr>
          <a:xfrm>
            <a:off x="256032" y="859536"/>
            <a:ext cx="3182112" cy="256032"/>
          </a:xfrm>
          <a:prstGeom prst="rect">
            <a:avLst/>
          </a:prstGeom>
          <a:noFill/>
          <a:ln/>
        </p:spPr>
        <p:txBody>
          <a:bodyPr wrap="square" lIns="0" tIns="0" rIns="0" bIns="0" rtlCol="0" anchor="ctr"/>
          <a:lstStyle/>
          <a:p>
            <a:pPr indent="0" marL="0">
              <a:buNone/>
            </a:pPr>
            <a:r>
              <a:rPr lang="en-US" sz="1050" b="1" dirty="0">
                <a:solidFill>
                  <a:srgbClr val="FFFFFF"/>
                </a:solidFill>
                <a:latin typeface="Georgia" pitchFamily="34" charset="0"/>
                <a:ea typeface="Georgia" pitchFamily="34" charset="-122"/>
                <a:cs typeface="Georgia" pitchFamily="34" charset="-120"/>
              </a:rPr>
              <a:t>📝  Vocabulary — 20 New Words</a:t>
            </a:r>
            <a:endParaRPr lang="en-US" sz="1050" dirty="0"/>
          </a:p>
        </p:txBody>
      </p:sp>
      <p:sp>
        <p:nvSpPr>
          <p:cNvPr id="22" name="Text 20"/>
          <p:cNvSpPr/>
          <p:nvPr/>
        </p:nvSpPr>
        <p:spPr>
          <a:xfrm>
            <a:off x="256032" y="1124712"/>
            <a:ext cx="3182112" cy="137160"/>
          </a:xfrm>
          <a:prstGeom prst="rect">
            <a:avLst/>
          </a:prstGeom>
          <a:noFill/>
          <a:ln/>
        </p:spPr>
        <p:txBody>
          <a:bodyPr wrap="square" lIns="0" tIns="0" rIns="0" bIns="0" rtlCol="0" anchor="ctr"/>
          <a:lstStyle/>
          <a:p>
            <a:pPr indent="0" marL="0">
              <a:buNone/>
            </a:pPr>
            <a:r>
              <a:rPr lang="en-US" sz="750" i="1" dirty="0">
                <a:solidFill>
                  <a:srgbClr val="3A5060"/>
                </a:solidFill>
                <a:latin typeface="Calibri" pitchFamily="34" charset="0"/>
                <a:ea typeface="Calibri" pitchFamily="34" charset="-122"/>
                <a:cs typeface="Calibri" pitchFamily="34" charset="-120"/>
              </a:rPr>
              <a:t>Read aloud 3 times · Cover Mongolian &amp; test yourself!</a:t>
            </a:r>
            <a:endParaRPr lang="en-US" sz="750" dirty="0"/>
          </a:p>
        </p:txBody>
      </p:sp>
      <p:graphicFrame>
        <p:nvGraphicFramePr>
          <p:cNvPr id="2" name="Table 0"/>
          <p:cNvGraphicFramePr>
            <a:graphicFrameLocks noGrp="1"/>
          </p:cNvGraphicFramePr>
          <p:nvPr>
            <p:extLst>
              <p:ext uri="{D42A27DB-BD31-4B8C-83A1-F6EECF244321}">
                <p14:modId xmlns:p14="http://schemas.microsoft.com/office/powerpoint/2010/main" val="1579011935"/>
              </p:ext>
            </p:extLst>
          </p:nvPr>
        </p:nvGraphicFramePr>
        <p:xfrm>
          <a:off x="219456" y="1289304"/>
          <a:ext cx="3200400" cy="914400"/>
        </p:xfrm>
        <a:graphic>
          <a:graphicData uri="http://schemas.openxmlformats.org/drawingml/2006/table">
            <a:tbl>
              <a:tblPr/>
              <a:tblGrid>
                <a:gridCol w="182880"/>
                <a:gridCol w="610819"/>
                <a:gridCol w="610819"/>
                <a:gridCol w="794065"/>
                <a:gridCol w="1038393"/>
              </a:tblGrid>
              <a:tr h="352044">
                <a:tc>
                  <a:txBody>
                    <a:bodyPr/>
                    <a:lstStyle/>
                    <a:p>
                      <a:pPr algn="ctr" indent="0" marL="0">
                        <a:buNone/>
                      </a:pPr>
                      <a:r>
                        <a:rPr lang="en-US" sz="750" b="1" dirty="0">
                          <a:solidFill>
                            <a:srgbClr val="FFFFFF"/>
                          </a:solidFill>
                          <a:latin typeface="Calibri" pitchFamily="34" charset="0"/>
                          <a:ea typeface="Calibri" pitchFamily="34" charset="-122"/>
                          <a:cs typeface="Calibri" pitchFamily="34" charset="-120"/>
                        </a:rPr>
                        <a:t>#</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1A6A3A"/>
                    </a:solidFill>
                  </a:tcPr>
                </a:tc>
                <a:tc>
                  <a:txBody>
                    <a:bodyPr/>
                    <a:lstStyle/>
                    <a:p>
                      <a:pPr algn="l" indent="0" marL="0">
                        <a:buNone/>
                      </a:pPr>
                      <a:r>
                        <a:rPr lang="en-US" sz="750" b="1" dirty="0">
                          <a:solidFill>
                            <a:srgbClr val="FFFFFF"/>
                          </a:solidFill>
                          <a:latin typeface="Calibri" pitchFamily="34" charset="0"/>
                          <a:ea typeface="Calibri" pitchFamily="34" charset="-122"/>
                          <a:cs typeface="Calibri" pitchFamily="34" charset="-120"/>
                        </a:rPr>
                        <a:t>English</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1A6A3A"/>
                    </a:solidFill>
                  </a:tcPr>
                </a:tc>
                <a:tc>
                  <a:txBody>
                    <a:bodyPr/>
                    <a:lstStyle/>
                    <a:p>
                      <a:pPr algn="l" indent="0" marL="0">
                        <a:buNone/>
                      </a:pPr>
                      <a:r>
                        <a:rPr lang="en-US" sz="750" b="1" dirty="0">
                          <a:solidFill>
                            <a:srgbClr val="FFFFFF"/>
                          </a:solidFill>
                          <a:latin typeface="Calibri" pitchFamily="34" charset="0"/>
                          <a:ea typeface="Calibri" pitchFamily="34" charset="-122"/>
                          <a:cs typeface="Calibri" pitchFamily="34" charset="-120"/>
                        </a:rPr>
                        <a:t>Pronunciation</a:t>
                      </a:r>
                      <a:endParaRPr lang="en-US" sz="750" dirty="0">
                        <a:latin typeface="Calibri" charset="0"/>
                        <a:ea typeface="Calibri" charset="0"/>
                        <a:cs typeface="Calibri" charset="0"/>
                      </a:endParaRPr>
                    </a:p>
                    <a:p>
                      <a:pPr algn="l" indent="0" marL="0">
                        <a:buNone/>
                      </a:pPr>
                      <a:r>
                        <a:rPr lang="en-US" sz="750" b="1" dirty="0">
                          <a:solidFill>
                            <a:srgbClr val="FFFFFF"/>
                          </a:solidFill>
                          <a:latin typeface="Calibri" pitchFamily="34" charset="0"/>
                          <a:ea typeface="Calibri" pitchFamily="34" charset="-122"/>
                          <a:cs typeface="Calibri" pitchFamily="34" charset="-120"/>
                        </a:rPr>
                        <a:t>Дуудлага</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1A6A3A"/>
                    </a:solidFill>
                  </a:tcPr>
                </a:tc>
                <a:tc>
                  <a:txBody>
                    <a:bodyPr/>
                    <a:lstStyle/>
                    <a:p>
                      <a:pPr algn="l" indent="0" marL="0">
                        <a:buNone/>
                      </a:pPr>
                      <a:r>
                        <a:rPr lang="en-US" sz="750" b="1" dirty="0">
                          <a:solidFill>
                            <a:srgbClr val="FFFFFF"/>
                          </a:solidFill>
                          <a:latin typeface="Calibri" pitchFamily="34" charset="0"/>
                          <a:ea typeface="Calibri" pitchFamily="34" charset="-122"/>
                          <a:cs typeface="Calibri" pitchFamily="34" charset="-120"/>
                        </a:rPr>
                        <a:t>Mongolian</a:t>
                      </a:r>
                      <a:endParaRPr lang="en-US" sz="750" dirty="0">
                        <a:latin typeface="Calibri" charset="0"/>
                        <a:ea typeface="Calibri" charset="0"/>
                        <a:cs typeface="Calibri" charset="0"/>
                      </a:endParaRPr>
                    </a:p>
                    <a:p>
                      <a:pPr algn="l" indent="0" marL="0">
                        <a:buNone/>
                      </a:pPr>
                      <a:r>
                        <a:rPr lang="en-US" sz="750" b="1" dirty="0">
                          <a:solidFill>
                            <a:srgbClr val="FFFFFF"/>
                          </a:solidFill>
                          <a:latin typeface="Calibri" pitchFamily="34" charset="0"/>
                          <a:ea typeface="Calibri" pitchFamily="34" charset="-122"/>
                          <a:cs typeface="Calibri" pitchFamily="34" charset="-120"/>
                        </a:rPr>
                        <a:t>Монгол</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1A6A3A"/>
                    </a:solidFill>
                  </a:tcPr>
                </a:tc>
                <a:tc>
                  <a:txBody>
                    <a:bodyPr/>
                    <a:lstStyle/>
                    <a:p>
                      <a:pPr algn="l" indent="0" marL="0">
                        <a:buNone/>
                      </a:pPr>
                      <a:r>
                        <a:rPr lang="en-US" sz="750" b="1" dirty="0">
                          <a:solidFill>
                            <a:srgbClr val="FFFFFF"/>
                          </a:solidFill>
                          <a:latin typeface="Calibri" pitchFamily="34" charset="0"/>
                          <a:ea typeface="Calibri" pitchFamily="34" charset="-122"/>
                          <a:cs typeface="Calibri" pitchFamily="34" charset="-120"/>
                        </a:rPr>
                        <a:t>Example sentence</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1A6A3A"/>
                    </a:solidFill>
                  </a:tcPr>
                </a:tc>
              </a:tr>
              <a:tr h="352044">
                <a:tc>
                  <a:txBody>
                    <a:bodyPr/>
                    <a:lstStyle/>
                    <a:p>
                      <a:pPr algn="ctr" indent="0" marL="0">
                        <a:buNone/>
                      </a:pPr>
                      <a:r>
                        <a:rPr lang="en-US" sz="750" dirty="0">
                          <a:solidFill>
                            <a:srgbClr val="7A90A0"/>
                          </a:solidFill>
                          <a:latin typeface="Calibri" pitchFamily="34" charset="0"/>
                          <a:ea typeface="Calibri" pitchFamily="34" charset="-122"/>
                          <a:cs typeface="Calibri" pitchFamily="34" charset="-120"/>
                        </a:rPr>
                        <a:t>1</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800" b="1" dirty="0">
                          <a:solidFill>
                            <a:srgbClr val="1A6A3A"/>
                          </a:solidFill>
                          <a:latin typeface="Calibri" pitchFamily="34" charset="0"/>
                          <a:ea typeface="Calibri" pitchFamily="34" charset="-122"/>
                          <a:cs typeface="Calibri" pitchFamily="34" charset="-120"/>
                        </a:rPr>
                        <a:t>have been studying</a:t>
                      </a:r>
                      <a:endParaRPr lang="en-US" sz="8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750" i="1" dirty="0">
                          <a:solidFill>
                            <a:srgbClr val="3A5060"/>
                          </a:solidFill>
                          <a:latin typeface="Calibri" pitchFamily="34" charset="0"/>
                          <a:ea typeface="Calibri" pitchFamily="34" charset="-122"/>
                          <a:cs typeface="Calibri" pitchFamily="34" charset="-120"/>
                        </a:rPr>
                        <a:t>/hæv biːn ˈstʌdiɪŋ/</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750" dirty="0">
                          <a:solidFill>
                            <a:srgbClr val="1A2A3A"/>
                          </a:solidFill>
                          <a:latin typeface="Calibri" pitchFamily="34" charset="0"/>
                          <a:ea typeface="Calibri" pitchFamily="34" charset="-122"/>
                          <a:cs typeface="Calibri" pitchFamily="34" charset="-120"/>
                        </a:rPr>
                        <a:t>суралцаж байсан (одоо хүртэл)</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700" i="1" dirty="0">
                          <a:solidFill>
                            <a:srgbClr val="7A90A0"/>
                          </a:solidFill>
                          <a:latin typeface="Calibri" pitchFamily="34" charset="0"/>
                          <a:ea typeface="Calibri" pitchFamily="34" charset="-122"/>
                          <a:cs typeface="Calibri" pitchFamily="34" charset="-120"/>
                        </a:rPr>
                        <a:t>I have been studying English for 63 days.</a:t>
                      </a:r>
                      <a:endParaRPr lang="en-US" sz="7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r>
              <a:tr h="352044">
                <a:tc>
                  <a:txBody>
                    <a:bodyPr/>
                    <a:lstStyle/>
                    <a:p>
                      <a:pPr algn="ctr" indent="0" marL="0">
                        <a:buNone/>
                      </a:pPr>
                      <a:r>
                        <a:rPr lang="en-US" sz="750" dirty="0">
                          <a:solidFill>
                            <a:srgbClr val="7A90A0"/>
                          </a:solidFill>
                          <a:latin typeface="Calibri" pitchFamily="34" charset="0"/>
                          <a:ea typeface="Calibri" pitchFamily="34" charset="-122"/>
                          <a:cs typeface="Calibri" pitchFamily="34" charset="-120"/>
                        </a:rPr>
                        <a:t>2</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c>
                  <a:txBody>
                    <a:bodyPr/>
                    <a:lstStyle/>
                    <a:p>
                      <a:pPr algn="l" indent="0" marL="0">
                        <a:buNone/>
                      </a:pPr>
                      <a:r>
                        <a:rPr lang="en-US" sz="800" b="1" dirty="0">
                          <a:solidFill>
                            <a:srgbClr val="1A6A3A"/>
                          </a:solidFill>
                          <a:latin typeface="Calibri" pitchFamily="34" charset="0"/>
                          <a:ea typeface="Calibri" pitchFamily="34" charset="-122"/>
                          <a:cs typeface="Calibri" pitchFamily="34" charset="-120"/>
                        </a:rPr>
                        <a:t>have been working</a:t>
                      </a:r>
                      <a:endParaRPr lang="en-US" sz="8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c>
                  <a:txBody>
                    <a:bodyPr/>
                    <a:lstStyle/>
                    <a:p>
                      <a:pPr algn="l" indent="0" marL="0">
                        <a:buNone/>
                      </a:pPr>
                      <a:r>
                        <a:rPr lang="en-US" sz="750" i="1" dirty="0">
                          <a:solidFill>
                            <a:srgbClr val="3A5060"/>
                          </a:solidFill>
                          <a:latin typeface="Calibri" pitchFamily="34" charset="0"/>
                          <a:ea typeface="Calibri" pitchFamily="34" charset="-122"/>
                          <a:cs typeface="Calibri" pitchFamily="34" charset="-120"/>
                        </a:rPr>
                        <a:t>/hæv biːn ˈwɜːrkɪŋ/</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c>
                  <a:txBody>
                    <a:bodyPr/>
                    <a:lstStyle/>
                    <a:p>
                      <a:pPr algn="l" indent="0" marL="0">
                        <a:buNone/>
                      </a:pPr>
                      <a:r>
                        <a:rPr lang="en-US" sz="750" dirty="0">
                          <a:solidFill>
                            <a:srgbClr val="1A2A3A"/>
                          </a:solidFill>
                          <a:latin typeface="Calibri" pitchFamily="34" charset="0"/>
                          <a:ea typeface="Calibri" pitchFamily="34" charset="-122"/>
                          <a:cs typeface="Calibri" pitchFamily="34" charset="-120"/>
                        </a:rPr>
                        <a:t>ажиллаж байсан</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c>
                  <a:txBody>
                    <a:bodyPr/>
                    <a:lstStyle/>
                    <a:p>
                      <a:pPr algn="l" indent="0" marL="0">
                        <a:buNone/>
                      </a:pPr>
                      <a:r>
                        <a:rPr lang="en-US" sz="700" i="1" dirty="0">
                          <a:solidFill>
                            <a:srgbClr val="7A90A0"/>
                          </a:solidFill>
                          <a:latin typeface="Calibri" pitchFamily="34" charset="0"/>
                          <a:ea typeface="Calibri" pitchFamily="34" charset="-122"/>
                          <a:cs typeface="Calibri" pitchFamily="34" charset="-120"/>
                        </a:rPr>
                        <a:t>She has been working here for 5 years.</a:t>
                      </a:r>
                      <a:endParaRPr lang="en-US" sz="7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r>
              <a:tr h="352044">
                <a:tc>
                  <a:txBody>
                    <a:bodyPr/>
                    <a:lstStyle/>
                    <a:p>
                      <a:pPr algn="ctr" indent="0" marL="0">
                        <a:buNone/>
                      </a:pPr>
                      <a:r>
                        <a:rPr lang="en-US" sz="750" dirty="0">
                          <a:solidFill>
                            <a:srgbClr val="7A90A0"/>
                          </a:solidFill>
                          <a:latin typeface="Calibri" pitchFamily="34" charset="0"/>
                          <a:ea typeface="Calibri" pitchFamily="34" charset="-122"/>
                          <a:cs typeface="Calibri" pitchFamily="34" charset="-120"/>
                        </a:rPr>
                        <a:t>3</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800" b="1" dirty="0">
                          <a:solidFill>
                            <a:srgbClr val="1A6A3A"/>
                          </a:solidFill>
                          <a:latin typeface="Calibri" pitchFamily="34" charset="0"/>
                          <a:ea typeface="Calibri" pitchFamily="34" charset="-122"/>
                          <a:cs typeface="Calibri" pitchFamily="34" charset="-120"/>
                        </a:rPr>
                        <a:t>have been living</a:t>
                      </a:r>
                      <a:endParaRPr lang="en-US" sz="8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750" i="1" dirty="0">
                          <a:solidFill>
                            <a:srgbClr val="3A5060"/>
                          </a:solidFill>
                          <a:latin typeface="Calibri" pitchFamily="34" charset="0"/>
                          <a:ea typeface="Calibri" pitchFamily="34" charset="-122"/>
                          <a:cs typeface="Calibri" pitchFamily="34" charset="-120"/>
                        </a:rPr>
                        <a:t>/hæv biːn ˈlɪvɪŋ/</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750" dirty="0">
                          <a:solidFill>
                            <a:srgbClr val="1A2A3A"/>
                          </a:solidFill>
                          <a:latin typeface="Calibri" pitchFamily="34" charset="0"/>
                          <a:ea typeface="Calibri" pitchFamily="34" charset="-122"/>
                          <a:cs typeface="Calibri" pitchFamily="34" charset="-120"/>
                        </a:rPr>
                        <a:t>амьдарч байсан</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700" i="1" dirty="0">
                          <a:solidFill>
                            <a:srgbClr val="7A90A0"/>
                          </a:solidFill>
                          <a:latin typeface="Calibri" pitchFamily="34" charset="0"/>
                          <a:ea typeface="Calibri" pitchFamily="34" charset="-122"/>
                          <a:cs typeface="Calibri" pitchFamily="34" charset="-120"/>
                        </a:rPr>
                        <a:t>We have been living here since 2018.</a:t>
                      </a:r>
                      <a:endParaRPr lang="en-US" sz="7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r>
              <a:tr h="352044">
                <a:tc>
                  <a:txBody>
                    <a:bodyPr/>
                    <a:lstStyle/>
                    <a:p>
                      <a:pPr algn="ctr" indent="0" marL="0">
                        <a:buNone/>
                      </a:pPr>
                      <a:r>
                        <a:rPr lang="en-US" sz="750" dirty="0">
                          <a:solidFill>
                            <a:srgbClr val="7A90A0"/>
                          </a:solidFill>
                          <a:latin typeface="Calibri" pitchFamily="34" charset="0"/>
                          <a:ea typeface="Calibri" pitchFamily="34" charset="-122"/>
                          <a:cs typeface="Calibri" pitchFamily="34" charset="-120"/>
                        </a:rPr>
                        <a:t>4</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c>
                  <a:txBody>
                    <a:bodyPr/>
                    <a:lstStyle/>
                    <a:p>
                      <a:pPr algn="l" indent="0" marL="0">
                        <a:buNone/>
                      </a:pPr>
                      <a:r>
                        <a:rPr lang="en-US" sz="800" b="1" dirty="0">
                          <a:solidFill>
                            <a:srgbClr val="1A6A3A"/>
                          </a:solidFill>
                          <a:latin typeface="Calibri" pitchFamily="34" charset="0"/>
                          <a:ea typeface="Calibri" pitchFamily="34" charset="-122"/>
                          <a:cs typeface="Calibri" pitchFamily="34" charset="-120"/>
                        </a:rPr>
                        <a:t>have been learning</a:t>
                      </a:r>
                      <a:endParaRPr lang="en-US" sz="8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c>
                  <a:txBody>
                    <a:bodyPr/>
                    <a:lstStyle/>
                    <a:p>
                      <a:pPr algn="l" indent="0" marL="0">
                        <a:buNone/>
                      </a:pPr>
                      <a:r>
                        <a:rPr lang="en-US" sz="750" i="1" dirty="0">
                          <a:solidFill>
                            <a:srgbClr val="3A5060"/>
                          </a:solidFill>
                          <a:latin typeface="Calibri" pitchFamily="34" charset="0"/>
                          <a:ea typeface="Calibri" pitchFamily="34" charset="-122"/>
                          <a:cs typeface="Calibri" pitchFamily="34" charset="-120"/>
                        </a:rPr>
                        <a:t>/hæv biːn ˈlɜːrnɪŋ/</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c>
                  <a:txBody>
                    <a:bodyPr/>
                    <a:lstStyle/>
                    <a:p>
                      <a:pPr algn="l" indent="0" marL="0">
                        <a:buNone/>
                      </a:pPr>
                      <a:r>
                        <a:rPr lang="en-US" sz="750" dirty="0">
                          <a:solidFill>
                            <a:srgbClr val="1A2A3A"/>
                          </a:solidFill>
                          <a:latin typeface="Calibri" pitchFamily="34" charset="0"/>
                          <a:ea typeface="Calibri" pitchFamily="34" charset="-122"/>
                          <a:cs typeface="Calibri" pitchFamily="34" charset="-120"/>
                        </a:rPr>
                        <a:t>суралцаж байсан</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c>
                  <a:txBody>
                    <a:bodyPr/>
                    <a:lstStyle/>
                    <a:p>
                      <a:pPr algn="l" indent="0" marL="0">
                        <a:buNone/>
                      </a:pPr>
                      <a:r>
                        <a:rPr lang="en-US" sz="700" i="1" dirty="0">
                          <a:solidFill>
                            <a:srgbClr val="7A90A0"/>
                          </a:solidFill>
                          <a:latin typeface="Calibri" pitchFamily="34" charset="0"/>
                          <a:ea typeface="Calibri" pitchFamily="34" charset="-122"/>
                          <a:cs typeface="Calibri" pitchFamily="34" charset="-120"/>
                        </a:rPr>
                        <a:t>He has been learning guitar for a month.</a:t>
                      </a:r>
                      <a:endParaRPr lang="en-US" sz="7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r>
              <a:tr h="352044">
                <a:tc>
                  <a:txBody>
                    <a:bodyPr/>
                    <a:lstStyle/>
                    <a:p>
                      <a:pPr algn="ctr" indent="0" marL="0">
                        <a:buNone/>
                      </a:pPr>
                      <a:r>
                        <a:rPr lang="en-US" sz="750" dirty="0">
                          <a:solidFill>
                            <a:srgbClr val="7A90A0"/>
                          </a:solidFill>
                          <a:latin typeface="Calibri" pitchFamily="34" charset="0"/>
                          <a:ea typeface="Calibri" pitchFamily="34" charset="-122"/>
                          <a:cs typeface="Calibri" pitchFamily="34" charset="-120"/>
                        </a:rPr>
                        <a:t>5</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800" b="1" dirty="0">
                          <a:solidFill>
                            <a:srgbClr val="1A6A3A"/>
                          </a:solidFill>
                          <a:latin typeface="Calibri" pitchFamily="34" charset="0"/>
                          <a:ea typeface="Calibri" pitchFamily="34" charset="-122"/>
                          <a:cs typeface="Calibri" pitchFamily="34" charset="-120"/>
                        </a:rPr>
                        <a:t>have been waiting</a:t>
                      </a:r>
                      <a:endParaRPr lang="en-US" sz="8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750" i="1" dirty="0">
                          <a:solidFill>
                            <a:srgbClr val="3A5060"/>
                          </a:solidFill>
                          <a:latin typeface="Calibri" pitchFamily="34" charset="0"/>
                          <a:ea typeface="Calibri" pitchFamily="34" charset="-122"/>
                          <a:cs typeface="Calibri" pitchFamily="34" charset="-120"/>
                        </a:rPr>
                        <a:t>/hæv biːn ˈweɪtɪŋ/</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750" dirty="0">
                          <a:solidFill>
                            <a:srgbClr val="1A2A3A"/>
                          </a:solidFill>
                          <a:latin typeface="Calibri" pitchFamily="34" charset="0"/>
                          <a:ea typeface="Calibri" pitchFamily="34" charset="-122"/>
                          <a:cs typeface="Calibri" pitchFamily="34" charset="-120"/>
                        </a:rPr>
                        <a:t>хүлээж байсан</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700" i="1" dirty="0">
                          <a:solidFill>
                            <a:srgbClr val="7A90A0"/>
                          </a:solidFill>
                          <a:latin typeface="Calibri" pitchFamily="34" charset="0"/>
                          <a:ea typeface="Calibri" pitchFamily="34" charset="-122"/>
                          <a:cs typeface="Calibri" pitchFamily="34" charset="-120"/>
                        </a:rPr>
                        <a:t>I have been waiting for two hours!</a:t>
                      </a:r>
                      <a:endParaRPr lang="en-US" sz="7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r>
              <a:tr h="352044">
                <a:tc>
                  <a:txBody>
                    <a:bodyPr/>
                    <a:lstStyle/>
                    <a:p>
                      <a:pPr algn="ctr" indent="0" marL="0">
                        <a:buNone/>
                      </a:pPr>
                      <a:r>
                        <a:rPr lang="en-US" sz="750" dirty="0">
                          <a:solidFill>
                            <a:srgbClr val="7A90A0"/>
                          </a:solidFill>
                          <a:latin typeface="Calibri" pitchFamily="34" charset="0"/>
                          <a:ea typeface="Calibri" pitchFamily="34" charset="-122"/>
                          <a:cs typeface="Calibri" pitchFamily="34" charset="-120"/>
                        </a:rPr>
                        <a:t>6</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c>
                  <a:txBody>
                    <a:bodyPr/>
                    <a:lstStyle/>
                    <a:p>
                      <a:pPr algn="l" indent="0" marL="0">
                        <a:buNone/>
                      </a:pPr>
                      <a:r>
                        <a:rPr lang="en-US" sz="800" b="1" dirty="0">
                          <a:solidFill>
                            <a:srgbClr val="1A6A3A"/>
                          </a:solidFill>
                          <a:latin typeface="Calibri" pitchFamily="34" charset="0"/>
                          <a:ea typeface="Calibri" pitchFamily="34" charset="-122"/>
                          <a:cs typeface="Calibri" pitchFamily="34" charset="-120"/>
                        </a:rPr>
                        <a:t>have been trying</a:t>
                      </a:r>
                      <a:endParaRPr lang="en-US" sz="8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c>
                  <a:txBody>
                    <a:bodyPr/>
                    <a:lstStyle/>
                    <a:p>
                      <a:pPr algn="l" indent="0" marL="0">
                        <a:buNone/>
                      </a:pPr>
                      <a:r>
                        <a:rPr lang="en-US" sz="750" i="1" dirty="0">
                          <a:solidFill>
                            <a:srgbClr val="3A5060"/>
                          </a:solidFill>
                          <a:latin typeface="Calibri" pitchFamily="34" charset="0"/>
                          <a:ea typeface="Calibri" pitchFamily="34" charset="-122"/>
                          <a:cs typeface="Calibri" pitchFamily="34" charset="-120"/>
                        </a:rPr>
                        <a:t>/hæv biːn ˈtraɪɪŋ/</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c>
                  <a:txBody>
                    <a:bodyPr/>
                    <a:lstStyle/>
                    <a:p>
                      <a:pPr algn="l" indent="0" marL="0">
                        <a:buNone/>
                      </a:pPr>
                      <a:r>
                        <a:rPr lang="en-US" sz="750" dirty="0">
                          <a:solidFill>
                            <a:srgbClr val="1A2A3A"/>
                          </a:solidFill>
                          <a:latin typeface="Calibri" pitchFamily="34" charset="0"/>
                          <a:ea typeface="Calibri" pitchFamily="34" charset="-122"/>
                          <a:cs typeface="Calibri" pitchFamily="34" charset="-120"/>
                        </a:rPr>
                        <a:t>оролдож байсан</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c>
                  <a:txBody>
                    <a:bodyPr/>
                    <a:lstStyle/>
                    <a:p>
                      <a:pPr algn="l" indent="0" marL="0">
                        <a:buNone/>
                      </a:pPr>
                      <a:r>
                        <a:rPr lang="en-US" sz="700" i="1" dirty="0">
                          <a:solidFill>
                            <a:srgbClr val="7A90A0"/>
                          </a:solidFill>
                          <a:latin typeface="Calibri" pitchFamily="34" charset="0"/>
                          <a:ea typeface="Calibri" pitchFamily="34" charset="-122"/>
                          <a:cs typeface="Calibri" pitchFamily="34" charset="-120"/>
                        </a:rPr>
                        <a:t>I have been trying to call you all day.</a:t>
                      </a:r>
                      <a:endParaRPr lang="en-US" sz="7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r>
              <a:tr h="352044">
                <a:tc>
                  <a:txBody>
                    <a:bodyPr/>
                    <a:lstStyle/>
                    <a:p>
                      <a:pPr algn="ctr" indent="0" marL="0">
                        <a:buNone/>
                      </a:pPr>
                      <a:r>
                        <a:rPr lang="en-US" sz="750" dirty="0">
                          <a:solidFill>
                            <a:srgbClr val="7A90A0"/>
                          </a:solidFill>
                          <a:latin typeface="Calibri" pitchFamily="34" charset="0"/>
                          <a:ea typeface="Calibri" pitchFamily="34" charset="-122"/>
                          <a:cs typeface="Calibri" pitchFamily="34" charset="-120"/>
                        </a:rPr>
                        <a:t>7</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800" b="1" dirty="0">
                          <a:solidFill>
                            <a:srgbClr val="1A6A3A"/>
                          </a:solidFill>
                          <a:latin typeface="Calibri" pitchFamily="34" charset="0"/>
                          <a:ea typeface="Calibri" pitchFamily="34" charset="-122"/>
                          <a:cs typeface="Calibri" pitchFamily="34" charset="-120"/>
                        </a:rPr>
                        <a:t>have been thinking</a:t>
                      </a:r>
                      <a:endParaRPr lang="en-US" sz="8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750" i="1" dirty="0">
                          <a:solidFill>
                            <a:srgbClr val="3A5060"/>
                          </a:solidFill>
                          <a:latin typeface="Calibri" pitchFamily="34" charset="0"/>
                          <a:ea typeface="Calibri" pitchFamily="34" charset="-122"/>
                          <a:cs typeface="Calibri" pitchFamily="34" charset="-120"/>
                        </a:rPr>
                        <a:t>/hæv biːn ˈθɪŋkɪŋ/</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750" dirty="0">
                          <a:solidFill>
                            <a:srgbClr val="1A2A3A"/>
                          </a:solidFill>
                          <a:latin typeface="Calibri" pitchFamily="34" charset="0"/>
                          <a:ea typeface="Calibri" pitchFamily="34" charset="-122"/>
                          <a:cs typeface="Calibri" pitchFamily="34" charset="-120"/>
                        </a:rPr>
                        <a:t>бодож байсан</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700" i="1" dirty="0">
                          <a:solidFill>
                            <a:srgbClr val="7A90A0"/>
                          </a:solidFill>
                          <a:latin typeface="Calibri" pitchFamily="34" charset="0"/>
                          <a:ea typeface="Calibri" pitchFamily="34" charset="-122"/>
                          <a:cs typeface="Calibri" pitchFamily="34" charset="-120"/>
                        </a:rPr>
                        <a:t>I have been thinking about this all week.</a:t>
                      </a:r>
                      <a:endParaRPr lang="en-US" sz="7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r>
              <a:tr h="352044">
                <a:tc>
                  <a:txBody>
                    <a:bodyPr/>
                    <a:lstStyle/>
                    <a:p>
                      <a:pPr algn="ctr" indent="0" marL="0">
                        <a:buNone/>
                      </a:pPr>
                      <a:r>
                        <a:rPr lang="en-US" sz="750" dirty="0">
                          <a:solidFill>
                            <a:srgbClr val="7A90A0"/>
                          </a:solidFill>
                          <a:latin typeface="Calibri" pitchFamily="34" charset="0"/>
                          <a:ea typeface="Calibri" pitchFamily="34" charset="-122"/>
                          <a:cs typeface="Calibri" pitchFamily="34" charset="-120"/>
                        </a:rPr>
                        <a:t>8</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c>
                  <a:txBody>
                    <a:bodyPr/>
                    <a:lstStyle/>
                    <a:p>
                      <a:pPr algn="l" indent="0" marL="0">
                        <a:buNone/>
                      </a:pPr>
                      <a:r>
                        <a:rPr lang="en-US" sz="800" b="1" dirty="0">
                          <a:solidFill>
                            <a:srgbClr val="1A6A3A"/>
                          </a:solidFill>
                          <a:latin typeface="Calibri" pitchFamily="34" charset="0"/>
                          <a:ea typeface="Calibri" pitchFamily="34" charset="-122"/>
                          <a:cs typeface="Calibri" pitchFamily="34" charset="-120"/>
                        </a:rPr>
                        <a:t>have been running</a:t>
                      </a:r>
                      <a:endParaRPr lang="en-US" sz="8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c>
                  <a:txBody>
                    <a:bodyPr/>
                    <a:lstStyle/>
                    <a:p>
                      <a:pPr algn="l" indent="0" marL="0">
                        <a:buNone/>
                      </a:pPr>
                      <a:r>
                        <a:rPr lang="en-US" sz="750" i="1" dirty="0">
                          <a:solidFill>
                            <a:srgbClr val="3A5060"/>
                          </a:solidFill>
                          <a:latin typeface="Calibri" pitchFamily="34" charset="0"/>
                          <a:ea typeface="Calibri" pitchFamily="34" charset="-122"/>
                          <a:cs typeface="Calibri" pitchFamily="34" charset="-120"/>
                        </a:rPr>
                        <a:t>/hæv biːn ˈrʌnɪŋ/</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c>
                  <a:txBody>
                    <a:bodyPr/>
                    <a:lstStyle/>
                    <a:p>
                      <a:pPr algn="l" indent="0" marL="0">
                        <a:buNone/>
                      </a:pPr>
                      <a:r>
                        <a:rPr lang="en-US" sz="750" dirty="0">
                          <a:solidFill>
                            <a:srgbClr val="1A2A3A"/>
                          </a:solidFill>
                          <a:latin typeface="Calibri" pitchFamily="34" charset="0"/>
                          <a:ea typeface="Calibri" pitchFamily="34" charset="-122"/>
                          <a:cs typeface="Calibri" pitchFamily="34" charset="-120"/>
                        </a:rPr>
                        <a:t>гүйж байсан</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c>
                  <a:txBody>
                    <a:bodyPr/>
                    <a:lstStyle/>
                    <a:p>
                      <a:pPr algn="l" indent="0" marL="0">
                        <a:buNone/>
                      </a:pPr>
                      <a:r>
                        <a:rPr lang="en-US" sz="700" i="1" dirty="0">
                          <a:solidFill>
                            <a:srgbClr val="7A90A0"/>
                          </a:solidFill>
                          <a:latin typeface="Calibri" pitchFamily="34" charset="0"/>
                          <a:ea typeface="Calibri" pitchFamily="34" charset="-122"/>
                          <a:cs typeface="Calibri" pitchFamily="34" charset="-120"/>
                        </a:rPr>
                        <a:t>She has been running every morning.</a:t>
                      </a:r>
                      <a:endParaRPr lang="en-US" sz="7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r>
              <a:tr h="352044">
                <a:tc>
                  <a:txBody>
                    <a:bodyPr/>
                    <a:lstStyle/>
                    <a:p>
                      <a:pPr algn="ctr" indent="0" marL="0">
                        <a:buNone/>
                      </a:pPr>
                      <a:r>
                        <a:rPr lang="en-US" sz="750" dirty="0">
                          <a:solidFill>
                            <a:srgbClr val="7A90A0"/>
                          </a:solidFill>
                          <a:latin typeface="Calibri" pitchFamily="34" charset="0"/>
                          <a:ea typeface="Calibri" pitchFamily="34" charset="-122"/>
                          <a:cs typeface="Calibri" pitchFamily="34" charset="-120"/>
                        </a:rPr>
                        <a:t>9</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800" b="1" dirty="0">
                          <a:solidFill>
                            <a:srgbClr val="1A6A3A"/>
                          </a:solidFill>
                          <a:latin typeface="Calibri" pitchFamily="34" charset="0"/>
                          <a:ea typeface="Calibri" pitchFamily="34" charset="-122"/>
                          <a:cs typeface="Calibri" pitchFamily="34" charset="-120"/>
                        </a:rPr>
                        <a:t>ongoing</a:t>
                      </a:r>
                      <a:endParaRPr lang="en-US" sz="8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750" i="1" dirty="0">
                          <a:solidFill>
                            <a:srgbClr val="3A5060"/>
                          </a:solidFill>
                          <a:latin typeface="Calibri" pitchFamily="34" charset="0"/>
                          <a:ea typeface="Calibri" pitchFamily="34" charset="-122"/>
                          <a:cs typeface="Calibri" pitchFamily="34" charset="-120"/>
                        </a:rPr>
                        <a:t>/ˈɒnɡoʊɪŋ/</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750" dirty="0">
                          <a:solidFill>
                            <a:srgbClr val="1A2A3A"/>
                          </a:solidFill>
                          <a:latin typeface="Calibri" pitchFamily="34" charset="0"/>
                          <a:ea typeface="Calibri" pitchFamily="34" charset="-122"/>
                          <a:cs typeface="Calibri" pitchFamily="34" charset="-120"/>
                        </a:rPr>
                        <a:t>үргэлжилж байгаа</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700" i="1" dirty="0">
                          <a:solidFill>
                            <a:srgbClr val="7A90A0"/>
                          </a:solidFill>
                          <a:latin typeface="Calibri" pitchFamily="34" charset="0"/>
                          <a:ea typeface="Calibri" pitchFamily="34" charset="-122"/>
                          <a:cs typeface="Calibri" pitchFamily="34" charset="-120"/>
                        </a:rPr>
                        <a:t>This is an ongoing process.</a:t>
                      </a:r>
                      <a:endParaRPr lang="en-US" sz="7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r>
              <a:tr h="352044">
                <a:tc>
                  <a:txBody>
                    <a:bodyPr/>
                    <a:lstStyle/>
                    <a:p>
                      <a:pPr algn="ctr" indent="0" marL="0">
                        <a:buNone/>
                      </a:pPr>
                      <a:r>
                        <a:rPr lang="en-US" sz="750" dirty="0">
                          <a:solidFill>
                            <a:srgbClr val="7A90A0"/>
                          </a:solidFill>
                          <a:latin typeface="Calibri" pitchFamily="34" charset="0"/>
                          <a:ea typeface="Calibri" pitchFamily="34" charset="-122"/>
                          <a:cs typeface="Calibri" pitchFamily="34" charset="-120"/>
                        </a:rPr>
                        <a:t>10</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c>
                  <a:txBody>
                    <a:bodyPr/>
                    <a:lstStyle/>
                    <a:p>
                      <a:pPr algn="l" indent="0" marL="0">
                        <a:buNone/>
                      </a:pPr>
                      <a:r>
                        <a:rPr lang="en-US" sz="800" b="1" dirty="0">
                          <a:solidFill>
                            <a:srgbClr val="1A6A3A"/>
                          </a:solidFill>
                          <a:latin typeface="Calibri" pitchFamily="34" charset="0"/>
                          <a:ea typeface="Calibri" pitchFamily="34" charset="-122"/>
                          <a:cs typeface="Calibri" pitchFamily="34" charset="-120"/>
                        </a:rPr>
                        <a:t>recently</a:t>
                      </a:r>
                      <a:endParaRPr lang="en-US" sz="8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c>
                  <a:txBody>
                    <a:bodyPr/>
                    <a:lstStyle/>
                    <a:p>
                      <a:pPr algn="l" indent="0" marL="0">
                        <a:buNone/>
                      </a:pPr>
                      <a:r>
                        <a:rPr lang="en-US" sz="750" i="1" dirty="0">
                          <a:solidFill>
                            <a:srgbClr val="3A5060"/>
                          </a:solidFill>
                          <a:latin typeface="Calibri" pitchFamily="34" charset="0"/>
                          <a:ea typeface="Calibri" pitchFamily="34" charset="-122"/>
                          <a:cs typeface="Calibri" pitchFamily="34" charset="-120"/>
                        </a:rPr>
                        <a:t>/ˈriːsəntli/</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c>
                  <a:txBody>
                    <a:bodyPr/>
                    <a:lstStyle/>
                    <a:p>
                      <a:pPr algn="l" indent="0" marL="0">
                        <a:buNone/>
                      </a:pPr>
                      <a:r>
                        <a:rPr lang="en-US" sz="750" dirty="0">
                          <a:solidFill>
                            <a:srgbClr val="1A2A3A"/>
                          </a:solidFill>
                          <a:latin typeface="Calibri" pitchFamily="34" charset="0"/>
                          <a:ea typeface="Calibri" pitchFamily="34" charset="-122"/>
                          <a:cs typeface="Calibri" pitchFamily="34" charset="-120"/>
                        </a:rPr>
                        <a:t>сүүлийн үед</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c>
                  <a:txBody>
                    <a:bodyPr/>
                    <a:lstStyle/>
                    <a:p>
                      <a:pPr algn="l" indent="0" marL="0">
                        <a:buNone/>
                      </a:pPr>
                      <a:r>
                        <a:rPr lang="en-US" sz="700" i="1" dirty="0">
                          <a:solidFill>
                            <a:srgbClr val="7A90A0"/>
                          </a:solidFill>
                          <a:latin typeface="Calibri" pitchFamily="34" charset="0"/>
                          <a:ea typeface="Calibri" pitchFamily="34" charset="-122"/>
                          <a:cs typeface="Calibri" pitchFamily="34" charset="-120"/>
                        </a:rPr>
                        <a:t>Recently I have been feeling great!</a:t>
                      </a:r>
                      <a:endParaRPr lang="en-US" sz="7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r>
              <a:tr h="352044">
                <a:tc>
                  <a:txBody>
                    <a:bodyPr/>
                    <a:lstStyle/>
                    <a:p>
                      <a:pPr algn="ctr" indent="0" marL="0">
                        <a:buNone/>
                      </a:pPr>
                      <a:r>
                        <a:rPr lang="en-US" sz="750" dirty="0">
                          <a:solidFill>
                            <a:srgbClr val="7A90A0"/>
                          </a:solidFill>
                          <a:latin typeface="Calibri" pitchFamily="34" charset="0"/>
                          <a:ea typeface="Calibri" pitchFamily="34" charset="-122"/>
                          <a:cs typeface="Calibri" pitchFamily="34" charset="-120"/>
                        </a:rPr>
                        <a:t>11</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800" b="1" dirty="0">
                          <a:solidFill>
                            <a:srgbClr val="1A6A3A"/>
                          </a:solidFill>
                          <a:latin typeface="Calibri" pitchFamily="34" charset="0"/>
                          <a:ea typeface="Calibri" pitchFamily="34" charset="-122"/>
                          <a:cs typeface="Calibri" pitchFamily="34" charset="-120"/>
                        </a:rPr>
                        <a:t>lately</a:t>
                      </a:r>
                      <a:endParaRPr lang="en-US" sz="8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750" i="1" dirty="0">
                          <a:solidFill>
                            <a:srgbClr val="3A5060"/>
                          </a:solidFill>
                          <a:latin typeface="Calibri" pitchFamily="34" charset="0"/>
                          <a:ea typeface="Calibri" pitchFamily="34" charset="-122"/>
                          <a:cs typeface="Calibri" pitchFamily="34" charset="-120"/>
                        </a:rPr>
                        <a:t>/ˈleɪtli/</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750" dirty="0">
                          <a:solidFill>
                            <a:srgbClr val="1A2A3A"/>
                          </a:solidFill>
                          <a:latin typeface="Calibri" pitchFamily="34" charset="0"/>
                          <a:ea typeface="Calibri" pitchFamily="34" charset="-122"/>
                          <a:cs typeface="Calibri" pitchFamily="34" charset="-120"/>
                        </a:rPr>
                        <a:t>сүүлийн үед</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700" i="1" dirty="0">
                          <a:solidFill>
                            <a:srgbClr val="7A90A0"/>
                          </a:solidFill>
                          <a:latin typeface="Calibri" pitchFamily="34" charset="0"/>
                          <a:ea typeface="Calibri" pitchFamily="34" charset="-122"/>
                          <a:cs typeface="Calibri" pitchFamily="34" charset="-120"/>
                        </a:rPr>
                        <a:t>Lately I have been sleeping better.</a:t>
                      </a:r>
                      <a:endParaRPr lang="en-US" sz="7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r>
              <a:tr h="352044">
                <a:tc>
                  <a:txBody>
                    <a:bodyPr/>
                    <a:lstStyle/>
                    <a:p>
                      <a:pPr algn="ctr" indent="0" marL="0">
                        <a:buNone/>
                      </a:pPr>
                      <a:r>
                        <a:rPr lang="en-US" sz="750" dirty="0">
                          <a:solidFill>
                            <a:srgbClr val="7A90A0"/>
                          </a:solidFill>
                          <a:latin typeface="Calibri" pitchFamily="34" charset="0"/>
                          <a:ea typeface="Calibri" pitchFamily="34" charset="-122"/>
                          <a:cs typeface="Calibri" pitchFamily="34" charset="-120"/>
                        </a:rPr>
                        <a:t>12</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c>
                  <a:txBody>
                    <a:bodyPr/>
                    <a:lstStyle/>
                    <a:p>
                      <a:pPr algn="l" indent="0" marL="0">
                        <a:buNone/>
                      </a:pPr>
                      <a:r>
                        <a:rPr lang="en-US" sz="800" b="1" dirty="0">
                          <a:solidFill>
                            <a:srgbClr val="1A6A3A"/>
                          </a:solidFill>
                          <a:latin typeface="Calibri" pitchFamily="34" charset="0"/>
                          <a:ea typeface="Calibri" pitchFamily="34" charset="-122"/>
                          <a:cs typeface="Calibri" pitchFamily="34" charset="-120"/>
                        </a:rPr>
                        <a:t>all day</a:t>
                      </a:r>
                      <a:endParaRPr lang="en-US" sz="8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c>
                  <a:txBody>
                    <a:bodyPr/>
                    <a:lstStyle/>
                    <a:p>
                      <a:pPr algn="l" indent="0" marL="0">
                        <a:buNone/>
                      </a:pPr>
                      <a:r>
                        <a:rPr lang="en-US" sz="750" i="1" dirty="0">
                          <a:solidFill>
                            <a:srgbClr val="3A5060"/>
                          </a:solidFill>
                          <a:latin typeface="Calibri" pitchFamily="34" charset="0"/>
                          <a:ea typeface="Calibri" pitchFamily="34" charset="-122"/>
                          <a:cs typeface="Calibri" pitchFamily="34" charset="-120"/>
                        </a:rPr>
                        <a:t>/ɔːl deɪ/</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c>
                  <a:txBody>
                    <a:bodyPr/>
                    <a:lstStyle/>
                    <a:p>
                      <a:pPr algn="l" indent="0" marL="0">
                        <a:buNone/>
                      </a:pPr>
                      <a:r>
                        <a:rPr lang="en-US" sz="750" dirty="0">
                          <a:solidFill>
                            <a:srgbClr val="1A2A3A"/>
                          </a:solidFill>
                          <a:latin typeface="Calibri" pitchFamily="34" charset="0"/>
                          <a:ea typeface="Calibri" pitchFamily="34" charset="-122"/>
                          <a:cs typeface="Calibri" pitchFamily="34" charset="-120"/>
                        </a:rPr>
                        <a:t>бүтэн өдрийн турш</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c>
                  <a:txBody>
                    <a:bodyPr/>
                    <a:lstStyle/>
                    <a:p>
                      <a:pPr algn="l" indent="0" marL="0">
                        <a:buNone/>
                      </a:pPr>
                      <a:r>
                        <a:rPr lang="en-US" sz="700" i="1" dirty="0">
                          <a:solidFill>
                            <a:srgbClr val="7A90A0"/>
                          </a:solidFill>
                          <a:latin typeface="Calibri" pitchFamily="34" charset="0"/>
                          <a:ea typeface="Calibri" pitchFamily="34" charset="-122"/>
                          <a:cs typeface="Calibri" pitchFamily="34" charset="-120"/>
                        </a:rPr>
                        <a:t>I have been studying all day.</a:t>
                      </a:r>
                      <a:endParaRPr lang="en-US" sz="7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r>
              <a:tr h="352044">
                <a:tc>
                  <a:txBody>
                    <a:bodyPr/>
                    <a:lstStyle/>
                    <a:p>
                      <a:pPr algn="ctr" indent="0" marL="0">
                        <a:buNone/>
                      </a:pPr>
                      <a:r>
                        <a:rPr lang="en-US" sz="750" dirty="0">
                          <a:solidFill>
                            <a:srgbClr val="7A90A0"/>
                          </a:solidFill>
                          <a:latin typeface="Calibri" pitchFamily="34" charset="0"/>
                          <a:ea typeface="Calibri" pitchFamily="34" charset="-122"/>
                          <a:cs typeface="Calibri" pitchFamily="34" charset="-120"/>
                        </a:rPr>
                        <a:t>13</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800" b="1" dirty="0">
                          <a:solidFill>
                            <a:srgbClr val="1A6A3A"/>
                          </a:solidFill>
                          <a:latin typeface="Calibri" pitchFamily="34" charset="0"/>
                          <a:ea typeface="Calibri" pitchFamily="34" charset="-122"/>
                          <a:cs typeface="Calibri" pitchFamily="34" charset="-120"/>
                        </a:rPr>
                        <a:t>all week</a:t>
                      </a:r>
                      <a:endParaRPr lang="en-US" sz="8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750" i="1" dirty="0">
                          <a:solidFill>
                            <a:srgbClr val="3A5060"/>
                          </a:solidFill>
                          <a:latin typeface="Calibri" pitchFamily="34" charset="0"/>
                          <a:ea typeface="Calibri" pitchFamily="34" charset="-122"/>
                          <a:cs typeface="Calibri" pitchFamily="34" charset="-120"/>
                        </a:rPr>
                        <a:t>/ɔːl wiːk/</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750" dirty="0">
                          <a:solidFill>
                            <a:srgbClr val="1A2A3A"/>
                          </a:solidFill>
                          <a:latin typeface="Calibri" pitchFamily="34" charset="0"/>
                          <a:ea typeface="Calibri" pitchFamily="34" charset="-122"/>
                          <a:cs typeface="Calibri" pitchFamily="34" charset="-120"/>
                        </a:rPr>
                        <a:t>бүтэн долоо хоногийн турш</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700" i="1" dirty="0">
                          <a:solidFill>
                            <a:srgbClr val="7A90A0"/>
                          </a:solidFill>
                          <a:latin typeface="Calibri" pitchFamily="34" charset="0"/>
                          <a:ea typeface="Calibri" pitchFamily="34" charset="-122"/>
                          <a:cs typeface="Calibri" pitchFamily="34" charset="-120"/>
                        </a:rPr>
                        <a:t>She has been painting all week.</a:t>
                      </a:r>
                      <a:endParaRPr lang="en-US" sz="7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r>
              <a:tr h="352044">
                <a:tc>
                  <a:txBody>
                    <a:bodyPr/>
                    <a:lstStyle/>
                    <a:p>
                      <a:pPr algn="ctr" indent="0" marL="0">
                        <a:buNone/>
                      </a:pPr>
                      <a:r>
                        <a:rPr lang="en-US" sz="750" dirty="0">
                          <a:solidFill>
                            <a:srgbClr val="7A90A0"/>
                          </a:solidFill>
                          <a:latin typeface="Calibri" pitchFamily="34" charset="0"/>
                          <a:ea typeface="Calibri" pitchFamily="34" charset="-122"/>
                          <a:cs typeface="Calibri" pitchFamily="34" charset="-120"/>
                        </a:rPr>
                        <a:t>14</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c>
                  <a:txBody>
                    <a:bodyPr/>
                    <a:lstStyle/>
                    <a:p>
                      <a:pPr algn="l" indent="0" marL="0">
                        <a:buNone/>
                      </a:pPr>
                      <a:r>
                        <a:rPr lang="en-US" sz="800" b="1" dirty="0">
                          <a:solidFill>
                            <a:srgbClr val="1A6A3A"/>
                          </a:solidFill>
                          <a:latin typeface="Calibri" pitchFamily="34" charset="0"/>
                          <a:ea typeface="Calibri" pitchFamily="34" charset="-122"/>
                          <a:cs typeface="Calibri" pitchFamily="34" charset="-120"/>
                        </a:rPr>
                        <a:t>progress</a:t>
                      </a:r>
                      <a:endParaRPr lang="en-US" sz="8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c>
                  <a:txBody>
                    <a:bodyPr/>
                    <a:lstStyle/>
                    <a:p>
                      <a:pPr algn="l" indent="0" marL="0">
                        <a:buNone/>
                      </a:pPr>
                      <a:r>
                        <a:rPr lang="en-US" sz="750" i="1" dirty="0">
                          <a:solidFill>
                            <a:srgbClr val="3A5060"/>
                          </a:solidFill>
                          <a:latin typeface="Calibri" pitchFamily="34" charset="0"/>
                          <a:ea typeface="Calibri" pitchFamily="34" charset="-122"/>
                          <a:cs typeface="Calibri" pitchFamily="34" charset="-120"/>
                        </a:rPr>
                        <a:t>/ˈprəʊɡrɛs/</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c>
                  <a:txBody>
                    <a:bodyPr/>
                    <a:lstStyle/>
                    <a:p>
                      <a:pPr algn="l" indent="0" marL="0">
                        <a:buNone/>
                      </a:pPr>
                      <a:r>
                        <a:rPr lang="en-US" sz="750" dirty="0">
                          <a:solidFill>
                            <a:srgbClr val="1A2A3A"/>
                          </a:solidFill>
                          <a:latin typeface="Calibri" pitchFamily="34" charset="0"/>
                          <a:ea typeface="Calibri" pitchFamily="34" charset="-122"/>
                          <a:cs typeface="Calibri" pitchFamily="34" charset="-120"/>
                        </a:rPr>
                        <a:t>ахиц</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c>
                  <a:txBody>
                    <a:bodyPr/>
                    <a:lstStyle/>
                    <a:p>
                      <a:pPr algn="l" indent="0" marL="0">
                        <a:buNone/>
                      </a:pPr>
                      <a:r>
                        <a:rPr lang="en-US" sz="700" i="1" dirty="0">
                          <a:solidFill>
                            <a:srgbClr val="7A90A0"/>
                          </a:solidFill>
                          <a:latin typeface="Calibri" pitchFamily="34" charset="0"/>
                          <a:ea typeface="Calibri" pitchFamily="34" charset="-122"/>
                          <a:cs typeface="Calibri" pitchFamily="34" charset="-120"/>
                        </a:rPr>
                        <a:t>I have been making great progress.</a:t>
                      </a:r>
                      <a:endParaRPr lang="en-US" sz="7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r>
              <a:tr h="352044">
                <a:tc>
                  <a:txBody>
                    <a:bodyPr/>
                    <a:lstStyle/>
                    <a:p>
                      <a:pPr algn="ctr" indent="0" marL="0">
                        <a:buNone/>
                      </a:pPr>
                      <a:r>
                        <a:rPr lang="en-US" sz="750" dirty="0">
                          <a:solidFill>
                            <a:srgbClr val="7A90A0"/>
                          </a:solidFill>
                          <a:latin typeface="Calibri" pitchFamily="34" charset="0"/>
                          <a:ea typeface="Calibri" pitchFamily="34" charset="-122"/>
                          <a:cs typeface="Calibri" pitchFamily="34" charset="-120"/>
                        </a:rPr>
                        <a:t>15</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800" b="1" dirty="0">
                          <a:solidFill>
                            <a:srgbClr val="1A6A3A"/>
                          </a:solidFill>
                          <a:latin typeface="Calibri" pitchFamily="34" charset="0"/>
                          <a:ea typeface="Calibri" pitchFamily="34" charset="-122"/>
                          <a:cs typeface="Calibri" pitchFamily="34" charset="-120"/>
                        </a:rPr>
                        <a:t>improve</a:t>
                      </a:r>
                      <a:endParaRPr lang="en-US" sz="8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750" i="1" dirty="0">
                          <a:solidFill>
                            <a:srgbClr val="3A5060"/>
                          </a:solidFill>
                          <a:latin typeface="Calibri" pitchFamily="34" charset="0"/>
                          <a:ea typeface="Calibri" pitchFamily="34" charset="-122"/>
                          <a:cs typeface="Calibri" pitchFamily="34" charset="-120"/>
                        </a:rPr>
                        <a:t>/ɪmˈpruːv/</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750" dirty="0">
                          <a:solidFill>
                            <a:srgbClr val="1A2A3A"/>
                          </a:solidFill>
                          <a:latin typeface="Calibri" pitchFamily="34" charset="0"/>
                          <a:ea typeface="Calibri" pitchFamily="34" charset="-122"/>
                          <a:cs typeface="Calibri" pitchFamily="34" charset="-120"/>
                        </a:rPr>
                        <a:t>сайжруулах</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700" i="1" dirty="0">
                          <a:solidFill>
                            <a:srgbClr val="7A90A0"/>
                          </a:solidFill>
                          <a:latin typeface="Calibri" pitchFamily="34" charset="0"/>
                          <a:ea typeface="Calibri" pitchFamily="34" charset="-122"/>
                          <a:cs typeface="Calibri" pitchFamily="34" charset="-120"/>
                        </a:rPr>
                        <a:t>My English has been improving fast.</a:t>
                      </a:r>
                      <a:endParaRPr lang="en-US" sz="7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r>
              <a:tr h="352044">
                <a:tc>
                  <a:txBody>
                    <a:bodyPr/>
                    <a:lstStyle/>
                    <a:p>
                      <a:pPr algn="ctr" indent="0" marL="0">
                        <a:buNone/>
                      </a:pPr>
                      <a:r>
                        <a:rPr lang="en-US" sz="750" dirty="0">
                          <a:solidFill>
                            <a:srgbClr val="7A90A0"/>
                          </a:solidFill>
                          <a:latin typeface="Calibri" pitchFamily="34" charset="0"/>
                          <a:ea typeface="Calibri" pitchFamily="34" charset="-122"/>
                          <a:cs typeface="Calibri" pitchFamily="34" charset="-120"/>
                        </a:rPr>
                        <a:t>16</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c>
                  <a:txBody>
                    <a:bodyPr/>
                    <a:lstStyle/>
                    <a:p>
                      <a:pPr algn="l" indent="0" marL="0">
                        <a:buNone/>
                      </a:pPr>
                      <a:r>
                        <a:rPr lang="en-US" sz="800" b="1" dirty="0">
                          <a:solidFill>
                            <a:srgbClr val="1A6A3A"/>
                          </a:solidFill>
                          <a:latin typeface="Calibri" pitchFamily="34" charset="0"/>
                          <a:ea typeface="Calibri" pitchFamily="34" charset="-122"/>
                          <a:cs typeface="Calibri" pitchFamily="34" charset="-120"/>
                        </a:rPr>
                        <a:t>develop</a:t>
                      </a:r>
                      <a:endParaRPr lang="en-US" sz="8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c>
                  <a:txBody>
                    <a:bodyPr/>
                    <a:lstStyle/>
                    <a:p>
                      <a:pPr algn="l" indent="0" marL="0">
                        <a:buNone/>
                      </a:pPr>
                      <a:r>
                        <a:rPr lang="en-US" sz="750" i="1" dirty="0">
                          <a:solidFill>
                            <a:srgbClr val="3A5060"/>
                          </a:solidFill>
                          <a:latin typeface="Calibri" pitchFamily="34" charset="0"/>
                          <a:ea typeface="Calibri" pitchFamily="34" charset="-122"/>
                          <a:cs typeface="Calibri" pitchFamily="34" charset="-120"/>
                        </a:rPr>
                        <a:t>/dɪˈvɛləp/</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c>
                  <a:txBody>
                    <a:bodyPr/>
                    <a:lstStyle/>
                    <a:p>
                      <a:pPr algn="l" indent="0" marL="0">
                        <a:buNone/>
                      </a:pPr>
                      <a:r>
                        <a:rPr lang="en-US" sz="750" dirty="0">
                          <a:solidFill>
                            <a:srgbClr val="1A2A3A"/>
                          </a:solidFill>
                          <a:latin typeface="Calibri" pitchFamily="34" charset="0"/>
                          <a:ea typeface="Calibri" pitchFamily="34" charset="-122"/>
                          <a:cs typeface="Calibri" pitchFamily="34" charset="-120"/>
                        </a:rPr>
                        <a:t>хөгжүүлэх</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c>
                  <a:txBody>
                    <a:bodyPr/>
                    <a:lstStyle/>
                    <a:p>
                      <a:pPr algn="l" indent="0" marL="0">
                        <a:buNone/>
                      </a:pPr>
                      <a:r>
                        <a:rPr lang="en-US" sz="700" i="1" dirty="0">
                          <a:solidFill>
                            <a:srgbClr val="7A90A0"/>
                          </a:solidFill>
                          <a:latin typeface="Calibri" pitchFamily="34" charset="0"/>
                          <a:ea typeface="Calibri" pitchFamily="34" charset="-122"/>
                          <a:cs typeface="Calibri" pitchFamily="34" charset="-120"/>
                        </a:rPr>
                        <a:t>She has been developing her skills.</a:t>
                      </a:r>
                      <a:endParaRPr lang="en-US" sz="7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r>
              <a:tr h="352044">
                <a:tc>
                  <a:txBody>
                    <a:bodyPr/>
                    <a:lstStyle/>
                    <a:p>
                      <a:pPr algn="ctr" indent="0" marL="0">
                        <a:buNone/>
                      </a:pPr>
                      <a:r>
                        <a:rPr lang="en-US" sz="750" dirty="0">
                          <a:solidFill>
                            <a:srgbClr val="7A90A0"/>
                          </a:solidFill>
                          <a:latin typeface="Calibri" pitchFamily="34" charset="0"/>
                          <a:ea typeface="Calibri" pitchFamily="34" charset="-122"/>
                          <a:cs typeface="Calibri" pitchFamily="34" charset="-120"/>
                        </a:rPr>
                        <a:t>17</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800" b="1" dirty="0">
                          <a:solidFill>
                            <a:srgbClr val="1A6A3A"/>
                          </a:solidFill>
                          <a:latin typeface="Calibri" pitchFamily="34" charset="0"/>
                          <a:ea typeface="Calibri" pitchFamily="34" charset="-122"/>
                          <a:cs typeface="Calibri" pitchFamily="34" charset="-120"/>
                        </a:rPr>
                        <a:t>expand</a:t>
                      </a:r>
                      <a:endParaRPr lang="en-US" sz="8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750" i="1" dirty="0">
                          <a:solidFill>
                            <a:srgbClr val="3A5060"/>
                          </a:solidFill>
                          <a:latin typeface="Calibri" pitchFamily="34" charset="0"/>
                          <a:ea typeface="Calibri" pitchFamily="34" charset="-122"/>
                          <a:cs typeface="Calibri" pitchFamily="34" charset="-120"/>
                        </a:rPr>
                        <a:t>/ɪkˈspænd/</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750" dirty="0">
                          <a:solidFill>
                            <a:srgbClr val="1A2A3A"/>
                          </a:solidFill>
                          <a:latin typeface="Calibri" pitchFamily="34" charset="0"/>
                          <a:ea typeface="Calibri" pitchFamily="34" charset="-122"/>
                          <a:cs typeface="Calibri" pitchFamily="34" charset="-120"/>
                        </a:rPr>
                        <a:t>өргөжүүлэх</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700" i="1" dirty="0">
                          <a:solidFill>
                            <a:srgbClr val="7A90A0"/>
                          </a:solidFill>
                          <a:latin typeface="Calibri" pitchFamily="34" charset="0"/>
                          <a:ea typeface="Calibri" pitchFamily="34" charset="-122"/>
                          <a:cs typeface="Calibri" pitchFamily="34" charset="-120"/>
                        </a:rPr>
                        <a:t>He has been expanding his vocabulary.</a:t>
                      </a:r>
                      <a:endParaRPr lang="en-US" sz="7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r>
              <a:tr h="352044">
                <a:tc>
                  <a:txBody>
                    <a:bodyPr/>
                    <a:lstStyle/>
                    <a:p>
                      <a:pPr algn="ctr" indent="0" marL="0">
                        <a:buNone/>
                      </a:pPr>
                      <a:r>
                        <a:rPr lang="en-US" sz="750" dirty="0">
                          <a:solidFill>
                            <a:srgbClr val="7A90A0"/>
                          </a:solidFill>
                          <a:latin typeface="Calibri" pitchFamily="34" charset="0"/>
                          <a:ea typeface="Calibri" pitchFamily="34" charset="-122"/>
                          <a:cs typeface="Calibri" pitchFamily="34" charset="-120"/>
                        </a:rPr>
                        <a:t>18</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c>
                  <a:txBody>
                    <a:bodyPr/>
                    <a:lstStyle/>
                    <a:p>
                      <a:pPr algn="l" indent="0" marL="0">
                        <a:buNone/>
                      </a:pPr>
                      <a:r>
                        <a:rPr lang="en-US" sz="800" b="1" dirty="0">
                          <a:solidFill>
                            <a:srgbClr val="1A6A3A"/>
                          </a:solidFill>
                          <a:latin typeface="Calibri" pitchFamily="34" charset="0"/>
                          <a:ea typeface="Calibri" pitchFamily="34" charset="-122"/>
                          <a:cs typeface="Calibri" pitchFamily="34" charset="-120"/>
                        </a:rPr>
                        <a:t>consistently</a:t>
                      </a:r>
                      <a:endParaRPr lang="en-US" sz="8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c>
                  <a:txBody>
                    <a:bodyPr/>
                    <a:lstStyle/>
                    <a:p>
                      <a:pPr algn="l" indent="0" marL="0">
                        <a:buNone/>
                      </a:pPr>
                      <a:r>
                        <a:rPr lang="en-US" sz="750" i="1" dirty="0">
                          <a:solidFill>
                            <a:srgbClr val="3A5060"/>
                          </a:solidFill>
                          <a:latin typeface="Calibri" pitchFamily="34" charset="0"/>
                          <a:ea typeface="Calibri" pitchFamily="34" charset="-122"/>
                          <a:cs typeface="Calibri" pitchFamily="34" charset="-120"/>
                        </a:rPr>
                        <a:t>/kənˈsɪstəntli/</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c>
                  <a:txBody>
                    <a:bodyPr/>
                    <a:lstStyle/>
                    <a:p>
                      <a:pPr algn="l" indent="0" marL="0">
                        <a:buNone/>
                      </a:pPr>
                      <a:r>
                        <a:rPr lang="en-US" sz="750" dirty="0">
                          <a:solidFill>
                            <a:srgbClr val="1A2A3A"/>
                          </a:solidFill>
                          <a:latin typeface="Calibri" pitchFamily="34" charset="0"/>
                          <a:ea typeface="Calibri" pitchFamily="34" charset="-122"/>
                          <a:cs typeface="Calibri" pitchFamily="34" charset="-120"/>
                        </a:rPr>
                        <a:t>тогтмол</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c>
                  <a:txBody>
                    <a:bodyPr/>
                    <a:lstStyle/>
                    <a:p>
                      <a:pPr algn="l" indent="0" marL="0">
                        <a:buNone/>
                      </a:pPr>
                      <a:r>
                        <a:rPr lang="en-US" sz="700" i="1" dirty="0">
                          <a:solidFill>
                            <a:srgbClr val="7A90A0"/>
                          </a:solidFill>
                          <a:latin typeface="Calibri" pitchFamily="34" charset="0"/>
                          <a:ea typeface="Calibri" pitchFamily="34" charset="-122"/>
                          <a:cs typeface="Calibri" pitchFamily="34" charset="-120"/>
                        </a:rPr>
                        <a:t>She has been studying consistently.</a:t>
                      </a:r>
                      <a:endParaRPr lang="en-US" sz="7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r>
              <a:tr h="352044">
                <a:tc>
                  <a:txBody>
                    <a:bodyPr/>
                    <a:lstStyle/>
                    <a:p>
                      <a:pPr algn="ctr" indent="0" marL="0">
                        <a:buNone/>
                      </a:pPr>
                      <a:r>
                        <a:rPr lang="en-US" sz="750" dirty="0">
                          <a:solidFill>
                            <a:srgbClr val="7A90A0"/>
                          </a:solidFill>
                          <a:latin typeface="Calibri" pitchFamily="34" charset="0"/>
                          <a:ea typeface="Calibri" pitchFamily="34" charset="-122"/>
                          <a:cs typeface="Calibri" pitchFamily="34" charset="-120"/>
                        </a:rPr>
                        <a:t>19</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800" b="1" dirty="0">
                          <a:solidFill>
                            <a:srgbClr val="1A6A3A"/>
                          </a:solidFill>
                          <a:latin typeface="Calibri" pitchFamily="34" charset="0"/>
                          <a:ea typeface="Calibri" pitchFamily="34" charset="-122"/>
                          <a:cs typeface="Calibri" pitchFamily="34" charset="-120"/>
                        </a:rPr>
                        <a:t>gradual</a:t>
                      </a:r>
                      <a:endParaRPr lang="en-US" sz="8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750" i="1" dirty="0">
                          <a:solidFill>
                            <a:srgbClr val="3A5060"/>
                          </a:solidFill>
                          <a:latin typeface="Calibri" pitchFamily="34" charset="0"/>
                          <a:ea typeface="Calibri" pitchFamily="34" charset="-122"/>
                          <a:cs typeface="Calibri" pitchFamily="34" charset="-120"/>
                        </a:rPr>
                        <a:t>/ˈɡrædʒuəl/</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750" dirty="0">
                          <a:solidFill>
                            <a:srgbClr val="1A2A3A"/>
                          </a:solidFill>
                          <a:latin typeface="Calibri" pitchFamily="34" charset="0"/>
                          <a:ea typeface="Calibri" pitchFamily="34" charset="-122"/>
                          <a:cs typeface="Calibri" pitchFamily="34" charset="-120"/>
                        </a:rPr>
                        <a:t>аажуу</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700" i="1" dirty="0">
                          <a:solidFill>
                            <a:srgbClr val="7A90A0"/>
                          </a:solidFill>
                          <a:latin typeface="Calibri" pitchFamily="34" charset="0"/>
                          <a:ea typeface="Calibri" pitchFamily="34" charset="-122"/>
                          <a:cs typeface="Calibri" pitchFamily="34" charset="-120"/>
                        </a:rPr>
                        <a:t>Change has been gradual but real.</a:t>
                      </a:r>
                      <a:endParaRPr lang="en-US" sz="7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r>
              <a:tr h="352044">
                <a:tc>
                  <a:txBody>
                    <a:bodyPr/>
                    <a:lstStyle/>
                    <a:p>
                      <a:pPr algn="ctr" indent="0" marL="0">
                        <a:buNone/>
                      </a:pPr>
                      <a:r>
                        <a:rPr lang="en-US" sz="750" dirty="0">
                          <a:solidFill>
                            <a:srgbClr val="7A90A0"/>
                          </a:solidFill>
                          <a:latin typeface="Calibri" pitchFamily="34" charset="0"/>
                          <a:ea typeface="Calibri" pitchFamily="34" charset="-122"/>
                          <a:cs typeface="Calibri" pitchFamily="34" charset="-120"/>
                        </a:rPr>
                        <a:t>20</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c>
                  <a:txBody>
                    <a:bodyPr/>
                    <a:lstStyle/>
                    <a:p>
                      <a:pPr algn="l" indent="0" marL="0">
                        <a:buNone/>
                      </a:pPr>
                      <a:r>
                        <a:rPr lang="en-US" sz="800" b="1" dirty="0">
                          <a:solidFill>
                            <a:srgbClr val="1A6A3A"/>
                          </a:solidFill>
                          <a:latin typeface="Calibri" pitchFamily="34" charset="0"/>
                          <a:ea typeface="Calibri" pitchFamily="34" charset="-122"/>
                          <a:cs typeface="Calibri" pitchFamily="34" charset="-120"/>
                        </a:rPr>
                        <a:t>transform</a:t>
                      </a:r>
                      <a:endParaRPr lang="en-US" sz="8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c>
                  <a:txBody>
                    <a:bodyPr/>
                    <a:lstStyle/>
                    <a:p>
                      <a:pPr algn="l" indent="0" marL="0">
                        <a:buNone/>
                      </a:pPr>
                      <a:r>
                        <a:rPr lang="en-US" sz="750" i="1" dirty="0">
                          <a:solidFill>
                            <a:srgbClr val="3A5060"/>
                          </a:solidFill>
                          <a:latin typeface="Calibri" pitchFamily="34" charset="0"/>
                          <a:ea typeface="Calibri" pitchFamily="34" charset="-122"/>
                          <a:cs typeface="Calibri" pitchFamily="34" charset="-120"/>
                        </a:rPr>
                        <a:t>/trænsˈfɔːrm/</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c>
                  <a:txBody>
                    <a:bodyPr/>
                    <a:lstStyle/>
                    <a:p>
                      <a:pPr algn="l" indent="0" marL="0">
                        <a:buNone/>
                      </a:pPr>
                      <a:r>
                        <a:rPr lang="en-US" sz="750" dirty="0">
                          <a:solidFill>
                            <a:srgbClr val="1A2A3A"/>
                          </a:solidFill>
                          <a:latin typeface="Calibri" pitchFamily="34" charset="0"/>
                          <a:ea typeface="Calibri" pitchFamily="34" charset="-122"/>
                          <a:cs typeface="Calibri" pitchFamily="34" charset="-120"/>
                        </a:rPr>
                        <a:t>өөрчлөх</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c>
                  <a:txBody>
                    <a:bodyPr/>
                    <a:lstStyle/>
                    <a:p>
                      <a:pPr algn="l" indent="0" marL="0">
                        <a:buNone/>
                      </a:pPr>
                      <a:r>
                        <a:rPr lang="en-US" sz="700" i="1" dirty="0">
                          <a:solidFill>
                            <a:srgbClr val="7A90A0"/>
                          </a:solidFill>
                          <a:latin typeface="Calibri" pitchFamily="34" charset="0"/>
                          <a:ea typeface="Calibri" pitchFamily="34" charset="-122"/>
                          <a:cs typeface="Calibri" pitchFamily="34" charset="-120"/>
                        </a:rPr>
                        <a:t>English has been transforming my life.</a:t>
                      </a:r>
                      <a:endParaRPr lang="en-US" sz="7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r>
            </a:tbl>
          </a:graphicData>
        </a:graphic>
      </p:graphicFrame>
      <p:sp>
        <p:nvSpPr>
          <p:cNvPr id="24" name="Shape 21"/>
          <p:cNvSpPr/>
          <p:nvPr/>
        </p:nvSpPr>
        <p:spPr>
          <a:xfrm>
            <a:off x="219456" y="9290304"/>
            <a:ext cx="3200400" cy="219456"/>
          </a:xfrm>
          <a:prstGeom prst="rect">
            <a:avLst/>
          </a:prstGeom>
          <a:solidFill>
            <a:srgbClr val="E0F4F4"/>
          </a:solidFill>
          <a:ln w="12700">
            <a:solidFill>
              <a:srgbClr val="0D7C7B"/>
            </a:solidFill>
            <a:prstDash val="solid"/>
          </a:ln>
        </p:spPr>
      </p:sp>
      <p:sp>
        <p:nvSpPr>
          <p:cNvPr id="25" name="Text 22"/>
          <p:cNvSpPr/>
          <p:nvPr/>
        </p:nvSpPr>
        <p:spPr>
          <a:xfrm>
            <a:off x="256032" y="9299448"/>
            <a:ext cx="3127248" cy="201168"/>
          </a:xfrm>
          <a:prstGeom prst="rect">
            <a:avLst/>
          </a:prstGeom>
          <a:noFill/>
          <a:ln/>
        </p:spPr>
        <p:txBody>
          <a:bodyPr wrap="square" lIns="0" tIns="0" rIns="0" bIns="0" rtlCol="0" anchor="ctr"/>
          <a:lstStyle/>
          <a:p>
            <a:pPr indent="0" marL="0">
              <a:lnSpc>
                <a:spcPct val="120000"/>
              </a:lnSpc>
              <a:buNone/>
            </a:pPr>
            <a:r>
              <a:rPr lang="en-US" sz="750" dirty="0">
                <a:solidFill>
                  <a:srgbClr val="0D7C7B"/>
                </a:solidFill>
                <a:latin typeface="Calibri" pitchFamily="34" charset="0"/>
                <a:ea typeface="Calibri" pitchFamily="34" charset="-122"/>
                <a:cs typeface="Calibri" pitchFamily="34" charset="-120"/>
              </a:rPr>
              <a:t>🔊  Continuously /kənˈtɪnjuəsli/ — 5 syllables · Consistently /kənˈsɪstəntli/ — 4 syllables</a:t>
            </a:r>
            <a:endParaRPr lang="en-US" sz="750" dirty="0"/>
          </a:p>
          <a:p>
            <a:pPr indent="0" marL="0">
              <a:lnSpc>
                <a:spcPct val="120000"/>
              </a:lnSpc>
              <a:buNone/>
            </a:pPr>
            <a:r>
              <a:rPr lang="en-US" sz="750" dirty="0">
                <a:solidFill>
                  <a:srgbClr val="0D7C7B"/>
                </a:solidFill>
                <a:latin typeface="Calibri" pitchFamily="34" charset="0"/>
                <a:ea typeface="Calibri" pitchFamily="34" charset="-122"/>
                <a:cs typeface="Calibri" pitchFamily="34" charset="-120"/>
              </a:rPr>
              <a:t>Ongoing — 2 үе: ON-goh-ing. Consistently — 4 үе: kun-SIS-tent-lee. Gradually — 3 үе: GRAD-yoo-uh-lee.</a:t>
            </a:r>
            <a:endParaRPr lang="en-US" sz="750" dirty="0"/>
          </a:p>
        </p:txBody>
      </p:sp>
      <p:sp>
        <p:nvSpPr>
          <p:cNvPr id="26" name="Shape 23"/>
          <p:cNvSpPr/>
          <p:nvPr/>
        </p:nvSpPr>
        <p:spPr>
          <a:xfrm>
            <a:off x="3580790" y="874166"/>
            <a:ext cx="3127248" cy="8705088"/>
          </a:xfrm>
          <a:prstGeom prst="rect">
            <a:avLst/>
          </a:prstGeom>
          <a:solidFill>
            <a:srgbClr val="D0DCE8"/>
          </a:solidFill>
          <a:ln w="12700">
            <a:solidFill>
              <a:srgbClr val="D0DCE8"/>
            </a:solidFill>
            <a:prstDash val="solid"/>
          </a:ln>
        </p:spPr>
      </p:sp>
      <p:sp>
        <p:nvSpPr>
          <p:cNvPr id="27" name="Shape 24"/>
          <p:cNvSpPr/>
          <p:nvPr/>
        </p:nvSpPr>
        <p:spPr>
          <a:xfrm>
            <a:off x="3566160" y="859536"/>
            <a:ext cx="3127248" cy="8705088"/>
          </a:xfrm>
          <a:prstGeom prst="rect">
            <a:avLst/>
          </a:prstGeom>
          <a:solidFill>
            <a:srgbClr val="FFFFFF"/>
          </a:solidFill>
          <a:ln w="12700">
            <a:solidFill>
              <a:srgbClr val="C8D8E8"/>
            </a:solidFill>
            <a:prstDash val="solid"/>
          </a:ln>
        </p:spPr>
      </p:sp>
      <p:sp>
        <p:nvSpPr>
          <p:cNvPr id="28" name="Shape 25"/>
          <p:cNvSpPr/>
          <p:nvPr/>
        </p:nvSpPr>
        <p:spPr>
          <a:xfrm>
            <a:off x="3566160" y="859536"/>
            <a:ext cx="3127248" cy="256032"/>
          </a:xfrm>
          <a:prstGeom prst="rect">
            <a:avLst/>
          </a:prstGeom>
          <a:solidFill>
            <a:srgbClr val="6B3FA0"/>
          </a:solidFill>
          <a:ln w="12700">
            <a:solidFill>
              <a:srgbClr val="6B3FA0"/>
            </a:solidFill>
            <a:prstDash val="solid"/>
          </a:ln>
        </p:spPr>
      </p:sp>
      <p:sp>
        <p:nvSpPr>
          <p:cNvPr id="29" name="Shape 26"/>
          <p:cNvSpPr/>
          <p:nvPr/>
        </p:nvSpPr>
        <p:spPr>
          <a:xfrm>
            <a:off x="3566160" y="1115568"/>
            <a:ext cx="3127248" cy="146304"/>
          </a:xfrm>
          <a:prstGeom prst="rect">
            <a:avLst/>
          </a:prstGeom>
          <a:solidFill>
            <a:srgbClr val="F0EAFA"/>
          </a:solidFill>
          <a:ln w="12700">
            <a:solidFill>
              <a:srgbClr val="F0EAFA"/>
            </a:solidFill>
            <a:prstDash val="solid"/>
          </a:ln>
        </p:spPr>
      </p:sp>
      <p:sp>
        <p:nvSpPr>
          <p:cNvPr id="30" name="Text 27"/>
          <p:cNvSpPr/>
          <p:nvPr/>
        </p:nvSpPr>
        <p:spPr>
          <a:xfrm>
            <a:off x="3657600" y="859536"/>
            <a:ext cx="2999232" cy="256032"/>
          </a:xfrm>
          <a:prstGeom prst="rect">
            <a:avLst/>
          </a:prstGeom>
          <a:noFill/>
          <a:ln/>
        </p:spPr>
        <p:txBody>
          <a:bodyPr wrap="square" lIns="0" tIns="0" rIns="0" bIns="0" rtlCol="0" anchor="ctr"/>
          <a:lstStyle/>
          <a:p>
            <a:pPr indent="0" marL="0">
              <a:buNone/>
            </a:pPr>
            <a:r>
              <a:rPr lang="en-US" sz="1050" b="1" dirty="0">
                <a:solidFill>
                  <a:srgbClr val="FFFFFF"/>
                </a:solidFill>
                <a:latin typeface="Georgia" pitchFamily="34" charset="0"/>
                <a:ea typeface="Georgia" pitchFamily="34" charset="-122"/>
                <a:cs typeface="Georgia" pitchFamily="34" charset="-120"/>
              </a:rPr>
              <a:t>📖  Grammar — Present Perfect Continuous — have/has been + -ing (ongoing action up to now)</a:t>
            </a:r>
            <a:endParaRPr lang="en-US" sz="1050" dirty="0"/>
          </a:p>
        </p:txBody>
      </p:sp>
      <p:sp>
        <p:nvSpPr>
          <p:cNvPr id="31" name="Text 28"/>
          <p:cNvSpPr/>
          <p:nvPr/>
        </p:nvSpPr>
        <p:spPr>
          <a:xfrm>
            <a:off x="3657600" y="1124712"/>
            <a:ext cx="2999232" cy="137160"/>
          </a:xfrm>
          <a:prstGeom prst="rect">
            <a:avLst/>
          </a:prstGeom>
          <a:noFill/>
          <a:ln/>
        </p:spPr>
        <p:txBody>
          <a:bodyPr wrap="square" lIns="0" tIns="0" rIns="0" bIns="0" rtlCol="0" anchor="ctr"/>
          <a:lstStyle/>
          <a:p>
            <a:pPr indent="0" marL="0">
              <a:buNone/>
            </a:pPr>
            <a:r>
              <a:rPr lang="en-US" sz="750" i="1" dirty="0">
                <a:solidFill>
                  <a:srgbClr val="3A5060"/>
                </a:solidFill>
                <a:latin typeface="Calibri" pitchFamily="34" charset="0"/>
                <a:ea typeface="Calibri" pitchFamily="34" charset="-122"/>
                <a:cs typeface="Calibri" pitchFamily="34" charset="-120"/>
              </a:rPr>
              <a:t>Learn step by step  ·  Алхам алхмаар судлаарай</a:t>
            </a:r>
            <a:endParaRPr lang="en-US" sz="750" dirty="0"/>
          </a:p>
        </p:txBody>
      </p:sp>
      <p:sp>
        <p:nvSpPr>
          <p:cNvPr id="32" name="Text 29"/>
          <p:cNvSpPr/>
          <p:nvPr/>
        </p:nvSpPr>
        <p:spPr>
          <a:xfrm>
            <a:off x="3648456" y="1289304"/>
            <a:ext cx="2980944" cy="402336"/>
          </a:xfrm>
          <a:prstGeom prst="rect">
            <a:avLst/>
          </a:prstGeom>
          <a:noFill/>
          <a:ln/>
        </p:spPr>
        <p:txBody>
          <a:bodyPr wrap="square" lIns="0" tIns="0" rIns="0" bIns="0" rtlCol="0" anchor="t"/>
          <a:lstStyle/>
          <a:p>
            <a:pPr indent="0" marL="0">
              <a:lnSpc>
                <a:spcPct val="128000"/>
              </a:lnSpc>
              <a:buNone/>
            </a:pPr>
            <a:r>
              <a:rPr lang="en-US" sz="800" dirty="0">
                <a:solidFill>
                  <a:srgbClr val="1A2A3A"/>
                </a:solidFill>
                <a:latin typeface="Calibri" pitchFamily="34" charset="0"/>
                <a:ea typeface="Calibri" pitchFamily="34" charset="-122"/>
                <a:cs typeface="Calibri" pitchFamily="34" charset="-120"/>
              </a:rPr>
              <a:t>The PRESENT PERFECT CONTINUOUS (have/has + been + verb-ING) describes an action that STARTED in the past and is STILL CONTINUING now, or has VERY RECENTLY stopped. Focus is on the DURATION of the action. 'I have been studying English for 63 days.' (started 63 days ago, still studying NOW). Compare: Present Perfect Simple = completed result: 'I have studied Chapter 5.' (it's finished). Present Perfect Continuous = ongoing process: 'I have been studying Chapter 5.' (still doing it).</a:t>
            </a:r>
            <a:endParaRPr lang="en-US" sz="800" dirty="0"/>
          </a:p>
        </p:txBody>
      </p:sp>
      <p:sp>
        <p:nvSpPr>
          <p:cNvPr id="33" name="Text 30"/>
          <p:cNvSpPr/>
          <p:nvPr/>
        </p:nvSpPr>
        <p:spPr>
          <a:xfrm>
            <a:off x="3648456" y="1709928"/>
            <a:ext cx="2980944" cy="347472"/>
          </a:xfrm>
          <a:prstGeom prst="rect">
            <a:avLst/>
          </a:prstGeom>
          <a:noFill/>
          <a:ln/>
        </p:spPr>
        <p:txBody>
          <a:bodyPr wrap="square" lIns="0" tIns="0" rIns="0" bIns="0" rtlCol="0" anchor="t"/>
          <a:lstStyle/>
          <a:p>
            <a:pPr indent="0" marL="0">
              <a:lnSpc>
                <a:spcPct val="125000"/>
              </a:lnSpc>
              <a:buNone/>
            </a:pPr>
            <a:r>
              <a:rPr lang="en-US" sz="750" dirty="0">
                <a:solidFill>
                  <a:srgbClr val="3A5060"/>
                </a:solidFill>
                <a:latin typeface="Calibri" pitchFamily="34" charset="0"/>
                <a:ea typeface="Calibri" pitchFamily="34" charset="-122"/>
                <a:cs typeface="Calibri" pitchFamily="34" charset="-120"/>
              </a:rPr>
              <a:t>PRESENT PERFECT CONTINUOUS (have/has + been + үйл үг+ING) нь өнгөрсөнд эхэлж ОДОО ХҮРТЭЛ ҮРГЭЛЖИЛЖ байгаа эсвэл МАШ САЯХАН ДУУССАН үйлдлийг тайлбарладаг. Хугацаанд анхаарлаа хандуулдаг. 'I have been studying English for 63 days.' (63 өдрийн өмнө эхэлсэн, ОДОО ч гэсэн суралцаж байна). Харьцуул: Present Perfect Simple = дууссан үр дүн. Present Perfect Continuous = үргэлжилж буй процесс.</a:t>
            </a:r>
            <a:endParaRPr lang="en-US" sz="750" dirty="0"/>
          </a:p>
        </p:txBody>
      </p:sp>
      <p:graphicFrame>
        <p:nvGraphicFramePr>
          <p:cNvPr id="3" name="Table 1"/>
          <p:cNvGraphicFramePr>
            <a:graphicFrameLocks noGrp="1"/>
          </p:cNvGraphicFramePr>
          <p:nvPr>
            <p:extLst>
              <p:ext uri="{D42A27DB-BD31-4B8C-83A1-F6EECF244321}">
                <p14:modId xmlns:p14="http://schemas.microsoft.com/office/powerpoint/2010/main" val="1579011935"/>
              </p:ext>
            </p:extLst>
          </p:nvPr>
        </p:nvGraphicFramePr>
        <p:xfrm>
          <a:off x="3639312" y="2075688"/>
          <a:ext cx="2980944" cy="914400"/>
        </p:xfrm>
        <a:graphic>
          <a:graphicData uri="http://schemas.openxmlformats.org/drawingml/2006/table">
            <a:tbl>
              <a:tblPr/>
              <a:tblGrid>
                <a:gridCol w="417332"/>
                <a:gridCol w="417332"/>
                <a:gridCol w="536570"/>
                <a:gridCol w="536570"/>
                <a:gridCol w="536570"/>
                <a:gridCol w="536570"/>
              </a:tblGrid>
              <a:tr h="192024">
                <a:tc>
                  <a:txBody>
                    <a:bodyPr/>
                    <a:lstStyle/>
                    <a:p>
                      <a:pPr algn="l" indent="0" marL="0">
                        <a:buNone/>
                      </a:pPr>
                      <a:r>
                        <a:rPr lang="en-US" sz="750" b="1" dirty="0">
                          <a:solidFill>
                            <a:srgbClr val="FFFFFF"/>
                          </a:solidFill>
                          <a:latin typeface="Calibri" pitchFamily="34" charset="0"/>
                          <a:ea typeface="Calibri" pitchFamily="34" charset="-122"/>
                          <a:cs typeface="Calibri" pitchFamily="34" charset="-120"/>
                        </a:rPr>
                        <a:t>Form</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1A3A5C"/>
                    </a:solidFill>
                  </a:tcPr>
                </a:tc>
                <a:tc>
                  <a:txBody>
                    <a:bodyPr/>
                    <a:lstStyle/>
                    <a:p>
                      <a:pPr algn="l" indent="0" marL="0">
                        <a:buNone/>
                      </a:pPr>
                      <a:r>
                        <a:rPr lang="en-US" sz="750" b="1" dirty="0">
                          <a:solidFill>
                            <a:srgbClr val="FFFFFF"/>
                          </a:solidFill>
                          <a:latin typeface="Calibri" pitchFamily="34" charset="0"/>
                          <a:ea typeface="Calibri" pitchFamily="34" charset="-122"/>
                          <a:cs typeface="Calibri" pitchFamily="34" charset="-120"/>
                        </a:rPr>
                        <a:t>Rule</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1A3A5C"/>
                    </a:solidFill>
                  </a:tcPr>
                </a:tc>
                <a:tc>
                  <a:txBody>
                    <a:bodyPr/>
                    <a:lstStyle/>
                    <a:p>
                      <a:pPr algn="l" indent="0" marL="0">
                        <a:buNone/>
                      </a:pPr>
                      <a:r>
                        <a:rPr lang="en-US" sz="750" b="1" dirty="0">
                          <a:solidFill>
                            <a:srgbClr val="FFFFFF"/>
                          </a:solidFill>
                          <a:latin typeface="Calibri" pitchFamily="34" charset="0"/>
                          <a:ea typeface="Calibri" pitchFamily="34" charset="-122"/>
                          <a:cs typeface="Calibri" pitchFamily="34" charset="-120"/>
                        </a:rPr>
                        <a:t>Example +</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1A3A5C"/>
                    </a:solidFill>
                  </a:tcPr>
                </a:tc>
                <a:tc>
                  <a:txBody>
                    <a:bodyPr/>
                    <a:lstStyle/>
                    <a:p>
                      <a:pPr algn="l" indent="0" marL="0">
                        <a:buNone/>
                      </a:pPr>
                      <a:r>
                        <a:rPr lang="en-US" sz="750" b="1" dirty="0">
                          <a:solidFill>
                            <a:srgbClr val="FFFFFF"/>
                          </a:solidFill>
                          <a:latin typeface="Calibri" pitchFamily="34" charset="0"/>
                          <a:ea typeface="Calibri" pitchFamily="34" charset="-122"/>
                          <a:cs typeface="Calibri" pitchFamily="34" charset="-120"/>
                        </a:rPr>
                        <a:t>Example −</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1A3A5C"/>
                    </a:solidFill>
                  </a:tcPr>
                </a:tc>
                <a:tc>
                  <a:txBody>
                    <a:bodyPr/>
                    <a:lstStyle/>
                    <a:p>
                      <a:pPr algn="l" indent="0" marL="0">
                        <a:buNone/>
                      </a:pPr>
                      <a:r>
                        <a:rPr lang="en-US" sz="750" b="1" dirty="0">
                          <a:solidFill>
                            <a:srgbClr val="FFFFFF"/>
                          </a:solidFill>
                          <a:latin typeface="Calibri" pitchFamily="34" charset="0"/>
                          <a:ea typeface="Calibri" pitchFamily="34" charset="-122"/>
                          <a:cs typeface="Calibri" pitchFamily="34" charset="-120"/>
                        </a:rPr>
                        <a:t>Question</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1A3A5C"/>
                    </a:solidFill>
                  </a:tcPr>
                </a:tc>
                <a:tc>
                  <a:txBody>
                    <a:bodyPr/>
                    <a:lstStyle/>
                    <a:p>
                      <a:pPr algn="l" indent="0" marL="0">
                        <a:buNone/>
                      </a:pPr>
                      <a:r>
                        <a:rPr lang="en-US" sz="750" b="1" dirty="0">
                          <a:solidFill>
                            <a:srgbClr val="FFFFFF"/>
                          </a:solidFill>
                          <a:latin typeface="Calibri" pitchFamily="34" charset="0"/>
                          <a:ea typeface="Calibri" pitchFamily="34" charset="-122"/>
                          <a:cs typeface="Calibri" pitchFamily="34" charset="-120"/>
                        </a:rPr>
                        <a:t>Монгол</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1A3A5C"/>
                    </a:solidFill>
                  </a:tcPr>
                </a:tc>
              </a:tr>
              <a:tr h="192024">
                <a:tc>
                  <a:txBody>
                    <a:bodyPr/>
                    <a:lstStyle/>
                    <a:p>
                      <a:pPr algn="l" indent="0" marL="0">
                        <a:buNone/>
                      </a:pPr>
                      <a:r>
                        <a:rPr lang="en-US" sz="750" b="1" dirty="0">
                          <a:solidFill>
                            <a:srgbClr val="2E6DA4"/>
                          </a:solidFill>
                          <a:latin typeface="Calibri" pitchFamily="34" charset="0"/>
                          <a:ea typeface="Calibri" pitchFamily="34" charset="-122"/>
                          <a:cs typeface="Calibri" pitchFamily="34" charset="-120"/>
                        </a:rPr>
                        <a:t>I/you/we/they</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800" b="1" dirty="0">
                          <a:solidFill>
                            <a:srgbClr val="6B3FA0"/>
                          </a:solidFill>
                          <a:latin typeface="Calibri" pitchFamily="34" charset="0"/>
                          <a:ea typeface="Calibri" pitchFamily="34" charset="-122"/>
                          <a:cs typeface="Calibri" pitchFamily="34" charset="-120"/>
                        </a:rPr>
                        <a:t>have been + -ing</a:t>
                      </a:r>
                      <a:endParaRPr lang="en-US" sz="8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700" dirty="0">
                          <a:solidFill>
                            <a:srgbClr val="1A2A3A"/>
                          </a:solidFill>
                          <a:latin typeface="Calibri" pitchFamily="34" charset="0"/>
                          <a:ea typeface="Calibri" pitchFamily="34" charset="-122"/>
                          <a:cs typeface="Calibri" pitchFamily="34" charset="-120"/>
                        </a:rPr>
                        <a:t>I have been studying.</a:t>
                      </a:r>
                      <a:endParaRPr lang="en-US" sz="7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700" dirty="0">
                          <a:solidFill>
                            <a:srgbClr val="B83030"/>
                          </a:solidFill>
                          <a:latin typeface="Calibri" pitchFamily="34" charset="0"/>
                          <a:ea typeface="Calibri" pitchFamily="34" charset="-122"/>
                          <a:cs typeface="Calibri" pitchFamily="34" charset="-120"/>
                        </a:rPr>
                        <a:t>I haven't been studying.</a:t>
                      </a:r>
                      <a:endParaRPr lang="en-US" sz="7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700" dirty="0">
                          <a:solidFill>
                            <a:srgbClr val="0D7C7B"/>
                          </a:solidFill>
                          <a:latin typeface="Calibri" pitchFamily="34" charset="0"/>
                          <a:ea typeface="Calibri" pitchFamily="34" charset="-122"/>
                          <a:cs typeface="Calibri" pitchFamily="34" charset="-120"/>
                        </a:rPr>
                        <a:t>Have you been studying?</a:t>
                      </a:r>
                      <a:endParaRPr lang="en-US" sz="7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750" dirty="0">
                          <a:solidFill>
                            <a:srgbClr val="3A5060"/>
                          </a:solidFill>
                          <a:latin typeface="Calibri" pitchFamily="34" charset="0"/>
                          <a:ea typeface="Calibri" pitchFamily="34" charset="-122"/>
                          <a:cs typeface="Calibri" pitchFamily="34" charset="-120"/>
                        </a:rPr>
                        <a:t>... -ж байгаа (I/you/we/they)</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r>
              <a:tr h="192024">
                <a:tc>
                  <a:txBody>
                    <a:bodyPr/>
                    <a:lstStyle/>
                    <a:p>
                      <a:pPr algn="l" indent="0" marL="0">
                        <a:buNone/>
                      </a:pPr>
                      <a:r>
                        <a:rPr lang="en-US" sz="750" b="1" dirty="0">
                          <a:solidFill>
                            <a:srgbClr val="2E6DA4"/>
                          </a:solidFill>
                          <a:latin typeface="Calibri" pitchFamily="34" charset="0"/>
                          <a:ea typeface="Calibri" pitchFamily="34" charset="-122"/>
                          <a:cs typeface="Calibri" pitchFamily="34" charset="-120"/>
                        </a:rPr>
                        <a:t>he/she/it</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c>
                  <a:txBody>
                    <a:bodyPr/>
                    <a:lstStyle/>
                    <a:p>
                      <a:pPr algn="l" indent="0" marL="0">
                        <a:buNone/>
                      </a:pPr>
                      <a:r>
                        <a:rPr lang="en-US" sz="800" b="1" dirty="0">
                          <a:solidFill>
                            <a:srgbClr val="6B3FA0"/>
                          </a:solidFill>
                          <a:latin typeface="Calibri" pitchFamily="34" charset="0"/>
                          <a:ea typeface="Calibri" pitchFamily="34" charset="-122"/>
                          <a:cs typeface="Calibri" pitchFamily="34" charset="-120"/>
                        </a:rPr>
                        <a:t>has been + -ing</a:t>
                      </a:r>
                      <a:endParaRPr lang="en-US" sz="8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c>
                  <a:txBody>
                    <a:bodyPr/>
                    <a:lstStyle/>
                    <a:p>
                      <a:pPr algn="l" indent="0" marL="0">
                        <a:buNone/>
                      </a:pPr>
                      <a:r>
                        <a:rPr lang="en-US" sz="700" dirty="0">
                          <a:solidFill>
                            <a:srgbClr val="1A2A3A"/>
                          </a:solidFill>
                          <a:latin typeface="Calibri" pitchFamily="34" charset="0"/>
                          <a:ea typeface="Calibri" pitchFamily="34" charset="-122"/>
                          <a:cs typeface="Calibri" pitchFamily="34" charset="-120"/>
                        </a:rPr>
                        <a:t>She has been working here.</a:t>
                      </a:r>
                      <a:endParaRPr lang="en-US" sz="7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c>
                  <a:txBody>
                    <a:bodyPr/>
                    <a:lstStyle/>
                    <a:p>
                      <a:pPr algn="l" indent="0" marL="0">
                        <a:buNone/>
                      </a:pPr>
                      <a:r>
                        <a:rPr lang="en-US" sz="700" dirty="0">
                          <a:solidFill>
                            <a:srgbClr val="B83030"/>
                          </a:solidFill>
                          <a:latin typeface="Calibri" pitchFamily="34" charset="0"/>
                          <a:ea typeface="Calibri" pitchFamily="34" charset="-122"/>
                          <a:cs typeface="Calibri" pitchFamily="34" charset="-120"/>
                        </a:rPr>
                        <a:t>She hasn't been working here.</a:t>
                      </a:r>
                      <a:endParaRPr lang="en-US" sz="7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c>
                  <a:txBody>
                    <a:bodyPr/>
                    <a:lstStyle/>
                    <a:p>
                      <a:pPr algn="l" indent="0" marL="0">
                        <a:buNone/>
                      </a:pPr>
                      <a:r>
                        <a:rPr lang="en-US" sz="700" dirty="0">
                          <a:solidFill>
                            <a:srgbClr val="0D7C7B"/>
                          </a:solidFill>
                          <a:latin typeface="Calibri" pitchFamily="34" charset="0"/>
                          <a:ea typeface="Calibri" pitchFamily="34" charset="-122"/>
                          <a:cs typeface="Calibri" pitchFamily="34" charset="-120"/>
                        </a:rPr>
                        <a:t>Has she been working here?</a:t>
                      </a:r>
                      <a:endParaRPr lang="en-US" sz="7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c>
                  <a:txBody>
                    <a:bodyPr/>
                    <a:lstStyle/>
                    <a:p>
                      <a:pPr algn="l" indent="0" marL="0">
                        <a:buNone/>
                      </a:pPr>
                      <a:r>
                        <a:rPr lang="en-US" sz="750" dirty="0">
                          <a:solidFill>
                            <a:srgbClr val="3A5060"/>
                          </a:solidFill>
                          <a:latin typeface="Calibri" pitchFamily="34" charset="0"/>
                          <a:ea typeface="Calibri" pitchFamily="34" charset="-122"/>
                          <a:cs typeface="Calibri" pitchFamily="34" charset="-120"/>
                        </a:rPr>
                        <a:t>... -ж байгаа (he/she/it)</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r>
              <a:tr h="192024">
                <a:tc>
                  <a:txBody>
                    <a:bodyPr/>
                    <a:lstStyle/>
                    <a:p>
                      <a:pPr algn="l" indent="0" marL="0">
                        <a:buNone/>
                      </a:pPr>
                      <a:r>
                        <a:rPr lang="en-US" sz="750" b="1" dirty="0">
                          <a:solidFill>
                            <a:srgbClr val="2E6DA4"/>
                          </a:solidFill>
                          <a:latin typeface="Calibri" pitchFamily="34" charset="0"/>
                          <a:ea typeface="Calibri" pitchFamily="34" charset="-122"/>
                          <a:cs typeface="Calibri" pitchFamily="34" charset="-120"/>
                        </a:rPr>
                        <a:t>for + period</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800" b="1" dirty="0">
                          <a:solidFill>
                            <a:srgbClr val="6B3FA0"/>
                          </a:solidFill>
                          <a:latin typeface="Calibri" pitchFamily="34" charset="0"/>
                          <a:ea typeface="Calibri" pitchFamily="34" charset="-122"/>
                          <a:cs typeface="Calibri" pitchFamily="34" charset="-120"/>
                        </a:rPr>
                        <a:t>duration</a:t>
                      </a:r>
                      <a:endParaRPr lang="en-US" sz="8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700" dirty="0">
                          <a:solidFill>
                            <a:srgbClr val="1A2A3A"/>
                          </a:solidFill>
                          <a:latin typeface="Calibri" pitchFamily="34" charset="0"/>
                          <a:ea typeface="Calibri" pitchFamily="34" charset="-122"/>
                          <a:cs typeface="Calibri" pitchFamily="34" charset="-120"/>
                        </a:rPr>
                        <a:t>I've been here for 2 hours.</a:t>
                      </a:r>
                      <a:endParaRPr lang="en-US" sz="7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700" dirty="0">
                          <a:solidFill>
                            <a:srgbClr val="B83030"/>
                          </a:solidFill>
                          <a:latin typeface="Calibri" pitchFamily="34" charset="0"/>
                          <a:ea typeface="Calibri" pitchFamily="34" charset="-122"/>
                          <a:cs typeface="Calibri" pitchFamily="34" charset="-120"/>
                        </a:rPr>
                        <a:t>I haven't been here for 2 hours.</a:t>
                      </a:r>
                      <a:endParaRPr lang="en-US" sz="7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700" dirty="0">
                          <a:solidFill>
                            <a:srgbClr val="0D7C7B"/>
                          </a:solidFill>
                          <a:latin typeface="Calibri" pitchFamily="34" charset="0"/>
                          <a:ea typeface="Calibri" pitchFamily="34" charset="-122"/>
                          <a:cs typeface="Calibri" pitchFamily="34" charset="-120"/>
                        </a:rPr>
                        <a:t>How long have you been here?</a:t>
                      </a:r>
                      <a:endParaRPr lang="en-US" sz="7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750" dirty="0">
                          <a:solidFill>
                            <a:srgbClr val="3A5060"/>
                          </a:solidFill>
                          <a:latin typeface="Calibri" pitchFamily="34" charset="0"/>
                          <a:ea typeface="Calibri" pitchFamily="34" charset="-122"/>
                          <a:cs typeface="Calibri" pitchFamily="34" charset="-120"/>
                        </a:rPr>
                        <a:t>... -ийн турш</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r>
              <a:tr h="192024">
                <a:tc>
                  <a:txBody>
                    <a:bodyPr/>
                    <a:lstStyle/>
                    <a:p>
                      <a:pPr algn="l" indent="0" marL="0">
                        <a:buNone/>
                      </a:pPr>
                      <a:r>
                        <a:rPr lang="en-US" sz="750" b="1" dirty="0">
                          <a:solidFill>
                            <a:srgbClr val="2E6DA4"/>
                          </a:solidFill>
                          <a:latin typeface="Calibri" pitchFamily="34" charset="0"/>
                          <a:ea typeface="Calibri" pitchFamily="34" charset="-122"/>
                          <a:cs typeface="Calibri" pitchFamily="34" charset="-120"/>
                        </a:rPr>
                        <a:t>since + point</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c>
                  <a:txBody>
                    <a:bodyPr/>
                    <a:lstStyle/>
                    <a:p>
                      <a:pPr algn="l" indent="0" marL="0">
                        <a:buNone/>
                      </a:pPr>
                      <a:r>
                        <a:rPr lang="en-US" sz="800" b="1" dirty="0">
                          <a:solidFill>
                            <a:srgbClr val="6B3FA0"/>
                          </a:solidFill>
                          <a:latin typeface="Calibri" pitchFamily="34" charset="0"/>
                          <a:ea typeface="Calibri" pitchFamily="34" charset="-122"/>
                          <a:cs typeface="Calibri" pitchFamily="34" charset="-120"/>
                        </a:rPr>
                        <a:t>start</a:t>
                      </a:r>
                      <a:endParaRPr lang="en-US" sz="8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c>
                  <a:txBody>
                    <a:bodyPr/>
                    <a:lstStyle/>
                    <a:p>
                      <a:pPr algn="l" indent="0" marL="0">
                        <a:buNone/>
                      </a:pPr>
                      <a:r>
                        <a:rPr lang="en-US" sz="700" dirty="0">
                          <a:solidFill>
                            <a:srgbClr val="1A2A3A"/>
                          </a:solidFill>
                          <a:latin typeface="Calibri" pitchFamily="34" charset="0"/>
                          <a:ea typeface="Calibri" pitchFamily="34" charset="-122"/>
                          <a:cs typeface="Calibri" pitchFamily="34" charset="-120"/>
                        </a:rPr>
                        <a:t>She's been here since Monday.</a:t>
                      </a:r>
                      <a:endParaRPr lang="en-US" sz="7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c>
                  <a:txBody>
                    <a:bodyPr/>
                    <a:lstStyle/>
                    <a:p>
                      <a:pPr algn="l" indent="0" marL="0">
                        <a:buNone/>
                      </a:pPr>
                      <a:r>
                        <a:rPr lang="en-US" sz="700" dirty="0">
                          <a:solidFill>
                            <a:srgbClr val="B83030"/>
                          </a:solidFill>
                          <a:latin typeface="Calibri" pitchFamily="34" charset="0"/>
                          <a:ea typeface="Calibri" pitchFamily="34" charset="-122"/>
                          <a:cs typeface="Calibri" pitchFamily="34" charset="-120"/>
                        </a:rPr>
                        <a:t>She hasn't been here since Monday.</a:t>
                      </a:r>
                      <a:endParaRPr lang="en-US" sz="7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c>
                  <a:txBody>
                    <a:bodyPr/>
                    <a:lstStyle/>
                    <a:p>
                      <a:pPr algn="l" indent="0" marL="0">
                        <a:buNone/>
                      </a:pPr>
                      <a:r>
                        <a:rPr lang="en-US" sz="700" dirty="0">
                          <a:solidFill>
                            <a:srgbClr val="0D7C7B"/>
                          </a:solidFill>
                          <a:latin typeface="Calibri" pitchFamily="34" charset="0"/>
                          <a:ea typeface="Calibri" pitchFamily="34" charset="-122"/>
                          <a:cs typeface="Calibri" pitchFamily="34" charset="-120"/>
                        </a:rPr>
                        <a:t>Since when has she been here?</a:t>
                      </a:r>
                      <a:endParaRPr lang="en-US" sz="7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c>
                  <a:txBody>
                    <a:bodyPr/>
                    <a:lstStyle/>
                    <a:p>
                      <a:pPr algn="l" indent="0" marL="0">
                        <a:buNone/>
                      </a:pPr>
                      <a:r>
                        <a:rPr lang="en-US" sz="750" dirty="0">
                          <a:solidFill>
                            <a:srgbClr val="3A5060"/>
                          </a:solidFill>
                          <a:latin typeface="Calibri" pitchFamily="34" charset="0"/>
                          <a:ea typeface="Calibri" pitchFamily="34" charset="-122"/>
                          <a:cs typeface="Calibri" pitchFamily="34" charset="-120"/>
                        </a:rPr>
                        <a:t>... -аас хойш</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r>
              <a:tr h="192024">
                <a:tc>
                  <a:txBody>
                    <a:bodyPr/>
                    <a:lstStyle/>
                    <a:p>
                      <a:pPr algn="l" indent="0" marL="0">
                        <a:buNone/>
                      </a:pPr>
                      <a:r>
                        <a:rPr lang="en-US" sz="750" b="1" dirty="0">
                          <a:solidFill>
                            <a:srgbClr val="2E6DA4"/>
                          </a:solidFill>
                          <a:latin typeface="Calibri" pitchFamily="34" charset="0"/>
                          <a:ea typeface="Calibri" pitchFamily="34" charset="-122"/>
                          <a:cs typeface="Calibri" pitchFamily="34" charset="-120"/>
                        </a:rPr>
                        <a:t>lately/recently</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800" b="1" dirty="0">
                          <a:solidFill>
                            <a:srgbClr val="6B3FA0"/>
                          </a:solidFill>
                          <a:latin typeface="Calibri" pitchFamily="34" charset="0"/>
                          <a:ea typeface="Calibri" pitchFamily="34" charset="-122"/>
                          <a:cs typeface="Calibri" pitchFamily="34" charset="-120"/>
                        </a:rPr>
                        <a:t>time signals</a:t>
                      </a:r>
                      <a:endParaRPr lang="en-US" sz="8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700" dirty="0">
                          <a:solidFill>
                            <a:srgbClr val="1A2A3A"/>
                          </a:solidFill>
                          <a:latin typeface="Calibri" pitchFamily="34" charset="0"/>
                          <a:ea typeface="Calibri" pitchFamily="34" charset="-122"/>
                          <a:cs typeface="Calibri" pitchFamily="34" charset="-120"/>
                        </a:rPr>
                        <a:t>Lately I've been sleeping better.</a:t>
                      </a:r>
                      <a:endParaRPr lang="en-US" sz="7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700" dirty="0">
                          <a:solidFill>
                            <a:srgbClr val="B83030"/>
                          </a:solidFill>
                          <a:latin typeface="Calibri" pitchFamily="34" charset="0"/>
                          <a:ea typeface="Calibri" pitchFamily="34" charset="-122"/>
                          <a:cs typeface="Calibri" pitchFamily="34" charset="-120"/>
                        </a:rPr>
                        <a:t>—</a:t>
                      </a:r>
                      <a:endParaRPr lang="en-US" sz="7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700" dirty="0">
                          <a:solidFill>
                            <a:srgbClr val="0D7C7B"/>
                          </a:solidFill>
                          <a:latin typeface="Calibri" pitchFamily="34" charset="0"/>
                          <a:ea typeface="Calibri" pitchFamily="34" charset="-122"/>
                          <a:cs typeface="Calibri" pitchFamily="34" charset="-120"/>
                        </a:rPr>
                        <a:t>Have you been sleeping well lately?</a:t>
                      </a:r>
                      <a:endParaRPr lang="en-US" sz="7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750" dirty="0">
                          <a:solidFill>
                            <a:srgbClr val="3A5060"/>
                          </a:solidFill>
                          <a:latin typeface="Calibri" pitchFamily="34" charset="0"/>
                          <a:ea typeface="Calibri" pitchFamily="34" charset="-122"/>
                          <a:cs typeface="Calibri" pitchFamily="34" charset="-120"/>
                        </a:rPr>
                        <a:t>сүүлийн үед</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r>
            </a:tbl>
          </a:graphicData>
        </a:graphic>
      </p:graphicFrame>
      <p:sp>
        <p:nvSpPr>
          <p:cNvPr id="35" name="Shape 31"/>
          <p:cNvSpPr/>
          <p:nvPr/>
        </p:nvSpPr>
        <p:spPr>
          <a:xfrm>
            <a:off x="3639312" y="3273552"/>
            <a:ext cx="2980944" cy="164592"/>
          </a:xfrm>
          <a:prstGeom prst="rect">
            <a:avLst/>
          </a:prstGeom>
          <a:solidFill>
            <a:srgbClr val="0D7C7B"/>
          </a:solidFill>
          <a:ln w="12700">
            <a:solidFill>
              <a:srgbClr val="0D7C7B"/>
            </a:solidFill>
            <a:prstDash val="solid"/>
          </a:ln>
        </p:spPr>
      </p:sp>
      <p:sp>
        <p:nvSpPr>
          <p:cNvPr id="36" name="Text 32"/>
          <p:cNvSpPr/>
          <p:nvPr/>
        </p:nvSpPr>
        <p:spPr>
          <a:xfrm>
            <a:off x="3657600" y="3273552"/>
            <a:ext cx="2980944" cy="164592"/>
          </a:xfrm>
          <a:prstGeom prst="rect">
            <a:avLst/>
          </a:prstGeom>
          <a:noFill/>
          <a:ln/>
        </p:spPr>
        <p:txBody>
          <a:bodyPr wrap="square" lIns="0" tIns="0" rIns="0" bIns="0" rtlCol="0" anchor="ctr"/>
          <a:lstStyle/>
          <a:p>
            <a:pPr indent="0" marL="0">
              <a:buNone/>
            </a:pPr>
            <a:r>
              <a:rPr lang="en-US" sz="800" b="1" dirty="0">
                <a:solidFill>
                  <a:srgbClr val="FFFFFF"/>
                </a:solidFill>
                <a:latin typeface="Calibri" pitchFamily="34" charset="0"/>
                <a:ea typeface="Calibri" pitchFamily="34" charset="-122"/>
                <a:cs typeface="Calibri" pitchFamily="34" charset="-120"/>
              </a:rPr>
              <a:t>✂  Key Forms</a:t>
            </a:r>
            <a:endParaRPr lang="en-US" sz="800" dirty="0"/>
          </a:p>
        </p:txBody>
      </p:sp>
      <p:sp>
        <p:nvSpPr>
          <p:cNvPr id="37" name="Shape 33"/>
          <p:cNvSpPr/>
          <p:nvPr/>
        </p:nvSpPr>
        <p:spPr>
          <a:xfrm>
            <a:off x="3639312" y="3438144"/>
            <a:ext cx="2980944" cy="274320"/>
          </a:xfrm>
          <a:prstGeom prst="rect">
            <a:avLst/>
          </a:prstGeom>
          <a:solidFill>
            <a:srgbClr val="E0F4F4"/>
          </a:solidFill>
          <a:ln w="12700">
            <a:solidFill>
              <a:srgbClr val="0D7C7B"/>
            </a:solidFill>
            <a:prstDash val="solid"/>
          </a:ln>
        </p:spPr>
      </p:sp>
      <p:sp>
        <p:nvSpPr>
          <p:cNvPr id="38" name="Text 34"/>
          <p:cNvSpPr/>
          <p:nvPr/>
        </p:nvSpPr>
        <p:spPr>
          <a:xfrm>
            <a:off x="3657600" y="3465576"/>
            <a:ext cx="1639519" cy="237744"/>
          </a:xfrm>
          <a:prstGeom prst="rect">
            <a:avLst/>
          </a:prstGeom>
          <a:noFill/>
          <a:ln/>
        </p:spPr>
        <p:txBody>
          <a:bodyPr wrap="square" lIns="0" tIns="0" rIns="0" bIns="0" rtlCol="0" anchor="t"/>
          <a:lstStyle/>
          <a:p>
            <a:pPr indent="0" marL="0">
              <a:lnSpc>
                <a:spcPct val="130000"/>
              </a:lnSpc>
              <a:buNone/>
            </a:pPr>
            <a:r>
              <a:rPr lang="en-US" sz="850" b="1" dirty="0">
                <a:solidFill>
                  <a:srgbClr val="0D7C7B"/>
                </a:solidFill>
                <a:latin typeface="Calibri" pitchFamily="34" charset="0"/>
                <a:ea typeface="Calibri" pitchFamily="34" charset="-122"/>
                <a:cs typeface="Calibri" pitchFamily="34" charset="-120"/>
              </a:rPr>
              <a:t>I've been · She's been · He's been · We've been · They've been</a:t>
            </a:r>
            <a:endParaRPr lang="en-US" sz="850" dirty="0"/>
          </a:p>
          <a:p>
            <a:pPr indent="0" marL="0">
              <a:lnSpc>
                <a:spcPct val="130000"/>
              </a:lnSpc>
              <a:buNone/>
            </a:pPr>
            <a:r>
              <a:rPr lang="en-US" sz="850" b="1" dirty="0">
                <a:solidFill>
                  <a:srgbClr val="0D7C7B"/>
                </a:solidFill>
                <a:latin typeface="Calibri" pitchFamily="34" charset="0"/>
                <a:ea typeface="Calibri" pitchFamily="34" charset="-122"/>
                <a:cs typeface="Calibri" pitchFamily="34" charset="-120"/>
              </a:rPr>
              <a:t>I haven't been · She hasn't been · Have you been...? · Has she been...?</a:t>
            </a:r>
            <a:endParaRPr lang="en-US" sz="850" dirty="0"/>
          </a:p>
        </p:txBody>
      </p:sp>
      <p:sp>
        <p:nvSpPr>
          <p:cNvPr id="39" name="Text 35"/>
          <p:cNvSpPr/>
          <p:nvPr/>
        </p:nvSpPr>
        <p:spPr>
          <a:xfrm>
            <a:off x="5297119" y="3465576"/>
            <a:ext cx="1311615" cy="237744"/>
          </a:xfrm>
          <a:prstGeom prst="rect">
            <a:avLst/>
          </a:prstGeom>
          <a:noFill/>
          <a:ln/>
        </p:spPr>
        <p:txBody>
          <a:bodyPr wrap="square" lIns="0" tIns="0" rIns="0" bIns="0" rtlCol="0" anchor="t"/>
          <a:lstStyle/>
          <a:p>
            <a:pPr indent="0" marL="0">
              <a:lnSpc>
                <a:spcPct val="130000"/>
              </a:lnSpc>
              <a:buNone/>
            </a:pPr>
            <a:r>
              <a:rPr lang="en-US" sz="750" i="1" dirty="0">
                <a:solidFill>
                  <a:srgbClr val="3A5060"/>
                </a:solidFill>
                <a:latin typeface="Calibri" pitchFamily="34" charset="0"/>
                <a:ea typeface="Calibri" pitchFamily="34" charset="-122"/>
                <a:cs typeface="Calibri" pitchFamily="34" charset="-120"/>
              </a:rPr>
              <a:t>I've been studying = I have been studying</a:t>
            </a:r>
            <a:endParaRPr lang="en-US" sz="750" dirty="0"/>
          </a:p>
          <a:p>
            <a:pPr indent="0" marL="0">
              <a:lnSpc>
                <a:spcPct val="130000"/>
              </a:lnSpc>
              <a:buNone/>
            </a:pPr>
            <a:r>
              <a:rPr lang="en-US" sz="750" i="1" dirty="0">
                <a:solidFill>
                  <a:srgbClr val="3A5060"/>
                </a:solidFill>
                <a:latin typeface="Calibri" pitchFamily="34" charset="0"/>
                <a:ea typeface="Calibri" pitchFamily="34" charset="-122"/>
                <a:cs typeface="Calibri" pitchFamily="34" charset="-120"/>
              </a:rPr>
              <a:t>She's been working = She has been working</a:t>
            </a:r>
            <a:endParaRPr lang="en-US" sz="750" dirty="0"/>
          </a:p>
          <a:p>
            <a:pPr indent="0" marL="0">
              <a:lnSpc>
                <a:spcPct val="130000"/>
              </a:lnSpc>
              <a:buNone/>
            </a:pPr>
            <a:r>
              <a:rPr lang="en-US" sz="750" i="1" dirty="0">
                <a:solidFill>
                  <a:srgbClr val="3A5060"/>
                </a:solidFill>
                <a:latin typeface="Calibri" pitchFamily="34" charset="0"/>
                <a:ea typeface="Calibri" pitchFamily="34" charset="-122"/>
                <a:cs typeface="Calibri" pitchFamily="34" charset="-120"/>
              </a:rPr>
              <a:t>Haven't been · Hasn't been — үгүйсгэл хэлбэр</a:t>
            </a:r>
            <a:endParaRPr lang="en-US" sz="750" dirty="0"/>
          </a:p>
        </p:txBody>
      </p:sp>
      <p:sp>
        <p:nvSpPr>
          <p:cNvPr id="40" name="Shape 36"/>
          <p:cNvSpPr/>
          <p:nvPr/>
        </p:nvSpPr>
        <p:spPr>
          <a:xfrm>
            <a:off x="3639312" y="3749040"/>
            <a:ext cx="2980944" cy="164592"/>
          </a:xfrm>
          <a:prstGeom prst="rect">
            <a:avLst/>
          </a:prstGeom>
          <a:solidFill>
            <a:srgbClr val="1A3A5C"/>
          </a:solidFill>
          <a:ln w="12700">
            <a:solidFill>
              <a:srgbClr val="1A3A5C"/>
            </a:solidFill>
            <a:prstDash val="solid"/>
          </a:ln>
        </p:spPr>
      </p:sp>
      <p:sp>
        <p:nvSpPr>
          <p:cNvPr id="41" name="Text 37"/>
          <p:cNvSpPr/>
          <p:nvPr/>
        </p:nvSpPr>
        <p:spPr>
          <a:xfrm>
            <a:off x="3657600" y="3749040"/>
            <a:ext cx="2980944" cy="164592"/>
          </a:xfrm>
          <a:prstGeom prst="rect">
            <a:avLst/>
          </a:prstGeom>
          <a:noFill/>
          <a:ln/>
        </p:spPr>
        <p:txBody>
          <a:bodyPr wrap="square" lIns="0" tIns="0" rIns="0" bIns="0" rtlCol="0" anchor="ctr"/>
          <a:lstStyle/>
          <a:p>
            <a:pPr indent="0" marL="0">
              <a:buNone/>
            </a:pPr>
            <a:r>
              <a:rPr lang="en-US" sz="800" b="1" dirty="0">
                <a:solidFill>
                  <a:srgbClr val="FFFFFF"/>
                </a:solidFill>
                <a:latin typeface="Calibri" pitchFamily="34" charset="0"/>
                <a:ea typeface="Calibri" pitchFamily="34" charset="-122"/>
                <a:cs typeface="Calibri" pitchFamily="34" charset="-120"/>
              </a:rPr>
              <a:t>⚖  Rules &amp; Usage</a:t>
            </a:r>
            <a:endParaRPr lang="en-US" sz="800" dirty="0"/>
          </a:p>
        </p:txBody>
      </p:sp>
      <p:sp>
        <p:nvSpPr>
          <p:cNvPr id="42" name="Shape 38"/>
          <p:cNvSpPr/>
          <p:nvPr/>
        </p:nvSpPr>
        <p:spPr>
          <a:xfrm>
            <a:off x="3639312" y="3913632"/>
            <a:ext cx="2980944" cy="310896"/>
          </a:xfrm>
          <a:prstGeom prst="rect">
            <a:avLst/>
          </a:prstGeom>
          <a:solidFill>
            <a:srgbClr val="F8FAFC"/>
          </a:solidFill>
          <a:ln w="12700">
            <a:solidFill>
              <a:srgbClr val="C8D8E8"/>
            </a:solidFill>
            <a:prstDash val="solid"/>
          </a:ln>
        </p:spPr>
      </p:sp>
      <p:sp>
        <p:nvSpPr>
          <p:cNvPr id="43" name="Text 39"/>
          <p:cNvSpPr/>
          <p:nvPr/>
        </p:nvSpPr>
        <p:spPr>
          <a:xfrm>
            <a:off x="3657600" y="3941064"/>
            <a:ext cx="2944368" cy="274320"/>
          </a:xfrm>
          <a:prstGeom prst="rect">
            <a:avLst/>
          </a:prstGeom>
          <a:noFill/>
          <a:ln/>
        </p:spPr>
        <p:txBody>
          <a:bodyPr wrap="square" lIns="0" tIns="0" rIns="0" bIns="0" rtlCol="0" anchor="t"/>
          <a:lstStyle/>
          <a:p>
            <a:pPr indent="0" marL="0">
              <a:lnSpc>
                <a:spcPct val="130000"/>
              </a:lnSpc>
              <a:buNone/>
            </a:pPr>
            <a:r>
              <a:rPr lang="en-US" sz="800" b="1" dirty="0">
                <a:solidFill>
                  <a:srgbClr val="B83030"/>
                </a:solidFill>
                <a:latin typeface="Calibri" pitchFamily="34" charset="0"/>
                <a:ea typeface="Calibri" pitchFamily="34" charset="-122"/>
                <a:cs typeface="Calibri" pitchFamily="34" charset="-120"/>
              </a:rPr>
              <a:t>Rule 1: </a:t>
            </a:r>
            <a:pPr indent="0" marL="0">
              <a:lnSpc>
                <a:spcPct val="130000"/>
              </a:lnSpc>
              <a:buNone/>
            </a:pPr>
            <a:r>
              <a:rPr lang="en-US" sz="800" dirty="0">
                <a:solidFill>
                  <a:srgbClr val="1A2A3A"/>
                </a:solidFill>
                <a:latin typeface="Calibri" pitchFamily="34" charset="0"/>
                <a:ea typeface="Calibri" pitchFamily="34" charset="-122"/>
                <a:cs typeface="Calibri" pitchFamily="34" charset="-120"/>
              </a:rPr>
              <a:t>I HAVEN'T BEEN sleeping well lately. She HASN'T BEEN practising enough. They HAVEN'T BEEN coming to class regularly.
</a:t>
            </a:r>
            <a:pPr indent="0" marL="0">
              <a:lnSpc>
                <a:spcPct val="130000"/>
              </a:lnSpc>
              <a:buNone/>
            </a:pPr>
            <a:r>
              <a:rPr lang="en-US" sz="800" b="1" dirty="0">
                <a:solidFill>
                  <a:srgbClr val="0D7C7B"/>
                </a:solidFill>
                <a:latin typeface="Calibri" pitchFamily="34" charset="0"/>
                <a:ea typeface="Calibri" pitchFamily="34" charset="-122"/>
                <a:cs typeface="Calibri" pitchFamily="34" charset="-120"/>
              </a:rPr>
              <a:t>Rule 2: </a:t>
            </a:r>
            <a:pPr indent="0" marL="0">
              <a:lnSpc>
                <a:spcPct val="130000"/>
              </a:lnSpc>
              <a:buNone/>
            </a:pPr>
            <a:r>
              <a:rPr lang="en-US" sz="800" dirty="0">
                <a:solidFill>
                  <a:srgbClr val="1A2A3A"/>
                </a:solidFill>
                <a:latin typeface="Calibri" pitchFamily="34" charset="0"/>
                <a:ea typeface="Calibri" pitchFamily="34" charset="-122"/>
                <a:cs typeface="Calibri" pitchFamily="34" charset="-120"/>
              </a:rPr>
              <a:t>HAVE you BEEN studying? HOW LONG have you BEEN learning English? WHAT have you BEEN doing lately?</a:t>
            </a:r>
            <a:endParaRPr lang="en-US" sz="800" dirty="0"/>
          </a:p>
        </p:txBody>
      </p:sp>
      <p:sp>
        <p:nvSpPr>
          <p:cNvPr id="44" name="Shape 40"/>
          <p:cNvSpPr/>
          <p:nvPr/>
        </p:nvSpPr>
        <p:spPr>
          <a:xfrm>
            <a:off x="3639312" y="4261104"/>
            <a:ext cx="1463040" cy="164592"/>
          </a:xfrm>
          <a:prstGeom prst="rect">
            <a:avLst/>
          </a:prstGeom>
          <a:solidFill>
            <a:srgbClr val="C97A0A"/>
          </a:solidFill>
          <a:ln w="12700">
            <a:solidFill>
              <a:srgbClr val="C97A0A"/>
            </a:solidFill>
            <a:prstDash val="solid"/>
          </a:ln>
        </p:spPr>
      </p:sp>
      <p:sp>
        <p:nvSpPr>
          <p:cNvPr id="45" name="Text 41"/>
          <p:cNvSpPr/>
          <p:nvPr/>
        </p:nvSpPr>
        <p:spPr>
          <a:xfrm>
            <a:off x="3639312" y="4261104"/>
            <a:ext cx="1463040" cy="164592"/>
          </a:xfrm>
          <a:prstGeom prst="rect">
            <a:avLst/>
          </a:prstGeom>
          <a:noFill/>
          <a:ln/>
        </p:spPr>
        <p:txBody>
          <a:bodyPr wrap="square" lIns="0" tIns="63500" rIns="0" bIns="0" rtlCol="0" anchor="ctr"/>
          <a:lstStyle/>
          <a:p>
            <a:pPr indent="0" marL="0">
              <a:buNone/>
            </a:pPr>
            <a:r>
              <a:rPr lang="en-US" sz="800" b="1" dirty="0">
                <a:solidFill>
                  <a:srgbClr val="FFFFFF"/>
                </a:solidFill>
                <a:latin typeface="Calibri" pitchFamily="34" charset="0"/>
                <a:ea typeface="Calibri" pitchFamily="34" charset="-122"/>
                <a:cs typeface="Calibri" pitchFamily="34" charset="-120"/>
              </a:rPr>
              <a:t>💡  Grammar Tip</a:t>
            </a:r>
            <a:endParaRPr lang="en-US" sz="800" dirty="0"/>
          </a:p>
        </p:txBody>
      </p:sp>
      <p:sp>
        <p:nvSpPr>
          <p:cNvPr id="46" name="Shape 42"/>
          <p:cNvSpPr/>
          <p:nvPr/>
        </p:nvSpPr>
        <p:spPr>
          <a:xfrm>
            <a:off x="5138928" y="4261104"/>
            <a:ext cx="1463040" cy="164592"/>
          </a:xfrm>
          <a:prstGeom prst="rect">
            <a:avLst/>
          </a:prstGeom>
          <a:solidFill>
            <a:srgbClr val="B83030"/>
          </a:solidFill>
          <a:ln w="12700">
            <a:solidFill>
              <a:srgbClr val="B83030"/>
            </a:solidFill>
            <a:prstDash val="solid"/>
          </a:ln>
        </p:spPr>
      </p:sp>
      <p:sp>
        <p:nvSpPr>
          <p:cNvPr id="47" name="Text 43"/>
          <p:cNvSpPr/>
          <p:nvPr/>
        </p:nvSpPr>
        <p:spPr>
          <a:xfrm>
            <a:off x="5138928" y="4261104"/>
            <a:ext cx="1463040" cy="164592"/>
          </a:xfrm>
          <a:prstGeom prst="rect">
            <a:avLst/>
          </a:prstGeom>
          <a:noFill/>
          <a:ln/>
        </p:spPr>
        <p:txBody>
          <a:bodyPr wrap="square" lIns="0" tIns="63500" rIns="0" bIns="0" rtlCol="0" anchor="ctr"/>
          <a:lstStyle/>
          <a:p>
            <a:pPr indent="0" marL="0">
              <a:buNone/>
            </a:pPr>
            <a:r>
              <a:rPr lang="en-US" sz="800" b="1" dirty="0">
                <a:solidFill>
                  <a:srgbClr val="FFFFFF"/>
                </a:solidFill>
                <a:latin typeface="Calibri" pitchFamily="34" charset="0"/>
                <a:ea typeface="Calibri" pitchFamily="34" charset="-122"/>
                <a:cs typeface="Calibri" pitchFamily="34" charset="-120"/>
              </a:rPr>
              <a:t>⚠  Common Mistakes</a:t>
            </a:r>
            <a:endParaRPr lang="en-US" sz="800" dirty="0"/>
          </a:p>
        </p:txBody>
      </p:sp>
      <p:sp>
        <p:nvSpPr>
          <p:cNvPr id="48" name="Shape 44"/>
          <p:cNvSpPr/>
          <p:nvPr/>
        </p:nvSpPr>
        <p:spPr>
          <a:xfrm>
            <a:off x="3639312" y="4425696"/>
            <a:ext cx="1463040" cy="2144817"/>
          </a:xfrm>
          <a:prstGeom prst="rect">
            <a:avLst/>
          </a:prstGeom>
          <a:solidFill>
            <a:srgbClr val="FEF3DC"/>
          </a:solidFill>
          <a:ln w="12700">
            <a:solidFill>
              <a:srgbClr val="C97A0A"/>
            </a:solidFill>
            <a:prstDash val="solid"/>
          </a:ln>
        </p:spPr>
      </p:sp>
      <p:sp>
        <p:nvSpPr>
          <p:cNvPr id="49" name="Text 45"/>
          <p:cNvSpPr/>
          <p:nvPr/>
        </p:nvSpPr>
        <p:spPr>
          <a:xfrm>
            <a:off x="3666744" y="4462272"/>
            <a:ext cx="1380744" cy="2089953"/>
          </a:xfrm>
          <a:prstGeom prst="rect">
            <a:avLst/>
          </a:prstGeom>
          <a:noFill/>
          <a:ln/>
        </p:spPr>
        <p:txBody>
          <a:bodyPr wrap="square" lIns="0" tIns="0" rIns="0" bIns="0" rtlCol="0" anchor="t"/>
          <a:lstStyle/>
          <a:p>
            <a:pPr indent="0" marL="0">
              <a:lnSpc>
                <a:spcPct val="135000"/>
              </a:lnSpc>
              <a:buNone/>
            </a:pPr>
            <a:r>
              <a:rPr lang="en-US" sz="780" dirty="0">
                <a:solidFill>
                  <a:srgbClr val="1A2A3A"/>
                </a:solidFill>
                <a:latin typeface="Calibri" pitchFamily="34" charset="0"/>
                <a:ea typeface="Calibri" pitchFamily="34" charset="-122"/>
                <a:cs typeface="Calibri" pitchFamily="34" charset="-120"/>
              </a:rPr>
              <a:t>• have/has + been + verb-ING</a:t>
            </a:r>
            <a:endParaRPr lang="en-US" sz="780" dirty="0"/>
          </a:p>
          <a:p>
            <a:pPr indent="0" marL="0">
              <a:lnSpc>
                <a:spcPct val="135000"/>
              </a:lnSpc>
              <a:buNone/>
            </a:pPr>
            <a:r>
              <a:rPr lang="en-US" sz="780" dirty="0">
                <a:solidFill>
                  <a:srgbClr val="1A2A3A"/>
                </a:solidFill>
                <a:latin typeface="Calibri" pitchFamily="34" charset="0"/>
                <a:ea typeface="Calibri" pitchFamily="34" charset="-122"/>
                <a:cs typeface="Calibri" pitchFamily="34" charset="-120"/>
              </a:rPr>
              <a:t>• Focus on DURATION and ongoing process</a:t>
            </a:r>
            <a:endParaRPr lang="en-US" sz="780" dirty="0"/>
          </a:p>
          <a:p>
            <a:pPr indent="0" marL="0">
              <a:lnSpc>
                <a:spcPct val="135000"/>
              </a:lnSpc>
              <a:buNone/>
            </a:pPr>
            <a:r>
              <a:rPr lang="en-US" sz="780" dirty="0">
                <a:solidFill>
                  <a:srgbClr val="1A2A3A"/>
                </a:solidFill>
                <a:latin typeface="Calibri" pitchFamily="34" charset="0"/>
                <a:ea typeface="Calibri" pitchFamily="34" charset="-122"/>
                <a:cs typeface="Calibri" pitchFamily="34" charset="-120"/>
              </a:rPr>
              <a:t>• Use FOR + period: for 3 years</a:t>
            </a:r>
            <a:endParaRPr lang="en-US" sz="780" dirty="0"/>
          </a:p>
          <a:p>
            <a:pPr indent="0" marL="0">
              <a:lnSpc>
                <a:spcPct val="135000"/>
              </a:lnSpc>
              <a:buNone/>
            </a:pPr>
            <a:r>
              <a:rPr lang="en-US" sz="780" dirty="0">
                <a:solidFill>
                  <a:srgbClr val="1A2A3A"/>
                </a:solidFill>
                <a:latin typeface="Calibri" pitchFamily="34" charset="0"/>
                <a:ea typeface="Calibri" pitchFamily="34" charset="-122"/>
                <a:cs typeface="Calibri" pitchFamily="34" charset="-120"/>
              </a:rPr>
              <a:t>• Use SINCE + starting point: since Monday</a:t>
            </a:r>
            <a:endParaRPr lang="en-US" sz="780" dirty="0"/>
          </a:p>
          <a:p>
            <a:pPr indent="0" marL="0">
              <a:lnSpc>
                <a:spcPct val="135000"/>
              </a:lnSpc>
              <a:buNone/>
            </a:pPr>
            <a:r>
              <a:rPr lang="en-US" sz="780" dirty="0">
                <a:solidFill>
                  <a:srgbClr val="1A2A3A"/>
                </a:solidFill>
                <a:latin typeface="Calibri" pitchFamily="34" charset="0"/>
                <a:ea typeface="Calibri" pitchFamily="34" charset="-122"/>
                <a:cs typeface="Calibri" pitchFamily="34" charset="-120"/>
              </a:rPr>
              <a:t>• Signal words: lately, recently, all day, all week</a:t>
            </a:r>
            <a:endParaRPr lang="en-US" sz="780" dirty="0"/>
          </a:p>
          <a:p>
            <a:pPr indent="0" marL="0">
              <a:lnSpc>
                <a:spcPct val="135000"/>
              </a:lnSpc>
              <a:buNone/>
            </a:pPr>
            <a:r>
              <a:rPr lang="en-US" sz="780" dirty="0">
                <a:solidFill>
                  <a:srgbClr val="1A2A3A"/>
                </a:solidFill>
                <a:latin typeface="Calibri" pitchFamily="34" charset="0"/>
                <a:ea typeface="Calibri" pitchFamily="34" charset="-122"/>
                <a:cs typeface="Calibri" pitchFamily="34" charset="-120"/>
              </a:rPr>
              <a:t>• PP Simple = result · PP Continuous = ongoing</a:t>
            </a:r>
            <a:endParaRPr lang="en-US" sz="780" dirty="0"/>
          </a:p>
        </p:txBody>
      </p:sp>
      <p:sp>
        <p:nvSpPr>
          <p:cNvPr id="50" name="Shape 46"/>
          <p:cNvSpPr/>
          <p:nvPr/>
        </p:nvSpPr>
        <p:spPr>
          <a:xfrm>
            <a:off x="5138928" y="4425696"/>
            <a:ext cx="1463040" cy="2144817"/>
          </a:xfrm>
          <a:prstGeom prst="rect">
            <a:avLst/>
          </a:prstGeom>
          <a:solidFill>
            <a:srgbClr val="FDECEA"/>
          </a:solidFill>
          <a:ln w="12700">
            <a:solidFill>
              <a:srgbClr val="B83030"/>
            </a:solidFill>
            <a:prstDash val="solid"/>
          </a:ln>
        </p:spPr>
      </p:sp>
      <p:sp>
        <p:nvSpPr>
          <p:cNvPr id="51" name="Text 47"/>
          <p:cNvSpPr/>
          <p:nvPr/>
        </p:nvSpPr>
        <p:spPr>
          <a:xfrm>
            <a:off x="5166360" y="4462272"/>
            <a:ext cx="1380744" cy="2089953"/>
          </a:xfrm>
          <a:prstGeom prst="rect">
            <a:avLst/>
          </a:prstGeom>
          <a:noFill/>
          <a:ln/>
        </p:spPr>
        <p:txBody>
          <a:bodyPr wrap="square" lIns="0" tIns="0" rIns="0" bIns="0" rtlCol="0" anchor="t"/>
          <a:lstStyle/>
          <a:p>
            <a:pPr indent="0" marL="0">
              <a:lnSpc>
                <a:spcPct val="135000"/>
              </a:lnSpc>
              <a:buNone/>
            </a:pPr>
            <a:r>
              <a:rPr lang="en-US" sz="780" dirty="0">
                <a:solidFill>
                  <a:srgbClr val="1A2A3A"/>
                </a:solidFill>
                <a:latin typeface="Calibri" pitchFamily="34" charset="0"/>
                <a:ea typeface="Calibri" pitchFamily="34" charset="-122"/>
                <a:cs typeface="Calibri" pitchFamily="34" charset="-120"/>
              </a:rPr>
              <a:t>❌ I have been study English.  ✅ I have been STUDYING English. (need -ing!)</a:t>
            </a:r>
            <a:endParaRPr lang="en-US" sz="780" dirty="0"/>
          </a:p>
          <a:p>
            <a:pPr indent="0" marL="0">
              <a:lnSpc>
                <a:spcPct val="135000"/>
              </a:lnSpc>
              <a:buNone/>
            </a:pPr>
            <a:r>
              <a:rPr lang="en-US" sz="780" dirty="0">
                <a:solidFill>
                  <a:srgbClr val="1A2A3A"/>
                </a:solidFill>
                <a:latin typeface="Calibri" pitchFamily="34" charset="0"/>
                <a:ea typeface="Calibri" pitchFamily="34" charset="-122"/>
                <a:cs typeface="Calibri" pitchFamily="34" charset="-120"/>
              </a:rPr>
              <a:t>❌ She has been worked here.  ✅ She has been WORKING here.</a:t>
            </a:r>
            <a:endParaRPr lang="en-US" sz="780" dirty="0"/>
          </a:p>
          <a:p>
            <a:pPr indent="0" marL="0">
              <a:lnSpc>
                <a:spcPct val="135000"/>
              </a:lnSpc>
              <a:buNone/>
            </a:pPr>
            <a:r>
              <a:rPr lang="en-US" sz="780" dirty="0">
                <a:solidFill>
                  <a:srgbClr val="1A2A3A"/>
                </a:solidFill>
                <a:latin typeface="Calibri" pitchFamily="34" charset="0"/>
                <a:ea typeface="Calibri" pitchFamily="34" charset="-122"/>
                <a:cs typeface="Calibri" pitchFamily="34" charset="-120"/>
              </a:rPr>
              <a:t>❌ I am studying English for 63 days.  ✅ I HAVE BEEN STUDYING for 63 days. (duration→PPC!)</a:t>
            </a:r>
            <a:endParaRPr lang="en-US" sz="780" dirty="0"/>
          </a:p>
          <a:p>
            <a:pPr indent="0" marL="0">
              <a:lnSpc>
                <a:spcPct val="135000"/>
              </a:lnSpc>
              <a:buNone/>
            </a:pPr>
            <a:r>
              <a:rPr lang="en-US" sz="780" dirty="0">
                <a:solidFill>
                  <a:srgbClr val="1A2A3A"/>
                </a:solidFill>
                <a:latin typeface="Calibri" pitchFamily="34" charset="0"/>
                <a:ea typeface="Calibri" pitchFamily="34" charset="-122"/>
                <a:cs typeface="Calibri" pitchFamily="34" charset="-120"/>
              </a:rPr>
              <a:t>❌ He has been study since Monday.  ✅ He has been STUDYING since Monday.</a:t>
            </a:r>
            <a:endParaRPr lang="en-US" sz="780" dirty="0"/>
          </a:p>
        </p:txBody>
      </p:sp>
      <p:sp>
        <p:nvSpPr>
          <p:cNvPr id="52" name="Shape 48"/>
          <p:cNvSpPr/>
          <p:nvPr/>
        </p:nvSpPr>
        <p:spPr>
          <a:xfrm>
            <a:off x="3639312" y="6607089"/>
            <a:ext cx="2980944" cy="164592"/>
          </a:xfrm>
          <a:prstGeom prst="rect">
            <a:avLst/>
          </a:prstGeom>
          <a:solidFill>
            <a:srgbClr val="0D7C7B"/>
          </a:solidFill>
          <a:ln w="12700">
            <a:solidFill>
              <a:srgbClr val="0D7C7B"/>
            </a:solidFill>
            <a:prstDash val="solid"/>
          </a:ln>
        </p:spPr>
      </p:sp>
      <p:sp>
        <p:nvSpPr>
          <p:cNvPr id="53" name="Text 49"/>
          <p:cNvSpPr/>
          <p:nvPr/>
        </p:nvSpPr>
        <p:spPr>
          <a:xfrm>
            <a:off x="3657600" y="6607089"/>
            <a:ext cx="2980944" cy="164592"/>
          </a:xfrm>
          <a:prstGeom prst="rect">
            <a:avLst/>
          </a:prstGeom>
          <a:noFill/>
          <a:ln/>
        </p:spPr>
        <p:txBody>
          <a:bodyPr wrap="square" lIns="0" tIns="0" rIns="0" bIns="0" rtlCol="0" anchor="ctr"/>
          <a:lstStyle/>
          <a:p>
            <a:pPr indent="0" marL="0">
              <a:buNone/>
            </a:pPr>
            <a:r>
              <a:rPr lang="en-US" sz="850" b="1" dirty="0">
                <a:solidFill>
                  <a:srgbClr val="FFFFFF"/>
                </a:solidFill>
                <a:latin typeface="Calibri" pitchFamily="34" charset="0"/>
                <a:ea typeface="Calibri" pitchFamily="34" charset="-122"/>
                <a:cs typeface="Calibri" pitchFamily="34" charset="-120"/>
              </a:rPr>
              <a:t>⚡  Quick Practice</a:t>
            </a:r>
            <a:endParaRPr lang="en-US" sz="850" dirty="0"/>
          </a:p>
        </p:txBody>
      </p:sp>
      <p:sp>
        <p:nvSpPr>
          <p:cNvPr id="54" name="Shape 50"/>
          <p:cNvSpPr/>
          <p:nvPr/>
        </p:nvSpPr>
        <p:spPr>
          <a:xfrm>
            <a:off x="3639312" y="6771681"/>
            <a:ext cx="2980944" cy="2902671"/>
          </a:xfrm>
          <a:prstGeom prst="rect">
            <a:avLst/>
          </a:prstGeom>
          <a:solidFill>
            <a:srgbClr val="E0F4F4"/>
          </a:solidFill>
          <a:ln w="12700">
            <a:solidFill>
              <a:srgbClr val="0D7C7B"/>
            </a:solidFill>
            <a:prstDash val="solid"/>
          </a:ln>
        </p:spPr>
      </p:sp>
      <p:graphicFrame>
        <p:nvGraphicFramePr>
          <p:cNvPr id="4" name="Table 2"/>
          <p:cNvGraphicFramePr>
            <a:graphicFrameLocks noGrp="1"/>
          </p:cNvGraphicFramePr>
          <p:nvPr>
            <p:extLst>
              <p:ext uri="{D42A27DB-BD31-4B8C-83A1-F6EECF244321}">
                <p14:modId xmlns:p14="http://schemas.microsoft.com/office/powerpoint/2010/main" val="1579011935"/>
              </p:ext>
            </p:extLst>
          </p:nvPr>
        </p:nvGraphicFramePr>
        <p:xfrm>
          <a:off x="3657600" y="6799113"/>
          <a:ext cx="2944368" cy="914400"/>
        </p:xfrm>
        <a:graphic>
          <a:graphicData uri="http://schemas.openxmlformats.org/drawingml/2006/table">
            <a:tbl>
              <a:tblPr/>
              <a:tblGrid>
                <a:gridCol w="1472184"/>
                <a:gridCol w="1472184"/>
              </a:tblGrid>
              <a:tr h="624074">
                <a:tc>
                  <a:txBody>
                    <a:bodyPr/>
                    <a:lstStyle/>
                    <a:p>
                      <a:pPr algn="l" indent="0" marL="0">
                        <a:buNone/>
                      </a:pPr>
                      <a:r>
                        <a:rPr lang="en-US" sz="900" dirty="0">
                          <a:solidFill>
                            <a:srgbClr val="1A2A3A"/>
                          </a:solidFill>
                          <a:latin typeface="Calibri" pitchFamily="34" charset="0"/>
                          <a:ea typeface="Calibri" pitchFamily="34" charset="-122"/>
                          <a:cs typeface="Calibri" pitchFamily="34" charset="-120"/>
                        </a:rPr>
                        <a:t>1. I _____ studying English for 63 days. (have been)</a:t>
                      </a:r>
                      <a:endParaRPr lang="en-US" sz="9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E4F2EC"/>
                    </a:solidFill>
                  </a:tcPr>
                </a:tc>
                <a:tc>
                  <a:txBody>
                    <a:bodyPr/>
                    <a:lstStyle/>
                    <a:p>
                      <a:pPr algn="l" indent="0" marL="0">
                        <a:buNone/>
                      </a:pPr>
                      <a:r>
                        <a:rPr lang="en-US" sz="900" dirty="0">
                          <a:solidFill>
                            <a:srgbClr val="1A2A3A"/>
                          </a:solidFill>
                          <a:latin typeface="Calibri" pitchFamily="34" charset="0"/>
                          <a:ea typeface="Calibri" pitchFamily="34" charset="-122"/>
                          <a:cs typeface="Calibri" pitchFamily="34" charset="-120"/>
                        </a:rPr>
                        <a:t>5. She _____ running every morning. (has been)</a:t>
                      </a:r>
                      <a:endParaRPr lang="en-US" sz="9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E4F2EC"/>
                    </a:solidFill>
                  </a:tcPr>
                </a:tc>
              </a:tr>
              <a:tr h="624074">
                <a:tc>
                  <a:txBody>
                    <a:bodyPr/>
                    <a:lstStyle/>
                    <a:p>
                      <a:pPr algn="l" indent="0" marL="0">
                        <a:buNone/>
                      </a:pPr>
                      <a:r>
                        <a:rPr lang="en-US" sz="900" dirty="0">
                          <a:solidFill>
                            <a:srgbClr val="1A2A3A"/>
                          </a:solidFill>
                          <a:latin typeface="Calibri" pitchFamily="34" charset="0"/>
                          <a:ea typeface="Calibri" pitchFamily="34" charset="-122"/>
                          <a:cs typeface="Calibri" pitchFamily="34" charset="-120"/>
                        </a:rPr>
                        <a:t>2. She _____ working here for 5 years. (has been)</a:t>
                      </a:r>
                      <a:endParaRPr lang="en-US" sz="9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0FAF5"/>
                    </a:solidFill>
                  </a:tcPr>
                </a:tc>
                <a:tc>
                  <a:txBody>
                    <a:bodyPr/>
                    <a:lstStyle/>
                    <a:p>
                      <a:pPr algn="l" indent="0" marL="0">
                        <a:buNone/>
                      </a:pPr>
                      <a:r>
                        <a:rPr lang="en-US" sz="900" dirty="0">
                          <a:solidFill>
                            <a:srgbClr val="1A2A3A"/>
                          </a:solidFill>
                          <a:latin typeface="Calibri" pitchFamily="34" charset="0"/>
                          <a:ea typeface="Calibri" pitchFamily="34" charset="-122"/>
                          <a:cs typeface="Calibri" pitchFamily="34" charset="-120"/>
                        </a:rPr>
                        <a:t>6. _____ you been sleeping well lately? (Have)</a:t>
                      </a:r>
                      <a:endParaRPr lang="en-US" sz="9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0FAF5"/>
                    </a:solidFill>
                  </a:tcPr>
                </a:tc>
              </a:tr>
              <a:tr h="624074">
                <a:tc>
                  <a:txBody>
                    <a:bodyPr/>
                    <a:lstStyle/>
                    <a:p>
                      <a:pPr algn="l" indent="0" marL="0">
                        <a:buNone/>
                      </a:pPr>
                      <a:r>
                        <a:rPr lang="en-US" sz="900" dirty="0">
                          <a:solidFill>
                            <a:srgbClr val="1A2A3A"/>
                          </a:solidFill>
                          <a:latin typeface="Calibri" pitchFamily="34" charset="0"/>
                          <a:ea typeface="Calibri" pitchFamily="34" charset="-122"/>
                          <a:cs typeface="Calibri" pitchFamily="34" charset="-120"/>
                        </a:rPr>
                        <a:t>3. We _____ living here since 2018. (have been)</a:t>
                      </a:r>
                      <a:endParaRPr lang="en-US" sz="9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E4F2EC"/>
                    </a:solidFill>
                  </a:tcPr>
                </a:tc>
                <a:tc>
                  <a:txBody>
                    <a:bodyPr/>
                    <a:lstStyle/>
                    <a:p>
                      <a:pPr algn="l" indent="0" marL="0">
                        <a:buNone/>
                      </a:pPr>
                      <a:r>
                        <a:rPr lang="en-US" sz="900" dirty="0">
                          <a:solidFill>
                            <a:srgbClr val="1A2A3A"/>
                          </a:solidFill>
                          <a:latin typeface="Calibri" pitchFamily="34" charset="0"/>
                          <a:ea typeface="Calibri" pitchFamily="34" charset="-122"/>
                          <a:cs typeface="Calibri" pitchFamily="34" charset="-120"/>
                        </a:rPr>
                        <a:t>7. He _____ been trying to call me all day. (has)</a:t>
                      </a:r>
                      <a:endParaRPr lang="en-US" sz="9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E4F2EC"/>
                    </a:solidFill>
                  </a:tcPr>
                </a:tc>
              </a:tr>
              <a:tr h="624074">
                <a:tc>
                  <a:txBody>
                    <a:bodyPr/>
                    <a:lstStyle/>
                    <a:p>
                      <a:pPr algn="l" indent="0" marL="0">
                        <a:buNone/>
                      </a:pPr>
                      <a:r>
                        <a:rPr lang="en-US" sz="900" dirty="0">
                          <a:solidFill>
                            <a:srgbClr val="1A2A3A"/>
                          </a:solidFill>
                          <a:latin typeface="Calibri" pitchFamily="34" charset="0"/>
                          <a:ea typeface="Calibri" pitchFamily="34" charset="-122"/>
                          <a:cs typeface="Calibri" pitchFamily="34" charset="-120"/>
                        </a:rPr>
                        <a:t>4. I _____ waiting for two hours! (have been)</a:t>
                      </a:r>
                      <a:endParaRPr lang="en-US" sz="9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0FAF5"/>
                    </a:solidFill>
                  </a:tcPr>
                </a:tc>
                <a:tc>
                  <a:txBody>
                    <a:bodyPr/>
                    <a:lstStyle/>
                    <a:p>
                      <a:pPr algn="l" indent="0" marL="0">
                        <a:buNone/>
                      </a:pPr>
                      <a:r>
                        <a:rPr lang="en-US" sz="900" dirty="0">
                          <a:solidFill>
                            <a:srgbClr val="1A2A3A"/>
                          </a:solidFill>
                          <a:latin typeface="Calibri" pitchFamily="34" charset="0"/>
                          <a:ea typeface="Calibri" pitchFamily="34" charset="-122"/>
                          <a:cs typeface="Calibri" pitchFamily="34" charset="-120"/>
                        </a:rPr>
                        <a:t>8. My English _____ improving every week! (has been)</a:t>
                      </a:r>
                      <a:endParaRPr lang="en-US" sz="9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0FAF5"/>
                    </a:solidFill>
                  </a:tcPr>
                </a:tc>
              </a:tr>
            </a:tbl>
          </a:graphicData>
        </a:graphic>
      </p:graphicFrame>
      <p:sp>
        <p:nvSpPr>
          <p:cNvPr id="56" name="Text 51"/>
          <p:cNvSpPr/>
          <p:nvPr/>
        </p:nvSpPr>
        <p:spPr>
          <a:xfrm>
            <a:off x="3666744" y="9341130"/>
            <a:ext cx="2926080" cy="128016"/>
          </a:xfrm>
          <a:prstGeom prst="rect">
            <a:avLst/>
          </a:prstGeom>
          <a:noFill/>
          <a:ln/>
        </p:spPr>
        <p:txBody>
          <a:bodyPr wrap="square" lIns="0" tIns="0" rIns="0" bIns="0" rtlCol="0" anchor="t"/>
          <a:lstStyle/>
          <a:p>
            <a:pPr indent="0" marL="0">
              <a:buNone/>
            </a:pPr>
            <a:r>
              <a:rPr lang="en-US" sz="800" b="1" dirty="0">
                <a:solidFill>
                  <a:srgbClr val="0D7C7B"/>
                </a:solidFill>
                <a:latin typeface="Calibri" pitchFamily="34" charset="0"/>
                <a:ea typeface="Calibri" pitchFamily="34" charset="-122"/>
                <a:cs typeface="Calibri" pitchFamily="34" charset="-120"/>
              </a:rPr>
              <a:t>🔑  Answers: 1-have been · 2-has been · 3-have been · 4-have been · 5-has been · 6-Have · 7-has · 8-has been</a:t>
            </a:r>
            <a:endParaRPr lang="en-US" sz="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2F6FA"/>
        </a:solidFill>
      </p:bgPr>
    </p:bg>
    <p:spTree>
      <p:nvGrpSpPr>
        <p:cNvPr id="1" name=""/>
        <p:cNvGrpSpPr/>
        <p:nvPr/>
      </p:nvGrpSpPr>
      <p:grpSpPr>
        <a:xfrm>
          <a:off x="0" y="0"/>
          <a:ext cx="0" cy="0"/>
          <a:chOff x="0" y="0"/>
          <a:chExt cx="0" cy="0"/>
        </a:xfrm>
      </p:grpSpPr>
      <p:sp>
        <p:nvSpPr>
          <p:cNvPr id="2" name="Shape 0"/>
          <p:cNvSpPr/>
          <p:nvPr/>
        </p:nvSpPr>
        <p:spPr>
          <a:xfrm>
            <a:off x="0" y="0"/>
            <a:ext cx="6858000" cy="347472"/>
          </a:xfrm>
          <a:prstGeom prst="rect">
            <a:avLst/>
          </a:prstGeom>
          <a:solidFill>
            <a:srgbClr val="1A3A5C"/>
          </a:solidFill>
          <a:ln w="12700">
            <a:solidFill>
              <a:srgbClr val="1A3A5C"/>
            </a:solidFill>
            <a:prstDash val="solid"/>
          </a:ln>
        </p:spPr>
      </p:sp>
      <p:sp>
        <p:nvSpPr>
          <p:cNvPr id="3" name="Shape 1"/>
          <p:cNvSpPr/>
          <p:nvPr/>
        </p:nvSpPr>
        <p:spPr>
          <a:xfrm>
            <a:off x="0" y="0"/>
            <a:ext cx="50292" cy="347472"/>
          </a:xfrm>
          <a:prstGeom prst="rect">
            <a:avLst/>
          </a:prstGeom>
          <a:solidFill>
            <a:srgbClr val="F2C93A"/>
          </a:solidFill>
          <a:ln w="12700">
            <a:solidFill>
              <a:srgbClr val="F2C93A"/>
            </a:solidFill>
            <a:prstDash val="solid"/>
          </a:ln>
        </p:spPr>
      </p:sp>
      <p:sp>
        <p:nvSpPr>
          <p:cNvPr id="4" name="Text 2"/>
          <p:cNvSpPr/>
          <p:nvPr/>
        </p:nvSpPr>
        <p:spPr>
          <a:xfrm>
            <a:off x="100584" y="0"/>
            <a:ext cx="3657600" cy="347472"/>
          </a:xfrm>
          <a:prstGeom prst="rect">
            <a:avLst/>
          </a:prstGeom>
          <a:noFill/>
          <a:ln/>
        </p:spPr>
        <p:txBody>
          <a:bodyPr wrap="square" lIns="0" tIns="0" rIns="0" bIns="0" rtlCol="0" anchor="ctr"/>
          <a:lstStyle/>
          <a:p>
            <a:pPr indent="0" marL="0">
              <a:buNone/>
            </a:pPr>
            <a:r>
              <a:rPr lang="en-US" sz="1350" b="1" dirty="0">
                <a:solidFill>
                  <a:srgbClr val="F2C93A"/>
                </a:solidFill>
                <a:latin typeface="Georgia" pitchFamily="34" charset="0"/>
                <a:ea typeface="Georgia" pitchFamily="34" charset="-122"/>
                <a:cs typeface="Georgia" pitchFamily="34" charset="-120"/>
              </a:rPr>
              <a:t>Speak English in 90 Days</a:t>
            </a:r>
            <a:endParaRPr lang="en-US" sz="1350" dirty="0"/>
          </a:p>
        </p:txBody>
      </p:sp>
      <p:sp>
        <p:nvSpPr>
          <p:cNvPr id="5" name="Text 3"/>
          <p:cNvSpPr/>
          <p:nvPr/>
        </p:nvSpPr>
        <p:spPr>
          <a:xfrm>
            <a:off x="3657600" y="0"/>
            <a:ext cx="1920240" cy="347472"/>
          </a:xfrm>
          <a:prstGeom prst="rect">
            <a:avLst/>
          </a:prstGeom>
          <a:noFill/>
          <a:ln/>
        </p:spPr>
        <p:txBody>
          <a:bodyPr wrap="square" lIns="0" tIns="0" rIns="0" bIns="0" rtlCol="0" anchor="ctr"/>
          <a:lstStyle/>
          <a:p>
            <a:pPr algn="ctr" indent="0" marL="0">
              <a:buNone/>
            </a:pPr>
            <a:r>
              <a:rPr lang="en-US" sz="800" dirty="0">
                <a:solidFill>
                  <a:srgbClr val="90AABF"/>
                </a:solidFill>
                <a:latin typeface="Calibri" pitchFamily="34" charset="0"/>
                <a:ea typeface="Calibri" pitchFamily="34" charset="-122"/>
                <a:cs typeface="Calibri" pitchFamily="34" charset="-120"/>
              </a:rPr>
              <a:t>B1 · Book 3 · Дэвшилтэт шат</a:t>
            </a:r>
            <a:endParaRPr lang="en-US" sz="800" dirty="0"/>
          </a:p>
        </p:txBody>
      </p:sp>
      <p:sp>
        <p:nvSpPr>
          <p:cNvPr id="6" name="Text 4"/>
          <p:cNvSpPr/>
          <p:nvPr/>
        </p:nvSpPr>
        <p:spPr>
          <a:xfrm>
            <a:off x="5577840" y="0"/>
            <a:ext cx="1170432" cy="347472"/>
          </a:xfrm>
          <a:prstGeom prst="rect">
            <a:avLst/>
          </a:prstGeom>
          <a:noFill/>
          <a:ln/>
        </p:spPr>
        <p:txBody>
          <a:bodyPr wrap="square" lIns="0" tIns="0" rIns="0" bIns="0" rtlCol="0" anchor="ctr"/>
          <a:lstStyle/>
          <a:p>
            <a:pPr algn="r" indent="0" marL="0">
              <a:buNone/>
            </a:pPr>
            <a:r>
              <a:rPr lang="en-US" sz="850" dirty="0">
                <a:solidFill>
                  <a:srgbClr val="F2C93A"/>
                </a:solidFill>
                <a:latin typeface="Calibri" pitchFamily="34" charset="0"/>
                <a:ea typeface="Calibri" pitchFamily="34" charset="-122"/>
                <a:cs typeface="Calibri" pitchFamily="34" charset="-120"/>
              </a:rPr>
              <a:t>25-30 минут</a:t>
            </a:r>
            <a:endParaRPr lang="en-US" sz="850" dirty="0"/>
          </a:p>
        </p:txBody>
      </p:sp>
      <p:sp>
        <p:nvSpPr>
          <p:cNvPr id="7" name="Shape 5"/>
          <p:cNvSpPr/>
          <p:nvPr/>
        </p:nvSpPr>
        <p:spPr>
          <a:xfrm>
            <a:off x="0" y="347472"/>
            <a:ext cx="1335024" cy="237744"/>
          </a:xfrm>
          <a:prstGeom prst="rect">
            <a:avLst/>
          </a:prstGeom>
          <a:solidFill>
            <a:srgbClr val="F2C93A"/>
          </a:solidFill>
          <a:ln w="12700">
            <a:solidFill>
              <a:srgbClr val="F2C93A"/>
            </a:solidFill>
            <a:prstDash val="solid"/>
          </a:ln>
        </p:spPr>
      </p:sp>
      <p:sp>
        <p:nvSpPr>
          <p:cNvPr id="8" name="Text 6"/>
          <p:cNvSpPr/>
          <p:nvPr/>
        </p:nvSpPr>
        <p:spPr>
          <a:xfrm>
            <a:off x="0" y="347472"/>
            <a:ext cx="1335024" cy="237744"/>
          </a:xfrm>
          <a:prstGeom prst="rect">
            <a:avLst/>
          </a:prstGeom>
          <a:noFill/>
          <a:ln/>
        </p:spPr>
        <p:txBody>
          <a:bodyPr wrap="square" lIns="0" tIns="0" rIns="0" bIns="0" rtlCol="0" anchor="ctr"/>
          <a:lstStyle/>
          <a:p>
            <a:pPr algn="ctr" indent="0" marL="0">
              <a:buNone/>
            </a:pPr>
            <a:r>
              <a:rPr lang="en-US" sz="850" b="1" dirty="0">
                <a:solidFill>
                  <a:srgbClr val="1A3A5C"/>
                </a:solidFill>
                <a:latin typeface="Calibri" pitchFamily="34" charset="0"/>
                <a:ea typeface="Calibri" pitchFamily="34" charset="-122"/>
                <a:cs typeface="Calibri" pitchFamily="34" charset="-120"/>
              </a:rPr>
              <a:t>DAY 63 · ӨДӨР 63</a:t>
            </a:r>
            <a:endParaRPr lang="en-US" sz="850" dirty="0"/>
          </a:p>
        </p:txBody>
      </p:sp>
      <p:sp>
        <p:nvSpPr>
          <p:cNvPr id="9" name="Shape 7"/>
          <p:cNvSpPr/>
          <p:nvPr/>
        </p:nvSpPr>
        <p:spPr>
          <a:xfrm>
            <a:off x="1335024" y="347472"/>
            <a:ext cx="4498848" cy="237744"/>
          </a:xfrm>
          <a:prstGeom prst="rect">
            <a:avLst/>
          </a:prstGeom>
          <a:solidFill>
            <a:srgbClr val="1E7A4A"/>
          </a:solidFill>
          <a:ln w="12700">
            <a:solidFill>
              <a:srgbClr val="1E7A4A"/>
            </a:solidFill>
            <a:prstDash val="solid"/>
          </a:ln>
        </p:spPr>
      </p:sp>
      <p:sp>
        <p:nvSpPr>
          <p:cNvPr id="10" name="Text 8"/>
          <p:cNvSpPr/>
          <p:nvPr/>
        </p:nvSpPr>
        <p:spPr>
          <a:xfrm>
            <a:off x="1408176" y="347472"/>
            <a:ext cx="4425696" cy="237744"/>
          </a:xfrm>
          <a:prstGeom prst="rect">
            <a:avLst/>
          </a:prstGeom>
          <a:noFill/>
          <a:ln/>
        </p:spPr>
        <p:txBody>
          <a:bodyPr wrap="square" lIns="0" tIns="0" rIns="0" bIns="0" rtlCol="0" anchor="ctr"/>
          <a:lstStyle/>
          <a:p>
            <a:pPr indent="0" marL="0">
              <a:buNone/>
            </a:pPr>
            <a:r>
              <a:rPr lang="en-US" sz="850" b="1" dirty="0">
                <a:solidFill>
                  <a:srgbClr val="FFFFFF"/>
                </a:solidFill>
                <a:latin typeface="Calibri" pitchFamily="34" charset="0"/>
                <a:ea typeface="Calibri" pitchFamily="34" charset="-122"/>
                <a:cs typeface="Calibri" pitchFamily="34" charset="-120"/>
              </a:rPr>
              <a:t>Reading &amp; Speaking  ·  Унших ба Ярих</a:t>
            </a:r>
            <a:endParaRPr lang="en-US" sz="850" dirty="0"/>
          </a:p>
        </p:txBody>
      </p:sp>
      <p:sp>
        <p:nvSpPr>
          <p:cNvPr id="11" name="Shape 9"/>
          <p:cNvSpPr/>
          <p:nvPr/>
        </p:nvSpPr>
        <p:spPr>
          <a:xfrm>
            <a:off x="5833872" y="347472"/>
            <a:ext cx="1024128" cy="237744"/>
          </a:xfrm>
          <a:prstGeom prst="rect">
            <a:avLst/>
          </a:prstGeom>
          <a:solidFill>
            <a:srgbClr val="1A3A5C"/>
          </a:solidFill>
          <a:ln w="12700">
            <a:solidFill>
              <a:srgbClr val="1A3A5C"/>
            </a:solidFill>
            <a:prstDash val="solid"/>
          </a:ln>
        </p:spPr>
      </p:sp>
      <p:sp>
        <p:nvSpPr>
          <p:cNvPr id="12" name="Text 10"/>
          <p:cNvSpPr/>
          <p:nvPr/>
        </p:nvSpPr>
        <p:spPr>
          <a:xfrm>
            <a:off x="5760720" y="347472"/>
            <a:ext cx="1042416" cy="237744"/>
          </a:xfrm>
          <a:prstGeom prst="rect">
            <a:avLst/>
          </a:prstGeom>
          <a:noFill/>
          <a:ln/>
        </p:spPr>
        <p:txBody>
          <a:bodyPr wrap="square" lIns="0" tIns="0" rIns="0" bIns="0" rtlCol="0" anchor="ctr"/>
          <a:lstStyle/>
          <a:p>
            <a:pPr algn="r" indent="0" marL="0">
              <a:buNone/>
            </a:pPr>
            <a:r>
              <a:rPr lang="en-US" sz="750" dirty="0">
                <a:solidFill>
                  <a:srgbClr val="F2C93A"/>
                </a:solidFill>
                <a:latin typeface="Calibri" pitchFamily="34" charset="0"/>
                <a:ea typeface="Calibri" pitchFamily="34" charset="-122"/>
                <a:cs typeface="Calibri" pitchFamily="34" charset="-120"/>
              </a:rPr>
              <a:t>📚 Page 2</a:t>
            </a:r>
            <a:endParaRPr lang="en-US" sz="750" dirty="0"/>
          </a:p>
        </p:txBody>
      </p:sp>
      <p:sp>
        <p:nvSpPr>
          <p:cNvPr id="13" name="Shape 11"/>
          <p:cNvSpPr/>
          <p:nvPr/>
        </p:nvSpPr>
        <p:spPr>
          <a:xfrm>
            <a:off x="0" y="9601200"/>
            <a:ext cx="6858000" cy="91440"/>
          </a:xfrm>
          <a:prstGeom prst="rect">
            <a:avLst/>
          </a:prstGeom>
          <a:solidFill>
            <a:srgbClr val="E4EEF6"/>
          </a:solidFill>
          <a:ln w="12700">
            <a:solidFill>
              <a:srgbClr val="E4EEF6"/>
            </a:solidFill>
            <a:prstDash val="solid"/>
          </a:ln>
        </p:spPr>
      </p:sp>
      <p:sp>
        <p:nvSpPr>
          <p:cNvPr id="14" name="Text 12"/>
          <p:cNvSpPr/>
          <p:nvPr/>
        </p:nvSpPr>
        <p:spPr>
          <a:xfrm>
            <a:off x="0" y="9601200"/>
            <a:ext cx="6858000" cy="91440"/>
          </a:xfrm>
          <a:prstGeom prst="rect">
            <a:avLst/>
          </a:prstGeom>
          <a:noFill/>
          <a:ln/>
        </p:spPr>
        <p:txBody>
          <a:bodyPr wrap="square" lIns="0" tIns="0" rIns="0" bIns="0" rtlCol="0" anchor="ctr"/>
          <a:lstStyle/>
          <a:p>
            <a:pPr algn="ctr" indent="0" marL="0">
              <a:buNone/>
            </a:pPr>
            <a:r>
              <a:rPr lang="en-US" sz="650" dirty="0">
                <a:solidFill>
                  <a:srgbClr val="7A90A0"/>
                </a:solidFill>
                <a:latin typeface="Calibri" pitchFamily="34" charset="0"/>
                <a:ea typeface="Calibri" pitchFamily="34" charset="-122"/>
                <a:cs typeface="Calibri" pitchFamily="34" charset="-120"/>
              </a:rPr>
              <a:t>Speak English in 90 Days  ·  B1 Level  ·  Book 3</a:t>
            </a:r>
            <a:endParaRPr lang="en-US" sz="650" dirty="0"/>
          </a:p>
        </p:txBody>
      </p:sp>
      <p:sp>
        <p:nvSpPr>
          <p:cNvPr id="15" name="Shape 13"/>
          <p:cNvSpPr/>
          <p:nvPr/>
        </p:nvSpPr>
        <p:spPr>
          <a:xfrm>
            <a:off x="179222" y="627278"/>
            <a:ext cx="6528816" cy="1865376"/>
          </a:xfrm>
          <a:prstGeom prst="rect">
            <a:avLst/>
          </a:prstGeom>
          <a:solidFill>
            <a:srgbClr val="D0DCE8"/>
          </a:solidFill>
          <a:ln w="12700">
            <a:solidFill>
              <a:srgbClr val="D0DCE8"/>
            </a:solidFill>
            <a:prstDash val="solid"/>
          </a:ln>
        </p:spPr>
      </p:sp>
      <p:sp>
        <p:nvSpPr>
          <p:cNvPr id="16" name="Shape 14"/>
          <p:cNvSpPr/>
          <p:nvPr/>
        </p:nvSpPr>
        <p:spPr>
          <a:xfrm>
            <a:off x="164592" y="612648"/>
            <a:ext cx="6528816" cy="1865376"/>
          </a:xfrm>
          <a:prstGeom prst="rect">
            <a:avLst/>
          </a:prstGeom>
          <a:solidFill>
            <a:srgbClr val="FFFFFF"/>
          </a:solidFill>
          <a:ln w="12700">
            <a:solidFill>
              <a:srgbClr val="C8D8E8"/>
            </a:solidFill>
            <a:prstDash val="solid"/>
          </a:ln>
        </p:spPr>
      </p:sp>
      <p:sp>
        <p:nvSpPr>
          <p:cNvPr id="17" name="Shape 15"/>
          <p:cNvSpPr/>
          <p:nvPr/>
        </p:nvSpPr>
        <p:spPr>
          <a:xfrm>
            <a:off x="164592" y="612648"/>
            <a:ext cx="6528816" cy="256032"/>
          </a:xfrm>
          <a:prstGeom prst="rect">
            <a:avLst/>
          </a:prstGeom>
          <a:solidFill>
            <a:srgbClr val="1E7A4A"/>
          </a:solidFill>
          <a:ln w="12700">
            <a:solidFill>
              <a:srgbClr val="1E7A4A"/>
            </a:solidFill>
            <a:prstDash val="solid"/>
          </a:ln>
        </p:spPr>
      </p:sp>
      <p:sp>
        <p:nvSpPr>
          <p:cNvPr id="18" name="Shape 16"/>
          <p:cNvSpPr/>
          <p:nvPr/>
        </p:nvSpPr>
        <p:spPr>
          <a:xfrm>
            <a:off x="164592" y="868680"/>
            <a:ext cx="6528816" cy="146304"/>
          </a:xfrm>
          <a:prstGeom prst="rect">
            <a:avLst/>
          </a:prstGeom>
          <a:solidFill>
            <a:srgbClr val="E8F5EE"/>
          </a:solidFill>
          <a:ln w="12700">
            <a:solidFill>
              <a:srgbClr val="E8F5EE"/>
            </a:solidFill>
            <a:prstDash val="solid"/>
          </a:ln>
        </p:spPr>
      </p:sp>
      <p:sp>
        <p:nvSpPr>
          <p:cNvPr id="19" name="Text 17"/>
          <p:cNvSpPr/>
          <p:nvPr/>
        </p:nvSpPr>
        <p:spPr>
          <a:xfrm>
            <a:off x="256032" y="612648"/>
            <a:ext cx="6400800" cy="256032"/>
          </a:xfrm>
          <a:prstGeom prst="rect">
            <a:avLst/>
          </a:prstGeom>
          <a:noFill/>
          <a:ln/>
        </p:spPr>
        <p:txBody>
          <a:bodyPr wrap="square" lIns="0" tIns="0" rIns="0" bIns="0" rtlCol="0" anchor="ctr"/>
          <a:lstStyle/>
          <a:p>
            <a:pPr indent="0" marL="0">
              <a:buNone/>
            </a:pPr>
            <a:r>
              <a:rPr lang="en-US" sz="1050" b="1" dirty="0">
                <a:solidFill>
                  <a:srgbClr val="FFFFFF"/>
                </a:solidFill>
                <a:latin typeface="Georgia" pitchFamily="34" charset="0"/>
                <a:ea typeface="Georgia" pitchFamily="34" charset="-122"/>
                <a:cs typeface="Georgia" pitchFamily="34" charset="-120"/>
              </a:rPr>
              <a:t>📖  Reading Passage / Унших дасгал</a:t>
            </a:r>
            <a:endParaRPr lang="en-US" sz="1050" dirty="0"/>
          </a:p>
        </p:txBody>
      </p:sp>
      <p:sp>
        <p:nvSpPr>
          <p:cNvPr id="20" name="Text 18"/>
          <p:cNvSpPr/>
          <p:nvPr/>
        </p:nvSpPr>
        <p:spPr>
          <a:xfrm>
            <a:off x="256032" y="877824"/>
            <a:ext cx="6400800" cy="137160"/>
          </a:xfrm>
          <a:prstGeom prst="rect">
            <a:avLst/>
          </a:prstGeom>
          <a:noFill/>
          <a:ln/>
        </p:spPr>
        <p:txBody>
          <a:bodyPr wrap="square" lIns="0" tIns="0" rIns="0" bIns="0" rtlCol="0" anchor="ctr"/>
          <a:lstStyle/>
          <a:p>
            <a:pPr indent="0" marL="0">
              <a:buNone/>
            </a:pPr>
            <a:r>
              <a:rPr lang="en-US" sz="750" i="1" dirty="0">
                <a:solidFill>
                  <a:srgbClr val="3A5060"/>
                </a:solidFill>
                <a:latin typeface="Calibri" pitchFamily="34" charset="0"/>
                <a:ea typeface="Calibri" pitchFamily="34" charset="-122"/>
                <a:cs typeface="Calibri" pitchFamily="34" charset="-120"/>
              </a:rPr>
              <a:t>Bold = today's vocab · Read aloud at least twice!</a:t>
            </a:r>
            <a:endParaRPr lang="en-US" sz="750" dirty="0"/>
          </a:p>
        </p:txBody>
      </p:sp>
      <p:sp>
        <p:nvSpPr>
          <p:cNvPr id="21" name="Shape 19"/>
          <p:cNvSpPr/>
          <p:nvPr/>
        </p:nvSpPr>
        <p:spPr>
          <a:xfrm>
            <a:off x="237744" y="1033272"/>
            <a:ext cx="6382512" cy="1380744"/>
          </a:xfrm>
          <a:prstGeom prst="rect">
            <a:avLst/>
          </a:prstGeom>
          <a:solidFill>
            <a:srgbClr val="EBF5F0"/>
          </a:solidFill>
          <a:ln w="12700">
            <a:solidFill>
              <a:srgbClr val="1E7A4A"/>
            </a:solidFill>
            <a:prstDash val="solid"/>
          </a:ln>
        </p:spPr>
      </p:sp>
      <p:sp>
        <p:nvSpPr>
          <p:cNvPr id="22" name="Text 20"/>
          <p:cNvSpPr/>
          <p:nvPr/>
        </p:nvSpPr>
        <p:spPr>
          <a:xfrm>
            <a:off x="310896" y="1069848"/>
            <a:ext cx="6236208" cy="1298448"/>
          </a:xfrm>
          <a:prstGeom prst="rect">
            <a:avLst/>
          </a:prstGeom>
          <a:noFill/>
          <a:ln/>
        </p:spPr>
        <p:txBody>
          <a:bodyPr wrap="square" lIns="0" tIns="0" rIns="0" bIns="0" rtlCol="0" anchor="t"/>
          <a:lstStyle/>
          <a:p>
            <a:pPr indent="0" marL="0">
              <a:lnSpc>
                <a:spcPct val="155000"/>
              </a:lnSpc>
              <a:buNone/>
            </a:pPr>
            <a:r>
              <a:rPr lang="en-US" sz="950" b="1" dirty="0">
                <a:solidFill>
                  <a:srgbClr val="1A6A3A"/>
                </a:solidFill>
                <a:latin typeface="Georgia" pitchFamily="34" charset="0"/>
                <a:ea typeface="Georgia" pitchFamily="34" charset="-122"/>
                <a:cs typeface="Georgia" pitchFamily="34" charset="-120"/>
              </a:rPr>
              <a:t>Bat is reflecting on his English journey. </a:t>
            </a:r>
            <a:pPr indent="0" marL="0">
              <a:lnSpc>
                <a:spcPct val="155000"/>
              </a:lnSpc>
              <a:buNone/>
            </a:pPr>
            <a:r>
              <a:rPr lang="en-US" sz="950" dirty="0">
                <a:solidFill>
                  <a:srgbClr val="1A2A3A"/>
                </a:solidFill>
                <a:latin typeface="Georgia" pitchFamily="34" charset="0"/>
                <a:ea typeface="Georgia" pitchFamily="34" charset="-122"/>
                <a:cs typeface="Georgia" pitchFamily="34" charset="-120"/>
              </a:rPr>
              <a:t>"I </a:t>
            </a:r>
            <a:pPr indent="0" marL="0">
              <a:lnSpc>
                <a:spcPct val="155000"/>
              </a:lnSpc>
              <a:buNone/>
            </a:pPr>
            <a:r>
              <a:rPr lang="en-US" sz="950" b="1" dirty="0">
                <a:solidFill>
                  <a:srgbClr val="2E6DA4"/>
                </a:solidFill>
                <a:latin typeface="Georgia" pitchFamily="34" charset="0"/>
                <a:ea typeface="Georgia" pitchFamily="34" charset="-122"/>
                <a:cs typeface="Georgia" pitchFamily="34" charset="-120"/>
              </a:rPr>
              <a:t>have been studying</a:t>
            </a:r>
            <a:pPr indent="0" marL="0">
              <a:lnSpc>
                <a:spcPct val="155000"/>
              </a:lnSpc>
              <a:buNone/>
            </a:pPr>
            <a:r>
              <a:rPr lang="en-US" sz="950" dirty="0">
                <a:solidFill>
                  <a:srgbClr val="1A2A3A"/>
                </a:solidFill>
                <a:latin typeface="Georgia" pitchFamily="34" charset="0"/>
                <a:ea typeface="Georgia" pitchFamily="34" charset="-122"/>
                <a:cs typeface="Georgia" pitchFamily="34" charset="-120"/>
              </a:rPr>
              <a:t> English for 63 days now — every single day without stopping. My vocabulary </a:t>
            </a:r>
            <a:pPr indent="0" marL="0">
              <a:lnSpc>
                <a:spcPct val="155000"/>
              </a:lnSpc>
              <a:buNone/>
            </a:pPr>
            <a:r>
              <a:rPr lang="en-US" sz="950" b="1" dirty="0">
                <a:solidFill>
                  <a:srgbClr val="2E6DA4"/>
                </a:solidFill>
                <a:latin typeface="Georgia" pitchFamily="34" charset="0"/>
                <a:ea typeface="Georgia" pitchFamily="34" charset="-122"/>
                <a:cs typeface="Georgia" pitchFamily="34" charset="-120"/>
              </a:rPr>
              <a:t>has been growing</a:t>
            </a:r>
            <a:pPr indent="0" marL="0">
              <a:lnSpc>
                <a:spcPct val="155000"/>
              </a:lnSpc>
              <a:buNone/>
            </a:pPr>
            <a:r>
              <a:rPr lang="en-US" sz="950" dirty="0">
                <a:solidFill>
                  <a:srgbClr val="1A2A3A"/>
                </a:solidFill>
                <a:latin typeface="Georgia" pitchFamily="34" charset="0"/>
                <a:ea typeface="Georgia" pitchFamily="34" charset="-122"/>
                <a:cs typeface="Georgia" pitchFamily="34" charset="-120"/>
              </a:rPr>
              <a:t> steadily, and my confidence </a:t>
            </a:r>
            <a:pPr indent="0" marL="0">
              <a:lnSpc>
                <a:spcPct val="155000"/>
              </a:lnSpc>
              <a:buNone/>
            </a:pPr>
            <a:r>
              <a:rPr lang="en-US" sz="950" b="1" dirty="0">
                <a:solidFill>
                  <a:srgbClr val="2E6DA4"/>
                </a:solidFill>
                <a:latin typeface="Georgia" pitchFamily="34" charset="0"/>
                <a:ea typeface="Georgia" pitchFamily="34" charset="-122"/>
                <a:cs typeface="Georgia" pitchFamily="34" charset="-120"/>
              </a:rPr>
              <a:t>has been increasing</a:t>
            </a:r>
            <a:pPr indent="0" marL="0">
              <a:lnSpc>
                <a:spcPct val="155000"/>
              </a:lnSpc>
              <a:buNone/>
            </a:pPr>
            <a:r>
              <a:rPr lang="en-US" sz="950" dirty="0">
                <a:solidFill>
                  <a:srgbClr val="1A2A3A"/>
                </a:solidFill>
                <a:latin typeface="Georgia" pitchFamily="34" charset="0"/>
                <a:ea typeface="Georgia" pitchFamily="34" charset="-122"/>
                <a:cs typeface="Georgia" pitchFamily="34" charset="-120"/>
              </a:rPr>
              <a:t> week by week. Lately, I </a:t>
            </a:r>
            <a:pPr indent="0" marL="0">
              <a:lnSpc>
                <a:spcPct val="155000"/>
              </a:lnSpc>
              <a:buNone/>
            </a:pPr>
            <a:r>
              <a:rPr lang="en-US" sz="950" b="1" dirty="0">
                <a:solidFill>
                  <a:srgbClr val="2E6DA4"/>
                </a:solidFill>
                <a:latin typeface="Georgia" pitchFamily="34" charset="0"/>
                <a:ea typeface="Georgia" pitchFamily="34" charset="-122"/>
                <a:cs typeface="Georgia" pitchFamily="34" charset="-120"/>
              </a:rPr>
              <a:t>have been noticing</a:t>
            </a:r>
            <a:pPr indent="0" marL="0">
              <a:lnSpc>
                <a:spcPct val="155000"/>
              </a:lnSpc>
              <a:buNone/>
            </a:pPr>
            <a:r>
              <a:rPr lang="en-US" sz="950" dirty="0">
                <a:solidFill>
                  <a:srgbClr val="1A2A3A"/>
                </a:solidFill>
                <a:latin typeface="Georgia" pitchFamily="34" charset="0"/>
                <a:ea typeface="Georgia" pitchFamily="34" charset="-122"/>
                <a:cs typeface="Georgia" pitchFamily="34" charset="-120"/>
              </a:rPr>
              <a:t> that I think in English sometimes — even in my dreams! Sarnai </a:t>
            </a:r>
            <a:pPr indent="0" marL="0">
              <a:lnSpc>
                <a:spcPct val="155000"/>
              </a:lnSpc>
              <a:buNone/>
            </a:pPr>
            <a:r>
              <a:rPr lang="en-US" sz="950" b="1" dirty="0">
                <a:solidFill>
                  <a:srgbClr val="2E6DA4"/>
                </a:solidFill>
                <a:latin typeface="Georgia" pitchFamily="34" charset="0"/>
                <a:ea typeface="Georgia" pitchFamily="34" charset="-122"/>
                <a:cs typeface="Georgia" pitchFamily="34" charset="-120"/>
              </a:rPr>
              <a:t>has been improving</a:t>
            </a:r>
            <a:pPr indent="0" marL="0">
              <a:lnSpc>
                <a:spcPct val="155000"/>
              </a:lnSpc>
              <a:buNone/>
            </a:pPr>
            <a:r>
              <a:rPr lang="en-US" sz="950" dirty="0">
                <a:solidFill>
                  <a:srgbClr val="1A2A3A"/>
                </a:solidFill>
                <a:latin typeface="Georgia" pitchFamily="34" charset="0"/>
                <a:ea typeface="Georgia" pitchFamily="34" charset="-122"/>
                <a:cs typeface="Georgia" pitchFamily="34" charset="-120"/>
              </a:rPr>
              <a:t> just as quickly. She </a:t>
            </a:r>
            <a:pPr indent="0" marL="0">
              <a:lnSpc>
                <a:spcPct val="155000"/>
              </a:lnSpc>
              <a:buNone/>
            </a:pPr>
            <a:r>
              <a:rPr lang="en-US" sz="950" b="1" dirty="0">
                <a:solidFill>
                  <a:srgbClr val="2E6DA4"/>
                </a:solidFill>
                <a:latin typeface="Georgia" pitchFamily="34" charset="0"/>
                <a:ea typeface="Georgia" pitchFamily="34" charset="-122"/>
                <a:cs typeface="Georgia" pitchFamily="34" charset="-120"/>
              </a:rPr>
              <a:t>has been practising</a:t>
            </a:r>
            <a:pPr indent="0" marL="0">
              <a:lnSpc>
                <a:spcPct val="155000"/>
              </a:lnSpc>
              <a:buNone/>
            </a:pPr>
            <a:r>
              <a:rPr lang="en-US" sz="950" dirty="0">
                <a:solidFill>
                  <a:srgbClr val="1A2A3A"/>
                </a:solidFill>
                <a:latin typeface="Georgia" pitchFamily="34" charset="0"/>
                <a:ea typeface="Georgia" pitchFamily="34" charset="-122"/>
                <a:cs typeface="Georgia" pitchFamily="34" charset="-120"/>
              </a:rPr>
              <a:t> speaking with tourists at the National Museum. Our teacher says: 'You both </a:t>
            </a:r>
            <a:pPr indent="0" marL="0">
              <a:lnSpc>
                <a:spcPct val="155000"/>
              </a:lnSpc>
              <a:buNone/>
            </a:pPr>
            <a:r>
              <a:rPr lang="en-US" sz="950" b="1" dirty="0">
                <a:solidFill>
                  <a:srgbClr val="2E6DA4"/>
                </a:solidFill>
                <a:latin typeface="Georgia" pitchFamily="34" charset="0"/>
                <a:ea typeface="Georgia" pitchFamily="34" charset="-122"/>
                <a:cs typeface="Georgia" pitchFamily="34" charset="-120"/>
              </a:rPr>
              <a:t>have been working</a:t>
            </a:r>
            <a:pPr indent="0" marL="0">
              <a:lnSpc>
                <a:spcPct val="155000"/>
              </a:lnSpc>
              <a:buNone/>
            </a:pPr>
            <a:r>
              <a:rPr lang="en-US" sz="950" dirty="0">
                <a:solidFill>
                  <a:srgbClr val="1A2A3A"/>
                </a:solidFill>
                <a:latin typeface="Georgia" pitchFamily="34" charset="0"/>
                <a:ea typeface="Georgia" pitchFamily="34" charset="-122"/>
                <a:cs typeface="Georgia" pitchFamily="34" charset="-120"/>
              </a:rPr>
              <a:t> incredibly hard. The results </a:t>
            </a:r>
            <a:pPr indent="0" marL="0">
              <a:lnSpc>
                <a:spcPct val="155000"/>
              </a:lnSpc>
              <a:buNone/>
            </a:pPr>
            <a:r>
              <a:rPr lang="en-US" sz="950" b="1" dirty="0">
                <a:solidFill>
                  <a:srgbClr val="2E6DA4"/>
                </a:solidFill>
                <a:latin typeface="Georgia" pitchFamily="34" charset="0"/>
                <a:ea typeface="Georgia" pitchFamily="34" charset="-122"/>
                <a:cs typeface="Georgia" pitchFamily="34" charset="-120"/>
              </a:rPr>
              <a:t>have been showing</a:t>
            </a:r>
            <a:pPr indent="0" marL="0">
              <a:lnSpc>
                <a:spcPct val="155000"/>
              </a:lnSpc>
              <a:buNone/>
            </a:pPr>
            <a:r>
              <a:rPr lang="en-US" sz="950" dirty="0">
                <a:solidFill>
                  <a:srgbClr val="1A2A3A"/>
                </a:solidFill>
                <a:latin typeface="Georgia" pitchFamily="34" charset="0"/>
                <a:ea typeface="Georgia" pitchFamily="34" charset="-122"/>
                <a:cs typeface="Georgia" pitchFamily="34" charset="-120"/>
              </a:rPr>
              <a:t>.' We have not been just studying — we </a:t>
            </a:r>
            <a:pPr indent="0" marL="0">
              <a:lnSpc>
                <a:spcPct val="155000"/>
              </a:lnSpc>
              <a:buNone/>
            </a:pPr>
            <a:r>
              <a:rPr lang="en-US" sz="950" b="1" dirty="0">
                <a:solidFill>
                  <a:srgbClr val="2E6DA4"/>
                </a:solidFill>
                <a:latin typeface="Georgia" pitchFamily="34" charset="0"/>
                <a:ea typeface="Georgia" pitchFamily="34" charset="-122"/>
                <a:cs typeface="Georgia" pitchFamily="34" charset="-120"/>
              </a:rPr>
              <a:t>have been transforming</a:t>
            </a:r>
            <a:pPr indent="0" marL="0">
              <a:lnSpc>
                <a:spcPct val="155000"/>
              </a:lnSpc>
              <a:buNone/>
            </a:pPr>
            <a:r>
              <a:rPr lang="en-US" sz="950" dirty="0">
                <a:solidFill>
                  <a:srgbClr val="1A2A3A"/>
                </a:solidFill>
                <a:latin typeface="Georgia" pitchFamily="34" charset="0"/>
                <a:ea typeface="Georgia" pitchFamily="34" charset="-122"/>
                <a:cs typeface="Georgia" pitchFamily="34" charset="-120"/>
              </a:rPr>
              <a:t> our lives through English!"</a:t>
            </a:r>
            <a:endParaRPr lang="en-US" sz="950" dirty="0"/>
          </a:p>
        </p:txBody>
      </p:sp>
      <p:sp>
        <p:nvSpPr>
          <p:cNvPr id="23" name="Shape 21"/>
          <p:cNvSpPr/>
          <p:nvPr/>
        </p:nvSpPr>
        <p:spPr>
          <a:xfrm>
            <a:off x="179222" y="2565806"/>
            <a:ext cx="3218688" cy="1828800"/>
          </a:xfrm>
          <a:prstGeom prst="rect">
            <a:avLst/>
          </a:prstGeom>
          <a:solidFill>
            <a:srgbClr val="D0DCE8"/>
          </a:solidFill>
          <a:ln w="12700">
            <a:solidFill>
              <a:srgbClr val="D0DCE8"/>
            </a:solidFill>
            <a:prstDash val="solid"/>
          </a:ln>
        </p:spPr>
      </p:sp>
      <p:sp>
        <p:nvSpPr>
          <p:cNvPr id="24" name="Shape 22"/>
          <p:cNvSpPr/>
          <p:nvPr/>
        </p:nvSpPr>
        <p:spPr>
          <a:xfrm>
            <a:off x="164592" y="2551176"/>
            <a:ext cx="3218688" cy="1828800"/>
          </a:xfrm>
          <a:prstGeom prst="rect">
            <a:avLst/>
          </a:prstGeom>
          <a:solidFill>
            <a:srgbClr val="FFFFFF"/>
          </a:solidFill>
          <a:ln w="12700">
            <a:solidFill>
              <a:srgbClr val="C8D8E8"/>
            </a:solidFill>
            <a:prstDash val="solid"/>
          </a:ln>
        </p:spPr>
      </p:sp>
      <p:sp>
        <p:nvSpPr>
          <p:cNvPr id="25" name="Shape 23"/>
          <p:cNvSpPr/>
          <p:nvPr/>
        </p:nvSpPr>
        <p:spPr>
          <a:xfrm>
            <a:off x="164592" y="2551176"/>
            <a:ext cx="3218688" cy="256032"/>
          </a:xfrm>
          <a:prstGeom prst="rect">
            <a:avLst/>
          </a:prstGeom>
          <a:solidFill>
            <a:srgbClr val="C97A0A"/>
          </a:solidFill>
          <a:ln w="12700">
            <a:solidFill>
              <a:srgbClr val="C97A0A"/>
            </a:solidFill>
            <a:prstDash val="solid"/>
          </a:ln>
        </p:spPr>
      </p:sp>
      <p:sp>
        <p:nvSpPr>
          <p:cNvPr id="26" name="Shape 24"/>
          <p:cNvSpPr/>
          <p:nvPr/>
        </p:nvSpPr>
        <p:spPr>
          <a:xfrm>
            <a:off x="164592" y="2807208"/>
            <a:ext cx="3218688" cy="146304"/>
          </a:xfrm>
          <a:prstGeom prst="rect">
            <a:avLst/>
          </a:prstGeom>
          <a:solidFill>
            <a:srgbClr val="FEF3DC"/>
          </a:solidFill>
          <a:ln w="12700">
            <a:solidFill>
              <a:srgbClr val="FEF3DC"/>
            </a:solidFill>
            <a:prstDash val="solid"/>
          </a:ln>
        </p:spPr>
      </p:sp>
      <p:sp>
        <p:nvSpPr>
          <p:cNvPr id="27" name="Text 25"/>
          <p:cNvSpPr/>
          <p:nvPr/>
        </p:nvSpPr>
        <p:spPr>
          <a:xfrm>
            <a:off x="256032" y="2551176"/>
            <a:ext cx="3090672" cy="256032"/>
          </a:xfrm>
          <a:prstGeom prst="rect">
            <a:avLst/>
          </a:prstGeom>
          <a:noFill/>
          <a:ln/>
        </p:spPr>
        <p:txBody>
          <a:bodyPr wrap="square" lIns="0" tIns="0" rIns="0" bIns="0" rtlCol="0" anchor="ctr"/>
          <a:lstStyle/>
          <a:p>
            <a:pPr indent="0" marL="0">
              <a:buNone/>
            </a:pPr>
            <a:r>
              <a:rPr lang="en-US" sz="1050" b="1" dirty="0">
                <a:solidFill>
                  <a:srgbClr val="FFFFFF"/>
                </a:solidFill>
                <a:latin typeface="Georgia" pitchFamily="34" charset="0"/>
                <a:ea typeface="Georgia" pitchFamily="34" charset="-122"/>
                <a:cs typeface="Georgia" pitchFamily="34" charset="-120"/>
              </a:rPr>
              <a:t>🔑  Key Phrases &amp; Translation / Гол хэллэг</a:t>
            </a:r>
            <a:endParaRPr lang="en-US" sz="1050" dirty="0"/>
          </a:p>
        </p:txBody>
      </p:sp>
      <p:sp>
        <p:nvSpPr>
          <p:cNvPr id="28" name="Text 26"/>
          <p:cNvSpPr/>
          <p:nvPr/>
        </p:nvSpPr>
        <p:spPr>
          <a:xfrm>
            <a:off x="256032" y="2816352"/>
            <a:ext cx="3090672" cy="137160"/>
          </a:xfrm>
          <a:prstGeom prst="rect">
            <a:avLst/>
          </a:prstGeom>
          <a:noFill/>
          <a:ln/>
        </p:spPr>
        <p:txBody>
          <a:bodyPr wrap="square" lIns="0" tIns="0" rIns="0" bIns="0" rtlCol="0" anchor="ctr"/>
          <a:lstStyle/>
          <a:p>
            <a:pPr indent="0" marL="0">
              <a:buNone/>
            </a:pPr>
            <a:r>
              <a:rPr lang="en-US" sz="750" i="1" dirty="0">
                <a:solidFill>
                  <a:srgbClr val="3A5060"/>
                </a:solidFill>
                <a:latin typeface="Calibri" pitchFamily="34" charset="0"/>
                <a:ea typeface="Calibri" pitchFamily="34" charset="-122"/>
                <a:cs typeface="Calibri" pitchFamily="34" charset="-120"/>
              </a:rPr>
              <a:t>Цээжил! · Memorize these phrases</a:t>
            </a:r>
            <a:endParaRPr lang="en-US" sz="75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219456" y="2971800"/>
          <a:ext cx="3108960" cy="914400"/>
        </p:xfrm>
        <a:graphic>
          <a:graphicData uri="http://schemas.openxmlformats.org/drawingml/2006/table">
            <a:tbl>
              <a:tblPr/>
              <a:tblGrid>
                <a:gridCol w="1057046"/>
                <a:gridCol w="1057046"/>
                <a:gridCol w="994867"/>
              </a:tblGrid>
              <a:tr h="196596">
                <a:tc>
                  <a:txBody>
                    <a:bodyPr/>
                    <a:lstStyle/>
                    <a:p>
                      <a:pPr algn="l" indent="0" marL="0">
                        <a:buNone/>
                      </a:pPr>
                      <a:r>
                        <a:rPr lang="en-US" sz="800" b="1" dirty="0">
                          <a:solidFill>
                            <a:srgbClr val="FFFFFF"/>
                          </a:solidFill>
                          <a:latin typeface="Calibri" pitchFamily="34" charset="0"/>
                          <a:ea typeface="Calibri" pitchFamily="34" charset="-122"/>
                          <a:cs typeface="Calibri" pitchFamily="34" charset="-120"/>
                        </a:rPr>
                        <a:t>English Phrase</a:t>
                      </a:r>
                      <a:endParaRPr lang="en-US" sz="8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C97A0A"/>
                    </a:solidFill>
                  </a:tcPr>
                </a:tc>
                <a:tc>
                  <a:txBody>
                    <a:bodyPr/>
                    <a:lstStyle/>
                    <a:p>
                      <a:pPr algn="l" indent="0" marL="0">
                        <a:buNone/>
                      </a:pPr>
                      <a:r>
                        <a:rPr lang="en-US" sz="800" b="1" dirty="0">
                          <a:solidFill>
                            <a:srgbClr val="FFFFFF"/>
                          </a:solidFill>
                          <a:latin typeface="Calibri" pitchFamily="34" charset="0"/>
                          <a:ea typeface="Calibri" pitchFamily="34" charset="-122"/>
                          <a:cs typeface="Calibri" pitchFamily="34" charset="-120"/>
                        </a:rPr>
                        <a:t>Mongolian / Монгол</a:t>
                      </a:r>
                      <a:endParaRPr lang="en-US" sz="8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C97A0A"/>
                    </a:solidFill>
                  </a:tcPr>
                </a:tc>
                <a:tc>
                  <a:txBody>
                    <a:bodyPr/>
                    <a:lstStyle/>
                    <a:p>
                      <a:pPr algn="l" indent="0" marL="0">
                        <a:buNone/>
                      </a:pPr>
                      <a:r>
                        <a:rPr lang="en-US" sz="800" b="1" dirty="0">
                          <a:solidFill>
                            <a:srgbClr val="FFFFFF"/>
                          </a:solidFill>
                          <a:latin typeface="Calibri" pitchFamily="34" charset="0"/>
                          <a:ea typeface="Calibri" pitchFamily="34" charset="-122"/>
                          <a:cs typeface="Calibri" pitchFamily="34" charset="-120"/>
                        </a:rPr>
                        <a:t>Grammar Note</a:t>
                      </a:r>
                      <a:endParaRPr lang="en-US" sz="8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C97A0A"/>
                    </a:solidFill>
                  </a:tcPr>
                </a:tc>
              </a:tr>
              <a:tr h="196596">
                <a:tc>
                  <a:txBody>
                    <a:bodyPr/>
                    <a:lstStyle/>
                    <a:p>
                      <a:pPr algn="l" indent="0" marL="0">
                        <a:buNone/>
                      </a:pPr>
                      <a:r>
                        <a:rPr lang="en-US" sz="800" b="1" dirty="0">
                          <a:solidFill>
                            <a:srgbClr val="2E6DA4"/>
                          </a:solidFill>
                          <a:latin typeface="Calibri" pitchFamily="34" charset="0"/>
                          <a:ea typeface="Calibri" pitchFamily="34" charset="-122"/>
                          <a:cs typeface="Calibri" pitchFamily="34" charset="-120"/>
                        </a:rPr>
                        <a:t>I have been studying for 63 days</a:t>
                      </a:r>
                      <a:endParaRPr lang="en-US" sz="8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800" dirty="0">
                          <a:solidFill>
                            <a:srgbClr val="1A2A3A"/>
                          </a:solidFill>
                          <a:latin typeface="Calibri" pitchFamily="34" charset="0"/>
                          <a:ea typeface="Calibri" pitchFamily="34" charset="-122"/>
                          <a:cs typeface="Calibri" pitchFamily="34" charset="-120"/>
                        </a:rPr>
                        <a:t>Би 63 хоногийн турш суралцаж байна</a:t>
                      </a:r>
                      <a:endParaRPr lang="en-US" sz="8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750" i="1" dirty="0">
                          <a:solidFill>
                            <a:srgbClr val="3A5060"/>
                          </a:solidFill>
                          <a:latin typeface="Calibri" pitchFamily="34" charset="0"/>
                          <a:ea typeface="Calibri" pitchFamily="34" charset="-122"/>
                          <a:cs typeface="Calibri" pitchFamily="34" charset="-120"/>
                        </a:rPr>
                        <a:t>have been + -ing + for</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r>
              <a:tr h="196596">
                <a:tc>
                  <a:txBody>
                    <a:bodyPr/>
                    <a:lstStyle/>
                    <a:p>
                      <a:pPr algn="l" indent="0" marL="0">
                        <a:buNone/>
                      </a:pPr>
                      <a:r>
                        <a:rPr lang="en-US" sz="800" b="1" dirty="0">
                          <a:solidFill>
                            <a:srgbClr val="2E6DA4"/>
                          </a:solidFill>
                          <a:latin typeface="Calibri" pitchFamily="34" charset="0"/>
                          <a:ea typeface="Calibri" pitchFamily="34" charset="-122"/>
                          <a:cs typeface="Calibri" pitchFamily="34" charset="-120"/>
                        </a:rPr>
                        <a:t>She has been working here since 2020</a:t>
                      </a:r>
                      <a:endParaRPr lang="en-US" sz="8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c>
                  <a:txBody>
                    <a:bodyPr/>
                    <a:lstStyle/>
                    <a:p>
                      <a:pPr algn="l" indent="0" marL="0">
                        <a:buNone/>
                      </a:pPr>
                      <a:r>
                        <a:rPr lang="en-US" sz="800" dirty="0">
                          <a:solidFill>
                            <a:srgbClr val="1A2A3A"/>
                          </a:solidFill>
                          <a:latin typeface="Calibri" pitchFamily="34" charset="0"/>
                          <a:ea typeface="Calibri" pitchFamily="34" charset="-122"/>
                          <a:cs typeface="Calibri" pitchFamily="34" charset="-120"/>
                        </a:rPr>
                        <a:t>Тэр 2020 оноос хойш эндэ ажиллаж байна</a:t>
                      </a:r>
                      <a:endParaRPr lang="en-US" sz="8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c>
                  <a:txBody>
                    <a:bodyPr/>
                    <a:lstStyle/>
                    <a:p>
                      <a:pPr algn="l" indent="0" marL="0">
                        <a:buNone/>
                      </a:pPr>
                      <a:r>
                        <a:rPr lang="en-US" sz="750" i="1" dirty="0">
                          <a:solidFill>
                            <a:srgbClr val="3A5060"/>
                          </a:solidFill>
                          <a:latin typeface="Calibri" pitchFamily="34" charset="0"/>
                          <a:ea typeface="Calibri" pitchFamily="34" charset="-122"/>
                          <a:cs typeface="Calibri" pitchFamily="34" charset="-120"/>
                        </a:rPr>
                        <a:t>has been + -ing + since</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r>
              <a:tr h="196596">
                <a:tc>
                  <a:txBody>
                    <a:bodyPr/>
                    <a:lstStyle/>
                    <a:p>
                      <a:pPr algn="l" indent="0" marL="0">
                        <a:buNone/>
                      </a:pPr>
                      <a:r>
                        <a:rPr lang="en-US" sz="800" b="1" dirty="0">
                          <a:solidFill>
                            <a:srgbClr val="2E6DA4"/>
                          </a:solidFill>
                          <a:latin typeface="Calibri" pitchFamily="34" charset="0"/>
                          <a:ea typeface="Calibri" pitchFamily="34" charset="-122"/>
                          <a:cs typeface="Calibri" pitchFamily="34" charset="-120"/>
                        </a:rPr>
                        <a:t>I have been waiting for two hours!</a:t>
                      </a:r>
                      <a:endParaRPr lang="en-US" sz="8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800" dirty="0">
                          <a:solidFill>
                            <a:srgbClr val="1A2A3A"/>
                          </a:solidFill>
                          <a:latin typeface="Calibri" pitchFamily="34" charset="0"/>
                          <a:ea typeface="Calibri" pitchFamily="34" charset="-122"/>
                          <a:cs typeface="Calibri" pitchFamily="34" charset="-120"/>
                        </a:rPr>
                        <a:t>Би хоёр цагийн турш хүлээж байна!</a:t>
                      </a:r>
                      <a:endParaRPr lang="en-US" sz="8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750" i="1" dirty="0">
                          <a:solidFill>
                            <a:srgbClr val="3A5060"/>
                          </a:solidFill>
                          <a:latin typeface="Calibri" pitchFamily="34" charset="0"/>
                          <a:ea typeface="Calibri" pitchFamily="34" charset="-122"/>
                          <a:cs typeface="Calibri" pitchFamily="34" charset="-120"/>
                        </a:rPr>
                        <a:t>have been + -ing = ongoing frustration</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r>
              <a:tr h="196596">
                <a:tc>
                  <a:txBody>
                    <a:bodyPr/>
                    <a:lstStyle/>
                    <a:p>
                      <a:pPr algn="l" indent="0" marL="0">
                        <a:buNone/>
                      </a:pPr>
                      <a:r>
                        <a:rPr lang="en-US" sz="800" b="1" dirty="0">
                          <a:solidFill>
                            <a:srgbClr val="2E6DA4"/>
                          </a:solidFill>
                          <a:latin typeface="Calibri" pitchFamily="34" charset="0"/>
                          <a:ea typeface="Calibri" pitchFamily="34" charset="-122"/>
                          <a:cs typeface="Calibri" pitchFamily="34" charset="-120"/>
                        </a:rPr>
                        <a:t>Have you been sleeping well lately?</a:t>
                      </a:r>
                      <a:endParaRPr lang="en-US" sz="8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c>
                  <a:txBody>
                    <a:bodyPr/>
                    <a:lstStyle/>
                    <a:p>
                      <a:pPr algn="l" indent="0" marL="0">
                        <a:buNone/>
                      </a:pPr>
                      <a:r>
                        <a:rPr lang="en-US" sz="800" dirty="0">
                          <a:solidFill>
                            <a:srgbClr val="1A2A3A"/>
                          </a:solidFill>
                          <a:latin typeface="Calibri" pitchFamily="34" charset="0"/>
                          <a:ea typeface="Calibri" pitchFamily="34" charset="-122"/>
                          <a:cs typeface="Calibri" pitchFamily="34" charset="-120"/>
                        </a:rPr>
                        <a:t>Та сүүлийн үед сайн унтаж байна уу?</a:t>
                      </a:r>
                      <a:endParaRPr lang="en-US" sz="8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c>
                  <a:txBody>
                    <a:bodyPr/>
                    <a:lstStyle/>
                    <a:p>
                      <a:pPr algn="l" indent="0" marL="0">
                        <a:buNone/>
                      </a:pPr>
                      <a:r>
                        <a:rPr lang="en-US" sz="750" i="1" dirty="0">
                          <a:solidFill>
                            <a:srgbClr val="3A5060"/>
                          </a:solidFill>
                          <a:latin typeface="Calibri" pitchFamily="34" charset="0"/>
                          <a:ea typeface="Calibri" pitchFamily="34" charset="-122"/>
                          <a:cs typeface="Calibri" pitchFamily="34" charset="-120"/>
                        </a:rPr>
                        <a:t>Have you been + -ing + lately?</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r>
              <a:tr h="196596">
                <a:tc>
                  <a:txBody>
                    <a:bodyPr/>
                    <a:lstStyle/>
                    <a:p>
                      <a:pPr algn="l" indent="0" marL="0">
                        <a:buNone/>
                      </a:pPr>
                      <a:r>
                        <a:rPr lang="en-US" sz="800" b="1" dirty="0">
                          <a:solidFill>
                            <a:srgbClr val="2E6DA4"/>
                          </a:solidFill>
                          <a:latin typeface="Calibri" pitchFamily="34" charset="0"/>
                          <a:ea typeface="Calibri" pitchFamily="34" charset="-122"/>
                          <a:cs typeface="Calibri" pitchFamily="34" charset="-120"/>
                        </a:rPr>
                        <a:t>My English has been improving</a:t>
                      </a:r>
                      <a:endParaRPr lang="en-US" sz="8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800" dirty="0">
                          <a:solidFill>
                            <a:srgbClr val="1A2A3A"/>
                          </a:solidFill>
                          <a:latin typeface="Calibri" pitchFamily="34" charset="0"/>
                          <a:ea typeface="Calibri" pitchFamily="34" charset="-122"/>
                          <a:cs typeface="Calibri" pitchFamily="34" charset="-120"/>
                        </a:rPr>
                        <a:t>Миний англи хэл сайжирч байна</a:t>
                      </a:r>
                      <a:endParaRPr lang="en-US" sz="8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750" i="1" dirty="0">
                          <a:solidFill>
                            <a:srgbClr val="3A5060"/>
                          </a:solidFill>
                          <a:latin typeface="Calibri" pitchFamily="34" charset="0"/>
                          <a:ea typeface="Calibri" pitchFamily="34" charset="-122"/>
                          <a:cs typeface="Calibri" pitchFamily="34" charset="-120"/>
                        </a:rPr>
                        <a:t>has been improving = gradual change</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r>
              <a:tr h="196596">
                <a:tc>
                  <a:txBody>
                    <a:bodyPr/>
                    <a:lstStyle/>
                    <a:p>
                      <a:pPr algn="l" indent="0" marL="0">
                        <a:buNone/>
                      </a:pPr>
                      <a:r>
                        <a:rPr lang="en-US" sz="800" b="1" dirty="0">
                          <a:solidFill>
                            <a:srgbClr val="2E6DA4"/>
                          </a:solidFill>
                          <a:latin typeface="Calibri" pitchFamily="34" charset="0"/>
                          <a:ea typeface="Calibri" pitchFamily="34" charset="-122"/>
                          <a:cs typeface="Calibri" pitchFamily="34" charset="-120"/>
                        </a:rPr>
                        <a:t>What have you been doing lately?</a:t>
                      </a:r>
                      <a:endParaRPr lang="en-US" sz="8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c>
                  <a:txBody>
                    <a:bodyPr/>
                    <a:lstStyle/>
                    <a:p>
                      <a:pPr algn="l" indent="0" marL="0">
                        <a:buNone/>
                      </a:pPr>
                      <a:r>
                        <a:rPr lang="en-US" sz="800" dirty="0">
                          <a:solidFill>
                            <a:srgbClr val="1A2A3A"/>
                          </a:solidFill>
                          <a:latin typeface="Calibri" pitchFamily="34" charset="0"/>
                          <a:ea typeface="Calibri" pitchFamily="34" charset="-122"/>
                          <a:cs typeface="Calibri" pitchFamily="34" charset="-120"/>
                        </a:rPr>
                        <a:t>Та сүүлийн үед юу хийж байна вэ?</a:t>
                      </a:r>
                      <a:endParaRPr lang="en-US" sz="8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c>
                  <a:txBody>
                    <a:bodyPr/>
                    <a:lstStyle/>
                    <a:p>
                      <a:pPr algn="l" indent="0" marL="0">
                        <a:buNone/>
                      </a:pPr>
                      <a:r>
                        <a:rPr lang="en-US" sz="750" i="1" dirty="0">
                          <a:solidFill>
                            <a:srgbClr val="3A5060"/>
                          </a:solidFill>
                          <a:latin typeface="Calibri" pitchFamily="34" charset="0"/>
                          <a:ea typeface="Calibri" pitchFamily="34" charset="-122"/>
                          <a:cs typeface="Calibri" pitchFamily="34" charset="-120"/>
                        </a:rPr>
                        <a:t>What have you been + -ing?</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r>
            </a:tbl>
          </a:graphicData>
        </a:graphic>
      </p:graphicFrame>
      <p:sp>
        <p:nvSpPr>
          <p:cNvPr id="30" name="Shape 27"/>
          <p:cNvSpPr/>
          <p:nvPr/>
        </p:nvSpPr>
        <p:spPr>
          <a:xfrm>
            <a:off x="3489350" y="2565806"/>
            <a:ext cx="3218688" cy="1828800"/>
          </a:xfrm>
          <a:prstGeom prst="rect">
            <a:avLst/>
          </a:prstGeom>
          <a:solidFill>
            <a:srgbClr val="D0DCE8"/>
          </a:solidFill>
          <a:ln w="12700">
            <a:solidFill>
              <a:srgbClr val="D0DCE8"/>
            </a:solidFill>
            <a:prstDash val="solid"/>
          </a:ln>
        </p:spPr>
      </p:sp>
      <p:sp>
        <p:nvSpPr>
          <p:cNvPr id="31" name="Shape 28"/>
          <p:cNvSpPr/>
          <p:nvPr/>
        </p:nvSpPr>
        <p:spPr>
          <a:xfrm>
            <a:off x="3474720" y="2551176"/>
            <a:ext cx="3218688" cy="1828800"/>
          </a:xfrm>
          <a:prstGeom prst="rect">
            <a:avLst/>
          </a:prstGeom>
          <a:solidFill>
            <a:srgbClr val="FFFFFF"/>
          </a:solidFill>
          <a:ln w="12700">
            <a:solidFill>
              <a:srgbClr val="C8D8E8"/>
            </a:solidFill>
            <a:prstDash val="solid"/>
          </a:ln>
        </p:spPr>
      </p:sp>
      <p:sp>
        <p:nvSpPr>
          <p:cNvPr id="32" name="Shape 29"/>
          <p:cNvSpPr/>
          <p:nvPr/>
        </p:nvSpPr>
        <p:spPr>
          <a:xfrm>
            <a:off x="3474720" y="2551176"/>
            <a:ext cx="3218688" cy="256032"/>
          </a:xfrm>
          <a:prstGeom prst="rect">
            <a:avLst/>
          </a:prstGeom>
          <a:solidFill>
            <a:srgbClr val="0D7C7B"/>
          </a:solidFill>
          <a:ln w="12700">
            <a:solidFill>
              <a:srgbClr val="0D7C7B"/>
            </a:solidFill>
            <a:prstDash val="solid"/>
          </a:ln>
        </p:spPr>
      </p:sp>
      <p:sp>
        <p:nvSpPr>
          <p:cNvPr id="33" name="Shape 30"/>
          <p:cNvSpPr/>
          <p:nvPr/>
        </p:nvSpPr>
        <p:spPr>
          <a:xfrm>
            <a:off x="3474720" y="2807208"/>
            <a:ext cx="3218688" cy="146304"/>
          </a:xfrm>
          <a:prstGeom prst="rect">
            <a:avLst/>
          </a:prstGeom>
          <a:solidFill>
            <a:srgbClr val="E0F4F4"/>
          </a:solidFill>
          <a:ln w="12700">
            <a:solidFill>
              <a:srgbClr val="E0F4F4"/>
            </a:solidFill>
            <a:prstDash val="solid"/>
          </a:ln>
        </p:spPr>
      </p:sp>
      <p:sp>
        <p:nvSpPr>
          <p:cNvPr id="34" name="Text 31"/>
          <p:cNvSpPr/>
          <p:nvPr/>
        </p:nvSpPr>
        <p:spPr>
          <a:xfrm>
            <a:off x="3566160" y="2551176"/>
            <a:ext cx="3090672" cy="256032"/>
          </a:xfrm>
          <a:prstGeom prst="rect">
            <a:avLst/>
          </a:prstGeom>
          <a:noFill/>
          <a:ln/>
        </p:spPr>
        <p:txBody>
          <a:bodyPr wrap="square" lIns="0" tIns="0" rIns="0" bIns="0" rtlCol="0" anchor="ctr"/>
          <a:lstStyle/>
          <a:p>
            <a:pPr indent="0" marL="0">
              <a:buNone/>
            </a:pPr>
            <a:r>
              <a:rPr lang="en-US" sz="1050" b="1" dirty="0">
                <a:solidFill>
                  <a:srgbClr val="FFFFFF"/>
                </a:solidFill>
                <a:latin typeface="Georgia" pitchFamily="34" charset="0"/>
                <a:ea typeface="Georgia" pitchFamily="34" charset="-122"/>
                <a:cs typeface="Georgia" pitchFamily="34" charset="-120"/>
              </a:rPr>
              <a:t>🗣️  Speaking Practice / Ярих дасгал</a:t>
            </a:r>
            <a:endParaRPr lang="en-US" sz="1050" dirty="0"/>
          </a:p>
        </p:txBody>
      </p:sp>
      <p:sp>
        <p:nvSpPr>
          <p:cNvPr id="35" name="Text 32"/>
          <p:cNvSpPr/>
          <p:nvPr/>
        </p:nvSpPr>
        <p:spPr>
          <a:xfrm>
            <a:off x="3566160" y="2816352"/>
            <a:ext cx="3090672" cy="137160"/>
          </a:xfrm>
          <a:prstGeom prst="rect">
            <a:avLst/>
          </a:prstGeom>
          <a:noFill/>
          <a:ln/>
        </p:spPr>
        <p:txBody>
          <a:bodyPr wrap="square" lIns="0" tIns="0" rIns="0" bIns="0" rtlCol="0" anchor="ctr"/>
          <a:lstStyle/>
          <a:p>
            <a:pPr indent="0" marL="0">
              <a:buNone/>
            </a:pPr>
            <a:r>
              <a:rPr lang="en-US" sz="750" i="1" dirty="0">
                <a:solidFill>
                  <a:srgbClr val="3A5060"/>
                </a:solidFill>
                <a:latin typeface="Calibri" pitchFamily="34" charset="0"/>
                <a:ea typeface="Calibri" pitchFamily="34" charset="-122"/>
                <a:cs typeface="Calibri" pitchFamily="34" charset="-120"/>
              </a:rPr>
              <a:t>Answer OUT LOUD — don't write, just speak!</a:t>
            </a:r>
            <a:endParaRPr lang="en-US" sz="750" dirty="0"/>
          </a:p>
        </p:txBody>
      </p:sp>
      <p:sp>
        <p:nvSpPr>
          <p:cNvPr id="36" name="Text 33"/>
          <p:cNvSpPr/>
          <p:nvPr/>
        </p:nvSpPr>
        <p:spPr>
          <a:xfrm>
            <a:off x="3557016" y="2971800"/>
            <a:ext cx="3072384" cy="274320"/>
          </a:xfrm>
          <a:prstGeom prst="rect">
            <a:avLst/>
          </a:prstGeom>
          <a:noFill/>
          <a:ln/>
        </p:spPr>
        <p:txBody>
          <a:bodyPr wrap="square" lIns="0" tIns="0" rIns="0" bIns="0" rtlCol="0" anchor="t"/>
          <a:lstStyle/>
          <a:p>
            <a:pPr indent="0" marL="0">
              <a:lnSpc>
                <a:spcPct val="120000"/>
              </a:lnSpc>
              <a:buNone/>
            </a:pPr>
            <a:r>
              <a:rPr lang="en-US" sz="800" b="1" dirty="0">
                <a:solidFill>
                  <a:srgbClr val="0D7C7B"/>
                </a:solidFill>
                <a:latin typeface="Calibri" pitchFamily="34" charset="0"/>
                <a:ea typeface="Calibri" pitchFamily="34" charset="-122"/>
                <a:cs typeface="Calibri" pitchFamily="34" charset="-120"/>
              </a:rPr>
              <a:t>Answer OUT LOUD in English — do not write, just speak!
</a:t>
            </a:r>
            <a:pPr indent="0" marL="0">
              <a:lnSpc>
                <a:spcPct val="120000"/>
              </a:lnSpc>
              <a:buNone/>
            </a:pPr>
            <a:r>
              <a:rPr lang="en-US" sz="750" i="1" dirty="0">
                <a:solidFill>
                  <a:srgbClr val="3A5060"/>
                </a:solidFill>
                <a:latin typeface="Calibri" pitchFamily="34" charset="0"/>
                <a:ea typeface="Calibri" pitchFamily="34" charset="-122"/>
                <a:cs typeface="Calibri" pitchFamily="34" charset="-120"/>
              </a:rPr>
              <a:t>Англиар ЧАНГААР хариулаарай — бичихгүй, зөвхөн ярь!</a:t>
            </a:r>
            <a:endParaRPr lang="en-US" sz="800" dirty="0"/>
          </a:p>
        </p:txBody>
      </p:sp>
      <p:graphicFrame>
        <p:nvGraphicFramePr>
          <p:cNvPr id="5" name="Table 1"/>
          <p:cNvGraphicFramePr>
            <a:graphicFrameLocks noGrp="1"/>
          </p:cNvGraphicFramePr>
          <p:nvPr>
            <p:extLst>
              <p:ext uri="{D42A27DB-BD31-4B8C-83A1-F6EECF244321}">
                <p14:modId xmlns:p14="http://schemas.microsoft.com/office/powerpoint/2010/main" val="1579011935"/>
              </p:ext>
            </p:extLst>
          </p:nvPr>
        </p:nvGraphicFramePr>
        <p:xfrm>
          <a:off x="3529584" y="3264408"/>
          <a:ext cx="3108960" cy="914400"/>
        </p:xfrm>
        <a:graphic>
          <a:graphicData uri="http://schemas.openxmlformats.org/drawingml/2006/table">
            <a:tbl>
              <a:tblPr/>
              <a:tblGrid>
                <a:gridCol w="3108960"/>
              </a:tblGrid>
              <a:tr h="169164">
                <a:tc>
                  <a:txBody>
                    <a:bodyPr/>
                    <a:lstStyle/>
                    <a:p>
                      <a:pPr algn="l" indent="0" marL="0">
                        <a:buNone/>
                      </a:pPr>
                      <a:r>
                        <a:rPr lang="en-US" sz="850" dirty="0">
                          <a:solidFill>
                            <a:srgbClr val="1A2A3A"/>
                          </a:solidFill>
                          <a:latin typeface="Calibri" pitchFamily="34" charset="0"/>
                          <a:ea typeface="Calibri" pitchFamily="34" charset="-122"/>
                          <a:cs typeface="Calibri" pitchFamily="34" charset="-120"/>
                        </a:rPr>
                        <a:t>1.  How long have you been studying English?</a:t>
                      </a:r>
                      <a:endParaRPr lang="en-US" sz="8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r>
              <a:tr h="169164">
                <a:tc>
                  <a:txBody>
                    <a:bodyPr/>
                    <a:lstStyle/>
                    <a:p>
                      <a:pPr algn="l" indent="0" marL="0">
                        <a:buNone/>
                      </a:pPr>
                      <a:r>
                        <a:rPr lang="en-US" sz="850" dirty="0">
                          <a:solidFill>
                            <a:srgbClr val="2E6DA4"/>
                          </a:solidFill>
                          <a:latin typeface="Calibri" pitchFamily="34" charset="0"/>
                          <a:ea typeface="Calibri" pitchFamily="34" charset="-122"/>
                          <a:cs typeface="Calibri" pitchFamily="34" charset="-120"/>
                        </a:rPr>
                        <a:t>2.  What have you been doing lately to improve your English?</a:t>
                      </a:r>
                      <a:endParaRPr lang="en-US" sz="8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r>
              <a:tr h="169164">
                <a:tc>
                  <a:txBody>
                    <a:bodyPr/>
                    <a:lstStyle/>
                    <a:p>
                      <a:pPr algn="l" indent="0" marL="0">
                        <a:buNone/>
                      </a:pPr>
                      <a:r>
                        <a:rPr lang="en-US" sz="850" dirty="0">
                          <a:solidFill>
                            <a:srgbClr val="1A2A3A"/>
                          </a:solidFill>
                          <a:latin typeface="Calibri" pitchFamily="34" charset="0"/>
                          <a:ea typeface="Calibri" pitchFamily="34" charset="-122"/>
                          <a:cs typeface="Calibri" pitchFamily="34" charset="-120"/>
                        </a:rPr>
                        <a:t>3.  Have you been sleeping well recently?</a:t>
                      </a:r>
                      <a:endParaRPr lang="en-US" sz="8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r>
              <a:tr h="169164">
                <a:tc>
                  <a:txBody>
                    <a:bodyPr/>
                    <a:lstStyle/>
                    <a:p>
                      <a:pPr algn="l" indent="0" marL="0">
                        <a:buNone/>
                      </a:pPr>
                      <a:r>
                        <a:rPr lang="en-US" sz="850" dirty="0">
                          <a:solidFill>
                            <a:srgbClr val="2E6DA4"/>
                          </a:solidFill>
                          <a:latin typeface="Calibri" pitchFamily="34" charset="0"/>
                          <a:ea typeface="Calibri" pitchFamily="34" charset="-122"/>
                          <a:cs typeface="Calibri" pitchFamily="34" charset="-120"/>
                        </a:rPr>
                        <a:t>4.  How long have you been living in your current home?</a:t>
                      </a:r>
                      <a:endParaRPr lang="en-US" sz="8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r>
              <a:tr h="169164">
                <a:tc>
                  <a:txBody>
                    <a:bodyPr/>
                    <a:lstStyle/>
                    <a:p>
                      <a:pPr algn="l" indent="0" marL="0">
                        <a:buNone/>
                      </a:pPr>
                      <a:r>
                        <a:rPr lang="en-US" sz="850" dirty="0">
                          <a:solidFill>
                            <a:srgbClr val="1A2A3A"/>
                          </a:solidFill>
                          <a:latin typeface="Calibri" pitchFamily="34" charset="0"/>
                          <a:ea typeface="Calibri" pitchFamily="34" charset="-122"/>
                          <a:cs typeface="Calibri" pitchFamily="34" charset="-120"/>
                        </a:rPr>
                        <a:t>5.  What skill have you been developing over the past year?</a:t>
                      </a:r>
                      <a:endParaRPr lang="en-US" sz="8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r>
              <a:tr h="169164">
                <a:tc>
                  <a:txBody>
                    <a:bodyPr/>
                    <a:lstStyle/>
                    <a:p>
                      <a:pPr algn="l" indent="0" marL="0">
                        <a:buNone/>
                      </a:pPr>
                      <a:r>
                        <a:rPr lang="en-US" sz="850" dirty="0">
                          <a:solidFill>
                            <a:srgbClr val="2E6DA4"/>
                          </a:solidFill>
                          <a:latin typeface="Calibri" pitchFamily="34" charset="0"/>
                          <a:ea typeface="Calibri" pitchFamily="34" charset="-122"/>
                          <a:cs typeface="Calibri" pitchFamily="34" charset="-120"/>
                        </a:rPr>
                        <a:t>6.  How long has your best friend been your friend?</a:t>
                      </a:r>
                      <a:endParaRPr lang="en-US" sz="8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r>
            </a:tbl>
          </a:graphicData>
        </a:graphic>
      </p:graphicFrame>
      <p:sp>
        <p:nvSpPr>
          <p:cNvPr id="38" name="Shape 34"/>
          <p:cNvSpPr/>
          <p:nvPr/>
        </p:nvSpPr>
        <p:spPr>
          <a:xfrm>
            <a:off x="179222" y="4467758"/>
            <a:ext cx="6528816" cy="5111496"/>
          </a:xfrm>
          <a:prstGeom prst="rect">
            <a:avLst/>
          </a:prstGeom>
          <a:solidFill>
            <a:srgbClr val="D0DCE8"/>
          </a:solidFill>
          <a:ln w="12700">
            <a:solidFill>
              <a:srgbClr val="D0DCE8"/>
            </a:solidFill>
            <a:prstDash val="solid"/>
          </a:ln>
        </p:spPr>
      </p:sp>
      <p:sp>
        <p:nvSpPr>
          <p:cNvPr id="39" name="Shape 35"/>
          <p:cNvSpPr/>
          <p:nvPr/>
        </p:nvSpPr>
        <p:spPr>
          <a:xfrm>
            <a:off x="164592" y="4453128"/>
            <a:ext cx="6528816" cy="5111496"/>
          </a:xfrm>
          <a:prstGeom prst="rect">
            <a:avLst/>
          </a:prstGeom>
          <a:solidFill>
            <a:srgbClr val="FFFFFF"/>
          </a:solidFill>
          <a:ln w="12700">
            <a:solidFill>
              <a:srgbClr val="C8D8E8"/>
            </a:solidFill>
            <a:prstDash val="solid"/>
          </a:ln>
        </p:spPr>
      </p:sp>
      <p:sp>
        <p:nvSpPr>
          <p:cNvPr id="40" name="Shape 36"/>
          <p:cNvSpPr/>
          <p:nvPr/>
        </p:nvSpPr>
        <p:spPr>
          <a:xfrm>
            <a:off x="164592" y="4453128"/>
            <a:ext cx="6528816" cy="256032"/>
          </a:xfrm>
          <a:prstGeom prst="rect">
            <a:avLst/>
          </a:prstGeom>
          <a:solidFill>
            <a:srgbClr val="6B3FA0"/>
          </a:solidFill>
          <a:ln w="12700">
            <a:solidFill>
              <a:srgbClr val="6B3FA0"/>
            </a:solidFill>
            <a:prstDash val="solid"/>
          </a:ln>
        </p:spPr>
      </p:sp>
      <p:sp>
        <p:nvSpPr>
          <p:cNvPr id="41" name="Shape 37"/>
          <p:cNvSpPr/>
          <p:nvPr/>
        </p:nvSpPr>
        <p:spPr>
          <a:xfrm>
            <a:off x="164592" y="4709160"/>
            <a:ext cx="6528816" cy="146304"/>
          </a:xfrm>
          <a:prstGeom prst="rect">
            <a:avLst/>
          </a:prstGeom>
          <a:solidFill>
            <a:srgbClr val="F0EAFA"/>
          </a:solidFill>
          <a:ln w="12700">
            <a:solidFill>
              <a:srgbClr val="F0EAFA"/>
            </a:solidFill>
            <a:prstDash val="solid"/>
          </a:ln>
        </p:spPr>
      </p:sp>
      <p:sp>
        <p:nvSpPr>
          <p:cNvPr id="42" name="Text 38"/>
          <p:cNvSpPr/>
          <p:nvPr/>
        </p:nvSpPr>
        <p:spPr>
          <a:xfrm>
            <a:off x="256032" y="4453128"/>
            <a:ext cx="6400800" cy="256032"/>
          </a:xfrm>
          <a:prstGeom prst="rect">
            <a:avLst/>
          </a:prstGeom>
          <a:noFill/>
          <a:ln/>
        </p:spPr>
        <p:txBody>
          <a:bodyPr wrap="square" lIns="0" tIns="0" rIns="0" bIns="0" rtlCol="0" anchor="ctr"/>
          <a:lstStyle/>
          <a:p>
            <a:pPr indent="0" marL="0">
              <a:buNone/>
            </a:pPr>
            <a:r>
              <a:rPr lang="en-US" sz="1050" b="1" dirty="0">
                <a:solidFill>
                  <a:srgbClr val="FFFFFF"/>
                </a:solidFill>
                <a:latin typeface="Georgia" pitchFamily="34" charset="0"/>
                <a:ea typeface="Georgia" pitchFamily="34" charset="-122"/>
                <a:cs typeface="Georgia" pitchFamily="34" charset="-120"/>
              </a:rPr>
              <a:t>💬  Role Play / Дүрд тоглох</a:t>
            </a:r>
            <a:endParaRPr lang="en-US" sz="1050" dirty="0"/>
          </a:p>
        </p:txBody>
      </p:sp>
      <p:sp>
        <p:nvSpPr>
          <p:cNvPr id="43" name="Text 39"/>
          <p:cNvSpPr/>
          <p:nvPr/>
        </p:nvSpPr>
        <p:spPr>
          <a:xfrm>
            <a:off x="256032" y="4718304"/>
            <a:ext cx="6400800" cy="137160"/>
          </a:xfrm>
          <a:prstGeom prst="rect">
            <a:avLst/>
          </a:prstGeom>
          <a:noFill/>
          <a:ln/>
        </p:spPr>
        <p:txBody>
          <a:bodyPr wrap="square" lIns="0" tIns="0" rIns="0" bIns="0" rtlCol="0" anchor="ctr"/>
          <a:lstStyle/>
          <a:p>
            <a:pPr indent="0" marL="0">
              <a:buNone/>
            </a:pPr>
            <a:r>
              <a:rPr lang="en-US" sz="750" i="1" dirty="0">
                <a:solidFill>
                  <a:srgbClr val="3A5060"/>
                </a:solidFill>
                <a:latin typeface="Calibri" pitchFamily="34" charset="0"/>
                <a:ea typeface="Calibri" pitchFamily="34" charset="-122"/>
                <a:cs typeface="Calibri" pitchFamily="34" charset="-120"/>
              </a:rPr>
              <a:t>Найзтайгаа дадлагал · Repeat until it sounds natural!</a:t>
            </a:r>
            <a:endParaRPr lang="en-US" sz="750" dirty="0"/>
          </a:p>
        </p:txBody>
      </p:sp>
      <p:graphicFrame>
        <p:nvGraphicFramePr>
          <p:cNvPr id="7" name="Table 2"/>
          <p:cNvGraphicFramePr>
            <a:graphicFrameLocks noGrp="1"/>
          </p:cNvGraphicFramePr>
          <p:nvPr>
            <p:extLst>
              <p:ext uri="{D42A27DB-BD31-4B8C-83A1-F6EECF244321}">
                <p14:modId xmlns:p14="http://schemas.microsoft.com/office/powerpoint/2010/main" val="1579011935"/>
              </p:ext>
            </p:extLst>
          </p:nvPr>
        </p:nvGraphicFramePr>
        <p:xfrm>
          <a:off x="237744" y="4873752"/>
          <a:ext cx="6382512" cy="914400"/>
        </p:xfrm>
        <a:graphic>
          <a:graphicData uri="http://schemas.openxmlformats.org/drawingml/2006/table">
            <a:tbl>
              <a:tblPr/>
              <a:tblGrid>
                <a:gridCol w="3191256"/>
                <a:gridCol w="3191256"/>
              </a:tblGrid>
              <a:tr h="748284">
                <a:tc>
                  <a:txBody>
                    <a:bodyPr/>
                    <a:lstStyle/>
                    <a:p>
                      <a:pPr algn="l" indent="0" marL="0">
                        <a:buNone/>
                      </a:pPr>
                      <a:r>
                        <a:rPr lang="en-US" sz="900" b="1" dirty="0">
                          <a:solidFill>
                            <a:srgbClr val="2E6DA4"/>
                          </a:solidFill>
                          <a:latin typeface="Calibri" pitchFamily="34" charset="0"/>
                          <a:ea typeface="Calibri" pitchFamily="34" charset="-122"/>
                          <a:cs typeface="Calibri" pitchFamily="34" charset="-120"/>
                        </a:rPr>
                        <a:t>A:  How long have you been studying English?</a:t>
                      </a:r>
                      <a:endParaRPr lang="en-US" sz="9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900" dirty="0">
                          <a:solidFill>
                            <a:srgbClr val="1E7A4A"/>
                          </a:solidFill>
                          <a:latin typeface="Calibri" pitchFamily="34" charset="0"/>
                          <a:ea typeface="Calibri" pitchFamily="34" charset="-122"/>
                          <a:cs typeface="Calibri" pitchFamily="34" charset="-120"/>
                        </a:rPr>
                        <a:t>B:  I have been studying for 63 days now — every day!</a:t>
                      </a:r>
                      <a:endParaRPr lang="en-US" sz="9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r>
              <a:tr h="748284">
                <a:tc>
                  <a:txBody>
                    <a:bodyPr/>
                    <a:lstStyle/>
                    <a:p>
                      <a:pPr algn="l" indent="0" marL="0">
                        <a:buNone/>
                      </a:pPr>
                      <a:r>
                        <a:rPr lang="en-US" sz="900" dirty="0">
                          <a:solidFill>
                            <a:srgbClr val="1A2A3A"/>
                          </a:solidFill>
                          <a:latin typeface="Calibri" pitchFamily="34" charset="0"/>
                          <a:ea typeface="Calibri" pitchFamily="34" charset="-122"/>
                          <a:cs typeface="Calibri" pitchFamily="34" charset="-120"/>
                        </a:rPr>
                        <a:t>A:  Have you been enjoying it?</a:t>
                      </a:r>
                      <a:endParaRPr lang="en-US" sz="9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c>
                  <a:txBody>
                    <a:bodyPr/>
                    <a:lstStyle/>
                    <a:p>
                      <a:pPr algn="l" indent="0" marL="0">
                        <a:buNone/>
                      </a:pPr>
                      <a:r>
                        <a:rPr lang="en-US" sz="900" dirty="0">
                          <a:solidFill>
                            <a:srgbClr val="3A5060"/>
                          </a:solidFill>
                          <a:latin typeface="Calibri" pitchFamily="34" charset="0"/>
                          <a:ea typeface="Calibri" pitchFamily="34" charset="-122"/>
                          <a:cs typeface="Calibri" pitchFamily="34" charset="-120"/>
                        </a:rPr>
                        <a:t>B:  Yes! Lately I have been noticing I think in English sometimes.</a:t>
                      </a:r>
                      <a:endParaRPr lang="en-US" sz="9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r>
              <a:tr h="748284">
                <a:tc>
                  <a:txBody>
                    <a:bodyPr/>
                    <a:lstStyle/>
                    <a:p>
                      <a:pPr algn="l" indent="0" marL="0">
                        <a:buNone/>
                      </a:pPr>
                      <a:r>
                        <a:rPr lang="en-US" sz="900" dirty="0">
                          <a:solidFill>
                            <a:srgbClr val="1A2A3A"/>
                          </a:solidFill>
                          <a:latin typeface="Calibri" pitchFamily="34" charset="0"/>
                          <a:ea typeface="Calibri" pitchFamily="34" charset="-122"/>
                          <a:cs typeface="Calibri" pitchFamily="34" charset="-120"/>
                        </a:rPr>
                        <a:t>A:  Really? That's amazing!</a:t>
                      </a:r>
                      <a:endParaRPr lang="en-US" sz="9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900" dirty="0">
                          <a:solidFill>
                            <a:srgbClr val="3A5060"/>
                          </a:solidFill>
                          <a:latin typeface="Calibri" pitchFamily="34" charset="0"/>
                          <a:ea typeface="Calibri" pitchFamily="34" charset="-122"/>
                          <a:cs typeface="Calibri" pitchFamily="34" charset="-120"/>
                        </a:rPr>
                        <a:t>B:  I know! My brain has been changing.</a:t>
                      </a:r>
                      <a:endParaRPr lang="en-US" sz="9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r>
              <a:tr h="748284">
                <a:tc>
                  <a:txBody>
                    <a:bodyPr/>
                    <a:lstStyle/>
                    <a:p>
                      <a:pPr algn="l" indent="0" marL="0">
                        <a:buNone/>
                      </a:pPr>
                      <a:r>
                        <a:rPr lang="en-US" sz="900" dirty="0">
                          <a:solidFill>
                            <a:srgbClr val="1A2A3A"/>
                          </a:solidFill>
                          <a:latin typeface="Calibri" pitchFamily="34" charset="0"/>
                          <a:ea typeface="Calibri" pitchFamily="34" charset="-122"/>
                          <a:cs typeface="Calibri" pitchFamily="34" charset="-120"/>
                        </a:rPr>
                        <a:t>A:  Have you been practising speaking as well?</a:t>
                      </a:r>
                      <a:endParaRPr lang="en-US" sz="9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c>
                  <a:txBody>
                    <a:bodyPr/>
                    <a:lstStyle/>
                    <a:p>
                      <a:pPr algn="l" indent="0" marL="0">
                        <a:buNone/>
                      </a:pPr>
                      <a:r>
                        <a:rPr lang="en-US" sz="900" dirty="0">
                          <a:solidFill>
                            <a:srgbClr val="3A5060"/>
                          </a:solidFill>
                          <a:latin typeface="Calibri" pitchFamily="34" charset="0"/>
                          <a:ea typeface="Calibri" pitchFamily="34" charset="-122"/>
                          <a:cs typeface="Calibri" pitchFamily="34" charset="-120"/>
                        </a:rPr>
                        <a:t>B:  Yes! I have been talking to tourists and watching English shows.</a:t>
                      </a:r>
                      <a:endParaRPr lang="en-US" sz="9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r>
              <a:tr h="748284">
                <a:tc>
                  <a:txBody>
                    <a:bodyPr/>
                    <a:lstStyle/>
                    <a:p>
                      <a:pPr algn="l" indent="0" marL="0">
                        <a:buNone/>
                      </a:pPr>
                      <a:r>
                        <a:rPr lang="en-US" sz="900" dirty="0">
                          <a:solidFill>
                            <a:srgbClr val="1A2A3A"/>
                          </a:solidFill>
                          <a:latin typeface="Calibri" pitchFamily="34" charset="0"/>
                          <a:ea typeface="Calibri" pitchFamily="34" charset="-122"/>
                          <a:cs typeface="Calibri" pitchFamily="34" charset="-120"/>
                        </a:rPr>
                        <a:t>A:  How long has Sarnai been studying with you?</a:t>
                      </a:r>
                      <a:endParaRPr lang="en-US" sz="9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900" dirty="0">
                          <a:solidFill>
                            <a:srgbClr val="3A5060"/>
                          </a:solidFill>
                          <a:latin typeface="Calibri" pitchFamily="34" charset="0"/>
                          <a:ea typeface="Calibri" pitchFamily="34" charset="-122"/>
                          <a:cs typeface="Calibri" pitchFamily="34" charset="-120"/>
                        </a:rPr>
                        <a:t>B:  She has been studying since Day 31 — 33 days already!</a:t>
                      </a:r>
                      <a:endParaRPr lang="en-US" sz="9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r>
              <a:tr h="748284">
                <a:tc>
                  <a:txBody>
                    <a:bodyPr/>
                    <a:lstStyle/>
                    <a:p>
                      <a:pPr algn="l" indent="0" marL="0">
                        <a:buNone/>
                      </a:pPr>
                      <a:r>
                        <a:rPr lang="en-US" sz="900" dirty="0">
                          <a:solidFill>
                            <a:srgbClr val="1A2A3A"/>
                          </a:solidFill>
                          <a:latin typeface="Calibri" pitchFamily="34" charset="0"/>
                          <a:ea typeface="Calibri" pitchFamily="34" charset="-122"/>
                          <a:cs typeface="Calibri" pitchFamily="34" charset="-120"/>
                        </a:rPr>
                        <a:t>A:  You've both been working so hard!</a:t>
                      </a:r>
                      <a:endParaRPr lang="en-US" sz="9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c>
                  <a:txBody>
                    <a:bodyPr/>
                    <a:lstStyle/>
                    <a:p>
                      <a:pPr algn="l" indent="0" marL="0">
                        <a:buNone/>
                      </a:pPr>
                      <a:r>
                        <a:rPr lang="en-US" sz="900" dirty="0">
                          <a:solidFill>
                            <a:srgbClr val="3A5060"/>
                          </a:solidFill>
                          <a:latin typeface="Calibri" pitchFamily="34" charset="0"/>
                          <a:ea typeface="Calibri" pitchFamily="34" charset="-122"/>
                          <a:cs typeface="Calibri" pitchFamily="34" charset="-120"/>
                        </a:rPr>
                        <a:t>B:  Thank you! It has been transforming our lives completely.</a:t>
                      </a:r>
                      <a:endParaRPr lang="en-US" sz="9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r>
            </a:tbl>
          </a:graphicData>
        </a:graphic>
      </p:graphicFrame>
      <p:sp>
        <p:nvSpPr>
          <p:cNvPr id="45" name="Shape 40"/>
          <p:cNvSpPr/>
          <p:nvPr/>
        </p:nvSpPr>
        <p:spPr>
          <a:xfrm>
            <a:off x="237744" y="9381744"/>
            <a:ext cx="6382512" cy="146304"/>
          </a:xfrm>
          <a:prstGeom prst="rect">
            <a:avLst/>
          </a:prstGeom>
          <a:solidFill>
            <a:srgbClr val="FEF3DC"/>
          </a:solidFill>
          <a:ln w="12700">
            <a:solidFill>
              <a:srgbClr val="C97A0A"/>
            </a:solidFill>
            <a:prstDash val="solid"/>
          </a:ln>
        </p:spPr>
      </p:sp>
      <p:sp>
        <p:nvSpPr>
          <p:cNvPr id="46" name="Text 41"/>
          <p:cNvSpPr/>
          <p:nvPr/>
        </p:nvSpPr>
        <p:spPr>
          <a:xfrm>
            <a:off x="292608" y="9390888"/>
            <a:ext cx="6272784" cy="137160"/>
          </a:xfrm>
          <a:prstGeom prst="rect">
            <a:avLst/>
          </a:prstGeom>
          <a:noFill/>
          <a:ln/>
        </p:spPr>
        <p:txBody>
          <a:bodyPr wrap="square" lIns="0" tIns="0" rIns="0" bIns="0" rtlCol="0" anchor="ctr"/>
          <a:lstStyle/>
          <a:p>
            <a:pPr indent="0" marL="0">
              <a:buNone/>
            </a:pPr>
            <a:r>
              <a:rPr lang="en-US" sz="750" i="1" dirty="0">
                <a:solidFill>
                  <a:srgbClr val="C97A0A"/>
                </a:solidFill>
                <a:latin typeface="Calibri" pitchFamily="34" charset="0"/>
                <a:ea typeface="Calibri" pitchFamily="34" charset="-122"/>
                <a:cs typeface="Calibri" pitchFamily="34" charset="-120"/>
              </a:rPr>
              <a:t>🌟  B1 Tip: At B1 level, combine tenses naturally! 'I was sleeping WHEN my phone rang.' 'She had just arrived WHEN the storm started.' This is what makes you sound truly intermediate!</a:t>
            </a:r>
            <a:endParaRPr lang="en-US" sz="7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2F6FA"/>
        </a:solidFill>
      </p:bgPr>
    </p:bg>
    <p:spTree>
      <p:nvGrpSpPr>
        <p:cNvPr id="1" name=""/>
        <p:cNvGrpSpPr/>
        <p:nvPr/>
      </p:nvGrpSpPr>
      <p:grpSpPr>
        <a:xfrm>
          <a:off x="0" y="0"/>
          <a:ext cx="0" cy="0"/>
          <a:chOff x="0" y="0"/>
          <a:chExt cx="0" cy="0"/>
        </a:xfrm>
      </p:grpSpPr>
      <p:sp>
        <p:nvSpPr>
          <p:cNvPr id="2" name="Shape 0"/>
          <p:cNvSpPr/>
          <p:nvPr/>
        </p:nvSpPr>
        <p:spPr>
          <a:xfrm>
            <a:off x="0" y="0"/>
            <a:ext cx="6858000" cy="347472"/>
          </a:xfrm>
          <a:prstGeom prst="rect">
            <a:avLst/>
          </a:prstGeom>
          <a:solidFill>
            <a:srgbClr val="1A3A5C"/>
          </a:solidFill>
          <a:ln w="12700">
            <a:solidFill>
              <a:srgbClr val="1A3A5C"/>
            </a:solidFill>
            <a:prstDash val="solid"/>
          </a:ln>
        </p:spPr>
      </p:sp>
      <p:sp>
        <p:nvSpPr>
          <p:cNvPr id="3" name="Shape 1"/>
          <p:cNvSpPr/>
          <p:nvPr/>
        </p:nvSpPr>
        <p:spPr>
          <a:xfrm>
            <a:off x="0" y="0"/>
            <a:ext cx="50292" cy="347472"/>
          </a:xfrm>
          <a:prstGeom prst="rect">
            <a:avLst/>
          </a:prstGeom>
          <a:solidFill>
            <a:srgbClr val="F2C93A"/>
          </a:solidFill>
          <a:ln w="12700">
            <a:solidFill>
              <a:srgbClr val="F2C93A"/>
            </a:solidFill>
            <a:prstDash val="solid"/>
          </a:ln>
        </p:spPr>
      </p:sp>
      <p:sp>
        <p:nvSpPr>
          <p:cNvPr id="4" name="Text 2"/>
          <p:cNvSpPr/>
          <p:nvPr/>
        </p:nvSpPr>
        <p:spPr>
          <a:xfrm>
            <a:off x="100584" y="0"/>
            <a:ext cx="3657600" cy="347472"/>
          </a:xfrm>
          <a:prstGeom prst="rect">
            <a:avLst/>
          </a:prstGeom>
          <a:noFill/>
          <a:ln/>
        </p:spPr>
        <p:txBody>
          <a:bodyPr wrap="square" lIns="0" tIns="0" rIns="0" bIns="0" rtlCol="0" anchor="ctr"/>
          <a:lstStyle/>
          <a:p>
            <a:pPr indent="0" marL="0">
              <a:buNone/>
            </a:pPr>
            <a:r>
              <a:rPr lang="en-US" sz="1350" b="1" dirty="0">
                <a:solidFill>
                  <a:srgbClr val="F2C93A"/>
                </a:solidFill>
                <a:latin typeface="Georgia" pitchFamily="34" charset="0"/>
                <a:ea typeface="Georgia" pitchFamily="34" charset="-122"/>
                <a:cs typeface="Georgia" pitchFamily="34" charset="-120"/>
              </a:rPr>
              <a:t>Speak English in 90 Days</a:t>
            </a:r>
            <a:endParaRPr lang="en-US" sz="1350" dirty="0"/>
          </a:p>
        </p:txBody>
      </p:sp>
      <p:sp>
        <p:nvSpPr>
          <p:cNvPr id="5" name="Text 3"/>
          <p:cNvSpPr/>
          <p:nvPr/>
        </p:nvSpPr>
        <p:spPr>
          <a:xfrm>
            <a:off x="3657600" y="0"/>
            <a:ext cx="1920240" cy="347472"/>
          </a:xfrm>
          <a:prstGeom prst="rect">
            <a:avLst/>
          </a:prstGeom>
          <a:noFill/>
          <a:ln/>
        </p:spPr>
        <p:txBody>
          <a:bodyPr wrap="square" lIns="0" tIns="0" rIns="0" bIns="0" rtlCol="0" anchor="ctr"/>
          <a:lstStyle/>
          <a:p>
            <a:pPr algn="ctr" indent="0" marL="0">
              <a:buNone/>
            </a:pPr>
            <a:r>
              <a:rPr lang="en-US" sz="800" dirty="0">
                <a:solidFill>
                  <a:srgbClr val="90AABF"/>
                </a:solidFill>
                <a:latin typeface="Calibri" pitchFamily="34" charset="0"/>
                <a:ea typeface="Calibri" pitchFamily="34" charset="-122"/>
                <a:cs typeface="Calibri" pitchFamily="34" charset="-120"/>
              </a:rPr>
              <a:t>B1 · Book 3 · Дэвшилтэт шат</a:t>
            </a:r>
            <a:endParaRPr lang="en-US" sz="800" dirty="0"/>
          </a:p>
        </p:txBody>
      </p:sp>
      <p:sp>
        <p:nvSpPr>
          <p:cNvPr id="6" name="Text 4"/>
          <p:cNvSpPr/>
          <p:nvPr/>
        </p:nvSpPr>
        <p:spPr>
          <a:xfrm>
            <a:off x="5577840" y="0"/>
            <a:ext cx="1170432" cy="347472"/>
          </a:xfrm>
          <a:prstGeom prst="rect">
            <a:avLst/>
          </a:prstGeom>
          <a:noFill/>
          <a:ln/>
        </p:spPr>
        <p:txBody>
          <a:bodyPr wrap="square" lIns="0" tIns="0" rIns="0" bIns="0" rtlCol="0" anchor="ctr"/>
          <a:lstStyle/>
          <a:p>
            <a:pPr algn="r" indent="0" marL="0">
              <a:buNone/>
            </a:pPr>
            <a:r>
              <a:rPr lang="en-US" sz="850" dirty="0">
                <a:solidFill>
                  <a:srgbClr val="F2C93A"/>
                </a:solidFill>
                <a:latin typeface="Calibri" pitchFamily="34" charset="0"/>
                <a:ea typeface="Calibri" pitchFamily="34" charset="-122"/>
                <a:cs typeface="Calibri" pitchFamily="34" charset="-120"/>
              </a:rPr>
              <a:t>15-20 минут</a:t>
            </a:r>
            <a:endParaRPr lang="en-US" sz="850" dirty="0"/>
          </a:p>
        </p:txBody>
      </p:sp>
      <p:sp>
        <p:nvSpPr>
          <p:cNvPr id="7" name="Shape 5"/>
          <p:cNvSpPr/>
          <p:nvPr/>
        </p:nvSpPr>
        <p:spPr>
          <a:xfrm>
            <a:off x="0" y="347472"/>
            <a:ext cx="1335024" cy="237744"/>
          </a:xfrm>
          <a:prstGeom prst="rect">
            <a:avLst/>
          </a:prstGeom>
          <a:solidFill>
            <a:srgbClr val="F2C93A"/>
          </a:solidFill>
          <a:ln w="12700">
            <a:solidFill>
              <a:srgbClr val="F2C93A"/>
            </a:solidFill>
            <a:prstDash val="solid"/>
          </a:ln>
        </p:spPr>
      </p:sp>
      <p:sp>
        <p:nvSpPr>
          <p:cNvPr id="8" name="Text 6"/>
          <p:cNvSpPr/>
          <p:nvPr/>
        </p:nvSpPr>
        <p:spPr>
          <a:xfrm>
            <a:off x="0" y="347472"/>
            <a:ext cx="1335024" cy="237744"/>
          </a:xfrm>
          <a:prstGeom prst="rect">
            <a:avLst/>
          </a:prstGeom>
          <a:noFill/>
          <a:ln/>
        </p:spPr>
        <p:txBody>
          <a:bodyPr wrap="square" lIns="0" tIns="0" rIns="0" bIns="0" rtlCol="0" anchor="ctr"/>
          <a:lstStyle/>
          <a:p>
            <a:pPr algn="ctr" indent="0" marL="0">
              <a:buNone/>
            </a:pPr>
            <a:r>
              <a:rPr lang="en-US" sz="850" b="1" dirty="0">
                <a:solidFill>
                  <a:srgbClr val="1A3A5C"/>
                </a:solidFill>
                <a:latin typeface="Calibri" pitchFamily="34" charset="0"/>
                <a:ea typeface="Calibri" pitchFamily="34" charset="-122"/>
                <a:cs typeface="Calibri" pitchFamily="34" charset="-120"/>
              </a:rPr>
              <a:t>DAY 63 · ӨДӨР 63</a:t>
            </a:r>
            <a:endParaRPr lang="en-US" sz="850" dirty="0"/>
          </a:p>
        </p:txBody>
      </p:sp>
      <p:sp>
        <p:nvSpPr>
          <p:cNvPr id="9" name="Shape 7"/>
          <p:cNvSpPr/>
          <p:nvPr/>
        </p:nvSpPr>
        <p:spPr>
          <a:xfrm>
            <a:off x="1335024" y="347472"/>
            <a:ext cx="4498848" cy="237744"/>
          </a:xfrm>
          <a:prstGeom prst="rect">
            <a:avLst/>
          </a:prstGeom>
          <a:solidFill>
            <a:srgbClr val="6B3FA0"/>
          </a:solidFill>
          <a:ln w="12700">
            <a:solidFill>
              <a:srgbClr val="6B3FA0"/>
            </a:solidFill>
            <a:prstDash val="solid"/>
          </a:ln>
        </p:spPr>
      </p:sp>
      <p:sp>
        <p:nvSpPr>
          <p:cNvPr id="10" name="Text 8"/>
          <p:cNvSpPr/>
          <p:nvPr/>
        </p:nvSpPr>
        <p:spPr>
          <a:xfrm>
            <a:off x="1408176" y="347472"/>
            <a:ext cx="4425696" cy="237744"/>
          </a:xfrm>
          <a:prstGeom prst="rect">
            <a:avLst/>
          </a:prstGeom>
          <a:noFill/>
          <a:ln/>
        </p:spPr>
        <p:txBody>
          <a:bodyPr wrap="square" lIns="0" tIns="0" rIns="0" bIns="0" rtlCol="0" anchor="ctr"/>
          <a:lstStyle/>
          <a:p>
            <a:pPr indent="0" marL="0">
              <a:buNone/>
            </a:pPr>
            <a:r>
              <a:rPr lang="en-US" sz="850" b="1" dirty="0">
                <a:solidFill>
                  <a:srgbClr val="FFFFFF"/>
                </a:solidFill>
                <a:latin typeface="Calibri" pitchFamily="34" charset="0"/>
                <a:ea typeface="Calibri" pitchFamily="34" charset="-122"/>
                <a:cs typeface="Calibri" pitchFamily="34" charset="-120"/>
              </a:rPr>
              <a:t>Listening · Practice · Homework</a:t>
            </a:r>
            <a:endParaRPr lang="en-US" sz="850" dirty="0"/>
          </a:p>
        </p:txBody>
      </p:sp>
      <p:sp>
        <p:nvSpPr>
          <p:cNvPr id="11" name="Shape 9"/>
          <p:cNvSpPr/>
          <p:nvPr/>
        </p:nvSpPr>
        <p:spPr>
          <a:xfrm>
            <a:off x="5833872" y="347472"/>
            <a:ext cx="1024128" cy="237744"/>
          </a:xfrm>
          <a:prstGeom prst="rect">
            <a:avLst/>
          </a:prstGeom>
          <a:solidFill>
            <a:srgbClr val="1A3A5C"/>
          </a:solidFill>
          <a:ln w="12700">
            <a:solidFill>
              <a:srgbClr val="1A3A5C"/>
            </a:solidFill>
            <a:prstDash val="solid"/>
          </a:ln>
        </p:spPr>
      </p:sp>
      <p:sp>
        <p:nvSpPr>
          <p:cNvPr id="12" name="Text 10"/>
          <p:cNvSpPr/>
          <p:nvPr/>
        </p:nvSpPr>
        <p:spPr>
          <a:xfrm>
            <a:off x="5760720" y="347472"/>
            <a:ext cx="1042416" cy="237744"/>
          </a:xfrm>
          <a:prstGeom prst="rect">
            <a:avLst/>
          </a:prstGeom>
          <a:noFill/>
          <a:ln/>
        </p:spPr>
        <p:txBody>
          <a:bodyPr wrap="square" lIns="0" tIns="0" rIns="0" bIns="0" rtlCol="0" anchor="ctr"/>
          <a:lstStyle/>
          <a:p>
            <a:pPr algn="r" indent="0" marL="0">
              <a:buNone/>
            </a:pPr>
            <a:r>
              <a:rPr lang="en-US" sz="750" dirty="0">
                <a:solidFill>
                  <a:srgbClr val="F2C93A"/>
                </a:solidFill>
                <a:latin typeface="Calibri" pitchFamily="34" charset="0"/>
                <a:ea typeface="Calibri" pitchFamily="34" charset="-122"/>
                <a:cs typeface="Calibri" pitchFamily="34" charset="-120"/>
              </a:rPr>
              <a:t>🎧 Page 3</a:t>
            </a:r>
            <a:endParaRPr lang="en-US" sz="750" dirty="0"/>
          </a:p>
        </p:txBody>
      </p:sp>
      <p:sp>
        <p:nvSpPr>
          <p:cNvPr id="13" name="Shape 11"/>
          <p:cNvSpPr/>
          <p:nvPr/>
        </p:nvSpPr>
        <p:spPr>
          <a:xfrm>
            <a:off x="0" y="9601200"/>
            <a:ext cx="6858000" cy="91440"/>
          </a:xfrm>
          <a:prstGeom prst="rect">
            <a:avLst/>
          </a:prstGeom>
          <a:solidFill>
            <a:srgbClr val="E4EEF6"/>
          </a:solidFill>
          <a:ln w="12700">
            <a:solidFill>
              <a:srgbClr val="E4EEF6"/>
            </a:solidFill>
            <a:prstDash val="solid"/>
          </a:ln>
        </p:spPr>
      </p:sp>
      <p:sp>
        <p:nvSpPr>
          <p:cNvPr id="14" name="Text 12"/>
          <p:cNvSpPr/>
          <p:nvPr/>
        </p:nvSpPr>
        <p:spPr>
          <a:xfrm>
            <a:off x="0" y="9601200"/>
            <a:ext cx="6858000" cy="91440"/>
          </a:xfrm>
          <a:prstGeom prst="rect">
            <a:avLst/>
          </a:prstGeom>
          <a:noFill/>
          <a:ln/>
        </p:spPr>
        <p:txBody>
          <a:bodyPr wrap="square" lIns="0" tIns="0" rIns="0" bIns="0" rtlCol="0" anchor="ctr"/>
          <a:lstStyle/>
          <a:p>
            <a:pPr algn="ctr" indent="0" marL="0">
              <a:buNone/>
            </a:pPr>
            <a:r>
              <a:rPr lang="en-US" sz="650" dirty="0">
                <a:solidFill>
                  <a:srgbClr val="7A90A0"/>
                </a:solidFill>
                <a:latin typeface="Calibri" pitchFamily="34" charset="0"/>
                <a:ea typeface="Calibri" pitchFamily="34" charset="-122"/>
                <a:cs typeface="Calibri" pitchFamily="34" charset="-120"/>
              </a:rPr>
              <a:t>Speak English in 90 Days  ·  B1 Level  ·  Book 3</a:t>
            </a:r>
            <a:endParaRPr lang="en-US" sz="650" dirty="0"/>
          </a:p>
        </p:txBody>
      </p:sp>
      <p:sp>
        <p:nvSpPr>
          <p:cNvPr id="15" name="Shape 13"/>
          <p:cNvSpPr/>
          <p:nvPr/>
        </p:nvSpPr>
        <p:spPr>
          <a:xfrm>
            <a:off x="179222" y="627278"/>
            <a:ext cx="6528816" cy="1956816"/>
          </a:xfrm>
          <a:prstGeom prst="rect">
            <a:avLst/>
          </a:prstGeom>
          <a:solidFill>
            <a:srgbClr val="D0DCE8"/>
          </a:solidFill>
          <a:ln w="12700">
            <a:solidFill>
              <a:srgbClr val="D0DCE8"/>
            </a:solidFill>
            <a:prstDash val="solid"/>
          </a:ln>
        </p:spPr>
      </p:sp>
      <p:sp>
        <p:nvSpPr>
          <p:cNvPr id="16" name="Shape 14"/>
          <p:cNvSpPr/>
          <p:nvPr/>
        </p:nvSpPr>
        <p:spPr>
          <a:xfrm>
            <a:off x="164592" y="612648"/>
            <a:ext cx="6528816" cy="1956816"/>
          </a:xfrm>
          <a:prstGeom prst="rect">
            <a:avLst/>
          </a:prstGeom>
          <a:solidFill>
            <a:srgbClr val="FFFFFF"/>
          </a:solidFill>
          <a:ln w="12700">
            <a:solidFill>
              <a:srgbClr val="C8D8E8"/>
            </a:solidFill>
            <a:prstDash val="solid"/>
          </a:ln>
        </p:spPr>
      </p:sp>
      <p:sp>
        <p:nvSpPr>
          <p:cNvPr id="17" name="Shape 15"/>
          <p:cNvSpPr/>
          <p:nvPr/>
        </p:nvSpPr>
        <p:spPr>
          <a:xfrm>
            <a:off x="164592" y="612648"/>
            <a:ext cx="6528816" cy="256032"/>
          </a:xfrm>
          <a:prstGeom prst="rect">
            <a:avLst/>
          </a:prstGeom>
          <a:solidFill>
            <a:srgbClr val="6B3FA0"/>
          </a:solidFill>
          <a:ln w="12700">
            <a:solidFill>
              <a:srgbClr val="6B3FA0"/>
            </a:solidFill>
            <a:prstDash val="solid"/>
          </a:ln>
        </p:spPr>
      </p:sp>
      <p:sp>
        <p:nvSpPr>
          <p:cNvPr id="18" name="Shape 16"/>
          <p:cNvSpPr/>
          <p:nvPr/>
        </p:nvSpPr>
        <p:spPr>
          <a:xfrm>
            <a:off x="164592" y="868680"/>
            <a:ext cx="6528816" cy="146304"/>
          </a:xfrm>
          <a:prstGeom prst="rect">
            <a:avLst/>
          </a:prstGeom>
          <a:solidFill>
            <a:srgbClr val="F0EAFA"/>
          </a:solidFill>
          <a:ln w="12700">
            <a:solidFill>
              <a:srgbClr val="F0EAFA"/>
            </a:solidFill>
            <a:prstDash val="solid"/>
          </a:ln>
        </p:spPr>
      </p:sp>
      <p:sp>
        <p:nvSpPr>
          <p:cNvPr id="19" name="Text 17"/>
          <p:cNvSpPr/>
          <p:nvPr/>
        </p:nvSpPr>
        <p:spPr>
          <a:xfrm>
            <a:off x="256032" y="612648"/>
            <a:ext cx="6400800" cy="256032"/>
          </a:xfrm>
          <a:prstGeom prst="rect">
            <a:avLst/>
          </a:prstGeom>
          <a:noFill/>
          <a:ln/>
        </p:spPr>
        <p:txBody>
          <a:bodyPr wrap="square" lIns="0" tIns="0" rIns="0" bIns="0" rtlCol="0" anchor="ctr"/>
          <a:lstStyle/>
          <a:p>
            <a:pPr indent="0" marL="0">
              <a:buNone/>
            </a:pPr>
            <a:r>
              <a:rPr lang="en-US" sz="1050" b="1" dirty="0">
                <a:solidFill>
                  <a:srgbClr val="FFFFFF"/>
                </a:solidFill>
                <a:latin typeface="Georgia" pitchFamily="34" charset="0"/>
                <a:ea typeface="Georgia" pitchFamily="34" charset="-122"/>
                <a:cs typeface="Georgia" pitchFamily="34" charset="-120"/>
              </a:rPr>
              <a:t>🎧  Listening Script / Сонсох текст</a:t>
            </a:r>
            <a:endParaRPr lang="en-US" sz="1050" dirty="0"/>
          </a:p>
        </p:txBody>
      </p:sp>
      <p:sp>
        <p:nvSpPr>
          <p:cNvPr id="20" name="Text 18"/>
          <p:cNvSpPr/>
          <p:nvPr/>
        </p:nvSpPr>
        <p:spPr>
          <a:xfrm>
            <a:off x="256032" y="877824"/>
            <a:ext cx="6400800" cy="137160"/>
          </a:xfrm>
          <a:prstGeom prst="rect">
            <a:avLst/>
          </a:prstGeom>
          <a:noFill/>
          <a:ln/>
        </p:spPr>
        <p:txBody>
          <a:bodyPr wrap="square" lIns="0" tIns="0" rIns="0" bIns="0" rtlCol="0" anchor="ctr"/>
          <a:lstStyle/>
          <a:p>
            <a:pPr indent="0" marL="0">
              <a:buNone/>
            </a:pPr>
            <a:r>
              <a:rPr lang="en-US" sz="750" i="1" dirty="0">
                <a:solidFill>
                  <a:srgbClr val="3A5060"/>
                </a:solidFill>
                <a:latin typeface="Calibri" pitchFamily="34" charset="0"/>
                <a:ea typeface="Calibri" pitchFamily="34" charset="-122"/>
                <a:cs typeface="Calibri" pitchFamily="34" charset="-120"/>
              </a:rPr>
              <a:t>Answer 10 questions WITHOUT looking at the text!</a:t>
            </a:r>
            <a:endParaRPr lang="en-US" sz="750" dirty="0"/>
          </a:p>
        </p:txBody>
      </p:sp>
      <p:sp>
        <p:nvSpPr>
          <p:cNvPr id="21" name="Shape 19"/>
          <p:cNvSpPr/>
          <p:nvPr/>
        </p:nvSpPr>
        <p:spPr>
          <a:xfrm>
            <a:off x="237744" y="1033272"/>
            <a:ext cx="6382512" cy="1481328"/>
          </a:xfrm>
          <a:prstGeom prst="rect">
            <a:avLst/>
          </a:prstGeom>
          <a:solidFill>
            <a:srgbClr val="F4F8FC"/>
          </a:solidFill>
          <a:ln w="12700">
            <a:solidFill>
              <a:srgbClr val="2E6DA4"/>
            </a:solidFill>
            <a:prstDash val="solid"/>
          </a:ln>
        </p:spPr>
      </p:sp>
      <p:sp>
        <p:nvSpPr>
          <p:cNvPr id="22" name="Text 20"/>
          <p:cNvSpPr/>
          <p:nvPr/>
        </p:nvSpPr>
        <p:spPr>
          <a:xfrm>
            <a:off x="292608" y="1069848"/>
            <a:ext cx="6272784" cy="1408176"/>
          </a:xfrm>
          <a:prstGeom prst="rect">
            <a:avLst/>
          </a:prstGeom>
          <a:noFill/>
          <a:ln/>
        </p:spPr>
        <p:txBody>
          <a:bodyPr wrap="square" lIns="0" tIns="0" rIns="0" bIns="0" rtlCol="0" anchor="t"/>
          <a:lstStyle/>
          <a:p>
            <a:pPr indent="0" marL="0">
              <a:lnSpc>
                <a:spcPct val="150000"/>
              </a:lnSpc>
              <a:buNone/>
            </a:pPr>
            <a:r>
              <a:rPr lang="en-US" sz="850" b="1" dirty="0">
                <a:solidFill>
                  <a:srgbClr val="6B3FA0"/>
                </a:solidFill>
                <a:latin typeface="Calibri" pitchFamily="34" charset="0"/>
                <a:ea typeface="Calibri" pitchFamily="34" charset="-122"/>
                <a:cs typeface="Calibri" pitchFamily="34" charset="-120"/>
              </a:rPr>
              <a:t>Teacher: </a:t>
            </a:r>
            <a:pPr indent="0" marL="0">
              <a:lnSpc>
                <a:spcPct val="150000"/>
              </a:lnSpc>
              <a:buNone/>
            </a:pPr>
            <a:r>
              <a:rPr lang="en-US" sz="850" dirty="0">
                <a:solidFill>
                  <a:srgbClr val="1A2A3A"/>
                </a:solidFill>
                <a:latin typeface="Calibri" pitchFamily="34" charset="0"/>
                <a:ea typeface="Calibri" pitchFamily="34" charset="-122"/>
                <a:cs typeface="Calibri" pitchFamily="34" charset="-120"/>
              </a:rPr>
              <a:t>Today: Present Perfect Continuous. Bat — how long have you been studying English in total?  </a:t>
            </a:r>
            <a:pPr indent="0" marL="0">
              <a:lnSpc>
                <a:spcPct val="150000"/>
              </a:lnSpc>
              <a:buNone/>
            </a:pPr>
            <a:r>
              <a:rPr lang="en-US" sz="850" b="1" dirty="0">
                <a:solidFill>
                  <a:srgbClr val="2E6DA4"/>
                </a:solidFill>
                <a:latin typeface="Calibri" pitchFamily="34" charset="0"/>
                <a:ea typeface="Calibri" pitchFamily="34" charset="-122"/>
                <a:cs typeface="Calibri" pitchFamily="34" charset="-120"/>
              </a:rPr>
              <a:t>Bat: </a:t>
            </a:r>
            <a:pPr indent="0" marL="0">
              <a:lnSpc>
                <a:spcPct val="150000"/>
              </a:lnSpc>
              <a:buNone/>
            </a:pPr>
            <a:r>
              <a:rPr lang="en-US" sz="850" dirty="0">
                <a:solidFill>
                  <a:srgbClr val="1A2A3A"/>
                </a:solidFill>
                <a:latin typeface="Calibri" pitchFamily="34" charset="0"/>
                <a:ea typeface="Calibri" pitchFamily="34" charset="-122"/>
                <a:cs typeface="Calibri" pitchFamily="34" charset="-120"/>
              </a:rPr>
              <a:t>I have been studying English for 63 days now! I haven't missed a single day.  </a:t>
            </a:r>
            <a:pPr indent="0" marL="0">
              <a:lnSpc>
                <a:spcPct val="150000"/>
              </a:lnSpc>
              <a:buNone/>
            </a:pPr>
            <a:r>
              <a:rPr lang="en-US" sz="850" b="1" dirty="0">
                <a:solidFill>
                  <a:srgbClr val="6B3FA0"/>
                </a:solidFill>
                <a:latin typeface="Calibri" pitchFamily="34" charset="0"/>
                <a:ea typeface="Calibri" pitchFamily="34" charset="-122"/>
                <a:cs typeface="Calibri" pitchFamily="34" charset="-120"/>
              </a:rPr>
              <a:t>Teacher: </a:t>
            </a:r>
            <a:pPr indent="0" marL="0">
              <a:lnSpc>
                <a:spcPct val="150000"/>
              </a:lnSpc>
              <a:buNone/>
            </a:pPr>
            <a:r>
              <a:rPr lang="en-US" sz="850" dirty="0">
                <a:solidFill>
                  <a:srgbClr val="1A2A3A"/>
                </a:solidFill>
                <a:latin typeface="Calibri" pitchFamily="34" charset="0"/>
                <a:ea typeface="Calibri" pitchFamily="34" charset="-122"/>
                <a:cs typeface="Calibri" pitchFamily="34" charset="-120"/>
              </a:rPr>
              <a:t>Incredible! What else have you been doing to improve?  </a:t>
            </a:r>
            <a:pPr indent="0" marL="0">
              <a:lnSpc>
                <a:spcPct val="150000"/>
              </a:lnSpc>
              <a:buNone/>
            </a:pPr>
            <a:r>
              <a:rPr lang="en-US" sz="850" b="1" dirty="0">
                <a:solidFill>
                  <a:srgbClr val="2E6DA4"/>
                </a:solidFill>
                <a:latin typeface="Calibri" pitchFamily="34" charset="0"/>
                <a:ea typeface="Calibri" pitchFamily="34" charset="-122"/>
                <a:cs typeface="Calibri" pitchFamily="34" charset="-120"/>
              </a:rPr>
              <a:t>Bat: </a:t>
            </a:r>
            <a:pPr indent="0" marL="0">
              <a:lnSpc>
                <a:spcPct val="150000"/>
              </a:lnSpc>
              <a:buNone/>
            </a:pPr>
            <a:r>
              <a:rPr lang="en-US" sz="850" dirty="0">
                <a:solidFill>
                  <a:srgbClr val="1A2A3A"/>
                </a:solidFill>
                <a:latin typeface="Calibri" pitchFamily="34" charset="0"/>
                <a:ea typeface="Calibri" pitchFamily="34" charset="-122"/>
                <a:cs typeface="Calibri" pitchFamily="34" charset="-120"/>
              </a:rPr>
              <a:t>I have been watching English films, listening to podcasts, and lately I have been keeping a vocabulary journal.  </a:t>
            </a:r>
            <a:pPr indent="0" marL="0">
              <a:lnSpc>
                <a:spcPct val="150000"/>
              </a:lnSpc>
              <a:buNone/>
            </a:pPr>
            <a:r>
              <a:rPr lang="en-US" sz="850" b="1" dirty="0">
                <a:solidFill>
                  <a:srgbClr val="6B3FA0"/>
                </a:solidFill>
                <a:latin typeface="Calibri" pitchFamily="34" charset="0"/>
                <a:ea typeface="Calibri" pitchFamily="34" charset="-122"/>
                <a:cs typeface="Calibri" pitchFamily="34" charset="-120"/>
              </a:rPr>
              <a:t>Teacher: </a:t>
            </a:r>
            <a:pPr indent="0" marL="0">
              <a:lnSpc>
                <a:spcPct val="150000"/>
              </a:lnSpc>
              <a:buNone/>
            </a:pPr>
            <a:r>
              <a:rPr lang="en-US" sz="850" dirty="0">
                <a:solidFill>
                  <a:srgbClr val="1A2A3A"/>
                </a:solidFill>
                <a:latin typeface="Calibri" pitchFamily="34" charset="0"/>
                <a:ea typeface="Calibri" pitchFamily="34" charset="-122"/>
                <a:cs typeface="Calibri" pitchFamily="34" charset="-120"/>
              </a:rPr>
              <a:t>Has your English been improving noticeably?  </a:t>
            </a:r>
            <a:pPr indent="0" marL="0">
              <a:lnSpc>
                <a:spcPct val="150000"/>
              </a:lnSpc>
              <a:buNone/>
            </a:pPr>
            <a:r>
              <a:rPr lang="en-US" sz="850" b="1" dirty="0">
                <a:solidFill>
                  <a:srgbClr val="2E6DA4"/>
                </a:solidFill>
                <a:latin typeface="Calibri" pitchFamily="34" charset="0"/>
                <a:ea typeface="Calibri" pitchFamily="34" charset="-122"/>
                <a:cs typeface="Calibri" pitchFamily="34" charset="-120"/>
              </a:rPr>
              <a:t>Bat: </a:t>
            </a:r>
            <a:pPr indent="0" marL="0">
              <a:lnSpc>
                <a:spcPct val="150000"/>
              </a:lnSpc>
              <a:buNone/>
            </a:pPr>
            <a:r>
              <a:rPr lang="en-US" sz="850" dirty="0">
                <a:solidFill>
                  <a:srgbClr val="1A2A3A"/>
                </a:solidFill>
                <a:latin typeface="Calibri" pitchFamily="34" charset="0"/>
                <a:ea typeface="Calibri" pitchFamily="34" charset="-122"/>
                <a:cs typeface="Calibri" pitchFamily="34" charset="-120"/>
              </a:rPr>
              <a:t>Yes! My confidence has been growing every week. I have even been dreaming in English recently!  </a:t>
            </a:r>
            <a:pPr indent="0" marL="0">
              <a:lnSpc>
                <a:spcPct val="150000"/>
              </a:lnSpc>
              <a:buNone/>
            </a:pPr>
            <a:r>
              <a:rPr lang="en-US" sz="850" b="1" dirty="0">
                <a:solidFill>
                  <a:srgbClr val="6B3FA0"/>
                </a:solidFill>
                <a:latin typeface="Calibri" pitchFamily="34" charset="0"/>
                <a:ea typeface="Calibri" pitchFamily="34" charset="-122"/>
                <a:cs typeface="Calibri" pitchFamily="34" charset="-120"/>
              </a:rPr>
              <a:t>Teacher: </a:t>
            </a:r>
            <a:pPr indent="0" marL="0">
              <a:lnSpc>
                <a:spcPct val="150000"/>
              </a:lnSpc>
              <a:buNone/>
            </a:pPr>
            <a:r>
              <a:rPr lang="en-US" sz="850" dirty="0">
                <a:solidFill>
                  <a:srgbClr val="1A2A3A"/>
                </a:solidFill>
                <a:latin typeface="Calibri" pitchFamily="34" charset="0"/>
                <a:ea typeface="Calibri" pitchFamily="34" charset="-122"/>
                <a:cs typeface="Calibri" pitchFamily="34" charset="-120"/>
              </a:rPr>
              <a:t>Sarnai, what have you been doing differently lately?  </a:t>
            </a:r>
            <a:pPr indent="0" marL="0">
              <a:lnSpc>
                <a:spcPct val="150000"/>
              </a:lnSpc>
              <a:buNone/>
            </a:pPr>
            <a:r>
              <a:rPr lang="en-US" sz="850" b="1" dirty="0">
                <a:solidFill>
                  <a:srgbClr val="C97A0A"/>
                </a:solidFill>
                <a:latin typeface="Calibri" pitchFamily="34" charset="0"/>
                <a:ea typeface="Calibri" pitchFamily="34" charset="-122"/>
                <a:cs typeface="Calibri" pitchFamily="34" charset="-120"/>
              </a:rPr>
              <a:t>Sarnai: </a:t>
            </a:r>
            <a:pPr indent="0" marL="0">
              <a:lnSpc>
                <a:spcPct val="150000"/>
              </a:lnSpc>
              <a:buNone/>
            </a:pPr>
            <a:r>
              <a:rPr lang="en-US" sz="850" dirty="0">
                <a:solidFill>
                  <a:srgbClr val="1A2A3A"/>
                </a:solidFill>
                <a:latin typeface="Calibri" pitchFamily="34" charset="0"/>
                <a:ea typeface="Calibri" pitchFamily="34" charset="-122"/>
                <a:cs typeface="Calibri" pitchFamily="34" charset="-120"/>
              </a:rPr>
              <a:t>I have been speaking English to tourists at the museum every weekend. My fluency has been developing much faster because of that real practice!</a:t>
            </a:r>
            <a:endParaRPr lang="en-US" sz="850" dirty="0"/>
          </a:p>
        </p:txBody>
      </p:sp>
      <p:sp>
        <p:nvSpPr>
          <p:cNvPr id="23" name="Shape 21"/>
          <p:cNvSpPr/>
          <p:nvPr/>
        </p:nvSpPr>
        <p:spPr>
          <a:xfrm>
            <a:off x="179222" y="2657246"/>
            <a:ext cx="3218688" cy="3200400"/>
          </a:xfrm>
          <a:prstGeom prst="rect">
            <a:avLst/>
          </a:prstGeom>
          <a:solidFill>
            <a:srgbClr val="D0DCE8"/>
          </a:solidFill>
          <a:ln w="12700">
            <a:solidFill>
              <a:srgbClr val="D0DCE8"/>
            </a:solidFill>
            <a:prstDash val="solid"/>
          </a:ln>
        </p:spPr>
      </p:sp>
      <p:sp>
        <p:nvSpPr>
          <p:cNvPr id="24" name="Shape 22"/>
          <p:cNvSpPr/>
          <p:nvPr/>
        </p:nvSpPr>
        <p:spPr>
          <a:xfrm>
            <a:off x="164592" y="2642616"/>
            <a:ext cx="3218688" cy="3200400"/>
          </a:xfrm>
          <a:prstGeom prst="rect">
            <a:avLst/>
          </a:prstGeom>
          <a:solidFill>
            <a:srgbClr val="FFFFFF"/>
          </a:solidFill>
          <a:ln w="12700">
            <a:solidFill>
              <a:srgbClr val="C8D8E8"/>
            </a:solidFill>
            <a:prstDash val="solid"/>
          </a:ln>
        </p:spPr>
      </p:sp>
      <p:sp>
        <p:nvSpPr>
          <p:cNvPr id="25" name="Shape 23"/>
          <p:cNvSpPr/>
          <p:nvPr/>
        </p:nvSpPr>
        <p:spPr>
          <a:xfrm>
            <a:off x="164592" y="2642616"/>
            <a:ext cx="3218688" cy="256032"/>
          </a:xfrm>
          <a:prstGeom prst="rect">
            <a:avLst/>
          </a:prstGeom>
          <a:solidFill>
            <a:srgbClr val="2E6DA4"/>
          </a:solidFill>
          <a:ln w="12700">
            <a:solidFill>
              <a:srgbClr val="2E6DA4"/>
            </a:solidFill>
            <a:prstDash val="solid"/>
          </a:ln>
        </p:spPr>
      </p:sp>
      <p:sp>
        <p:nvSpPr>
          <p:cNvPr id="26" name="Shape 24"/>
          <p:cNvSpPr/>
          <p:nvPr/>
        </p:nvSpPr>
        <p:spPr>
          <a:xfrm>
            <a:off x="164592" y="2898648"/>
            <a:ext cx="3218688" cy="146304"/>
          </a:xfrm>
          <a:prstGeom prst="rect">
            <a:avLst/>
          </a:prstGeom>
          <a:solidFill>
            <a:srgbClr val="EBF4FB"/>
          </a:solidFill>
          <a:ln w="12700">
            <a:solidFill>
              <a:srgbClr val="EBF4FB"/>
            </a:solidFill>
            <a:prstDash val="solid"/>
          </a:ln>
        </p:spPr>
      </p:sp>
      <p:sp>
        <p:nvSpPr>
          <p:cNvPr id="27" name="Text 25"/>
          <p:cNvSpPr/>
          <p:nvPr/>
        </p:nvSpPr>
        <p:spPr>
          <a:xfrm>
            <a:off x="256032" y="2642616"/>
            <a:ext cx="3090672" cy="256032"/>
          </a:xfrm>
          <a:prstGeom prst="rect">
            <a:avLst/>
          </a:prstGeom>
          <a:noFill/>
          <a:ln/>
        </p:spPr>
        <p:txBody>
          <a:bodyPr wrap="square" lIns="0" tIns="0" rIns="0" bIns="0" rtlCol="0" anchor="ctr"/>
          <a:lstStyle/>
          <a:p>
            <a:pPr indent="0" marL="0">
              <a:buNone/>
            </a:pPr>
            <a:r>
              <a:rPr lang="en-US" sz="1050" b="1" dirty="0">
                <a:solidFill>
                  <a:srgbClr val="FFFFFF"/>
                </a:solidFill>
                <a:latin typeface="Georgia" pitchFamily="34" charset="0"/>
                <a:ea typeface="Georgia" pitchFamily="34" charset="-122"/>
                <a:cs typeface="Georgia" pitchFamily="34" charset="-120"/>
              </a:rPr>
              <a:t>❓  Comprehension Questions (10)</a:t>
            </a:r>
            <a:endParaRPr lang="en-US" sz="1050" dirty="0"/>
          </a:p>
        </p:txBody>
      </p:sp>
      <p:sp>
        <p:nvSpPr>
          <p:cNvPr id="28" name="Text 26"/>
          <p:cNvSpPr/>
          <p:nvPr/>
        </p:nvSpPr>
        <p:spPr>
          <a:xfrm>
            <a:off x="256032" y="2907792"/>
            <a:ext cx="3090672" cy="137160"/>
          </a:xfrm>
          <a:prstGeom prst="rect">
            <a:avLst/>
          </a:prstGeom>
          <a:noFill/>
          <a:ln/>
        </p:spPr>
        <p:txBody>
          <a:bodyPr wrap="square" lIns="0" tIns="0" rIns="0" bIns="0" rtlCol="0" anchor="ctr"/>
          <a:lstStyle/>
          <a:p>
            <a:pPr indent="0" marL="0">
              <a:buNone/>
            </a:pPr>
            <a:r>
              <a:rPr lang="en-US" sz="750" i="1" dirty="0">
                <a:solidFill>
                  <a:srgbClr val="3A5060"/>
                </a:solidFill>
                <a:latin typeface="Calibri" pitchFamily="34" charset="0"/>
                <a:ea typeface="Calibri" pitchFamily="34" charset="-122"/>
                <a:cs typeface="Calibri" pitchFamily="34" charset="-120"/>
              </a:rPr>
              <a:t>Choose the best answer.</a:t>
            </a:r>
            <a:endParaRPr lang="en-US" sz="75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228600" y="3063240"/>
          <a:ext cx="3090672" cy="914400"/>
        </p:xfrm>
        <a:graphic>
          <a:graphicData uri="http://schemas.openxmlformats.org/drawingml/2006/table">
            <a:tbl>
              <a:tblPr/>
              <a:tblGrid>
                <a:gridCol w="247254"/>
                <a:gridCol w="1236269"/>
                <a:gridCol w="1607149"/>
              </a:tblGrid>
              <a:tr h="278892">
                <a:tc>
                  <a:txBody>
                    <a:bodyPr/>
                    <a:lstStyle/>
                    <a:p>
                      <a:pPr algn="ctr" indent="0" marL="0">
                        <a:buNone/>
                      </a:pPr>
                      <a:r>
                        <a:rPr lang="en-US" sz="750" b="1" dirty="0">
                          <a:solidFill>
                            <a:srgbClr val="2E6DA4"/>
                          </a:solidFill>
                          <a:latin typeface="Calibri" pitchFamily="34" charset="0"/>
                          <a:ea typeface="Calibri" pitchFamily="34" charset="-122"/>
                          <a:cs typeface="Calibri" pitchFamily="34" charset="-120"/>
                        </a:rPr>
                        <a:t>1.</a:t>
                      </a:r>
                      <a:endParaRPr lang="en-US" sz="750" dirty="0">
                        <a:latin typeface="Calibri" charset="0"/>
                        <a:ea typeface="Calibri" charset="0"/>
                        <a:cs typeface="Calibri" charset="0"/>
                      </a:endParaRPr>
                    </a:p>
                  </a:txBody>
                  <a:tcPr marL="91440" marR="91440" marT="45720" marB="45720" anchor="t">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780" b="1" dirty="0">
                          <a:solidFill>
                            <a:srgbClr val="1A2A3A"/>
                          </a:solidFill>
                          <a:latin typeface="Calibri" pitchFamily="34" charset="0"/>
                          <a:ea typeface="Calibri" pitchFamily="34" charset="-122"/>
                          <a:cs typeface="Calibri" pitchFamily="34" charset="-120"/>
                        </a:rPr>
                        <a:t>How long has Bat been studying English?</a:t>
                      </a:r>
                      <a:endParaRPr lang="en-US" sz="780" dirty="0">
                        <a:latin typeface="Calibri" charset="0"/>
                        <a:ea typeface="Calibri" charset="0"/>
                        <a:cs typeface="Calibri" charset="0"/>
                      </a:endParaRPr>
                    </a:p>
                  </a:txBody>
                  <a:tcPr marL="91440" marR="91440" marT="45720" marB="45720" anchor="t">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750" i="1" dirty="0">
                          <a:solidFill>
                            <a:srgbClr val="3A5060"/>
                          </a:solidFill>
                          <a:latin typeface="Calibri" pitchFamily="34" charset="0"/>
                          <a:ea typeface="Calibri" pitchFamily="34" charset="-122"/>
                          <a:cs typeface="Calibri" pitchFamily="34" charset="-120"/>
                        </a:rPr>
                        <a:t>a) 30 days</a:t>
                      </a:r>
                      <a:endParaRPr lang="en-US" sz="750" dirty="0">
                        <a:latin typeface="Calibri" charset="0"/>
                        <a:ea typeface="Calibri" charset="0"/>
                        <a:cs typeface="Calibri" charset="0"/>
                      </a:endParaRPr>
                    </a:p>
                    <a:p>
                      <a:pPr algn="l" indent="0" marL="0">
                        <a:buNone/>
                      </a:pPr>
                      <a:r>
                        <a:rPr lang="en-US" sz="750" i="1" dirty="0">
                          <a:solidFill>
                            <a:srgbClr val="3A5060"/>
                          </a:solidFill>
                          <a:latin typeface="Calibri" pitchFamily="34" charset="0"/>
                          <a:ea typeface="Calibri" pitchFamily="34" charset="-122"/>
                          <a:cs typeface="Calibri" pitchFamily="34" charset="-120"/>
                        </a:rPr>
                        <a:t>b) 63 days</a:t>
                      </a:r>
                      <a:endParaRPr lang="en-US" sz="750" dirty="0">
                        <a:latin typeface="Calibri" charset="0"/>
                        <a:ea typeface="Calibri" charset="0"/>
                        <a:cs typeface="Calibri" charset="0"/>
                      </a:endParaRPr>
                    </a:p>
                    <a:p>
                      <a:pPr algn="l" indent="0" marL="0">
                        <a:buNone/>
                      </a:pPr>
                      <a:r>
                        <a:rPr lang="en-US" sz="750" i="1" dirty="0">
                          <a:solidFill>
                            <a:srgbClr val="3A5060"/>
                          </a:solidFill>
                          <a:latin typeface="Calibri" pitchFamily="34" charset="0"/>
                          <a:ea typeface="Calibri" pitchFamily="34" charset="-122"/>
                          <a:cs typeface="Calibri" pitchFamily="34" charset="-120"/>
                        </a:rPr>
                        <a:t>c) 90 days</a:t>
                      </a:r>
                      <a:endParaRPr lang="en-US" sz="750" dirty="0">
                        <a:latin typeface="Calibri" charset="0"/>
                        <a:ea typeface="Calibri" charset="0"/>
                        <a:cs typeface="Calibri" charset="0"/>
                      </a:endParaRPr>
                    </a:p>
                  </a:txBody>
                  <a:tcPr marL="91440" marR="91440" marT="45720" marB="45720" anchor="t">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r>
              <a:tr h="278892">
                <a:tc>
                  <a:txBody>
                    <a:bodyPr/>
                    <a:lstStyle/>
                    <a:p>
                      <a:pPr algn="ctr" indent="0" marL="0">
                        <a:buNone/>
                      </a:pPr>
                      <a:r>
                        <a:rPr lang="en-US" sz="750" b="1" dirty="0">
                          <a:solidFill>
                            <a:srgbClr val="2E6DA4"/>
                          </a:solidFill>
                          <a:latin typeface="Calibri" pitchFamily="34" charset="0"/>
                          <a:ea typeface="Calibri" pitchFamily="34" charset="-122"/>
                          <a:cs typeface="Calibri" pitchFamily="34" charset="-120"/>
                        </a:rPr>
                        <a:t>2.</a:t>
                      </a:r>
                      <a:endParaRPr lang="en-US" sz="750" dirty="0">
                        <a:latin typeface="Calibri" charset="0"/>
                        <a:ea typeface="Calibri" charset="0"/>
                        <a:cs typeface="Calibri" charset="0"/>
                      </a:endParaRPr>
                    </a:p>
                  </a:txBody>
                  <a:tcPr marL="91440" marR="91440" marT="45720" marB="45720" anchor="t">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c>
                  <a:txBody>
                    <a:bodyPr/>
                    <a:lstStyle/>
                    <a:p>
                      <a:pPr algn="l" indent="0" marL="0">
                        <a:buNone/>
                      </a:pPr>
                      <a:r>
                        <a:rPr lang="en-US" sz="780" b="1" dirty="0">
                          <a:solidFill>
                            <a:srgbClr val="1A2A3A"/>
                          </a:solidFill>
                          <a:latin typeface="Calibri" pitchFamily="34" charset="0"/>
                          <a:ea typeface="Calibri" pitchFamily="34" charset="-122"/>
                          <a:cs typeface="Calibri" pitchFamily="34" charset="-120"/>
                        </a:rPr>
                        <a:t>Has Bat missed any days?</a:t>
                      </a:r>
                      <a:endParaRPr lang="en-US" sz="780" dirty="0">
                        <a:latin typeface="Calibri" charset="0"/>
                        <a:ea typeface="Calibri" charset="0"/>
                        <a:cs typeface="Calibri" charset="0"/>
                      </a:endParaRPr>
                    </a:p>
                  </a:txBody>
                  <a:tcPr marL="91440" marR="91440" marT="45720" marB="45720" anchor="t">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c>
                  <a:txBody>
                    <a:bodyPr/>
                    <a:lstStyle/>
                    <a:p>
                      <a:pPr algn="l" indent="0" marL="0">
                        <a:buNone/>
                      </a:pPr>
                      <a:r>
                        <a:rPr lang="en-US" sz="750" i="1" dirty="0">
                          <a:solidFill>
                            <a:srgbClr val="3A5060"/>
                          </a:solidFill>
                          <a:latin typeface="Calibri" pitchFamily="34" charset="0"/>
                          <a:ea typeface="Calibri" pitchFamily="34" charset="-122"/>
                          <a:cs typeface="Calibri" pitchFamily="34" charset="-120"/>
                        </a:rPr>
                        <a:t>a) a few</a:t>
                      </a:r>
                      <a:endParaRPr lang="en-US" sz="750" dirty="0">
                        <a:latin typeface="Calibri" charset="0"/>
                        <a:ea typeface="Calibri" charset="0"/>
                        <a:cs typeface="Calibri" charset="0"/>
                      </a:endParaRPr>
                    </a:p>
                    <a:p>
                      <a:pPr algn="l" indent="0" marL="0">
                        <a:buNone/>
                      </a:pPr>
                      <a:r>
                        <a:rPr lang="en-US" sz="750" i="1" dirty="0">
                          <a:solidFill>
                            <a:srgbClr val="3A5060"/>
                          </a:solidFill>
                          <a:latin typeface="Calibri" pitchFamily="34" charset="0"/>
                          <a:ea typeface="Calibri" pitchFamily="34" charset="-122"/>
                          <a:cs typeface="Calibri" pitchFamily="34" charset="-120"/>
                        </a:rPr>
                        <a:t>b) many</a:t>
                      </a:r>
                      <a:endParaRPr lang="en-US" sz="750" dirty="0">
                        <a:latin typeface="Calibri" charset="0"/>
                        <a:ea typeface="Calibri" charset="0"/>
                        <a:cs typeface="Calibri" charset="0"/>
                      </a:endParaRPr>
                    </a:p>
                    <a:p>
                      <a:pPr algn="l" indent="0" marL="0">
                        <a:buNone/>
                      </a:pPr>
                      <a:r>
                        <a:rPr lang="en-US" sz="750" i="1" dirty="0">
                          <a:solidFill>
                            <a:srgbClr val="3A5060"/>
                          </a:solidFill>
                          <a:latin typeface="Calibri" pitchFamily="34" charset="0"/>
                          <a:ea typeface="Calibri" pitchFamily="34" charset="-122"/>
                          <a:cs typeface="Calibri" pitchFamily="34" charset="-120"/>
                        </a:rPr>
                        <a:t>c) none — not a single day</a:t>
                      </a:r>
                      <a:endParaRPr lang="en-US" sz="750" dirty="0">
                        <a:latin typeface="Calibri" charset="0"/>
                        <a:ea typeface="Calibri" charset="0"/>
                        <a:cs typeface="Calibri" charset="0"/>
                      </a:endParaRPr>
                    </a:p>
                  </a:txBody>
                  <a:tcPr marL="91440" marR="91440" marT="45720" marB="45720" anchor="t">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r>
              <a:tr h="278892">
                <a:tc>
                  <a:txBody>
                    <a:bodyPr/>
                    <a:lstStyle/>
                    <a:p>
                      <a:pPr algn="ctr" indent="0" marL="0">
                        <a:buNone/>
                      </a:pPr>
                      <a:r>
                        <a:rPr lang="en-US" sz="750" b="1" dirty="0">
                          <a:solidFill>
                            <a:srgbClr val="2E6DA4"/>
                          </a:solidFill>
                          <a:latin typeface="Calibri" pitchFamily="34" charset="0"/>
                          <a:ea typeface="Calibri" pitchFamily="34" charset="-122"/>
                          <a:cs typeface="Calibri" pitchFamily="34" charset="-120"/>
                        </a:rPr>
                        <a:t>3.</a:t>
                      </a:r>
                      <a:endParaRPr lang="en-US" sz="750" dirty="0">
                        <a:latin typeface="Calibri" charset="0"/>
                        <a:ea typeface="Calibri" charset="0"/>
                        <a:cs typeface="Calibri" charset="0"/>
                      </a:endParaRPr>
                    </a:p>
                  </a:txBody>
                  <a:tcPr marL="91440" marR="91440" marT="45720" marB="45720" anchor="t">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780" b="1" dirty="0">
                          <a:solidFill>
                            <a:srgbClr val="1A2A3A"/>
                          </a:solidFill>
                          <a:latin typeface="Calibri" pitchFamily="34" charset="0"/>
                          <a:ea typeface="Calibri" pitchFamily="34" charset="-122"/>
                          <a:cs typeface="Calibri" pitchFamily="34" charset="-120"/>
                        </a:rPr>
                        <a:t>What has Bat been doing to improve? (3 things)</a:t>
                      </a:r>
                      <a:endParaRPr lang="en-US" sz="780" dirty="0">
                        <a:latin typeface="Calibri" charset="0"/>
                        <a:ea typeface="Calibri" charset="0"/>
                        <a:cs typeface="Calibri" charset="0"/>
                      </a:endParaRPr>
                    </a:p>
                  </a:txBody>
                  <a:tcPr marL="91440" marR="91440" marT="45720" marB="45720" anchor="t">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750" i="1" dirty="0">
                          <a:solidFill>
                            <a:srgbClr val="3A5060"/>
                          </a:solidFill>
                          <a:latin typeface="Calibri" pitchFamily="34" charset="0"/>
                          <a:ea typeface="Calibri" pitchFamily="34" charset="-122"/>
                          <a:cs typeface="Calibri" pitchFamily="34" charset="-120"/>
                        </a:rPr>
                        <a:t>a) films, podcasts, vocabulary journal</a:t>
                      </a:r>
                      <a:endParaRPr lang="en-US" sz="750" dirty="0">
                        <a:latin typeface="Calibri" charset="0"/>
                        <a:ea typeface="Calibri" charset="0"/>
                        <a:cs typeface="Calibri" charset="0"/>
                      </a:endParaRPr>
                    </a:p>
                    <a:p>
                      <a:pPr algn="l" indent="0" marL="0">
                        <a:buNone/>
                      </a:pPr>
                      <a:r>
                        <a:rPr lang="en-US" sz="750" i="1" dirty="0">
                          <a:solidFill>
                            <a:srgbClr val="3A5060"/>
                          </a:solidFill>
                          <a:latin typeface="Calibri" pitchFamily="34" charset="0"/>
                          <a:ea typeface="Calibri" pitchFamily="34" charset="-122"/>
                          <a:cs typeface="Calibri" pitchFamily="34" charset="-120"/>
                        </a:rPr>
                        <a:t>b) reading, writing, watching</a:t>
                      </a:r>
                      <a:endParaRPr lang="en-US" sz="750" dirty="0">
                        <a:latin typeface="Calibri" charset="0"/>
                        <a:ea typeface="Calibri" charset="0"/>
                        <a:cs typeface="Calibri" charset="0"/>
                      </a:endParaRPr>
                    </a:p>
                    <a:p>
                      <a:pPr algn="l" indent="0" marL="0">
                        <a:buNone/>
                      </a:pPr>
                      <a:r>
                        <a:rPr lang="en-US" sz="750" i="1" dirty="0">
                          <a:solidFill>
                            <a:srgbClr val="3A5060"/>
                          </a:solidFill>
                          <a:latin typeface="Calibri" pitchFamily="34" charset="0"/>
                          <a:ea typeface="Calibri" pitchFamily="34" charset="-122"/>
                          <a:cs typeface="Calibri" pitchFamily="34" charset="-120"/>
                        </a:rPr>
                        <a:t>c) grammar books only</a:t>
                      </a:r>
                      <a:endParaRPr lang="en-US" sz="750" dirty="0">
                        <a:latin typeface="Calibri" charset="0"/>
                        <a:ea typeface="Calibri" charset="0"/>
                        <a:cs typeface="Calibri" charset="0"/>
                      </a:endParaRPr>
                    </a:p>
                  </a:txBody>
                  <a:tcPr marL="91440" marR="91440" marT="45720" marB="45720" anchor="t">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r>
              <a:tr h="278892">
                <a:tc>
                  <a:txBody>
                    <a:bodyPr/>
                    <a:lstStyle/>
                    <a:p>
                      <a:pPr algn="ctr" indent="0" marL="0">
                        <a:buNone/>
                      </a:pPr>
                      <a:r>
                        <a:rPr lang="en-US" sz="750" b="1" dirty="0">
                          <a:solidFill>
                            <a:srgbClr val="2E6DA4"/>
                          </a:solidFill>
                          <a:latin typeface="Calibri" pitchFamily="34" charset="0"/>
                          <a:ea typeface="Calibri" pitchFamily="34" charset="-122"/>
                          <a:cs typeface="Calibri" pitchFamily="34" charset="-120"/>
                        </a:rPr>
                        <a:t>4.</a:t>
                      </a:r>
                      <a:endParaRPr lang="en-US" sz="750" dirty="0">
                        <a:latin typeface="Calibri" charset="0"/>
                        <a:ea typeface="Calibri" charset="0"/>
                        <a:cs typeface="Calibri" charset="0"/>
                      </a:endParaRPr>
                    </a:p>
                  </a:txBody>
                  <a:tcPr marL="91440" marR="91440" marT="45720" marB="45720" anchor="t">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c>
                  <a:txBody>
                    <a:bodyPr/>
                    <a:lstStyle/>
                    <a:p>
                      <a:pPr algn="l" indent="0" marL="0">
                        <a:buNone/>
                      </a:pPr>
                      <a:r>
                        <a:rPr lang="en-US" sz="780" b="1" dirty="0">
                          <a:solidFill>
                            <a:srgbClr val="1A2A3A"/>
                          </a:solidFill>
                          <a:latin typeface="Calibri" pitchFamily="34" charset="0"/>
                          <a:ea typeface="Calibri" pitchFamily="34" charset="-122"/>
                          <a:cs typeface="Calibri" pitchFamily="34" charset="-120"/>
                        </a:rPr>
                        <a:t>What has Bat been doing recently in his dreams?</a:t>
                      </a:r>
                      <a:endParaRPr lang="en-US" sz="780" dirty="0">
                        <a:latin typeface="Calibri" charset="0"/>
                        <a:ea typeface="Calibri" charset="0"/>
                        <a:cs typeface="Calibri" charset="0"/>
                      </a:endParaRPr>
                    </a:p>
                  </a:txBody>
                  <a:tcPr marL="91440" marR="91440" marT="45720" marB="45720" anchor="t">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c>
                  <a:txBody>
                    <a:bodyPr/>
                    <a:lstStyle/>
                    <a:p>
                      <a:pPr algn="l" indent="0" marL="0">
                        <a:buNone/>
                      </a:pPr>
                      <a:r>
                        <a:rPr lang="en-US" sz="750" i="1" dirty="0">
                          <a:solidFill>
                            <a:srgbClr val="3A5060"/>
                          </a:solidFill>
                          <a:latin typeface="Calibri" pitchFamily="34" charset="0"/>
                          <a:ea typeface="Calibri" pitchFamily="34" charset="-122"/>
                          <a:cs typeface="Calibri" pitchFamily="34" charset="-120"/>
                        </a:rPr>
                        <a:t>a) speaking Mongolian</a:t>
                      </a:r>
                      <a:endParaRPr lang="en-US" sz="750" dirty="0">
                        <a:latin typeface="Calibri" charset="0"/>
                        <a:ea typeface="Calibri" charset="0"/>
                        <a:cs typeface="Calibri" charset="0"/>
                      </a:endParaRPr>
                    </a:p>
                    <a:p>
                      <a:pPr algn="l" indent="0" marL="0">
                        <a:buNone/>
                      </a:pPr>
                      <a:r>
                        <a:rPr lang="en-US" sz="750" i="1" dirty="0">
                          <a:solidFill>
                            <a:srgbClr val="3A5060"/>
                          </a:solidFill>
                          <a:latin typeface="Calibri" pitchFamily="34" charset="0"/>
                          <a:ea typeface="Calibri" pitchFamily="34" charset="-122"/>
                          <a:cs typeface="Calibri" pitchFamily="34" charset="-120"/>
                        </a:rPr>
                        <a:t>b) studying</a:t>
                      </a:r>
                      <a:endParaRPr lang="en-US" sz="750" dirty="0">
                        <a:latin typeface="Calibri" charset="0"/>
                        <a:ea typeface="Calibri" charset="0"/>
                        <a:cs typeface="Calibri" charset="0"/>
                      </a:endParaRPr>
                    </a:p>
                    <a:p>
                      <a:pPr algn="l" indent="0" marL="0">
                        <a:buNone/>
                      </a:pPr>
                      <a:r>
                        <a:rPr lang="en-US" sz="750" i="1" dirty="0">
                          <a:solidFill>
                            <a:srgbClr val="3A5060"/>
                          </a:solidFill>
                          <a:latin typeface="Calibri" pitchFamily="34" charset="0"/>
                          <a:ea typeface="Calibri" pitchFamily="34" charset="-122"/>
                          <a:cs typeface="Calibri" pitchFamily="34" charset="-120"/>
                        </a:rPr>
                        <a:t>c) dreaming in English</a:t>
                      </a:r>
                      <a:endParaRPr lang="en-US" sz="750" dirty="0">
                        <a:latin typeface="Calibri" charset="0"/>
                        <a:ea typeface="Calibri" charset="0"/>
                        <a:cs typeface="Calibri" charset="0"/>
                      </a:endParaRPr>
                    </a:p>
                  </a:txBody>
                  <a:tcPr marL="91440" marR="91440" marT="45720" marB="45720" anchor="t">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r>
              <a:tr h="278892">
                <a:tc>
                  <a:txBody>
                    <a:bodyPr/>
                    <a:lstStyle/>
                    <a:p>
                      <a:pPr algn="ctr" indent="0" marL="0">
                        <a:buNone/>
                      </a:pPr>
                      <a:r>
                        <a:rPr lang="en-US" sz="750" b="1" dirty="0">
                          <a:solidFill>
                            <a:srgbClr val="2E6DA4"/>
                          </a:solidFill>
                          <a:latin typeface="Calibri" pitchFamily="34" charset="0"/>
                          <a:ea typeface="Calibri" pitchFamily="34" charset="-122"/>
                          <a:cs typeface="Calibri" pitchFamily="34" charset="-120"/>
                        </a:rPr>
                        <a:t>5.</a:t>
                      </a:r>
                      <a:endParaRPr lang="en-US" sz="750" dirty="0">
                        <a:latin typeface="Calibri" charset="0"/>
                        <a:ea typeface="Calibri" charset="0"/>
                        <a:cs typeface="Calibri" charset="0"/>
                      </a:endParaRPr>
                    </a:p>
                  </a:txBody>
                  <a:tcPr marL="91440" marR="91440" marT="45720" marB="45720" anchor="t">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780" b="1" dirty="0">
                          <a:solidFill>
                            <a:srgbClr val="1A2A3A"/>
                          </a:solidFill>
                          <a:latin typeface="Calibri" pitchFamily="34" charset="0"/>
                          <a:ea typeface="Calibri" pitchFamily="34" charset="-122"/>
                          <a:cs typeface="Calibri" pitchFamily="34" charset="-120"/>
                        </a:rPr>
                        <a:t>What has been growing for Bat every week?</a:t>
                      </a:r>
                      <a:endParaRPr lang="en-US" sz="780" dirty="0">
                        <a:latin typeface="Calibri" charset="0"/>
                        <a:ea typeface="Calibri" charset="0"/>
                        <a:cs typeface="Calibri" charset="0"/>
                      </a:endParaRPr>
                    </a:p>
                  </a:txBody>
                  <a:tcPr marL="91440" marR="91440" marT="45720" marB="45720" anchor="t">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750" i="1" dirty="0">
                          <a:solidFill>
                            <a:srgbClr val="3A5060"/>
                          </a:solidFill>
                          <a:latin typeface="Calibri" pitchFamily="34" charset="0"/>
                          <a:ea typeface="Calibri" pitchFamily="34" charset="-122"/>
                          <a:cs typeface="Calibri" pitchFamily="34" charset="-120"/>
                        </a:rPr>
                        <a:t>a) his vocabulary only</a:t>
                      </a:r>
                      <a:endParaRPr lang="en-US" sz="750" dirty="0">
                        <a:latin typeface="Calibri" charset="0"/>
                        <a:ea typeface="Calibri" charset="0"/>
                        <a:cs typeface="Calibri" charset="0"/>
                      </a:endParaRPr>
                    </a:p>
                    <a:p>
                      <a:pPr algn="l" indent="0" marL="0">
                        <a:buNone/>
                      </a:pPr>
                      <a:r>
                        <a:rPr lang="en-US" sz="750" i="1" dirty="0">
                          <a:solidFill>
                            <a:srgbClr val="3A5060"/>
                          </a:solidFill>
                          <a:latin typeface="Calibri" pitchFamily="34" charset="0"/>
                          <a:ea typeface="Calibri" pitchFamily="34" charset="-122"/>
                          <a:cs typeface="Calibri" pitchFamily="34" charset="-120"/>
                        </a:rPr>
                        <a:t>b) his confidence</a:t>
                      </a:r>
                      <a:endParaRPr lang="en-US" sz="750" dirty="0">
                        <a:latin typeface="Calibri" charset="0"/>
                        <a:ea typeface="Calibri" charset="0"/>
                        <a:cs typeface="Calibri" charset="0"/>
                      </a:endParaRPr>
                    </a:p>
                    <a:p>
                      <a:pPr algn="l" indent="0" marL="0">
                        <a:buNone/>
                      </a:pPr>
                      <a:r>
                        <a:rPr lang="en-US" sz="750" i="1" dirty="0">
                          <a:solidFill>
                            <a:srgbClr val="3A5060"/>
                          </a:solidFill>
                          <a:latin typeface="Calibri" pitchFamily="34" charset="0"/>
                          <a:ea typeface="Calibri" pitchFamily="34" charset="-122"/>
                          <a:cs typeface="Calibri" pitchFamily="34" charset="-120"/>
                        </a:rPr>
                        <a:t>c) his grammar knowledge</a:t>
                      </a:r>
                      <a:endParaRPr lang="en-US" sz="750" dirty="0">
                        <a:latin typeface="Calibri" charset="0"/>
                        <a:ea typeface="Calibri" charset="0"/>
                        <a:cs typeface="Calibri" charset="0"/>
                      </a:endParaRPr>
                    </a:p>
                  </a:txBody>
                  <a:tcPr marL="91440" marR="91440" marT="45720" marB="45720" anchor="t">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r>
              <a:tr h="278892">
                <a:tc>
                  <a:txBody>
                    <a:bodyPr/>
                    <a:lstStyle/>
                    <a:p>
                      <a:pPr algn="ctr" indent="0" marL="0">
                        <a:buNone/>
                      </a:pPr>
                      <a:r>
                        <a:rPr lang="en-US" sz="750" b="1" dirty="0">
                          <a:solidFill>
                            <a:srgbClr val="2E6DA4"/>
                          </a:solidFill>
                          <a:latin typeface="Calibri" pitchFamily="34" charset="0"/>
                          <a:ea typeface="Calibri" pitchFamily="34" charset="-122"/>
                          <a:cs typeface="Calibri" pitchFamily="34" charset="-120"/>
                        </a:rPr>
                        <a:t>6.</a:t>
                      </a:r>
                      <a:endParaRPr lang="en-US" sz="750" dirty="0">
                        <a:latin typeface="Calibri" charset="0"/>
                        <a:ea typeface="Calibri" charset="0"/>
                        <a:cs typeface="Calibri" charset="0"/>
                      </a:endParaRPr>
                    </a:p>
                  </a:txBody>
                  <a:tcPr marL="91440" marR="91440" marT="45720" marB="45720" anchor="t">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c>
                  <a:txBody>
                    <a:bodyPr/>
                    <a:lstStyle/>
                    <a:p>
                      <a:pPr algn="l" indent="0" marL="0">
                        <a:buNone/>
                      </a:pPr>
                      <a:r>
                        <a:rPr lang="en-US" sz="780" b="1" dirty="0">
                          <a:solidFill>
                            <a:srgbClr val="1A2A3A"/>
                          </a:solidFill>
                          <a:latin typeface="Calibri" pitchFamily="34" charset="0"/>
                          <a:ea typeface="Calibri" pitchFamily="34" charset="-122"/>
                          <a:cs typeface="Calibri" pitchFamily="34" charset="-120"/>
                        </a:rPr>
                        <a:t>What has Sarnai been doing at the museum?</a:t>
                      </a:r>
                      <a:endParaRPr lang="en-US" sz="780" dirty="0">
                        <a:latin typeface="Calibri" charset="0"/>
                        <a:ea typeface="Calibri" charset="0"/>
                        <a:cs typeface="Calibri" charset="0"/>
                      </a:endParaRPr>
                    </a:p>
                  </a:txBody>
                  <a:tcPr marL="91440" marR="91440" marT="45720" marB="45720" anchor="t">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c>
                  <a:txBody>
                    <a:bodyPr/>
                    <a:lstStyle/>
                    <a:p>
                      <a:pPr algn="l" indent="0" marL="0">
                        <a:buNone/>
                      </a:pPr>
                      <a:r>
                        <a:rPr lang="en-US" sz="750" i="1" dirty="0">
                          <a:solidFill>
                            <a:srgbClr val="3A5060"/>
                          </a:solidFill>
                          <a:latin typeface="Calibri" pitchFamily="34" charset="0"/>
                          <a:ea typeface="Calibri" pitchFamily="34" charset="-122"/>
                          <a:cs typeface="Calibri" pitchFamily="34" charset="-120"/>
                        </a:rPr>
                        <a:t>a) painting</a:t>
                      </a:r>
                      <a:endParaRPr lang="en-US" sz="750" dirty="0">
                        <a:latin typeface="Calibri" charset="0"/>
                        <a:ea typeface="Calibri" charset="0"/>
                        <a:cs typeface="Calibri" charset="0"/>
                      </a:endParaRPr>
                    </a:p>
                    <a:p>
                      <a:pPr algn="l" indent="0" marL="0">
                        <a:buNone/>
                      </a:pPr>
                      <a:r>
                        <a:rPr lang="en-US" sz="750" i="1" dirty="0">
                          <a:solidFill>
                            <a:srgbClr val="3A5060"/>
                          </a:solidFill>
                          <a:latin typeface="Calibri" pitchFamily="34" charset="0"/>
                          <a:ea typeface="Calibri" pitchFamily="34" charset="-122"/>
                          <a:cs typeface="Calibri" pitchFamily="34" charset="-120"/>
                        </a:rPr>
                        <a:t>b) working</a:t>
                      </a:r>
                      <a:endParaRPr lang="en-US" sz="750" dirty="0">
                        <a:latin typeface="Calibri" charset="0"/>
                        <a:ea typeface="Calibri" charset="0"/>
                        <a:cs typeface="Calibri" charset="0"/>
                      </a:endParaRPr>
                    </a:p>
                    <a:p>
                      <a:pPr algn="l" indent="0" marL="0">
                        <a:buNone/>
                      </a:pPr>
                      <a:r>
                        <a:rPr lang="en-US" sz="750" i="1" dirty="0">
                          <a:solidFill>
                            <a:srgbClr val="3A5060"/>
                          </a:solidFill>
                          <a:latin typeface="Calibri" pitchFamily="34" charset="0"/>
                          <a:ea typeface="Calibri" pitchFamily="34" charset="-122"/>
                          <a:cs typeface="Calibri" pitchFamily="34" charset="-120"/>
                        </a:rPr>
                        <a:t>c) speaking English to tourists</a:t>
                      </a:r>
                      <a:endParaRPr lang="en-US" sz="750" dirty="0">
                        <a:latin typeface="Calibri" charset="0"/>
                        <a:ea typeface="Calibri" charset="0"/>
                        <a:cs typeface="Calibri" charset="0"/>
                      </a:endParaRPr>
                    </a:p>
                  </a:txBody>
                  <a:tcPr marL="91440" marR="91440" marT="45720" marB="45720" anchor="t">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r>
              <a:tr h="278892">
                <a:tc>
                  <a:txBody>
                    <a:bodyPr/>
                    <a:lstStyle/>
                    <a:p>
                      <a:pPr algn="ctr" indent="0" marL="0">
                        <a:buNone/>
                      </a:pPr>
                      <a:r>
                        <a:rPr lang="en-US" sz="750" b="1" dirty="0">
                          <a:solidFill>
                            <a:srgbClr val="2E6DA4"/>
                          </a:solidFill>
                          <a:latin typeface="Calibri" pitchFamily="34" charset="0"/>
                          <a:ea typeface="Calibri" pitchFamily="34" charset="-122"/>
                          <a:cs typeface="Calibri" pitchFamily="34" charset="-120"/>
                        </a:rPr>
                        <a:t>7.</a:t>
                      </a:r>
                      <a:endParaRPr lang="en-US" sz="750" dirty="0">
                        <a:latin typeface="Calibri" charset="0"/>
                        <a:ea typeface="Calibri" charset="0"/>
                        <a:cs typeface="Calibri" charset="0"/>
                      </a:endParaRPr>
                    </a:p>
                  </a:txBody>
                  <a:tcPr marL="91440" marR="91440" marT="45720" marB="45720" anchor="t">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780" b="1" dirty="0">
                          <a:solidFill>
                            <a:srgbClr val="1A2A3A"/>
                          </a:solidFill>
                          <a:latin typeface="Calibri" pitchFamily="34" charset="0"/>
                          <a:ea typeface="Calibri" pitchFamily="34" charset="-122"/>
                          <a:cs typeface="Calibri" pitchFamily="34" charset="-120"/>
                        </a:rPr>
                        <a:t>How often has Sarnai been doing this?</a:t>
                      </a:r>
                      <a:endParaRPr lang="en-US" sz="780" dirty="0">
                        <a:latin typeface="Calibri" charset="0"/>
                        <a:ea typeface="Calibri" charset="0"/>
                        <a:cs typeface="Calibri" charset="0"/>
                      </a:endParaRPr>
                    </a:p>
                  </a:txBody>
                  <a:tcPr marL="91440" marR="91440" marT="45720" marB="45720" anchor="t">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750" i="1" dirty="0">
                          <a:solidFill>
                            <a:srgbClr val="3A5060"/>
                          </a:solidFill>
                          <a:latin typeface="Calibri" pitchFamily="34" charset="0"/>
                          <a:ea typeface="Calibri" pitchFamily="34" charset="-122"/>
                          <a:cs typeface="Calibri" pitchFamily="34" charset="-120"/>
                        </a:rPr>
                        <a:t>a) every day</a:t>
                      </a:r>
                      <a:endParaRPr lang="en-US" sz="750" dirty="0">
                        <a:latin typeface="Calibri" charset="0"/>
                        <a:ea typeface="Calibri" charset="0"/>
                        <a:cs typeface="Calibri" charset="0"/>
                      </a:endParaRPr>
                    </a:p>
                    <a:p>
                      <a:pPr algn="l" indent="0" marL="0">
                        <a:buNone/>
                      </a:pPr>
                      <a:r>
                        <a:rPr lang="en-US" sz="750" i="1" dirty="0">
                          <a:solidFill>
                            <a:srgbClr val="3A5060"/>
                          </a:solidFill>
                          <a:latin typeface="Calibri" pitchFamily="34" charset="0"/>
                          <a:ea typeface="Calibri" pitchFamily="34" charset="-122"/>
                          <a:cs typeface="Calibri" pitchFamily="34" charset="-120"/>
                        </a:rPr>
                        <a:t>b) every weekend</a:t>
                      </a:r>
                      <a:endParaRPr lang="en-US" sz="750" dirty="0">
                        <a:latin typeface="Calibri" charset="0"/>
                        <a:ea typeface="Calibri" charset="0"/>
                        <a:cs typeface="Calibri" charset="0"/>
                      </a:endParaRPr>
                    </a:p>
                    <a:p>
                      <a:pPr algn="l" indent="0" marL="0">
                        <a:buNone/>
                      </a:pPr>
                      <a:r>
                        <a:rPr lang="en-US" sz="750" i="1" dirty="0">
                          <a:solidFill>
                            <a:srgbClr val="3A5060"/>
                          </a:solidFill>
                          <a:latin typeface="Calibri" pitchFamily="34" charset="0"/>
                          <a:ea typeface="Calibri" pitchFamily="34" charset="-122"/>
                          <a:cs typeface="Calibri" pitchFamily="34" charset="-120"/>
                        </a:rPr>
                        <a:t>c) once a month</a:t>
                      </a:r>
                      <a:endParaRPr lang="en-US" sz="750" dirty="0">
                        <a:latin typeface="Calibri" charset="0"/>
                        <a:ea typeface="Calibri" charset="0"/>
                        <a:cs typeface="Calibri" charset="0"/>
                      </a:endParaRPr>
                    </a:p>
                  </a:txBody>
                  <a:tcPr marL="91440" marR="91440" marT="45720" marB="45720" anchor="t">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r>
              <a:tr h="278892">
                <a:tc>
                  <a:txBody>
                    <a:bodyPr/>
                    <a:lstStyle/>
                    <a:p>
                      <a:pPr algn="ctr" indent="0" marL="0">
                        <a:buNone/>
                      </a:pPr>
                      <a:r>
                        <a:rPr lang="en-US" sz="750" b="1" dirty="0">
                          <a:solidFill>
                            <a:srgbClr val="2E6DA4"/>
                          </a:solidFill>
                          <a:latin typeface="Calibri" pitchFamily="34" charset="0"/>
                          <a:ea typeface="Calibri" pitchFamily="34" charset="-122"/>
                          <a:cs typeface="Calibri" pitchFamily="34" charset="-120"/>
                        </a:rPr>
                        <a:t>8.</a:t>
                      </a:r>
                      <a:endParaRPr lang="en-US" sz="750" dirty="0">
                        <a:latin typeface="Calibri" charset="0"/>
                        <a:ea typeface="Calibri" charset="0"/>
                        <a:cs typeface="Calibri" charset="0"/>
                      </a:endParaRPr>
                    </a:p>
                  </a:txBody>
                  <a:tcPr marL="91440" marR="91440" marT="45720" marB="45720" anchor="t">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c>
                  <a:txBody>
                    <a:bodyPr/>
                    <a:lstStyle/>
                    <a:p>
                      <a:pPr algn="l" indent="0" marL="0">
                        <a:buNone/>
                      </a:pPr>
                      <a:r>
                        <a:rPr lang="en-US" sz="780" b="1" dirty="0">
                          <a:solidFill>
                            <a:srgbClr val="1A2A3A"/>
                          </a:solidFill>
                          <a:latin typeface="Calibri" pitchFamily="34" charset="0"/>
                          <a:ea typeface="Calibri" pitchFamily="34" charset="-122"/>
                          <a:cs typeface="Calibri" pitchFamily="34" charset="-120"/>
                        </a:rPr>
                        <a:t>What has been developing faster for Sarnai?</a:t>
                      </a:r>
                      <a:endParaRPr lang="en-US" sz="780" dirty="0">
                        <a:latin typeface="Calibri" charset="0"/>
                        <a:ea typeface="Calibri" charset="0"/>
                        <a:cs typeface="Calibri" charset="0"/>
                      </a:endParaRPr>
                    </a:p>
                  </a:txBody>
                  <a:tcPr marL="91440" marR="91440" marT="45720" marB="45720" anchor="t">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c>
                  <a:txBody>
                    <a:bodyPr/>
                    <a:lstStyle/>
                    <a:p>
                      <a:pPr algn="l" indent="0" marL="0">
                        <a:buNone/>
                      </a:pPr>
                      <a:r>
                        <a:rPr lang="en-US" sz="750" i="1" dirty="0">
                          <a:solidFill>
                            <a:srgbClr val="3A5060"/>
                          </a:solidFill>
                          <a:latin typeface="Calibri" pitchFamily="34" charset="0"/>
                          <a:ea typeface="Calibri" pitchFamily="34" charset="-122"/>
                          <a:cs typeface="Calibri" pitchFamily="34" charset="-120"/>
                        </a:rPr>
                        <a:t>a) her grammar</a:t>
                      </a:r>
                      <a:endParaRPr lang="en-US" sz="750" dirty="0">
                        <a:latin typeface="Calibri" charset="0"/>
                        <a:ea typeface="Calibri" charset="0"/>
                        <a:cs typeface="Calibri" charset="0"/>
                      </a:endParaRPr>
                    </a:p>
                    <a:p>
                      <a:pPr algn="l" indent="0" marL="0">
                        <a:buNone/>
                      </a:pPr>
                      <a:r>
                        <a:rPr lang="en-US" sz="750" i="1" dirty="0">
                          <a:solidFill>
                            <a:srgbClr val="3A5060"/>
                          </a:solidFill>
                          <a:latin typeface="Calibri" pitchFamily="34" charset="0"/>
                          <a:ea typeface="Calibri" pitchFamily="34" charset="-122"/>
                          <a:cs typeface="Calibri" pitchFamily="34" charset="-120"/>
                        </a:rPr>
                        <a:t>b) her vocabulary</a:t>
                      </a:r>
                      <a:endParaRPr lang="en-US" sz="750" dirty="0">
                        <a:latin typeface="Calibri" charset="0"/>
                        <a:ea typeface="Calibri" charset="0"/>
                        <a:cs typeface="Calibri" charset="0"/>
                      </a:endParaRPr>
                    </a:p>
                    <a:p>
                      <a:pPr algn="l" indent="0" marL="0">
                        <a:buNone/>
                      </a:pPr>
                      <a:r>
                        <a:rPr lang="en-US" sz="750" i="1" dirty="0">
                          <a:solidFill>
                            <a:srgbClr val="3A5060"/>
                          </a:solidFill>
                          <a:latin typeface="Calibri" pitchFamily="34" charset="0"/>
                          <a:ea typeface="Calibri" pitchFamily="34" charset="-122"/>
                          <a:cs typeface="Calibri" pitchFamily="34" charset="-120"/>
                        </a:rPr>
                        <a:t>c) her fluency</a:t>
                      </a:r>
                      <a:endParaRPr lang="en-US" sz="750" dirty="0">
                        <a:latin typeface="Calibri" charset="0"/>
                        <a:ea typeface="Calibri" charset="0"/>
                        <a:cs typeface="Calibri" charset="0"/>
                      </a:endParaRPr>
                    </a:p>
                  </a:txBody>
                  <a:tcPr marL="91440" marR="91440" marT="45720" marB="45720" anchor="t">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r>
              <a:tr h="278892">
                <a:tc>
                  <a:txBody>
                    <a:bodyPr/>
                    <a:lstStyle/>
                    <a:p>
                      <a:pPr algn="ctr" indent="0" marL="0">
                        <a:buNone/>
                      </a:pPr>
                      <a:r>
                        <a:rPr lang="en-US" sz="750" b="1" dirty="0">
                          <a:solidFill>
                            <a:srgbClr val="2E6DA4"/>
                          </a:solidFill>
                          <a:latin typeface="Calibri" pitchFamily="34" charset="0"/>
                          <a:ea typeface="Calibri" pitchFamily="34" charset="-122"/>
                          <a:cs typeface="Calibri" pitchFamily="34" charset="-120"/>
                        </a:rPr>
                        <a:t>9.</a:t>
                      </a:r>
                      <a:endParaRPr lang="en-US" sz="750" dirty="0">
                        <a:latin typeface="Calibri" charset="0"/>
                        <a:ea typeface="Calibri" charset="0"/>
                        <a:cs typeface="Calibri" charset="0"/>
                      </a:endParaRPr>
                    </a:p>
                  </a:txBody>
                  <a:tcPr marL="91440" marR="91440" marT="45720" marB="45720" anchor="t">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780" b="1" dirty="0">
                          <a:solidFill>
                            <a:srgbClr val="1A2A3A"/>
                          </a:solidFill>
                          <a:latin typeface="Calibri" pitchFamily="34" charset="0"/>
                          <a:ea typeface="Calibri" pitchFamily="34" charset="-122"/>
                          <a:cs typeface="Calibri" pitchFamily="34" charset="-120"/>
                        </a:rPr>
                        <a:t>Why has Sarnai improved faster?</a:t>
                      </a:r>
                      <a:endParaRPr lang="en-US" sz="780" dirty="0">
                        <a:latin typeface="Calibri" charset="0"/>
                        <a:ea typeface="Calibri" charset="0"/>
                        <a:cs typeface="Calibri" charset="0"/>
                      </a:endParaRPr>
                    </a:p>
                  </a:txBody>
                  <a:tcPr marL="91440" marR="91440" marT="45720" marB="45720" anchor="t">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750" i="1" dirty="0">
                          <a:solidFill>
                            <a:srgbClr val="3A5060"/>
                          </a:solidFill>
                          <a:latin typeface="Calibri" pitchFamily="34" charset="0"/>
                          <a:ea typeface="Calibri" pitchFamily="34" charset="-122"/>
                          <a:cs typeface="Calibri" pitchFamily="34" charset="-120"/>
                        </a:rPr>
                        <a:t>a) she has a better teacher</a:t>
                      </a:r>
                      <a:endParaRPr lang="en-US" sz="750" dirty="0">
                        <a:latin typeface="Calibri" charset="0"/>
                        <a:ea typeface="Calibri" charset="0"/>
                        <a:cs typeface="Calibri" charset="0"/>
                      </a:endParaRPr>
                    </a:p>
                    <a:p>
                      <a:pPr algn="l" indent="0" marL="0">
                        <a:buNone/>
                      </a:pPr>
                      <a:r>
                        <a:rPr lang="en-US" sz="750" i="1" dirty="0">
                          <a:solidFill>
                            <a:srgbClr val="3A5060"/>
                          </a:solidFill>
                          <a:latin typeface="Calibri" pitchFamily="34" charset="0"/>
                          <a:ea typeface="Calibri" pitchFamily="34" charset="-122"/>
                          <a:cs typeface="Calibri" pitchFamily="34" charset="-120"/>
                        </a:rPr>
                        <a:t>b) because of real practice</a:t>
                      </a:r>
                      <a:endParaRPr lang="en-US" sz="750" dirty="0">
                        <a:latin typeface="Calibri" charset="0"/>
                        <a:ea typeface="Calibri" charset="0"/>
                        <a:cs typeface="Calibri" charset="0"/>
                      </a:endParaRPr>
                    </a:p>
                    <a:p>
                      <a:pPr algn="l" indent="0" marL="0">
                        <a:buNone/>
                      </a:pPr>
                      <a:r>
                        <a:rPr lang="en-US" sz="750" i="1" dirty="0">
                          <a:solidFill>
                            <a:srgbClr val="3A5060"/>
                          </a:solidFill>
                          <a:latin typeface="Calibri" pitchFamily="34" charset="0"/>
                          <a:ea typeface="Calibri" pitchFamily="34" charset="-122"/>
                          <a:cs typeface="Calibri" pitchFamily="34" charset="-120"/>
                        </a:rPr>
                        <a:t>c) she studies more hours</a:t>
                      </a:r>
                      <a:endParaRPr lang="en-US" sz="750" dirty="0">
                        <a:latin typeface="Calibri" charset="0"/>
                        <a:ea typeface="Calibri" charset="0"/>
                        <a:cs typeface="Calibri" charset="0"/>
                      </a:endParaRPr>
                    </a:p>
                  </a:txBody>
                  <a:tcPr marL="91440" marR="91440" marT="45720" marB="45720" anchor="t">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r>
              <a:tr h="278892">
                <a:tc>
                  <a:txBody>
                    <a:bodyPr/>
                    <a:lstStyle/>
                    <a:p>
                      <a:pPr algn="ctr" indent="0" marL="0">
                        <a:buNone/>
                      </a:pPr>
                      <a:r>
                        <a:rPr lang="en-US" sz="750" b="1" dirty="0">
                          <a:solidFill>
                            <a:srgbClr val="2E6DA4"/>
                          </a:solidFill>
                          <a:latin typeface="Calibri" pitchFamily="34" charset="0"/>
                          <a:ea typeface="Calibri" pitchFamily="34" charset="-122"/>
                          <a:cs typeface="Calibri" pitchFamily="34" charset="-120"/>
                        </a:rPr>
                        <a:t>10.</a:t>
                      </a:r>
                      <a:endParaRPr lang="en-US" sz="750" dirty="0">
                        <a:latin typeface="Calibri" charset="0"/>
                        <a:ea typeface="Calibri" charset="0"/>
                        <a:cs typeface="Calibri" charset="0"/>
                      </a:endParaRPr>
                    </a:p>
                  </a:txBody>
                  <a:tcPr marL="91440" marR="91440" marT="45720" marB="45720" anchor="t">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c>
                  <a:txBody>
                    <a:bodyPr/>
                    <a:lstStyle/>
                    <a:p>
                      <a:pPr algn="l" indent="0" marL="0">
                        <a:buNone/>
                      </a:pPr>
                      <a:r>
                        <a:rPr lang="en-US" sz="780" b="1" dirty="0">
                          <a:solidFill>
                            <a:srgbClr val="1A2A3A"/>
                          </a:solidFill>
                          <a:latin typeface="Calibri" pitchFamily="34" charset="0"/>
                          <a:ea typeface="Calibri" pitchFamily="34" charset="-122"/>
                          <a:cs typeface="Calibri" pitchFamily="34" charset="-120"/>
                        </a:rPr>
                        <a:t>'I have been studying' focuses on...</a:t>
                      </a:r>
                      <a:endParaRPr lang="en-US" sz="780" dirty="0">
                        <a:latin typeface="Calibri" charset="0"/>
                        <a:ea typeface="Calibri" charset="0"/>
                        <a:cs typeface="Calibri" charset="0"/>
                      </a:endParaRPr>
                    </a:p>
                  </a:txBody>
                  <a:tcPr marL="91440" marR="91440" marT="45720" marB="45720" anchor="t">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c>
                  <a:txBody>
                    <a:bodyPr/>
                    <a:lstStyle/>
                    <a:p>
                      <a:pPr algn="l" indent="0" marL="0">
                        <a:buNone/>
                      </a:pPr>
                      <a:r>
                        <a:rPr lang="en-US" sz="750" i="1" dirty="0">
                          <a:solidFill>
                            <a:srgbClr val="3A5060"/>
                          </a:solidFill>
                          <a:latin typeface="Calibri" pitchFamily="34" charset="0"/>
                          <a:ea typeface="Calibri" pitchFamily="34" charset="-122"/>
                          <a:cs typeface="Calibri" pitchFamily="34" charset="-120"/>
                        </a:rPr>
                        <a:t>a) a completed action</a:t>
                      </a:r>
                      <a:endParaRPr lang="en-US" sz="750" dirty="0">
                        <a:latin typeface="Calibri" charset="0"/>
                        <a:ea typeface="Calibri" charset="0"/>
                        <a:cs typeface="Calibri" charset="0"/>
                      </a:endParaRPr>
                    </a:p>
                    <a:p>
                      <a:pPr algn="l" indent="0" marL="0">
                        <a:buNone/>
                      </a:pPr>
                      <a:r>
                        <a:rPr lang="en-US" sz="750" i="1" dirty="0">
                          <a:solidFill>
                            <a:srgbClr val="3A5060"/>
                          </a:solidFill>
                          <a:latin typeface="Calibri" pitchFamily="34" charset="0"/>
                          <a:ea typeface="Calibri" pitchFamily="34" charset="-122"/>
                          <a:cs typeface="Calibri" pitchFamily="34" charset="-120"/>
                        </a:rPr>
                        <a:t>b) the duration and ongoing process</a:t>
                      </a:r>
                      <a:endParaRPr lang="en-US" sz="750" dirty="0">
                        <a:latin typeface="Calibri" charset="0"/>
                        <a:ea typeface="Calibri" charset="0"/>
                        <a:cs typeface="Calibri" charset="0"/>
                      </a:endParaRPr>
                    </a:p>
                    <a:p>
                      <a:pPr algn="l" indent="0" marL="0">
                        <a:buNone/>
                      </a:pPr>
                      <a:r>
                        <a:rPr lang="en-US" sz="750" i="1" dirty="0">
                          <a:solidFill>
                            <a:srgbClr val="3A5060"/>
                          </a:solidFill>
                          <a:latin typeface="Calibri" pitchFamily="34" charset="0"/>
                          <a:ea typeface="Calibri" pitchFamily="34" charset="-122"/>
                          <a:cs typeface="Calibri" pitchFamily="34" charset="-120"/>
                        </a:rPr>
                        <a:t>c) a future plan</a:t>
                      </a:r>
                      <a:endParaRPr lang="en-US" sz="750" dirty="0">
                        <a:latin typeface="Calibri" charset="0"/>
                        <a:ea typeface="Calibri" charset="0"/>
                        <a:cs typeface="Calibri" charset="0"/>
                      </a:endParaRPr>
                    </a:p>
                  </a:txBody>
                  <a:tcPr marL="91440" marR="91440" marT="45720" marB="45720" anchor="t">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r>
            </a:tbl>
          </a:graphicData>
        </a:graphic>
      </p:graphicFrame>
      <p:sp>
        <p:nvSpPr>
          <p:cNvPr id="30" name="Shape 27"/>
          <p:cNvSpPr/>
          <p:nvPr/>
        </p:nvSpPr>
        <p:spPr>
          <a:xfrm>
            <a:off x="3489350" y="2657246"/>
            <a:ext cx="3218688" cy="3200400"/>
          </a:xfrm>
          <a:prstGeom prst="rect">
            <a:avLst/>
          </a:prstGeom>
          <a:solidFill>
            <a:srgbClr val="D0DCE8"/>
          </a:solidFill>
          <a:ln w="12700">
            <a:solidFill>
              <a:srgbClr val="D0DCE8"/>
            </a:solidFill>
            <a:prstDash val="solid"/>
          </a:ln>
        </p:spPr>
      </p:sp>
      <p:sp>
        <p:nvSpPr>
          <p:cNvPr id="31" name="Shape 28"/>
          <p:cNvSpPr/>
          <p:nvPr/>
        </p:nvSpPr>
        <p:spPr>
          <a:xfrm>
            <a:off x="3474720" y="2642616"/>
            <a:ext cx="3218688" cy="3200400"/>
          </a:xfrm>
          <a:prstGeom prst="rect">
            <a:avLst/>
          </a:prstGeom>
          <a:solidFill>
            <a:srgbClr val="FFFFFF"/>
          </a:solidFill>
          <a:ln w="12700">
            <a:solidFill>
              <a:srgbClr val="C8D8E8"/>
            </a:solidFill>
            <a:prstDash val="solid"/>
          </a:ln>
        </p:spPr>
      </p:sp>
      <p:sp>
        <p:nvSpPr>
          <p:cNvPr id="32" name="Shape 29"/>
          <p:cNvSpPr/>
          <p:nvPr/>
        </p:nvSpPr>
        <p:spPr>
          <a:xfrm>
            <a:off x="3474720" y="2642616"/>
            <a:ext cx="3218688" cy="256032"/>
          </a:xfrm>
          <a:prstGeom prst="rect">
            <a:avLst/>
          </a:prstGeom>
          <a:solidFill>
            <a:srgbClr val="0D7C7B"/>
          </a:solidFill>
          <a:ln w="12700">
            <a:solidFill>
              <a:srgbClr val="0D7C7B"/>
            </a:solidFill>
            <a:prstDash val="solid"/>
          </a:ln>
        </p:spPr>
      </p:sp>
      <p:sp>
        <p:nvSpPr>
          <p:cNvPr id="33" name="Shape 30"/>
          <p:cNvSpPr/>
          <p:nvPr/>
        </p:nvSpPr>
        <p:spPr>
          <a:xfrm>
            <a:off x="3474720" y="2898648"/>
            <a:ext cx="3218688" cy="146304"/>
          </a:xfrm>
          <a:prstGeom prst="rect">
            <a:avLst/>
          </a:prstGeom>
          <a:solidFill>
            <a:srgbClr val="E0F4F4"/>
          </a:solidFill>
          <a:ln w="12700">
            <a:solidFill>
              <a:srgbClr val="E0F4F4"/>
            </a:solidFill>
            <a:prstDash val="solid"/>
          </a:ln>
        </p:spPr>
      </p:sp>
      <p:sp>
        <p:nvSpPr>
          <p:cNvPr id="34" name="Text 31"/>
          <p:cNvSpPr/>
          <p:nvPr/>
        </p:nvSpPr>
        <p:spPr>
          <a:xfrm>
            <a:off x="3566160" y="2642616"/>
            <a:ext cx="3090672" cy="256032"/>
          </a:xfrm>
          <a:prstGeom prst="rect">
            <a:avLst/>
          </a:prstGeom>
          <a:noFill/>
          <a:ln/>
        </p:spPr>
        <p:txBody>
          <a:bodyPr wrap="square" lIns="0" tIns="0" rIns="0" bIns="0" rtlCol="0" anchor="ctr"/>
          <a:lstStyle/>
          <a:p>
            <a:pPr indent="0" marL="0">
              <a:buNone/>
            </a:pPr>
            <a:r>
              <a:rPr lang="en-US" sz="1050" b="1" dirty="0">
                <a:solidFill>
                  <a:srgbClr val="FFFFFF"/>
                </a:solidFill>
                <a:latin typeface="Georgia" pitchFamily="34" charset="0"/>
                <a:ea typeface="Georgia" pitchFamily="34" charset="-122"/>
                <a:cs typeface="Georgia" pitchFamily="34" charset="-120"/>
              </a:rPr>
              <a:t>✏️  Grammar Practice &amp; Matching</a:t>
            </a:r>
            <a:endParaRPr lang="en-US" sz="1050" dirty="0"/>
          </a:p>
        </p:txBody>
      </p:sp>
      <p:sp>
        <p:nvSpPr>
          <p:cNvPr id="35" name="Shape 32"/>
          <p:cNvSpPr/>
          <p:nvPr/>
        </p:nvSpPr>
        <p:spPr>
          <a:xfrm>
            <a:off x="3529584" y="3063240"/>
            <a:ext cx="3108960" cy="164592"/>
          </a:xfrm>
          <a:prstGeom prst="rect">
            <a:avLst/>
          </a:prstGeom>
          <a:solidFill>
            <a:srgbClr val="0D7C7B"/>
          </a:solidFill>
          <a:ln w="12700">
            <a:solidFill>
              <a:srgbClr val="0D7C7B"/>
            </a:solidFill>
            <a:prstDash val="solid"/>
          </a:ln>
        </p:spPr>
      </p:sp>
      <p:sp>
        <p:nvSpPr>
          <p:cNvPr id="36" name="Text 33"/>
          <p:cNvSpPr/>
          <p:nvPr/>
        </p:nvSpPr>
        <p:spPr>
          <a:xfrm>
            <a:off x="3557016" y="3063240"/>
            <a:ext cx="3072384" cy="164592"/>
          </a:xfrm>
          <a:prstGeom prst="rect">
            <a:avLst/>
          </a:prstGeom>
          <a:noFill/>
          <a:ln/>
        </p:spPr>
        <p:txBody>
          <a:bodyPr wrap="square" lIns="0" tIns="0" rIns="0" bIns="0" rtlCol="0" anchor="ctr"/>
          <a:lstStyle/>
          <a:p>
            <a:pPr indent="0" marL="0">
              <a:buNone/>
            </a:pPr>
            <a:r>
              <a:rPr lang="en-US" sz="800" b="1" dirty="0">
                <a:solidFill>
                  <a:srgbClr val="FFFFFF"/>
                </a:solidFill>
                <a:latin typeface="Calibri" pitchFamily="34" charset="0"/>
                <a:ea typeface="Calibri" pitchFamily="34" charset="-122"/>
                <a:cs typeface="Calibri" pitchFamily="34" charset="-120"/>
              </a:rPr>
              <a:t>Fill in the blank — have been / has been + -ing</a:t>
            </a:r>
            <a:endParaRPr lang="en-US" sz="800" dirty="0"/>
          </a:p>
        </p:txBody>
      </p:sp>
      <p:graphicFrame>
        <p:nvGraphicFramePr>
          <p:cNvPr id="7" name="Table 1"/>
          <p:cNvGraphicFramePr>
            <a:graphicFrameLocks noGrp="1"/>
          </p:cNvGraphicFramePr>
          <p:nvPr>
            <p:extLst>
              <p:ext uri="{D42A27DB-BD31-4B8C-83A1-F6EECF244321}">
                <p14:modId xmlns:p14="http://schemas.microsoft.com/office/powerpoint/2010/main" val="1579011935"/>
              </p:ext>
            </p:extLst>
          </p:nvPr>
        </p:nvGraphicFramePr>
        <p:xfrm>
          <a:off x="3529584" y="3227832"/>
          <a:ext cx="3108960" cy="914400"/>
        </p:xfrm>
        <a:graphic>
          <a:graphicData uri="http://schemas.openxmlformats.org/drawingml/2006/table">
            <a:tbl>
              <a:tblPr/>
              <a:tblGrid>
                <a:gridCol w="3108960"/>
              </a:tblGrid>
              <a:tr h="199339">
                <a:tc>
                  <a:txBody>
                    <a:bodyPr/>
                    <a:lstStyle/>
                    <a:p>
                      <a:pPr algn="l" indent="0" marL="0">
                        <a:buNone/>
                      </a:pPr>
                      <a:r>
                        <a:rPr lang="en-US" sz="850" dirty="0">
                          <a:solidFill>
                            <a:srgbClr val="1A2A3A"/>
                          </a:solidFill>
                          <a:latin typeface="Calibri" pitchFamily="34" charset="0"/>
                          <a:ea typeface="Calibri" pitchFamily="34" charset="-122"/>
                          <a:cs typeface="Calibri" pitchFamily="34" charset="-120"/>
                        </a:rPr>
                        <a:t>1. I _____ studying English for 63 days. (have been)</a:t>
                      </a:r>
                      <a:endParaRPr lang="en-US" sz="8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r>
              <a:tr h="199339">
                <a:tc>
                  <a:txBody>
                    <a:bodyPr/>
                    <a:lstStyle/>
                    <a:p>
                      <a:pPr algn="l" indent="0" marL="0">
                        <a:buNone/>
                      </a:pPr>
                      <a:r>
                        <a:rPr lang="en-US" sz="850" dirty="0">
                          <a:solidFill>
                            <a:srgbClr val="0D7C7B"/>
                          </a:solidFill>
                          <a:latin typeface="Calibri" pitchFamily="34" charset="0"/>
                          <a:ea typeface="Calibri" pitchFamily="34" charset="-122"/>
                          <a:cs typeface="Calibri" pitchFamily="34" charset="-120"/>
                        </a:rPr>
                        <a:t>2. She _____ working here for 5 years. (has been)</a:t>
                      </a:r>
                      <a:endParaRPr lang="en-US" sz="8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r>
              <a:tr h="199339">
                <a:tc>
                  <a:txBody>
                    <a:bodyPr/>
                    <a:lstStyle/>
                    <a:p>
                      <a:pPr algn="l" indent="0" marL="0">
                        <a:buNone/>
                      </a:pPr>
                      <a:r>
                        <a:rPr lang="en-US" sz="850" dirty="0">
                          <a:solidFill>
                            <a:srgbClr val="1A2A3A"/>
                          </a:solidFill>
                          <a:latin typeface="Calibri" pitchFamily="34" charset="0"/>
                          <a:ea typeface="Calibri" pitchFamily="34" charset="-122"/>
                          <a:cs typeface="Calibri" pitchFamily="34" charset="-120"/>
                        </a:rPr>
                        <a:t>3. We _____ living here since 2018. (have been)</a:t>
                      </a:r>
                      <a:endParaRPr lang="en-US" sz="8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r>
              <a:tr h="199339">
                <a:tc>
                  <a:txBody>
                    <a:bodyPr/>
                    <a:lstStyle/>
                    <a:p>
                      <a:pPr algn="l" indent="0" marL="0">
                        <a:buNone/>
                      </a:pPr>
                      <a:r>
                        <a:rPr lang="en-US" sz="850" dirty="0">
                          <a:solidFill>
                            <a:srgbClr val="0D7C7B"/>
                          </a:solidFill>
                          <a:latin typeface="Calibri" pitchFamily="34" charset="0"/>
                          <a:ea typeface="Calibri" pitchFamily="34" charset="-122"/>
                          <a:cs typeface="Calibri" pitchFamily="34" charset="-120"/>
                        </a:rPr>
                        <a:t>4. I _____ waiting for two hours! (have been)</a:t>
                      </a:r>
                      <a:endParaRPr lang="en-US" sz="8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r>
              <a:tr h="199339">
                <a:tc>
                  <a:txBody>
                    <a:bodyPr/>
                    <a:lstStyle/>
                    <a:p>
                      <a:pPr algn="l" indent="0" marL="0">
                        <a:buNone/>
                      </a:pPr>
                      <a:r>
                        <a:rPr lang="en-US" sz="850" dirty="0">
                          <a:solidFill>
                            <a:srgbClr val="1A2A3A"/>
                          </a:solidFill>
                          <a:latin typeface="Calibri" pitchFamily="34" charset="0"/>
                          <a:ea typeface="Calibri" pitchFamily="34" charset="-122"/>
                          <a:cs typeface="Calibri" pitchFamily="34" charset="-120"/>
                        </a:rPr>
                        <a:t>5. _____ you been sleeping well lately? (Have)</a:t>
                      </a:r>
                      <a:endParaRPr lang="en-US" sz="8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r>
              <a:tr h="199339">
                <a:tc>
                  <a:txBody>
                    <a:bodyPr/>
                    <a:lstStyle/>
                    <a:p>
                      <a:pPr algn="l" indent="0" marL="0">
                        <a:buNone/>
                      </a:pPr>
                      <a:r>
                        <a:rPr lang="en-US" sz="850" dirty="0">
                          <a:solidFill>
                            <a:srgbClr val="0D7C7B"/>
                          </a:solidFill>
                          <a:latin typeface="Calibri" pitchFamily="34" charset="0"/>
                          <a:ea typeface="Calibri" pitchFamily="34" charset="-122"/>
                          <a:cs typeface="Calibri" pitchFamily="34" charset="-120"/>
                        </a:rPr>
                        <a:t>6. My English _____ improving every week! (has been)</a:t>
                      </a:r>
                      <a:endParaRPr lang="en-US" sz="8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r>
            </a:tbl>
          </a:graphicData>
        </a:graphic>
      </p:graphicFrame>
      <p:sp>
        <p:nvSpPr>
          <p:cNvPr id="38" name="Shape 34"/>
          <p:cNvSpPr/>
          <p:nvPr/>
        </p:nvSpPr>
        <p:spPr>
          <a:xfrm>
            <a:off x="3529584" y="4478731"/>
            <a:ext cx="3108960" cy="164592"/>
          </a:xfrm>
          <a:prstGeom prst="rect">
            <a:avLst/>
          </a:prstGeom>
          <a:solidFill>
            <a:srgbClr val="6B3FA0"/>
          </a:solidFill>
          <a:ln w="12700">
            <a:solidFill>
              <a:srgbClr val="6B3FA0"/>
            </a:solidFill>
            <a:prstDash val="solid"/>
          </a:ln>
        </p:spPr>
      </p:sp>
      <p:sp>
        <p:nvSpPr>
          <p:cNvPr id="39" name="Text 35"/>
          <p:cNvSpPr/>
          <p:nvPr/>
        </p:nvSpPr>
        <p:spPr>
          <a:xfrm>
            <a:off x="3557016" y="4478731"/>
            <a:ext cx="3072384" cy="164592"/>
          </a:xfrm>
          <a:prstGeom prst="rect">
            <a:avLst/>
          </a:prstGeom>
          <a:noFill/>
          <a:ln/>
        </p:spPr>
        <p:txBody>
          <a:bodyPr wrap="square" lIns="0" tIns="0" rIns="0" bIns="0" rtlCol="0" anchor="ctr"/>
          <a:lstStyle/>
          <a:p>
            <a:pPr indent="0" marL="0">
              <a:buNone/>
            </a:pPr>
            <a:r>
              <a:rPr lang="en-US" sz="800" b="1" dirty="0">
                <a:solidFill>
                  <a:srgbClr val="FFFFFF"/>
                </a:solidFill>
                <a:latin typeface="Calibri" pitchFamily="34" charset="0"/>
                <a:ea typeface="Calibri" pitchFamily="34" charset="-122"/>
                <a:cs typeface="Calibri" pitchFamily="34" charset="-120"/>
              </a:rPr>
              <a:t>Matching — English → Mongolian</a:t>
            </a:r>
            <a:endParaRPr lang="en-US" sz="800" dirty="0"/>
          </a:p>
        </p:txBody>
      </p:sp>
      <p:graphicFrame>
        <p:nvGraphicFramePr>
          <p:cNvPr id="10" name="Table 2"/>
          <p:cNvGraphicFramePr>
            <a:graphicFrameLocks noGrp="1"/>
          </p:cNvGraphicFramePr>
          <p:nvPr>
            <p:extLst>
              <p:ext uri="{D42A27DB-BD31-4B8C-83A1-F6EECF244321}">
                <p14:modId xmlns:p14="http://schemas.microsoft.com/office/powerpoint/2010/main" val="1579011935"/>
              </p:ext>
            </p:extLst>
          </p:nvPr>
        </p:nvGraphicFramePr>
        <p:xfrm>
          <a:off x="3529584" y="4643323"/>
          <a:ext cx="3108960" cy="914400"/>
        </p:xfrm>
        <a:graphic>
          <a:graphicData uri="http://schemas.openxmlformats.org/drawingml/2006/table">
            <a:tbl>
              <a:tblPr/>
              <a:tblGrid>
                <a:gridCol w="1616659"/>
                <a:gridCol w="1492301"/>
              </a:tblGrid>
              <a:tr h="235915">
                <a:tc>
                  <a:txBody>
                    <a:bodyPr/>
                    <a:lstStyle/>
                    <a:p>
                      <a:pPr algn="l" indent="0" marL="0">
                        <a:buNone/>
                      </a:pPr>
                      <a:r>
                        <a:rPr lang="en-US" sz="850" b="1" dirty="0">
                          <a:solidFill>
                            <a:srgbClr val="2E6DA4"/>
                          </a:solidFill>
                          <a:latin typeface="Calibri" pitchFamily="34" charset="0"/>
                          <a:ea typeface="Calibri" pitchFamily="34" charset="-122"/>
                          <a:cs typeface="Calibri" pitchFamily="34" charset="-120"/>
                        </a:rPr>
                        <a:t>1. have been studying</a:t>
                      </a:r>
                      <a:endParaRPr lang="en-US" sz="8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850" dirty="0">
                          <a:solidFill>
                            <a:srgbClr val="0D7C7B"/>
                          </a:solidFill>
                          <a:latin typeface="Calibri" pitchFamily="34" charset="0"/>
                          <a:ea typeface="Calibri" pitchFamily="34" charset="-122"/>
                          <a:cs typeface="Calibri" pitchFamily="34" charset="-120"/>
                        </a:rPr>
                        <a:t>A. ажиллаж байсан (одоо хүртэл)</a:t>
                      </a:r>
                      <a:endParaRPr lang="en-US" sz="8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r>
              <a:tr h="235915">
                <a:tc>
                  <a:txBody>
                    <a:bodyPr/>
                    <a:lstStyle/>
                    <a:p>
                      <a:pPr algn="l" indent="0" marL="0">
                        <a:buNone/>
                      </a:pPr>
                      <a:r>
                        <a:rPr lang="en-US" sz="850" b="1" dirty="0">
                          <a:solidFill>
                            <a:srgbClr val="2E6DA4"/>
                          </a:solidFill>
                          <a:latin typeface="Calibri" pitchFamily="34" charset="0"/>
                          <a:ea typeface="Calibri" pitchFamily="34" charset="-122"/>
                          <a:cs typeface="Calibri" pitchFamily="34" charset="-120"/>
                        </a:rPr>
                        <a:t>2. has been working</a:t>
                      </a:r>
                      <a:endParaRPr lang="en-US" sz="8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c>
                  <a:txBody>
                    <a:bodyPr/>
                    <a:lstStyle/>
                    <a:p>
                      <a:pPr algn="l" indent="0" marL="0">
                        <a:buNone/>
                      </a:pPr>
                      <a:r>
                        <a:rPr lang="en-US" sz="850" dirty="0">
                          <a:solidFill>
                            <a:srgbClr val="0D7C7B"/>
                          </a:solidFill>
                          <a:latin typeface="Calibri" pitchFamily="34" charset="0"/>
                          <a:ea typeface="Calibri" pitchFamily="34" charset="-122"/>
                          <a:cs typeface="Calibri" pitchFamily="34" charset="-120"/>
                        </a:rPr>
                        <a:t>B. хүлээж байсан</a:t>
                      </a:r>
                      <a:endParaRPr lang="en-US" sz="8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r>
              <a:tr h="235915">
                <a:tc>
                  <a:txBody>
                    <a:bodyPr/>
                    <a:lstStyle/>
                    <a:p>
                      <a:pPr algn="l" indent="0" marL="0">
                        <a:buNone/>
                      </a:pPr>
                      <a:r>
                        <a:rPr lang="en-US" sz="850" b="1" dirty="0">
                          <a:solidFill>
                            <a:srgbClr val="2E6DA4"/>
                          </a:solidFill>
                          <a:latin typeface="Calibri" pitchFamily="34" charset="0"/>
                          <a:ea typeface="Calibri" pitchFamily="34" charset="-122"/>
                          <a:cs typeface="Calibri" pitchFamily="34" charset="-120"/>
                        </a:rPr>
                        <a:t>3. have been waiting</a:t>
                      </a:r>
                      <a:endParaRPr lang="en-US" sz="8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850" dirty="0">
                          <a:solidFill>
                            <a:srgbClr val="0D7C7B"/>
                          </a:solidFill>
                          <a:latin typeface="Calibri" pitchFamily="34" charset="0"/>
                          <a:ea typeface="Calibri" pitchFamily="34" charset="-122"/>
                          <a:cs typeface="Calibri" pitchFamily="34" charset="-120"/>
                        </a:rPr>
                        <a:t>C. суралцаж байсан (одоо хүртэл)</a:t>
                      </a:r>
                      <a:endParaRPr lang="en-US" sz="8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r>
              <a:tr h="235915">
                <a:tc>
                  <a:txBody>
                    <a:bodyPr/>
                    <a:lstStyle/>
                    <a:p>
                      <a:pPr algn="l" indent="0" marL="0">
                        <a:buNone/>
                      </a:pPr>
                      <a:r>
                        <a:rPr lang="en-US" sz="850" b="1" dirty="0">
                          <a:solidFill>
                            <a:srgbClr val="2E6DA4"/>
                          </a:solidFill>
                          <a:latin typeface="Calibri" pitchFamily="34" charset="0"/>
                          <a:ea typeface="Calibri" pitchFamily="34" charset="-122"/>
                          <a:cs typeface="Calibri" pitchFamily="34" charset="-120"/>
                        </a:rPr>
                        <a:t>4. has been improving</a:t>
                      </a:r>
                      <a:endParaRPr lang="en-US" sz="8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c>
                  <a:txBody>
                    <a:bodyPr/>
                    <a:lstStyle/>
                    <a:p>
                      <a:pPr algn="l" indent="0" marL="0">
                        <a:buNone/>
                      </a:pPr>
                      <a:r>
                        <a:rPr lang="en-US" sz="850" dirty="0">
                          <a:solidFill>
                            <a:srgbClr val="0D7C7B"/>
                          </a:solidFill>
                          <a:latin typeface="Calibri" pitchFamily="34" charset="0"/>
                          <a:ea typeface="Calibri" pitchFamily="34" charset="-122"/>
                          <a:cs typeface="Calibri" pitchFamily="34" charset="-120"/>
                        </a:rPr>
                        <a:t>D. амьдарч байсан</a:t>
                      </a:r>
                      <a:endParaRPr lang="en-US" sz="8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r>
              <a:tr h="235915">
                <a:tc>
                  <a:txBody>
                    <a:bodyPr/>
                    <a:lstStyle/>
                    <a:p>
                      <a:pPr algn="l" indent="0" marL="0">
                        <a:buNone/>
                      </a:pPr>
                      <a:r>
                        <a:rPr lang="en-US" sz="850" b="1" dirty="0">
                          <a:solidFill>
                            <a:srgbClr val="2E6DA4"/>
                          </a:solidFill>
                          <a:latin typeface="Calibri" pitchFamily="34" charset="0"/>
                          <a:ea typeface="Calibri" pitchFamily="34" charset="-122"/>
                          <a:cs typeface="Calibri" pitchFamily="34" charset="-120"/>
                        </a:rPr>
                        <a:t>5. have been living</a:t>
                      </a:r>
                      <a:endParaRPr lang="en-US" sz="8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850" dirty="0">
                          <a:solidFill>
                            <a:srgbClr val="0D7C7B"/>
                          </a:solidFill>
                          <a:latin typeface="Calibri" pitchFamily="34" charset="0"/>
                          <a:ea typeface="Calibri" pitchFamily="34" charset="-122"/>
                          <a:cs typeface="Calibri" pitchFamily="34" charset="-120"/>
                        </a:rPr>
                        <a:t>E. сайжирч байсан</a:t>
                      </a:r>
                      <a:endParaRPr lang="en-US" sz="8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r>
            </a:tbl>
          </a:graphicData>
        </a:graphic>
      </p:graphicFrame>
      <p:sp>
        <p:nvSpPr>
          <p:cNvPr id="41" name="Shape 36"/>
          <p:cNvSpPr/>
          <p:nvPr/>
        </p:nvSpPr>
        <p:spPr>
          <a:xfrm>
            <a:off x="179222" y="5930798"/>
            <a:ext cx="2115312" cy="3648456"/>
          </a:xfrm>
          <a:prstGeom prst="rect">
            <a:avLst/>
          </a:prstGeom>
          <a:solidFill>
            <a:srgbClr val="D0DCE8"/>
          </a:solidFill>
          <a:ln w="12700">
            <a:solidFill>
              <a:srgbClr val="D0DCE8"/>
            </a:solidFill>
            <a:prstDash val="solid"/>
          </a:ln>
        </p:spPr>
      </p:sp>
      <p:sp>
        <p:nvSpPr>
          <p:cNvPr id="42" name="Shape 37"/>
          <p:cNvSpPr/>
          <p:nvPr/>
        </p:nvSpPr>
        <p:spPr>
          <a:xfrm>
            <a:off x="164592" y="5916168"/>
            <a:ext cx="2115312" cy="3648456"/>
          </a:xfrm>
          <a:prstGeom prst="rect">
            <a:avLst/>
          </a:prstGeom>
          <a:solidFill>
            <a:srgbClr val="FFFFFF"/>
          </a:solidFill>
          <a:ln w="12700">
            <a:solidFill>
              <a:srgbClr val="C8D8E8"/>
            </a:solidFill>
            <a:prstDash val="solid"/>
          </a:ln>
        </p:spPr>
      </p:sp>
      <p:sp>
        <p:nvSpPr>
          <p:cNvPr id="43" name="Shape 38"/>
          <p:cNvSpPr/>
          <p:nvPr/>
        </p:nvSpPr>
        <p:spPr>
          <a:xfrm>
            <a:off x="164592" y="5916168"/>
            <a:ext cx="2115312" cy="256032"/>
          </a:xfrm>
          <a:prstGeom prst="rect">
            <a:avLst/>
          </a:prstGeom>
          <a:solidFill>
            <a:srgbClr val="C97A0A"/>
          </a:solidFill>
          <a:ln w="12700">
            <a:solidFill>
              <a:srgbClr val="C97A0A"/>
            </a:solidFill>
            <a:prstDash val="solid"/>
          </a:ln>
        </p:spPr>
      </p:sp>
      <p:sp>
        <p:nvSpPr>
          <p:cNvPr id="44" name="Shape 39"/>
          <p:cNvSpPr/>
          <p:nvPr/>
        </p:nvSpPr>
        <p:spPr>
          <a:xfrm>
            <a:off x="164592" y="6172200"/>
            <a:ext cx="2115312" cy="146304"/>
          </a:xfrm>
          <a:prstGeom prst="rect">
            <a:avLst/>
          </a:prstGeom>
          <a:solidFill>
            <a:srgbClr val="FEF3DC"/>
          </a:solidFill>
          <a:ln w="12700">
            <a:solidFill>
              <a:srgbClr val="FEF3DC"/>
            </a:solidFill>
            <a:prstDash val="solid"/>
          </a:ln>
        </p:spPr>
      </p:sp>
      <p:sp>
        <p:nvSpPr>
          <p:cNvPr id="45" name="Text 40"/>
          <p:cNvSpPr/>
          <p:nvPr/>
        </p:nvSpPr>
        <p:spPr>
          <a:xfrm>
            <a:off x="256032" y="5916168"/>
            <a:ext cx="1987296" cy="256032"/>
          </a:xfrm>
          <a:prstGeom prst="rect">
            <a:avLst/>
          </a:prstGeom>
          <a:noFill/>
          <a:ln/>
        </p:spPr>
        <p:txBody>
          <a:bodyPr wrap="square" lIns="0" tIns="0" rIns="0" bIns="0" rtlCol="0" anchor="ctr"/>
          <a:lstStyle/>
          <a:p>
            <a:pPr indent="0" marL="0">
              <a:buNone/>
            </a:pPr>
            <a:r>
              <a:rPr lang="en-US" sz="1050" b="1" dirty="0">
                <a:solidFill>
                  <a:srgbClr val="FFFFFF"/>
                </a:solidFill>
                <a:latin typeface="Georgia" pitchFamily="34" charset="0"/>
                <a:ea typeface="Georgia" pitchFamily="34" charset="-122"/>
                <a:cs typeface="Georgia" pitchFamily="34" charset="-120"/>
              </a:rPr>
              <a:t>📝  Homework / Гэрийн даалгавар</a:t>
            </a:r>
            <a:endParaRPr lang="en-US" sz="1050" dirty="0"/>
          </a:p>
        </p:txBody>
      </p:sp>
      <p:sp>
        <p:nvSpPr>
          <p:cNvPr id="46" name="Text 41"/>
          <p:cNvSpPr/>
          <p:nvPr/>
        </p:nvSpPr>
        <p:spPr>
          <a:xfrm>
            <a:off x="256032" y="6181344"/>
            <a:ext cx="1987296" cy="137160"/>
          </a:xfrm>
          <a:prstGeom prst="rect">
            <a:avLst/>
          </a:prstGeom>
          <a:noFill/>
          <a:ln/>
        </p:spPr>
        <p:txBody>
          <a:bodyPr wrap="square" lIns="0" tIns="0" rIns="0" bIns="0" rtlCol="0" anchor="ctr"/>
          <a:lstStyle/>
          <a:p>
            <a:pPr indent="0" marL="0">
              <a:buNone/>
            </a:pPr>
            <a:r>
              <a:rPr lang="en-US" sz="750" i="1" dirty="0">
                <a:solidFill>
                  <a:srgbClr val="3A5060"/>
                </a:solidFill>
                <a:latin typeface="Calibri" pitchFamily="34" charset="0"/>
                <a:ea typeface="Calibri" pitchFamily="34" charset="-122"/>
                <a:cs typeface="Calibri" pitchFamily="34" charset="-120"/>
              </a:rPr>
              <a:t>Маргааш болохоос өмнө дуусга</a:t>
            </a:r>
            <a:endParaRPr lang="en-US" sz="750" dirty="0"/>
          </a:p>
        </p:txBody>
      </p:sp>
      <p:sp>
        <p:nvSpPr>
          <p:cNvPr id="47" name="Text 42"/>
          <p:cNvSpPr/>
          <p:nvPr/>
        </p:nvSpPr>
        <p:spPr>
          <a:xfrm>
            <a:off x="256032" y="6345936"/>
            <a:ext cx="1969008" cy="3154680"/>
          </a:xfrm>
          <a:prstGeom prst="rect">
            <a:avLst/>
          </a:prstGeom>
          <a:noFill/>
          <a:ln/>
        </p:spPr>
        <p:txBody>
          <a:bodyPr wrap="square" lIns="0" tIns="0" rIns="0" bIns="0" rtlCol="0" anchor="t"/>
          <a:lstStyle/>
          <a:p>
            <a:pPr indent="0" marL="0">
              <a:lnSpc>
                <a:spcPct val="210000"/>
              </a:lnSpc>
              <a:buNone/>
            </a:pPr>
            <a:r>
              <a:rPr lang="en-US" sz="950" b="1" dirty="0">
                <a:solidFill>
                  <a:srgbClr val="C97A0A"/>
                </a:solidFill>
                <a:latin typeface="Calibri" pitchFamily="34" charset="0"/>
                <a:ea typeface="Calibri" pitchFamily="34" charset="-122"/>
                <a:cs typeface="Calibri" pitchFamily="34" charset="-120"/>
              </a:rPr>
              <a:t>✍  </a:t>
            </a:r>
            <a:pPr indent="0" marL="0">
              <a:lnSpc>
                <a:spcPct val="210000"/>
              </a:lnSpc>
              <a:buNone/>
            </a:pPr>
            <a:r>
              <a:rPr lang="en-US" sz="950" dirty="0">
                <a:solidFill>
                  <a:srgbClr val="1A2A3A"/>
                </a:solidFill>
                <a:latin typeface="Calibri" pitchFamily="34" charset="0"/>
                <a:ea typeface="Calibri" pitchFamily="34" charset="-122"/>
                <a:cs typeface="Calibri" pitchFamily="34" charset="-120"/>
              </a:rPr>
              <a:t>Writing: Write 5 sentences about things you have been doing recently using Present Perfect Continuous.
</a:t>
            </a:r>
            <a:pPr indent="0" marL="0">
              <a:lnSpc>
                <a:spcPct val="210000"/>
              </a:lnSpc>
              <a:buNone/>
            </a:pPr>
            <a:r>
              <a:rPr lang="en-US" sz="950" b="1" dirty="0">
                <a:solidFill>
                  <a:srgbClr val="C97A0A"/>
                </a:solidFill>
                <a:latin typeface="Calibri" pitchFamily="34" charset="0"/>
                <a:ea typeface="Calibri" pitchFamily="34" charset="-122"/>
                <a:cs typeface="Calibri" pitchFamily="34" charset="-120"/>
              </a:rPr>
              <a:t>📖  </a:t>
            </a:r>
            <a:pPr indent="0" marL="0">
              <a:lnSpc>
                <a:spcPct val="210000"/>
              </a:lnSpc>
              <a:buNone/>
            </a:pPr>
            <a:r>
              <a:rPr lang="en-US" sz="950" dirty="0">
                <a:solidFill>
                  <a:srgbClr val="1A2A3A"/>
                </a:solidFill>
                <a:latin typeface="Calibri" pitchFamily="34" charset="0"/>
                <a:ea typeface="Calibri" pitchFamily="34" charset="-122"/>
                <a:cs typeface="Calibri" pitchFamily="34" charset="-120"/>
              </a:rPr>
              <a:t>Vocabulary: Write about your English journey: 'I have been studying for... I have been using... I have been noticing...'
</a:t>
            </a:r>
            <a:pPr indent="0" marL="0">
              <a:lnSpc>
                <a:spcPct val="210000"/>
              </a:lnSpc>
              <a:buNone/>
            </a:pPr>
            <a:r>
              <a:rPr lang="en-US" sz="950" b="1" dirty="0">
                <a:solidFill>
                  <a:srgbClr val="C97A0A"/>
                </a:solidFill>
                <a:latin typeface="Calibri" pitchFamily="34" charset="0"/>
                <a:ea typeface="Calibri" pitchFamily="34" charset="-122"/>
                <a:cs typeface="Calibri" pitchFamily="34" charset="-120"/>
              </a:rPr>
              <a:t>🗣️  </a:t>
            </a:r>
            <a:pPr indent="0" marL="0">
              <a:lnSpc>
                <a:spcPct val="210000"/>
              </a:lnSpc>
              <a:buNone/>
            </a:pPr>
            <a:r>
              <a:rPr lang="en-US" sz="950" dirty="0">
                <a:solidFill>
                  <a:srgbClr val="1A2A3A"/>
                </a:solidFill>
                <a:latin typeface="Calibri" pitchFamily="34" charset="0"/>
                <a:ea typeface="Calibri" pitchFamily="34" charset="-122"/>
                <a:cs typeface="Calibri" pitchFamily="34" charset="-120"/>
              </a:rPr>
              <a:t>Speaking: Answer this in 1 minute: 'What have you been doing to improve your English lately?'
</a:t>
            </a:r>
            <a:pPr indent="0" marL="0">
              <a:lnSpc>
                <a:spcPct val="210000"/>
              </a:lnSpc>
              <a:buNone/>
            </a:pPr>
            <a:r>
              <a:rPr lang="en-US" sz="950" b="1" dirty="0">
                <a:solidFill>
                  <a:srgbClr val="C97A0A"/>
                </a:solidFill>
                <a:latin typeface="Calibri" pitchFamily="34" charset="0"/>
                <a:ea typeface="Calibri" pitchFamily="34" charset="-122"/>
                <a:cs typeface="Calibri" pitchFamily="34" charset="-120"/>
              </a:rPr>
              <a:t>🔁  </a:t>
            </a:r>
            <a:pPr indent="0" marL="0">
              <a:lnSpc>
                <a:spcPct val="210000"/>
              </a:lnSpc>
              <a:buNone/>
            </a:pPr>
            <a:r>
              <a:rPr lang="en-US" sz="950" dirty="0">
                <a:solidFill>
                  <a:srgbClr val="1A2A3A"/>
                </a:solidFill>
                <a:latin typeface="Calibri" pitchFamily="34" charset="0"/>
                <a:ea typeface="Calibri" pitchFamily="34" charset="-122"/>
                <a:cs typeface="Calibri" pitchFamily="34" charset="-120"/>
              </a:rPr>
              <a:t>Review: have/has + been + -ing = ongoing · FOR + period · SINCE + starting point · lately/recently = signal words
</a:t>
            </a:r>
            <a:endParaRPr lang="en-US" sz="950" dirty="0"/>
          </a:p>
        </p:txBody>
      </p:sp>
      <p:sp>
        <p:nvSpPr>
          <p:cNvPr id="48" name="Shape 43"/>
          <p:cNvSpPr/>
          <p:nvPr/>
        </p:nvSpPr>
        <p:spPr>
          <a:xfrm>
            <a:off x="2385974" y="5930798"/>
            <a:ext cx="2115312" cy="3648456"/>
          </a:xfrm>
          <a:prstGeom prst="rect">
            <a:avLst/>
          </a:prstGeom>
          <a:solidFill>
            <a:srgbClr val="D0DCE8"/>
          </a:solidFill>
          <a:ln w="12700">
            <a:solidFill>
              <a:srgbClr val="D0DCE8"/>
            </a:solidFill>
            <a:prstDash val="solid"/>
          </a:ln>
        </p:spPr>
      </p:sp>
      <p:sp>
        <p:nvSpPr>
          <p:cNvPr id="49" name="Shape 44"/>
          <p:cNvSpPr/>
          <p:nvPr/>
        </p:nvSpPr>
        <p:spPr>
          <a:xfrm>
            <a:off x="2371344" y="5916168"/>
            <a:ext cx="2115312" cy="3648456"/>
          </a:xfrm>
          <a:prstGeom prst="rect">
            <a:avLst/>
          </a:prstGeom>
          <a:solidFill>
            <a:srgbClr val="FFFFFF"/>
          </a:solidFill>
          <a:ln w="12700">
            <a:solidFill>
              <a:srgbClr val="C8D8E8"/>
            </a:solidFill>
            <a:prstDash val="solid"/>
          </a:ln>
        </p:spPr>
      </p:sp>
      <p:sp>
        <p:nvSpPr>
          <p:cNvPr id="50" name="Shape 45"/>
          <p:cNvSpPr/>
          <p:nvPr/>
        </p:nvSpPr>
        <p:spPr>
          <a:xfrm>
            <a:off x="2371344" y="5916168"/>
            <a:ext cx="2115312" cy="256032"/>
          </a:xfrm>
          <a:prstGeom prst="rect">
            <a:avLst/>
          </a:prstGeom>
          <a:solidFill>
            <a:srgbClr val="1E7A4A"/>
          </a:solidFill>
          <a:ln w="12700">
            <a:solidFill>
              <a:srgbClr val="1E7A4A"/>
            </a:solidFill>
            <a:prstDash val="solid"/>
          </a:ln>
        </p:spPr>
      </p:sp>
      <p:sp>
        <p:nvSpPr>
          <p:cNvPr id="51" name="Shape 46"/>
          <p:cNvSpPr/>
          <p:nvPr/>
        </p:nvSpPr>
        <p:spPr>
          <a:xfrm>
            <a:off x="2371344" y="6172200"/>
            <a:ext cx="2115312" cy="146304"/>
          </a:xfrm>
          <a:prstGeom prst="rect">
            <a:avLst/>
          </a:prstGeom>
          <a:solidFill>
            <a:srgbClr val="E8F5EE"/>
          </a:solidFill>
          <a:ln w="12700">
            <a:solidFill>
              <a:srgbClr val="E8F5EE"/>
            </a:solidFill>
            <a:prstDash val="solid"/>
          </a:ln>
        </p:spPr>
      </p:sp>
      <p:sp>
        <p:nvSpPr>
          <p:cNvPr id="52" name="Text 47"/>
          <p:cNvSpPr/>
          <p:nvPr/>
        </p:nvSpPr>
        <p:spPr>
          <a:xfrm>
            <a:off x="2462784" y="5916168"/>
            <a:ext cx="1987296" cy="256032"/>
          </a:xfrm>
          <a:prstGeom prst="rect">
            <a:avLst/>
          </a:prstGeom>
          <a:noFill/>
          <a:ln/>
        </p:spPr>
        <p:txBody>
          <a:bodyPr wrap="square" lIns="0" tIns="0" rIns="0" bIns="0" rtlCol="0" anchor="ctr"/>
          <a:lstStyle/>
          <a:p>
            <a:pPr indent="0" marL="0">
              <a:buNone/>
            </a:pPr>
            <a:r>
              <a:rPr lang="en-US" sz="1050" b="1" dirty="0">
                <a:solidFill>
                  <a:srgbClr val="FFFFFF"/>
                </a:solidFill>
                <a:latin typeface="Georgia" pitchFamily="34" charset="0"/>
                <a:ea typeface="Georgia" pitchFamily="34" charset="-122"/>
                <a:cs typeface="Georgia" pitchFamily="34" charset="-120"/>
              </a:rPr>
              <a:t>🔑  Answer Key / Хариулт</a:t>
            </a:r>
            <a:endParaRPr lang="en-US" sz="1050" dirty="0"/>
          </a:p>
        </p:txBody>
      </p:sp>
      <p:sp>
        <p:nvSpPr>
          <p:cNvPr id="53" name="Text 48"/>
          <p:cNvSpPr/>
          <p:nvPr/>
        </p:nvSpPr>
        <p:spPr>
          <a:xfrm>
            <a:off x="2462784" y="6181344"/>
            <a:ext cx="1987296" cy="137160"/>
          </a:xfrm>
          <a:prstGeom prst="rect">
            <a:avLst/>
          </a:prstGeom>
          <a:noFill/>
          <a:ln/>
        </p:spPr>
        <p:txBody>
          <a:bodyPr wrap="square" lIns="0" tIns="0" rIns="0" bIns="0" rtlCol="0" anchor="ctr"/>
          <a:lstStyle/>
          <a:p>
            <a:pPr indent="0" marL="0">
              <a:buNone/>
            </a:pPr>
            <a:r>
              <a:rPr lang="en-US" sz="750" i="1" dirty="0">
                <a:solidFill>
                  <a:srgbClr val="3A5060"/>
                </a:solidFill>
                <a:latin typeface="Calibri" pitchFamily="34" charset="0"/>
                <a:ea typeface="Calibri" pitchFamily="34" charset="-122"/>
                <a:cs typeface="Calibri" pitchFamily="34" charset="-120"/>
              </a:rPr>
              <a:t>Check honestly!</a:t>
            </a:r>
            <a:endParaRPr lang="en-US" sz="750" dirty="0"/>
          </a:p>
        </p:txBody>
      </p:sp>
      <p:sp>
        <p:nvSpPr>
          <p:cNvPr id="54" name="Text 49"/>
          <p:cNvSpPr/>
          <p:nvPr/>
        </p:nvSpPr>
        <p:spPr>
          <a:xfrm>
            <a:off x="2462784" y="6345936"/>
            <a:ext cx="1969008" cy="3154680"/>
          </a:xfrm>
          <a:prstGeom prst="rect">
            <a:avLst/>
          </a:prstGeom>
          <a:noFill/>
          <a:ln/>
        </p:spPr>
        <p:txBody>
          <a:bodyPr wrap="square" lIns="0" tIns="0" rIns="0" bIns="0" rtlCol="0" anchor="t"/>
          <a:lstStyle/>
          <a:p>
            <a:pPr indent="0" marL="0">
              <a:lnSpc>
                <a:spcPct val="195000"/>
              </a:lnSpc>
              <a:buNone/>
            </a:pPr>
            <a:r>
              <a:rPr lang="en-US" sz="900" b="1" dirty="0">
                <a:solidFill>
                  <a:srgbClr val="1E7A4A"/>
                </a:solidFill>
                <a:latin typeface="Calibri" pitchFamily="34" charset="0"/>
                <a:ea typeface="Calibri" pitchFamily="34" charset="-122"/>
                <a:cs typeface="Calibri" pitchFamily="34" charset="-120"/>
              </a:rPr>
              <a:t>Fill in blanks:
</a:t>
            </a:r>
            <a:pPr indent="0" marL="0">
              <a:lnSpc>
                <a:spcPct val="195000"/>
              </a:lnSpc>
              <a:buNone/>
            </a:pPr>
            <a:r>
              <a:rPr lang="en-US" sz="900" dirty="0">
                <a:solidFill>
                  <a:srgbClr val="1A2A3A"/>
                </a:solidFill>
                <a:latin typeface="Calibri" pitchFamily="34" charset="0"/>
                <a:ea typeface="Calibri" pitchFamily="34" charset="-122"/>
                <a:cs typeface="Calibri" pitchFamily="34" charset="-120"/>
              </a:rPr>
              <a:t>1-have been · 2-has been · 3-have been · 4-have been · 5-Have · 6-has been
</a:t>
            </a:r>
            <a:pPr indent="0" marL="0">
              <a:lnSpc>
                <a:spcPct val="195000"/>
              </a:lnSpc>
              <a:buNone/>
            </a:pPr>
            <a:r>
              <a:rPr lang="en-US" sz="900" b="1" dirty="0">
                <a:solidFill>
                  <a:srgbClr val="1E7A4A"/>
                </a:solidFill>
                <a:latin typeface="Calibri" pitchFamily="34" charset="0"/>
                <a:ea typeface="Calibri" pitchFamily="34" charset="-122"/>
                <a:cs typeface="Calibri" pitchFamily="34" charset="-120"/>
              </a:rPr>
              <a:t>Matching:
</a:t>
            </a:r>
            <a:pPr indent="0" marL="0">
              <a:lnSpc>
                <a:spcPct val="195000"/>
              </a:lnSpc>
              <a:buNone/>
            </a:pPr>
            <a:r>
              <a:rPr lang="en-US" sz="900" dirty="0">
                <a:solidFill>
                  <a:srgbClr val="1A2A3A"/>
                </a:solidFill>
                <a:latin typeface="Calibri" pitchFamily="34" charset="0"/>
                <a:ea typeface="Calibri" pitchFamily="34" charset="-122"/>
                <a:cs typeface="Calibri" pitchFamily="34" charset="-120"/>
              </a:rPr>
              <a:t>1-C · 2-A · 3-B · 4-E · 5-D
</a:t>
            </a:r>
            <a:pPr indent="0" marL="0">
              <a:lnSpc>
                <a:spcPct val="195000"/>
              </a:lnSpc>
              <a:buNone/>
            </a:pPr>
            <a:r>
              <a:rPr lang="en-US" sz="900" b="1" dirty="0">
                <a:solidFill>
                  <a:srgbClr val="1E7A4A"/>
                </a:solidFill>
                <a:latin typeface="Calibri" pitchFamily="34" charset="0"/>
                <a:ea typeface="Calibri" pitchFamily="34" charset="-122"/>
                <a:cs typeface="Calibri" pitchFamily="34" charset="-120"/>
              </a:rPr>
              <a:t>Listening (1–10):
</a:t>
            </a:r>
            <a:pPr indent="0" marL="0">
              <a:lnSpc>
                <a:spcPct val="195000"/>
              </a:lnSpc>
              <a:buNone/>
            </a:pPr>
            <a:r>
              <a:rPr lang="en-US" sz="900" dirty="0">
                <a:solidFill>
                  <a:srgbClr val="1A2A3A"/>
                </a:solidFill>
                <a:latin typeface="Calibri" pitchFamily="34" charset="0"/>
                <a:ea typeface="Calibri" pitchFamily="34" charset="-122"/>
                <a:cs typeface="Calibri" pitchFamily="34" charset="-120"/>
              </a:rPr>
              <a:t>1-b · 2-c · 3-a · 4-c · 5-b
6-c · 7-b · 8-c · 9-b · 10-b
</a:t>
            </a:r>
            <a:pPr indent="0" marL="0">
              <a:lnSpc>
                <a:spcPct val="195000"/>
              </a:lnSpc>
              <a:buNone/>
            </a:pPr>
            <a:r>
              <a:rPr lang="en-US" sz="900" b="1" dirty="0">
                <a:solidFill>
                  <a:srgbClr val="C97A0A"/>
                </a:solidFill>
                <a:latin typeface="Calibri" pitchFamily="34" charset="0"/>
                <a:ea typeface="Calibri" pitchFamily="34" charset="-122"/>
                <a:cs typeface="Calibri" pitchFamily="34" charset="-120"/>
              </a:rPr>
              <a:t>💡  </a:t>
            </a:r>
            <a:pPr indent="0" marL="0">
              <a:lnSpc>
                <a:spcPct val="195000"/>
              </a:lnSpc>
              <a:buNone/>
            </a:pPr>
            <a:r>
              <a:rPr lang="en-US" sz="850" i="1" dirty="0">
                <a:solidFill>
                  <a:srgbClr val="3A5060"/>
                </a:solidFill>
                <a:latin typeface="Calibri" pitchFamily="34" charset="0"/>
                <a:ea typeface="Calibri" pitchFamily="34" charset="-122"/>
                <a:cs typeface="Calibri" pitchFamily="34" charset="-120"/>
              </a:rPr>
              <a:t>Mistakes help you learn!</a:t>
            </a:r>
            <a:endParaRPr lang="en-US" sz="900" dirty="0"/>
          </a:p>
        </p:txBody>
      </p:sp>
      <p:sp>
        <p:nvSpPr>
          <p:cNvPr id="55" name="Shape 50"/>
          <p:cNvSpPr/>
          <p:nvPr/>
        </p:nvSpPr>
        <p:spPr>
          <a:xfrm>
            <a:off x="4592726" y="5930798"/>
            <a:ext cx="2115312" cy="3648456"/>
          </a:xfrm>
          <a:prstGeom prst="rect">
            <a:avLst/>
          </a:prstGeom>
          <a:solidFill>
            <a:srgbClr val="D0DCE8"/>
          </a:solidFill>
          <a:ln w="12700">
            <a:solidFill>
              <a:srgbClr val="D0DCE8"/>
            </a:solidFill>
            <a:prstDash val="solid"/>
          </a:ln>
        </p:spPr>
      </p:sp>
      <p:sp>
        <p:nvSpPr>
          <p:cNvPr id="56" name="Shape 51"/>
          <p:cNvSpPr/>
          <p:nvPr/>
        </p:nvSpPr>
        <p:spPr>
          <a:xfrm>
            <a:off x="4578096" y="5916168"/>
            <a:ext cx="2115312" cy="3648456"/>
          </a:xfrm>
          <a:prstGeom prst="rect">
            <a:avLst/>
          </a:prstGeom>
          <a:solidFill>
            <a:srgbClr val="FFFFFF"/>
          </a:solidFill>
          <a:ln w="12700">
            <a:solidFill>
              <a:srgbClr val="C8D8E8"/>
            </a:solidFill>
            <a:prstDash val="solid"/>
          </a:ln>
        </p:spPr>
      </p:sp>
      <p:sp>
        <p:nvSpPr>
          <p:cNvPr id="57" name="Shape 52"/>
          <p:cNvSpPr/>
          <p:nvPr/>
        </p:nvSpPr>
        <p:spPr>
          <a:xfrm>
            <a:off x="4578096" y="5916168"/>
            <a:ext cx="2115312" cy="256032"/>
          </a:xfrm>
          <a:prstGeom prst="rect">
            <a:avLst/>
          </a:prstGeom>
          <a:solidFill>
            <a:srgbClr val="2E6DA4"/>
          </a:solidFill>
          <a:ln w="12700">
            <a:solidFill>
              <a:srgbClr val="2E6DA4"/>
            </a:solidFill>
            <a:prstDash val="solid"/>
          </a:ln>
        </p:spPr>
      </p:sp>
      <p:sp>
        <p:nvSpPr>
          <p:cNvPr id="58" name="Shape 53"/>
          <p:cNvSpPr/>
          <p:nvPr/>
        </p:nvSpPr>
        <p:spPr>
          <a:xfrm>
            <a:off x="4578096" y="6172200"/>
            <a:ext cx="2115312" cy="146304"/>
          </a:xfrm>
          <a:prstGeom prst="rect">
            <a:avLst/>
          </a:prstGeom>
          <a:solidFill>
            <a:srgbClr val="EBF4FB"/>
          </a:solidFill>
          <a:ln w="12700">
            <a:solidFill>
              <a:srgbClr val="EBF4FB"/>
            </a:solidFill>
            <a:prstDash val="solid"/>
          </a:ln>
        </p:spPr>
      </p:sp>
      <p:sp>
        <p:nvSpPr>
          <p:cNvPr id="59" name="Text 54"/>
          <p:cNvSpPr/>
          <p:nvPr/>
        </p:nvSpPr>
        <p:spPr>
          <a:xfrm>
            <a:off x="4669536" y="5916168"/>
            <a:ext cx="1987296" cy="256032"/>
          </a:xfrm>
          <a:prstGeom prst="rect">
            <a:avLst/>
          </a:prstGeom>
          <a:noFill/>
          <a:ln/>
        </p:spPr>
        <p:txBody>
          <a:bodyPr wrap="square" lIns="0" tIns="0" rIns="0" bIns="0" rtlCol="0" anchor="ctr"/>
          <a:lstStyle/>
          <a:p>
            <a:pPr indent="0" marL="0">
              <a:buNone/>
            </a:pPr>
            <a:r>
              <a:rPr lang="en-US" sz="1050" b="1" dirty="0">
                <a:solidFill>
                  <a:srgbClr val="FFFFFF"/>
                </a:solidFill>
                <a:latin typeface="Georgia" pitchFamily="34" charset="0"/>
                <a:ea typeface="Georgia" pitchFamily="34" charset="-122"/>
                <a:cs typeface="Georgia" pitchFamily="34" charset="-120"/>
              </a:rPr>
              <a:t>🌟  Day 63 Complete!</a:t>
            </a:r>
            <a:endParaRPr lang="en-US" sz="1050" dirty="0"/>
          </a:p>
        </p:txBody>
      </p:sp>
      <p:sp>
        <p:nvSpPr>
          <p:cNvPr id="60" name="Text 55"/>
          <p:cNvSpPr/>
          <p:nvPr/>
        </p:nvSpPr>
        <p:spPr>
          <a:xfrm>
            <a:off x="4669536" y="6181344"/>
            <a:ext cx="1987296" cy="137160"/>
          </a:xfrm>
          <a:prstGeom prst="rect">
            <a:avLst/>
          </a:prstGeom>
          <a:noFill/>
          <a:ln/>
        </p:spPr>
        <p:txBody>
          <a:bodyPr wrap="square" lIns="0" tIns="0" rIns="0" bIns="0" rtlCol="0" anchor="ctr"/>
          <a:lstStyle/>
          <a:p>
            <a:pPr indent="0" marL="0">
              <a:buNone/>
            </a:pPr>
            <a:r>
              <a:rPr lang="en-US" sz="750" i="1" dirty="0">
                <a:solidFill>
                  <a:srgbClr val="3A5060"/>
                </a:solidFill>
                <a:latin typeface="Calibri" pitchFamily="34" charset="0"/>
                <a:ea typeface="Calibri" pitchFamily="34" charset="-122"/>
                <a:cs typeface="Calibri" pitchFamily="34" charset="-120"/>
              </a:rPr>
              <a:t>Today you completed:</a:t>
            </a:r>
            <a:endParaRPr lang="en-US" sz="750" dirty="0"/>
          </a:p>
        </p:txBody>
      </p:sp>
      <p:sp>
        <p:nvSpPr>
          <p:cNvPr id="61" name="Text 56"/>
          <p:cNvSpPr/>
          <p:nvPr/>
        </p:nvSpPr>
        <p:spPr>
          <a:xfrm>
            <a:off x="4669536" y="6345936"/>
            <a:ext cx="1969008" cy="2953512"/>
          </a:xfrm>
          <a:prstGeom prst="rect">
            <a:avLst/>
          </a:prstGeom>
          <a:noFill/>
          <a:ln/>
        </p:spPr>
        <p:txBody>
          <a:bodyPr wrap="square" lIns="0" tIns="0" rIns="0" bIns="0" rtlCol="0" anchor="t"/>
          <a:lstStyle/>
          <a:p>
            <a:pPr indent="0" marL="0">
              <a:lnSpc>
                <a:spcPct val="210000"/>
              </a:lnSpc>
              <a:buNone/>
            </a:pPr>
            <a:r>
              <a:rPr lang="en-US" sz="800" dirty="0">
                <a:solidFill>
                  <a:srgbClr val="1E7A4A"/>
                </a:solidFill>
                <a:latin typeface="Calibri" pitchFamily="34" charset="0"/>
                <a:ea typeface="Calibri" pitchFamily="34" charset="-122"/>
                <a:cs typeface="Calibri" pitchFamily="34" charset="-120"/>
              </a:rPr>
              <a:t>✅  20 амьдралын өөрчлөлтийн үг · 20 life change words</a:t>
            </a:r>
            <a:endParaRPr lang="en-US" sz="800" dirty="0"/>
          </a:p>
          <a:p>
            <a:pPr indent="0" marL="0">
              <a:lnSpc>
                <a:spcPct val="210000"/>
              </a:lnSpc>
              <a:buNone/>
            </a:pPr>
            <a:r>
              <a:rPr lang="en-US" sz="800" dirty="0">
                <a:solidFill>
                  <a:srgbClr val="1E7A4A"/>
                </a:solidFill>
                <a:latin typeface="Calibri" pitchFamily="34" charset="0"/>
                <a:ea typeface="Calibri" pitchFamily="34" charset="-122"/>
                <a:cs typeface="Calibri" pitchFamily="34" charset="-120"/>
              </a:rPr>
              <a:t>✅  Present Perfect Continuous — have/has been + -ing</a:t>
            </a:r>
            <a:endParaRPr lang="en-US" sz="800" dirty="0"/>
          </a:p>
          <a:p>
            <a:pPr indent="0" marL="0">
              <a:lnSpc>
                <a:spcPct val="210000"/>
              </a:lnSpc>
              <a:buNone/>
            </a:pPr>
            <a:r>
              <a:rPr lang="en-US" sz="800" dirty="0">
                <a:solidFill>
                  <a:srgbClr val="1E7A4A"/>
                </a:solidFill>
                <a:latin typeface="Calibri" pitchFamily="34" charset="0"/>
                <a:ea typeface="Calibri" pitchFamily="34" charset="-122"/>
                <a:cs typeface="Calibri" pitchFamily="34" charset="-120"/>
              </a:rPr>
              <a:t>✅  Батын аяллын тухай уншсан</a:t>
            </a:r>
            <a:endParaRPr lang="en-US" sz="800" dirty="0"/>
          </a:p>
          <a:p>
            <a:pPr indent="0" marL="0">
              <a:lnSpc>
                <a:spcPct val="210000"/>
              </a:lnSpc>
              <a:buNone/>
            </a:pPr>
            <a:r>
              <a:rPr lang="en-US" sz="800" dirty="0">
                <a:solidFill>
                  <a:srgbClr val="1E7A4A"/>
                </a:solidFill>
                <a:latin typeface="Calibri" pitchFamily="34" charset="0"/>
                <a:ea typeface="Calibri" pitchFamily="34" charset="-122"/>
                <a:cs typeface="Calibri" pitchFamily="34" charset="-120"/>
              </a:rPr>
              <a:t>✅  Дасгал · Grammar practice</a:t>
            </a:r>
            <a:endParaRPr lang="en-US" sz="800" dirty="0"/>
          </a:p>
          <a:p>
            <a:pPr indent="0" marL="0">
              <a:lnSpc>
                <a:spcPct val="210000"/>
              </a:lnSpc>
              <a:buNone/>
            </a:pPr>
            <a:r>
              <a:rPr lang="en-US" sz="800" dirty="0">
                <a:solidFill>
                  <a:srgbClr val="1E7A4A"/>
                </a:solidFill>
                <a:latin typeface="Calibri" pitchFamily="34" charset="0"/>
                <a:ea typeface="Calibri" pitchFamily="34" charset="-122"/>
                <a:cs typeface="Calibri" pitchFamily="34" charset="-120"/>
              </a:rPr>
              <a:t>✅  Ярих дасгал · Speaking practice</a:t>
            </a:r>
            <a:endParaRPr lang="en-US" sz="800" dirty="0"/>
          </a:p>
          <a:p>
            <a:pPr indent="0" marL="0">
              <a:lnSpc>
                <a:spcPct val="210000"/>
              </a:lnSpc>
              <a:buNone/>
            </a:pPr>
            <a:r>
              <a:rPr lang="en-US" sz="800" dirty="0">
                <a:solidFill>
                  <a:srgbClr val="1E7A4A"/>
                </a:solidFill>
                <a:latin typeface="Calibri" pitchFamily="34" charset="0"/>
                <a:ea typeface="Calibri" pitchFamily="34" charset="-122"/>
                <a:cs typeface="Calibri" pitchFamily="34" charset="-120"/>
              </a:rPr>
              <a:t>✅  Сонсох · Listening practice</a:t>
            </a:r>
            <a:endParaRPr lang="en-US" sz="800" dirty="0"/>
          </a:p>
          <a:p>
            <a:pPr indent="0" marL="0">
              <a:lnSpc>
                <a:spcPct val="210000"/>
              </a:lnSpc>
              <a:buNone/>
            </a:pPr>
            <a:r>
              <a:rPr lang="en-US" sz="800" dirty="0">
                <a:solidFill>
                  <a:srgbClr val="1E7A4A"/>
                </a:solidFill>
                <a:latin typeface="Calibri" pitchFamily="34" charset="0"/>
                <a:ea typeface="Calibri" pitchFamily="34" charset="-122"/>
                <a:cs typeface="Calibri" pitchFamily="34" charset="-120"/>
              </a:rPr>
              <a:t>✅  Present Perfect Continuous сурсан</a:t>
            </a:r>
            <a:endParaRPr lang="en-US" sz="800" dirty="0"/>
          </a:p>
        </p:txBody>
      </p:sp>
      <p:sp>
        <p:nvSpPr>
          <p:cNvPr id="62" name="Shape 57"/>
          <p:cNvSpPr/>
          <p:nvPr/>
        </p:nvSpPr>
        <p:spPr>
          <a:xfrm>
            <a:off x="4651248" y="9253728"/>
            <a:ext cx="1969008" cy="256032"/>
          </a:xfrm>
          <a:prstGeom prst="rect">
            <a:avLst/>
          </a:prstGeom>
          <a:solidFill>
            <a:srgbClr val="EBF4FB"/>
          </a:solidFill>
          <a:ln w="12700">
            <a:solidFill>
              <a:srgbClr val="2E6DA4"/>
            </a:solidFill>
            <a:prstDash val="solid"/>
          </a:ln>
        </p:spPr>
      </p:sp>
      <p:sp>
        <p:nvSpPr>
          <p:cNvPr id="63" name="Text 58"/>
          <p:cNvSpPr/>
          <p:nvPr/>
        </p:nvSpPr>
        <p:spPr>
          <a:xfrm>
            <a:off x="4687824" y="9262872"/>
            <a:ext cx="1914144" cy="237744"/>
          </a:xfrm>
          <a:prstGeom prst="rect">
            <a:avLst/>
          </a:prstGeom>
          <a:noFill/>
          <a:ln/>
        </p:spPr>
        <p:txBody>
          <a:bodyPr wrap="square" lIns="0" tIns="0" rIns="0" bIns="0" rtlCol="0" anchor="ctr"/>
          <a:lstStyle/>
          <a:p>
            <a:pPr indent="0" marL="0">
              <a:buNone/>
            </a:pPr>
            <a:r>
              <a:rPr lang="en-US" sz="850" b="1" dirty="0">
                <a:solidFill>
                  <a:srgbClr val="2E6DA4"/>
                </a:solidFill>
                <a:latin typeface="Calibri" pitchFamily="34" charset="0"/>
                <a:ea typeface="Calibri" pitchFamily="34" charset="-122"/>
                <a:cs typeface="Calibri" pitchFamily="34" charset="-120"/>
              </a:rPr>
              <a:t>🚀  Day 64: How Long Have You Been? — Duration</a:t>
            </a:r>
            <a:endParaRPr lang="en-US" sz="8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Slides>
  <Notes>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vt:i4>
      </vt:variant>
    </vt:vector>
  </HeadingPairs>
  <TitlesOfParts>
    <vt:vector size="6" baseType="lpstr">
      <vt:lpstr>Arial</vt:lpstr>
      <vt:lpstr>Calibri</vt:lpstr>
      <vt:lpstr>Office Theme</vt:lpstr>
      <vt:lpstr>Slide 1</vt:lpstr>
      <vt:lpstr>Slide 2</vt:lpstr>
      <vt:lpstr>Slide 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2026-04-08T14:16:39Z</dcterms:created>
  <dcterms:modified xsi:type="dcterms:W3CDTF">2026-04-08T14:16:39Z</dcterms:modified>
</cp:coreProperties>
</file>