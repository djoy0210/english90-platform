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692640"/>
  <p:notesSz cx="969264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81 · ӨДӨР 81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Review  ·  12-р долоо хоногийн давталт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Page 1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64592" y="630936"/>
            <a:ext cx="6528816" cy="182880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" y="630936"/>
            <a:ext cx="6419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Learn 20 words   ✦ Grammar: All Week 12 grammar — gerunds, advanced passive, causative, reported questions, past perfect   ✦ Cover &amp; test yourself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9222" y="874166"/>
            <a:ext cx="331012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59536"/>
            <a:ext cx="331012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859536"/>
            <a:ext cx="3310128" cy="256032"/>
          </a:xfrm>
          <a:prstGeom prst="rect">
            <a:avLst/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1115568"/>
            <a:ext cx="331012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85953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Vocabulary — 20 New Words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6032" y="1124712"/>
            <a:ext cx="3182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3 times · Cover Mongolian &amp; test yourself!</a:t>
            </a:r>
            <a:endParaRPr lang="en-US" sz="7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1289304"/>
          <a:ext cx="3200400" cy="914400"/>
        </p:xfrm>
        <a:graphic>
          <a:graphicData uri="http://schemas.openxmlformats.org/drawingml/2006/table">
            <a:tbl>
              <a:tblPr/>
              <a:tblGrid>
                <a:gridCol w="182880"/>
                <a:gridCol w="610819"/>
                <a:gridCol w="610819"/>
                <a:gridCol w="794065"/>
                <a:gridCol w="1038393"/>
              </a:tblGrid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Pronunciation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Дуудлага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sentence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A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/rɪˈvjuː/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давталт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12 review — let's consolidate!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gerund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/ˈdʒɛrənd/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герунд (-ing хэлбэр)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enjoy studying — 'studying' is a gerund.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infinitive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/ɪnˈfɪnɪtɪv/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инфинитив (to + үйлүг)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want to study — 'to study' is an infinitive.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causative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/ˈkɔːzətɪv/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causative have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had my hair cut — causative have.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/ˈsiːkwəns/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дараалал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 Perfect sequences past events.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earlier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/ˈɜːrliər/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эрт / өмнө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 Perfect shows the earlier event.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arrangement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/əˈreɪndʒmənt/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тохиролцсон үйл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Causative = arranged for someone else.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statement order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/ˈsteɪtmənt ˈɔːrdər/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өгүүлбэрийн дараалал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Indirect questions use statement order.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tense shift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/tɛns ʃɪft/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цагийн ухрал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Reported speech involves a tense shift.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/ˈeɪdʒənt/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хийгч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Passive: 'by + agent' is optional.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consolidate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/kənˈsɒlɪdeɪt/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нэгтгэх / бататгах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 we consolidate Week 12 skills.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background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/ˈbækɡraʊnd/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арын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 gives the background to a story.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 event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/ˈpraɪər ɪˈvɛnt/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өмнөх үйл явдал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 shows the prior event.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the time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/baɪ ðə taɪm/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болоход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the time I arrived, it had ended.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/ədˈvɑːnst/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дэвшилтэт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are using advanced B1 grammar!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fluency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/ˈfluːənsi/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чөлөөт яриа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fluency is growing every day.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accurately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/ˈækjʊrɪtli/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нарийвчлалтайгаар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grammar accurately and naturally.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proficient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/prəˈfɪʃənt/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дадсан / чадварлаг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are becoming proficient at B1!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/ˈɪntɪɡreɪt/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нэгтгэн хэрэглэх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 all skills naturally.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/ˈmaɪlstoʊn/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чухал үе шат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12 complete is a huge milestone!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219456" y="9290304"/>
            <a:ext cx="3200400" cy="219456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6032" y="929944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Infinitive /ɪnˈfɪnɪtɪv/ — 4 syllables · Consolidate /kənˈsɒlɪdeɪt/ — 4 syllables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Gerund — 2 үе: JER-und. Causative — 3 үе: KAW-zuh-tiv. Proficient — 3 үе: pruh-FISH-unt.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3580790" y="874166"/>
            <a:ext cx="312724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566160" y="859536"/>
            <a:ext cx="312724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566160" y="859536"/>
            <a:ext cx="3127248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566160" y="1115568"/>
            <a:ext cx="3127248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57600" y="859536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Grammar — All Week 12 grammar — gerunds, advanced passive, causative, reported questions, past perfect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3657600" y="1124712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step by step  ·  Алхам алхмаар судлаарай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648456" y="1289304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FULL REVIEW: 1) Gerunds vs Infinitives: enjoy/avoid/finish/keep/mind + -ING · want/hope/plan/decide/manage + TO. Meaning change: stop -ing (quit) vs stop to (pause). 2) Advanced Passive: have been + p.p. (PP passive) · will be + p.p. (future) · is/are being + p.p. (continuous). 3) Causative have: have/had/will have + object + past participle (someone else does it). 4) Reported Questions: asked + WH + statement order / asked if + statement order + tense shift. 5) Past Perfect: had + past participle = earlier of two past events.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648456" y="170992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12-Р ДОЛОО ХОНОГИЙН БҮРЭН ДАВТАЛТ: 1) Gerund vs Infinitive: enjoy/avoid + -ING · want/plan + TO. 2) Дэвшилтэт Passive: have been + p.p. · will be + p.p. · is/are being + p.p. 3) Causative have: have + obj + p.p. 4) Тайлагдсан асуулт: asked + WH/if + өгүүлбэрийн дараалал + цаг ухрал. 5) Past Perfect: had + p.p. = хоёр өнгөрсөн үйлдлийн эрт нь.</a:t>
            </a:r>
            <a:endParaRPr lang="en-US" sz="7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39312" y="2075688"/>
          <a:ext cx="2980944" cy="914400"/>
        </p:xfrm>
        <a:graphic>
          <a:graphicData uri="http://schemas.openxmlformats.org/drawingml/2006/table">
            <a:tbl>
              <a:tblPr/>
              <a:tblGrid>
                <a:gridCol w="417332"/>
                <a:gridCol w="417332"/>
                <a:gridCol w="536570"/>
                <a:gridCol w="536570"/>
                <a:gridCol w="536570"/>
                <a:gridCol w="536570"/>
              </a:tblGrid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+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−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Gerund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enjoy + -ing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enjoy studying English.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you enjoy studying?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герунд (наалдсан үйл үгс)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Infinitive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want + to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want to travel abroad.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you want to travel?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инфинитив (наалдсан үйл үгс)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Causative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have + obj + p.p.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had my hair cut.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didn't have it done.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 you have it done?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хийлгэсэн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 Passive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have been + p.p.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Trees have been planted.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Have trees been planted?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 идэвхгүй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 Perfect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had + p.p.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had eaten before she arrived.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hadn't eaten.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Had you eaten?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өмнөх үйл явдал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35" name="Shape 31"/>
          <p:cNvSpPr/>
          <p:nvPr/>
        </p:nvSpPr>
        <p:spPr>
          <a:xfrm>
            <a:off x="3639312" y="3273552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657600" y="3273552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  Key Forms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3639312" y="3438144"/>
            <a:ext cx="2980944" cy="274320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657600" y="3465576"/>
            <a:ext cx="1639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toolkit: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enjoy/avoid/finish + -ING · want/plan/decide + TO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have + obj + p.p. (causative) · have been / will be / is being + p.p. (passive)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had + p.p. (past perfect) · asked + WH + statement order (reported Q)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5297119" y="3465576"/>
            <a:ext cx="1311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12-р долоо хоногийн бүх хэлбэр: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Герунд: -ING · Инфинитив: TO · Causative: have + obj + p.p.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 Passive: have been + p.p. · Past Perfect: had + p.p.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3639312" y="3749040"/>
            <a:ext cx="2980944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657600" y="3749040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Rules &amp; Usage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3639312" y="3913632"/>
            <a:ext cx="2980944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657600" y="394106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B8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DON'T ENJOY working late. I DIDN'T HAVE IT done. TREES HAVEN'T BEEN planted yet. I HADN'T EATEN before she arrived.
</a:t>
            </a:r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ENJOY STUDYING? Did you HAVE IT done? HAVE trees BEEN planted? HAD you eaten? She asked WHERE I LIVED.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Grammar Tip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solidFill>
            <a:srgbClr val="B83030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Mistakes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3639312" y="4425696"/>
            <a:ext cx="1463040" cy="2144817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666744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Gerund after: enjoy/avoid/mind/finish/keep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Infinitive after: want/hope/plan/decide/manage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Causative: have + obj + p.p. (not base verb!)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PP Passive: have/has been + p.p.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Past Perfect: had + p.p. (earlier event)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Reported Q: no inversion! Statement order.</a:t>
            </a:r>
            <a:endParaRPr lang="en-US" sz="780" dirty="0"/>
          </a:p>
        </p:txBody>
      </p:sp>
      <p:sp>
        <p:nvSpPr>
          <p:cNvPr id="50" name="Shape 46"/>
          <p:cNvSpPr/>
          <p:nvPr/>
        </p:nvSpPr>
        <p:spPr>
          <a:xfrm>
            <a:off x="5138928" y="4425696"/>
            <a:ext cx="1463040" cy="2144817"/>
          </a:xfrm>
          <a:prstGeom prst="rect">
            <a:avLst/>
          </a:prstGeom>
          <a:solidFill>
            <a:srgbClr val="FDECEA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166360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 enjoy to study.  ✅ I enjoy STUDYING.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 had my hair cutting.  ✅ I had my hair CUT.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Trees have been plant.  ✅ Trees have been PLANTED.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She asked where was I.  ✅ She asked where I WAS. (no inversion!)</a:t>
            </a:r>
            <a:endParaRPr lang="en-US" sz="780" dirty="0"/>
          </a:p>
        </p:txBody>
      </p:sp>
      <p:sp>
        <p:nvSpPr>
          <p:cNvPr id="52" name="Shape 48"/>
          <p:cNvSpPr/>
          <p:nvPr/>
        </p:nvSpPr>
        <p:spPr>
          <a:xfrm>
            <a:off x="3639312" y="6607089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657600" y="6607089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Quick Practice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3639312" y="6771681"/>
            <a:ext cx="2980944" cy="2902671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6799113"/>
          <a:ext cx="2944368" cy="914400"/>
        </p:xfrm>
        <a:graphic>
          <a:graphicData uri="http://schemas.openxmlformats.org/drawingml/2006/table">
            <a:tbl>
              <a:tblPr/>
              <a:tblGrid>
                <a:gridCol w="1472184"/>
                <a:gridCol w="1472184"/>
              </a:tblGrid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 enjoy _____ new things every day. (learn → gerund)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She asked where I _____ born. (was — reported Q)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She had her car _____ last month. (service → causative)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A million trees _____ been planted. (have — PP passive)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I want _____ Korea next year. (visit → infinitive)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When she arrived, I _____ already eaten. (had — PP)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He decided _____ English seriously. (study → infinitive)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He asked if I _____ help. (could — reported Q)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</a:tbl>
          </a:graphicData>
        </a:graphic>
      </p:graphicFrame>
      <p:sp>
        <p:nvSpPr>
          <p:cNvPr id="56" name="Text 51"/>
          <p:cNvSpPr/>
          <p:nvPr/>
        </p:nvSpPr>
        <p:spPr>
          <a:xfrm>
            <a:off x="3666744" y="934113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Answers: 1-learning · 2-serviced · 3-to visit · 4-to study · 5-was · 6-have · 7-had · 8-could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81 · ӨДӨР 81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Speaking  ·  Унших ба Ярих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Page 2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86537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Reading Passage / Унших дасгал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= today's vocab · Read aloud at least twice!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380744"/>
          </a:xfrm>
          <a:prstGeom prst="rect">
            <a:avLst/>
          </a:prstGeom>
          <a:solidFill>
            <a:srgbClr val="EBF5F0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" y="1069848"/>
            <a:ext cx="6236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A3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12 is complete! Let's review everything through Bat's week. 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enjoys reading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about culture and decided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E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write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report. He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4A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had his laptop repaired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so he could type it properly. By the time he submitted it, he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had already revised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it three times. He noted that many forests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B8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have been destroyed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but new conservation laws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E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will be introduced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soon. His teacher asked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whether he had enjoyed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topic. Bat replied that he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had never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written a formal report before — but that he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E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hoped to write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more in the future. "Keep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practising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!" his teacher said.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79222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551176"/>
            <a:ext cx="3218688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07208"/>
            <a:ext cx="3218688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Key Phrases &amp; Translation / Гол хэллэг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Цээжил! · Memorize these phrases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2971800"/>
          <a:ext cx="3108960" cy="914400"/>
        </p:xfrm>
        <a:graphic>
          <a:graphicData uri="http://schemas.openxmlformats.org/drawingml/2006/table">
            <a:tbl>
              <a:tblPr/>
              <a:tblGrid>
                <a:gridCol w="1057046"/>
                <a:gridCol w="1057046"/>
                <a:gridCol w="994867"/>
              </a:tblGrid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Phrase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 / Монгол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Grammar Note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enjoy learning about culture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соёлын тухай сурахыг таашаадаг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enjoy + gerund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had my laptop repaired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зөөврийн компьютераа засуулсан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causative have + object + p.p.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the time I submitted, I had revised it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Оруулахад аль хэдийнэ засварласан байсан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 perfect + by the time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Forests have been destroyed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Ойг устгасан байна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 perfect passive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asked whether he had enjoyed it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таалагдсан эсэхийг асуусан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reported question + tense shift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hoped to write more in the future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ирээдүйд дахин бичихийг хүссэн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hope + infinitive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55117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0720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🗣️  Speaking Practice / Ярих дасгал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566160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— don't write, just speak!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557016" y="297180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in English — do not write, just speak!
</a:t>
            </a:r>
            <a:pPr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Англиар ЧАНГААР хариулаарай — бичихгүй, зөвхөн ярь!</a:t>
            </a:r>
            <a:endParaRPr lang="en-US" sz="8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64408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 Give me a gerund sentence about something you enjoy.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 Give me an infinitive sentence about something you plan to do.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 Tell me something you have had done recently. (causative!)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 Name one thing that has been done for the environment recently. (passive!)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 What had you already done before you started studying today? (past perfect!)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 Report this: your teacher asked 'Do you enjoy studying English?'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179222" y="4467758"/>
            <a:ext cx="6528816" cy="511149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64592" y="4453128"/>
            <a:ext cx="6528816" cy="5111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64592" y="445312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64592" y="470916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56032" y="44531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 Role Play / Дүрд тоглох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256032" y="47183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Найзтайгаа дадлагал · Repeat until it sounds natural!</a:t>
            </a:r>
            <a:endParaRPr lang="en-US" sz="750" dirty="0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7744" y="4873752"/>
          <a:ext cx="6382512" cy="914400"/>
        </p:xfrm>
        <a:graphic>
          <a:graphicData uri="http://schemas.openxmlformats.org/drawingml/2006/table">
            <a:tbl>
              <a:tblPr/>
              <a:tblGrid>
                <a:gridCol w="3191256"/>
                <a:gridCol w="3191256"/>
              </a:tblGrid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Do you enjoy reviewing grammar?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 enjoy it more than I expected! It helps everything click.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Had you studied all these structures before Book 3?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No! I had only learned the basics before starting here.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Have you had anything done recently? (causative!)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Yes — I had my phone screen replaced last week.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Have any improvements been made to your English lately?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Absolutely! My fluency has been improving every single day.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The teacher asked whether you enjoyed the course.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She asked whether I enjoyed it? Tell her — I love it!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do you plan to do after finishing Book 3?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 plan to keep studying and want to reach C1 eventually!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Shape 40"/>
          <p:cNvSpPr/>
          <p:nvPr/>
        </p:nvSpPr>
        <p:spPr>
          <a:xfrm>
            <a:off x="237744" y="9381744"/>
            <a:ext cx="63825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292608" y="9390888"/>
            <a:ext cx="6272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B1 Tip: You have now learned ALL core B1 grammar structures! This review solidifies everything. The final 9 days are about applying these skills to real-world topics. You are ready!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81 · ӨДӨР 81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· Practice · Homework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Page 3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95681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🎧  Listening Script / Сонсох текст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10 questions WITHOUT looking at the text!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481328"/>
          </a:xfrm>
          <a:prstGeom prst="rect">
            <a:avLst/>
          </a:prstGeom>
          <a:solidFill>
            <a:srgbClr val="F4F8FC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1069848"/>
            <a:ext cx="62727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review! Quick fire. Bat — gerund or infinitive after 'avoid'?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Gerund! I avoid eating junk food.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'plan'?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Infinitive! I plan to study abroad next year.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Causative have — Sarnai, give me an example.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had my hair cut yesterday. A hairdresser did it, not me!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Perfect — Bat?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I arrived at school today, Sarnai had already answered three questions!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Ha! And reported question: 'Did you study last night?'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asked if we had studied last night. — Tense shift, no inversion, statement order!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structures — perfect! Week 12 is officially complete. The final stretch begins now!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79222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642616"/>
            <a:ext cx="3218688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98648"/>
            <a:ext cx="321868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Comprehension Questions (10)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90779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best answer.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063240"/>
          <a:ext cx="3090672" cy="914400"/>
        </p:xfrm>
        <a:graphic>
          <a:graphicData uri="http://schemas.openxmlformats.org/drawingml/2006/table">
            <a:tbl>
              <a:tblPr/>
              <a:tblGrid>
                <a:gridCol w="247254"/>
                <a:gridCol w="1236269"/>
                <a:gridCol w="1607149"/>
              </a:tblGrid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verb takes a gerund?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want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avoid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plan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verb takes an infinitive?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keep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enjoy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decide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Causative have: 'I had my hair ___'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cutting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to cut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cut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 perfect passive form?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was + p.p.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have/has been + p.p.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is being + p.p.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 Perfect shows...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two events happening together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the later of two past events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the earlier of two past events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Reported question: 'Where is she?' → She asked where...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is she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was she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she was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Bat say he had done by the time he submitted?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revised it twice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revised it three times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typed it once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Sarnai's causative example show?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she cut her own hair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a hairdresser cut it for her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she plans to cut it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tense shift does Sarnai mention for reported questions?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present to past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future to present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past to present perfect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the teacher say about Week 12?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needs one more day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officially complete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almost done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64261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9864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✏️  Grammar Practice &amp; Matching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529584" y="3063240"/>
            <a:ext cx="3108960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557016" y="306324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blank — Week 12 mixed — all 5 structures</a:t>
            </a:r>
            <a:endParaRPr lang="en-US" sz="8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27832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 enjoy _____ new things. (learn → gerund)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She had her car _____ last month. (service → causative)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I want _____ Korea next year. (visit → infinitive)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A million trees _____ been planted. (have — passive)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I _____ already eaten when she arrived. (had — PP)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She asked where I _____ born. (was — reported Q)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3529584" y="4478731"/>
            <a:ext cx="3108960" cy="16459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557016" y="447873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— English → Mongolian</a:t>
            </a:r>
            <a:endParaRPr lang="en-US" sz="8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4643323"/>
          <a:ext cx="3108960" cy="914400"/>
        </p:xfrm>
        <a:graphic>
          <a:graphicData uri="http://schemas.openxmlformats.org/drawingml/2006/table">
            <a:tbl>
              <a:tblPr/>
              <a:tblGrid>
                <a:gridCol w="1616659"/>
                <a:gridCol w="1492301"/>
              </a:tblGrid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gerund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have been/will be + p.p.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infinitive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had + p.p. (earlier event)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causative have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verb + -ing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advanced passive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to + base verb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past perfect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have + obj + p.p.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41" name="Shape 36"/>
          <p:cNvSpPr/>
          <p:nvPr/>
        </p:nvSpPr>
        <p:spPr>
          <a:xfrm>
            <a:off x="179222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164592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164592" y="5916168"/>
            <a:ext cx="2115312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64592" y="6172200"/>
            <a:ext cx="21153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256032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Homework / Гэрийн даалгавар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256032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Маргааш болохоос өмнө дуусга</a:t>
            </a:r>
            <a:endParaRPr lang="en-US" sz="750" dirty="0"/>
          </a:p>
        </p:txBody>
      </p:sp>
      <p:sp>
        <p:nvSpPr>
          <p:cNvPr id="47" name="Text 42"/>
          <p:cNvSpPr/>
          <p:nvPr/>
        </p:nvSpPr>
        <p:spPr>
          <a:xfrm>
            <a:off x="256032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Writing: Write a paragraph using ALL 5 Week 12 structures naturally — gerund, infinitive, causative, passive, past perfect.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Review all 100 new words from Days 76-81 and write any you forgot 5 times.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Speaking: Record yourself for 2 minutes talking about your English journey — use all 5 Week 12 structures!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🎉 Week 12 done! Days 82-90: Real-world topics + B1 full review + GRADUATION!
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2385974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2371344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2371344" y="5916168"/>
            <a:ext cx="2115312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2371344" y="6172200"/>
            <a:ext cx="2115312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2462784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Answer Key / Хариулт</a:t>
            </a:r>
            <a:endParaRPr lang="en-US" sz="1050" dirty="0"/>
          </a:p>
        </p:txBody>
      </p:sp>
      <p:sp>
        <p:nvSpPr>
          <p:cNvPr id="53" name="Text 48"/>
          <p:cNvSpPr/>
          <p:nvPr/>
        </p:nvSpPr>
        <p:spPr>
          <a:xfrm>
            <a:off x="2462784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honestly!</a:t>
            </a:r>
            <a:endParaRPr lang="en-US" sz="750" dirty="0"/>
          </a:p>
        </p:txBody>
      </p:sp>
      <p:sp>
        <p:nvSpPr>
          <p:cNvPr id="54" name="Text 49"/>
          <p:cNvSpPr/>
          <p:nvPr/>
        </p:nvSpPr>
        <p:spPr>
          <a:xfrm>
            <a:off x="2462784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blanks: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1-learning · 2-serviced · 3-to visit · 4-have · 5-had · 6-was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 · 2-D · 3-E · 4-A · 5-B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(1–10):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 · 2-c · 3-c · 4-b · 5-c
6-c · 7-b · 8-b · 9-a · 10-b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lnSpc>
                <a:spcPct val="195000"/>
              </a:lnSpc>
              <a:buNone/>
            </a:pPr>
            <a:r>
              <a:rPr lang="en-US" sz="8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help you learn!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4592726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4578096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4578096" y="5916168"/>
            <a:ext cx="2115312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4578096" y="6172200"/>
            <a:ext cx="2115312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4669536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🌟  Day 81 Complete!</a:t>
            </a:r>
            <a:endParaRPr lang="en-US" sz="1050" dirty="0"/>
          </a:p>
        </p:txBody>
      </p:sp>
      <p:sp>
        <p:nvSpPr>
          <p:cNvPr id="60" name="Text 55"/>
          <p:cNvSpPr/>
          <p:nvPr/>
        </p:nvSpPr>
        <p:spPr>
          <a:xfrm>
            <a:off x="4669536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completed:</a:t>
            </a:r>
            <a:endParaRPr lang="en-US" sz="750" dirty="0"/>
          </a:p>
        </p:txBody>
      </p:sp>
      <p:sp>
        <p:nvSpPr>
          <p:cNvPr id="61" name="Text 56"/>
          <p:cNvSpPr/>
          <p:nvPr/>
        </p:nvSpPr>
        <p:spPr>
          <a:xfrm>
            <a:off x="4669536" y="6345936"/>
            <a:ext cx="1969008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20 давталтын үг · 20 review words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12-р долоо хоногийн бүх 5 дүрэм · All 5 Week 12 grammar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Давталтын текст уншсан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Дасгал · Mixed grammar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Ярих дасгал · All 5 structures reviewed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Сонсох · Listening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🎉 ДОЛОО ХОНОГ 12 ДУУСГАСАН! Week 12 Complete!</a:t>
            </a:r>
            <a:endParaRPr lang="en-US" sz="800" dirty="0"/>
          </a:p>
        </p:txBody>
      </p:sp>
      <p:sp>
        <p:nvSpPr>
          <p:cNvPr id="62" name="Shape 57"/>
          <p:cNvSpPr/>
          <p:nvPr/>
        </p:nvSpPr>
        <p:spPr>
          <a:xfrm>
            <a:off x="4651248" y="9253728"/>
            <a:ext cx="1969008" cy="256032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4687824" y="9262872"/>
            <a:ext cx="191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Day 82: Job Interviews — Expressing Possibility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2026-04-11T02:56:26Z</dcterms:created>
  <dcterms:modified xsi:type="dcterms:W3CDTF">2026-04-11T02:56:26Z</dcterms:modified>
</cp:coreProperties>
</file>